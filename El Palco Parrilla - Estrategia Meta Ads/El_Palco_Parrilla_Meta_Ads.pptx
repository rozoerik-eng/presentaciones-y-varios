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Establecer el estado actual de forma objetiva y sin juicio, para que los socios reconozcan el punto de partida real.
MENSAJE PRINCIPAL: La inversión actual en Meta Ads genera resultados aislados, pero no está diseñada como sistema.
QUÉ EXPLICAR: Hoy existen 2 anuncios, ambos enfocados en eventos. Funcionan de forma independiente: no hay etapas, no hay recorrido del cliente, no hay reactivación de clientes anteriores. Se está usando una herramienta de sistema comercial como si fuera un botón de 'promocionar publicación'.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Cambiar el modelo mental de 'anuncios' a 'sistema'.
MENSAJE PRINCIPAL: El problema no es la calidad del anuncio; es la ausencia de arquitectura detrás de la inversión.
QUÉ EXPLICAR: Contrastar cómo opera hoy la cuenta (táctico, disperso) frente a cómo debería operar (sistema, secuencial). Esta es la idea que sostiene toda la presentación.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Presentar la metodología completa en una sola imagen antes de entrar en el detalle de cada etapa.
MENSAJE PRINCIPAL: Cada etapa cumple un rol distinto y prepara la siguiente; ninguna funciona aislada.
QUÉ EXPLICAR: Recorrer brevemente el journey completo: Presentación (descubrir), Evaluación (confiar), Conversión (reservar), Ascensión (volver). Anticipar que cada una se explicará en detalle a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ETAPA: Lograr que miles de personas nuevas descubran El Palco Parrilla. Aquí no se vende, se despierta interés.
MENSAJE PRINCIPAL: En esta etapa no medimos reservas; medimos alcance calificado y frecuencia de exposición ante la audiencia correcta.
QUÉ EXPLICAR: Objetivos de Meta recomendados (reconocimiento de marca, interacción, reproducciones de video); formatos (video corto, reels, carrusel); territorio de targeting (Chía, Cajicá, norte de Bogotá); y que el éxito se mide en alcance y costo por reproducción, no en ventas inmediatas.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Dar profundidad al contenido creativo de la etapa 1.
MENSAJE PRINCIPAL: No se trata de un solo anuncio genérico, sino de un sistema de piezas que cubren distintos ángulos emocionales de decisión.
QUÉ EXPLICAR: Recorrer cada pilar. El Chicharrón Espectacular es especialmente valioso porque trae autoridad de un tercero reconocido (Tulio Recomienda), lo cual genera más confianza que cualquier anuncio propio. Las emociones a generar: pertenencia, escape de la rutina, disfrute familiar.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ETAPA: Mover a quien ya conoce la marca hacia la intención de reserva, resolviendo la duda.
MENSAJE PRINCIPAL: Aquí no se busca alcance nuevo; se busca profundizar la confianza en quienes ya mostraron interés.
QUÉ EXPLICAR: Se activa remarketing sobre quienes vieron los videos de la etapa 1 o interactuaron en Instagram/Facebook. El contenido cambia: opiniones reales, celebraciones, proceso de preparación, comparativas frente a otros campestres.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Mostrar una oportunidad concreta y medible que hoy no se aprovecha.
MENSAJE PRINCIPAL: El Palco ya tiene una audiencia caliente construida por años (21.000 seguidores, 2.483 reseñas con 4.8/5); hoy Meta Ads no la usa.
QUÉ EXPLICAR: Cómo se crean públicos personalizados a partir de quienes interactúan con Instagram/Facebook o ven los videos de la etapa 1, y cómo se les impacta con contenido de prueba social para moverlos hacia la etapa de conversión. Cifras según datos públicos de Google/Restaurant Guru e Instagram.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ETAPA: Convertir el interés calificado en reservas, cotizaciones y mensajes concretos.
MENSAJE PRINCIPAL: En conversión no buscamos alcance, buscamos precisión: solo se invierte en quien ya mostró interés real.
QUÉ EXPLICAR: Las audiencias se restringen a quienes vieron videos, interactuaron con la página o visitaron el sitio. El objetivo de Meta cambia a mensajes/conversiones. El CTA es directo: reservar, cotizar, escribir por WhatsApp.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Mostrar el detalle táctico de optimización dentro de la etapa de conversión.
MENSAJE PRINCIPAL: Pequeños ajustes de oferta, audiencia y llamado a la acción mueven directamente la tasa de conversión.
QUÉ EXPLICAR: Ejemplos concretos por ocasión: cumpleaños familiares, eventos empresariales, celebraciones especiales. Cada uno con su propio creativo, audiencia y oferta — no un anuncio único para todos los casos.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ETAPA: Convertir un cliente que ya compró una vez en un cliente recurrente.
MENSAJE PRINCIPAL: La etapa más rentable del sistema es la que hoy no existe en la cuenta.
QUÉ EXPLICAR: Cómo construir públicos personalizados de clientes anteriores (compradores, visitantes del sitio, interacciones) segmentados por tiempo desde la última visita, y cómo cada fecha comercial se convierte en el gatillo de una campaña de reactivación.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Explicar el concepto de Lifetime Value aplicado a un restaurante campestre.
MENSAJE PRINCIPAL: No buscamos vender una vez; buscamos construir frecuencia de visita durante todo el año.
QUÉ EXPLICAR: Cada fecha del calendario (cumpleaños, Día del Padre, Día de la Madre, Amor y Amistad, Navidad, empresas) es una campaña de reactivación dirigida a un público ya construido en las etapas anteriores. Esto multiplica el valor de cada cliente adquirido, sin necesidad de conseguir clientes nuevos cada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Consolidar la visión completa antes de pasar al cierre de negocio.
MENSAJE PRINCIPAL: El sistema es un ciclo, no una línea recta; el cliente que asciende vuelve a entrar al ciclo en su siguiente ocasión de compra.
QUÉ EXPLICAR: Cómo el dato de una etapa (quién vio el video, quién interactuó, quién compró) alimenta la audiencia de la siguiente. Reforzar que dos anuncios de eventos no pueden sostener esta arquitectura.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Presentar el razonamiento económico del sistema sin prometer cifras específicas.
MENSAJE PRINCIPAL: El sistema reduce la dependencia de adquisición constante de clientes nuevos y aumenta el valor de los clientes ya conseguidos.
QUÉ EXPLICAR: Por qué reimpactar cuesta menos que adquirir (el público ya existe, ya conoce la marca); por qué la frecuencia de reactivación sube la facturación sin subir el presupuesto de adquisición; por qué vender eventos y bonos a la base existente sube el ticket promedio.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Cerrar el diagnóstico con impacto, mostrando la brecha concreta entre el potencial de la marca y la ejecución publicitaria actual.
MENSAJE PRINCIPAL: Cada oportunidad está fundamentada en información pública real de El Palco Parrilla (Instagram, Google, Restaurant Guru, Tulio Recomienda), no en suposiciones.
QUÉ EXPLICAR: Recorrer brevemente cada oportunidad conectándola con la etapa del sistema a la que pertenece (descubrimiento, evaluación, conversión o ascensión). Cerrar señalando que ninguna de estas 10 oportunidades requiere más presupuesto: requieren estructura.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Presentar con claridad las dos líneas de inversión necesarias para poner en marcha el sistema, sin mezclar honorarios de gestión con presupuesto publicitario.
MENSAJE PRINCIPAL: Son dos inversiones independientes: unos honorarios de gestión estratégica y un presupuesto de pauta que pertenece siempre al restaurante.
QUÉ EXPLICAR: Los honorarios de gestión inician en $950.000 mensuales durante los primeros 3 meses como precio de lanzamiento, y pasan a la tarifa full de $1.200.000 mensuales desde el mes 4. Aparte, el presupuesto mínimo recomendado de pauta en Meta Ads es de $1.500.000 mensuales, que se invierte directamente en la plataforma y no hace parte de los honorarios.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Cerrar con una propuesta de acción clara, sin sonar comercial.
MENSAJE PRINCIPAL: El crecimiento no depende de invertir más; depende de darle estructura a lo que ya se invierte.
QUÉ EXPLICAR: Los tres pasos siguientes son concretos y secuenciales. La siguiente reunión debe definir el alcance y el cronograma de implementación de las cuatro campañas.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2.png"/><Relationship Id="rId5" Type="http://schemas.openxmlformats.org/officeDocument/2006/relationships/image" Target="../media/image-4-5.png"/><Relationship Id="rId6" Type="http://schemas.openxmlformats.org/officeDocument/2006/relationships/image" Target="../media/image-4-2.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4.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2.png"/><Relationship Id="rId5" Type="http://schemas.openxmlformats.org/officeDocument/2006/relationships/image" Target="../media/image-13-5.png"/><Relationship Id="rId6" Type="http://schemas.openxmlformats.org/officeDocument/2006/relationships/image" Target="../media/image-13-2.png"/><Relationship Id="rId7" Type="http://schemas.openxmlformats.org/officeDocument/2006/relationships/image" Target="../media/image-13-7.png"/><Relationship Id="rId8" Type="http://schemas.openxmlformats.org/officeDocument/2006/relationships/image" Target="../media/image-13-7.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slideLayout" Target="../slideLayouts/slideLayout1.xml"/><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18"/>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1B18"/>
          </a:solidFill>
          <a:ln/>
        </p:spPr>
      </p:sp>
      <p:sp>
        <p:nvSpPr>
          <p:cNvPr id="3" name="Text 1"/>
          <p:cNvSpPr/>
          <p:nvPr/>
        </p:nvSpPr>
        <p:spPr>
          <a:xfrm>
            <a:off x="822960" y="1965960"/>
            <a:ext cx="7315200" cy="365760"/>
          </a:xfrm>
          <a:prstGeom prst="rect">
            <a:avLst/>
          </a:prstGeom>
          <a:noFill/>
          <a:ln/>
        </p:spPr>
        <p:txBody>
          <a:bodyPr wrap="square" lIns="0" tIns="0" rIns="0" bIns="0" rtlCol="0" anchor="ctr"/>
          <a:lstStyle/>
          <a:p>
            <a:pPr indent="0" marL="0">
              <a:buNone/>
            </a:pPr>
            <a:r>
              <a:rPr lang="en-US" sz="1300" b="1" spc="300" kern="0" dirty="0">
                <a:solidFill>
                  <a:srgbClr val="C1502E"/>
                </a:solidFill>
                <a:latin typeface="Calibri" pitchFamily="34" charset="0"/>
                <a:ea typeface="Calibri" pitchFamily="34" charset="-122"/>
                <a:cs typeface="Calibri" pitchFamily="34" charset="-120"/>
              </a:rPr>
              <a:t>ESTRATEGIA COMERCIAL · META ADS · 2026</a:t>
            </a:r>
            <a:endParaRPr lang="en-US" sz="1300" dirty="0"/>
          </a:p>
        </p:txBody>
      </p:sp>
      <p:sp>
        <p:nvSpPr>
          <p:cNvPr id="4" name="Text 2"/>
          <p:cNvSpPr/>
          <p:nvPr/>
        </p:nvSpPr>
        <p:spPr>
          <a:xfrm>
            <a:off x="777240" y="2377440"/>
            <a:ext cx="10515600" cy="11887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El Palco Parrilla</a:t>
            </a:r>
            <a:endParaRPr lang="en-US" sz="5400" dirty="0"/>
          </a:p>
        </p:txBody>
      </p:sp>
      <p:sp>
        <p:nvSpPr>
          <p:cNvPr id="5" name="Text 3"/>
          <p:cNvSpPr/>
          <p:nvPr/>
        </p:nvSpPr>
        <p:spPr>
          <a:xfrm>
            <a:off x="822960" y="3520440"/>
            <a:ext cx="9601200" cy="640080"/>
          </a:xfrm>
          <a:prstGeom prst="rect">
            <a:avLst/>
          </a:prstGeom>
          <a:noFill/>
          <a:ln/>
        </p:spPr>
        <p:txBody>
          <a:bodyPr wrap="square" lIns="0" tIns="0" rIns="0" bIns="0" rtlCol="0" anchor="ctr"/>
          <a:lstStyle/>
          <a:p>
            <a:pPr indent="0" marL="0">
              <a:buNone/>
            </a:pPr>
            <a:r>
              <a:rPr lang="en-US" sz="2200" i="1" dirty="0">
                <a:solidFill>
                  <a:srgbClr val="D8D4CC"/>
                </a:solidFill>
                <a:latin typeface="Calibri" pitchFamily="34" charset="0"/>
                <a:ea typeface="Calibri" pitchFamily="34" charset="-122"/>
                <a:cs typeface="Calibri" pitchFamily="34" charset="-120"/>
              </a:rPr>
              <a:t>De la publicidad al sistema de crecimiento</a:t>
            </a:r>
            <a:endParaRPr lang="en-US" sz="2200" dirty="0"/>
          </a:p>
        </p:txBody>
      </p:sp>
      <p:sp>
        <p:nvSpPr>
          <p:cNvPr id="6" name="Shape 4"/>
          <p:cNvSpPr/>
          <p:nvPr/>
        </p:nvSpPr>
        <p:spPr>
          <a:xfrm>
            <a:off x="822960" y="4343400"/>
            <a:ext cx="2011680" cy="0"/>
          </a:xfrm>
          <a:prstGeom prst="line">
            <a:avLst/>
          </a:prstGeom>
          <a:noFill/>
          <a:ln w="25400">
            <a:solidFill>
              <a:srgbClr val="C1502E"/>
            </a:solidFill>
            <a:prstDash val="solid"/>
          </a:ln>
        </p:spPr>
      </p:sp>
      <p:sp>
        <p:nvSpPr>
          <p:cNvPr id="7" name="Text 5"/>
          <p:cNvSpPr/>
          <p:nvPr/>
        </p:nvSpPr>
        <p:spPr>
          <a:xfrm>
            <a:off x="822960" y="6126480"/>
            <a:ext cx="8229600" cy="365760"/>
          </a:xfrm>
          <a:prstGeom prst="rect">
            <a:avLst/>
          </a:prstGeom>
          <a:noFill/>
          <a:ln/>
        </p:spPr>
        <p:txBody>
          <a:bodyPr wrap="square" lIns="0" tIns="0" rIns="0" bIns="0" rtlCol="0" anchor="ctr"/>
          <a:lstStyle/>
          <a:p>
            <a:pPr indent="0" marL="0">
              <a:buNone/>
            </a:pPr>
            <a:r>
              <a:rPr lang="en-US" sz="1200" dirty="0">
                <a:solidFill>
                  <a:srgbClr val="9A9691"/>
                </a:solidFill>
                <a:latin typeface="Calibri" pitchFamily="34" charset="0"/>
                <a:ea typeface="Calibri" pitchFamily="34" charset="-122"/>
                <a:cs typeface="Calibri" pitchFamily="34" charset="-120"/>
              </a:rPr>
              <a:t>Presentado a los socios de El Palco Parrilla  ·  Chía, Cundinamarca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C1502E"/>
                </a:solidFill>
                <a:latin typeface="Calibri" pitchFamily="34" charset="0"/>
                <a:ea typeface="Calibri" pitchFamily="34" charset="-122"/>
                <a:cs typeface="Calibri" pitchFamily="34" charset="-120"/>
              </a:rPr>
              <a:t>PUNTO DE PARTIDA</a:t>
            </a:r>
            <a:endParaRPr lang="en-US" sz="1200" dirty="0"/>
          </a:p>
        </p:txBody>
      </p:sp>
      <p:sp>
        <p:nvSpPr>
          <p:cNvPr id="3" name="Text 1"/>
          <p:cNvSpPr/>
          <p:nvPr/>
        </p:nvSpPr>
        <p:spPr>
          <a:xfrm>
            <a:off x="640080" y="841248"/>
            <a:ext cx="10515600" cy="822960"/>
          </a:xfrm>
          <a:prstGeom prst="rect">
            <a:avLst/>
          </a:prstGeom>
          <a:noFill/>
          <a:ln/>
        </p:spPr>
        <p:txBody>
          <a:bodyPr wrap="square" lIns="0" tIns="0" rIns="0" bIns="0" rtlCol="0" anchor="ctr"/>
          <a:lstStyle/>
          <a:p>
            <a:pPr algn="l" indent="0" marL="0">
              <a:buNone/>
            </a:pPr>
            <a:r>
              <a:rPr lang="en-US" sz="3400" b="1" dirty="0">
                <a:solidFill>
                  <a:srgbClr val="1E1B18"/>
                </a:solidFill>
                <a:latin typeface="Cambria" pitchFamily="34" charset="0"/>
                <a:ea typeface="Cambria" pitchFamily="34" charset="-122"/>
                <a:cs typeface="Cambria" pitchFamily="34" charset="-120"/>
              </a:rPr>
              <a:t>Hoy, Meta Ads promociona publicaciones.</a:t>
            </a:r>
            <a:endParaRPr lang="en-US" sz="3400" dirty="0"/>
          </a:p>
        </p:txBody>
      </p:sp>
      <p:sp>
        <p:nvSpPr>
          <p:cNvPr id="4" name="Text 2"/>
          <p:cNvSpPr/>
          <p:nvPr/>
        </p:nvSpPr>
        <p:spPr>
          <a:xfrm>
            <a:off x="640080" y="1481328"/>
            <a:ext cx="9144000" cy="457200"/>
          </a:xfrm>
          <a:prstGeom prst="rect">
            <a:avLst/>
          </a:prstGeom>
          <a:noFill/>
          <a:ln/>
        </p:spPr>
        <p:txBody>
          <a:bodyPr wrap="square" lIns="0" tIns="0" rIns="0" bIns="0" rtlCol="0" anchor="ctr"/>
          <a:lstStyle/>
          <a:p>
            <a:pPr indent="0" marL="0">
              <a:buNone/>
            </a:pPr>
            <a:r>
              <a:rPr lang="en-US" sz="2000" i="1" dirty="0">
                <a:solidFill>
                  <a:srgbClr val="5B6B4F"/>
                </a:solidFill>
                <a:latin typeface="Cambria" pitchFamily="34" charset="0"/>
                <a:ea typeface="Cambria" pitchFamily="34" charset="-122"/>
                <a:cs typeface="Cambria" pitchFamily="34" charset="-120"/>
              </a:rPr>
              <a:t>No dirige un negocio.</a:t>
            </a:r>
            <a:endParaRPr lang="en-US" sz="2000" dirty="0"/>
          </a:p>
        </p:txBody>
      </p:sp>
      <p:sp>
        <p:nvSpPr>
          <p:cNvPr id="5" name="Shape 3"/>
          <p:cNvSpPr/>
          <p:nvPr/>
        </p:nvSpPr>
        <p:spPr>
          <a:xfrm>
            <a:off x="640080" y="2468880"/>
            <a:ext cx="3246120" cy="3017520"/>
          </a:xfrm>
          <a:prstGeom prst="roundRect">
            <a:avLst>
              <a:gd name="adj" fmla="val 2424"/>
            </a:avLst>
          </a:prstGeom>
          <a:solidFill>
            <a:srgbClr val="F7F6F4"/>
          </a:solidFill>
          <a:ln w="12700">
            <a:solidFill>
              <a:srgbClr val="E4E1DB"/>
            </a:solidFill>
            <a:prstDash val="solid"/>
          </a:ln>
        </p:spPr>
      </p:sp>
      <p:sp>
        <p:nvSpPr>
          <p:cNvPr id="6" name="Shape 4"/>
          <p:cNvSpPr/>
          <p:nvPr/>
        </p:nvSpPr>
        <p:spPr>
          <a:xfrm>
            <a:off x="1897380" y="2880360"/>
            <a:ext cx="731520" cy="731520"/>
          </a:xfrm>
          <a:prstGeom prst="ellipse">
            <a:avLst/>
          </a:prstGeom>
          <a:solidFill>
            <a:srgbClr val="FFFFFF"/>
          </a:solidFill>
          <a:ln/>
        </p:spPr>
      </p:sp>
      <p:pic>
        <p:nvPicPr>
          <p:cNvPr id="7" name="Image 0" descr="/tmp/claude-0/-home-user-Presentaciones-y-varios/903c1196-30c4-57a8-b469-52313f1ce01c/scratchpad/palco/icons/target_C1502E.png">    </p:cNvPr>
          <p:cNvPicPr>
            <a:picLocks noChangeAspect="1"/>
          </p:cNvPicPr>
          <p:nvPr/>
        </p:nvPicPr>
        <p:blipFill>
          <a:blip r:embed="rId1"/>
          <a:stretch>
            <a:fillRect/>
          </a:stretch>
        </p:blipFill>
        <p:spPr>
          <a:xfrm>
            <a:off x="2061972" y="3044952"/>
            <a:ext cx="402336" cy="402336"/>
          </a:xfrm>
          <a:prstGeom prst="rect">
            <a:avLst/>
          </a:prstGeom>
        </p:spPr>
      </p:pic>
      <p:sp>
        <p:nvSpPr>
          <p:cNvPr id="8" name="Text 5"/>
          <p:cNvSpPr/>
          <p:nvPr/>
        </p:nvSpPr>
        <p:spPr>
          <a:xfrm>
            <a:off x="640080" y="3703320"/>
            <a:ext cx="3246120" cy="914400"/>
          </a:xfrm>
          <a:prstGeom prst="rect">
            <a:avLst/>
          </a:prstGeom>
          <a:noFill/>
          <a:ln/>
        </p:spPr>
        <p:txBody>
          <a:bodyPr wrap="square" lIns="0" tIns="0" rIns="0" bIns="0" rtlCol="0" anchor="ctr"/>
          <a:lstStyle/>
          <a:p>
            <a:pPr algn="ctr" indent="0" marL="0">
              <a:buNone/>
            </a:pPr>
            <a:r>
              <a:rPr lang="en-US" sz="5600" b="1" dirty="0">
                <a:solidFill>
                  <a:srgbClr val="1E1B18"/>
                </a:solidFill>
                <a:latin typeface="Cambria" pitchFamily="34" charset="0"/>
                <a:ea typeface="Cambria" pitchFamily="34" charset="-122"/>
                <a:cs typeface="Cambria" pitchFamily="34" charset="-120"/>
              </a:rPr>
              <a:t>2</a:t>
            </a:r>
            <a:endParaRPr lang="en-US" sz="5600" dirty="0"/>
          </a:p>
        </p:txBody>
      </p:sp>
      <p:sp>
        <p:nvSpPr>
          <p:cNvPr id="9" name="Text 6"/>
          <p:cNvSpPr/>
          <p:nvPr/>
        </p:nvSpPr>
        <p:spPr>
          <a:xfrm>
            <a:off x="960120" y="4617720"/>
            <a:ext cx="2606040" cy="731520"/>
          </a:xfrm>
          <a:prstGeom prst="rect">
            <a:avLst/>
          </a:prstGeom>
          <a:noFill/>
          <a:ln/>
        </p:spPr>
        <p:txBody>
          <a:bodyPr wrap="square" lIns="0" tIns="0" rIns="0" bIns="0" rtlCol="0" anchor="ctr"/>
          <a:lstStyle/>
          <a:p>
            <a:pPr algn="ctr" indent="0" marL="0">
              <a:buNone/>
            </a:pPr>
            <a:r>
              <a:rPr lang="en-US" sz="1300" dirty="0">
                <a:solidFill>
                  <a:srgbClr val="6B6B66"/>
                </a:solidFill>
                <a:latin typeface="Calibri" pitchFamily="34" charset="0"/>
                <a:ea typeface="Calibri" pitchFamily="34" charset="-122"/>
                <a:cs typeface="Calibri" pitchFamily="34" charset="-120"/>
              </a:rPr>
              <a:t>Anuncios activos en la cuenta</a:t>
            </a:r>
            <a:endParaRPr lang="en-US" sz="1300" dirty="0"/>
          </a:p>
        </p:txBody>
      </p:sp>
      <p:sp>
        <p:nvSpPr>
          <p:cNvPr id="10" name="Shape 7"/>
          <p:cNvSpPr/>
          <p:nvPr/>
        </p:nvSpPr>
        <p:spPr>
          <a:xfrm>
            <a:off x="4206240" y="2468880"/>
            <a:ext cx="3246120" cy="3017520"/>
          </a:xfrm>
          <a:prstGeom prst="roundRect">
            <a:avLst>
              <a:gd name="adj" fmla="val 2424"/>
            </a:avLst>
          </a:prstGeom>
          <a:solidFill>
            <a:srgbClr val="F7F6F4"/>
          </a:solidFill>
          <a:ln w="12700">
            <a:solidFill>
              <a:srgbClr val="E4E1DB"/>
            </a:solidFill>
            <a:prstDash val="solid"/>
          </a:ln>
        </p:spPr>
      </p:sp>
      <p:sp>
        <p:nvSpPr>
          <p:cNvPr id="11" name="Shape 8"/>
          <p:cNvSpPr/>
          <p:nvPr/>
        </p:nvSpPr>
        <p:spPr>
          <a:xfrm>
            <a:off x="5463540" y="2880360"/>
            <a:ext cx="731520" cy="731520"/>
          </a:xfrm>
          <a:prstGeom prst="ellipse">
            <a:avLst/>
          </a:prstGeom>
          <a:solidFill>
            <a:srgbClr val="FFFFFF"/>
          </a:solidFill>
          <a:ln/>
        </p:spPr>
      </p:sp>
      <p:pic>
        <p:nvPicPr>
          <p:cNvPr id="12" name="Image 1" descr="/tmp/claude-0/-home-user-Presentaciones-y-varios/903c1196-30c4-57a8-b469-52313f1ce01c/scratchpad/palco/icons/calendar_C1502E.png">    </p:cNvPr>
          <p:cNvPicPr>
            <a:picLocks noChangeAspect="1"/>
          </p:cNvPicPr>
          <p:nvPr/>
        </p:nvPicPr>
        <p:blipFill>
          <a:blip r:embed="rId2"/>
          <a:stretch>
            <a:fillRect/>
          </a:stretch>
        </p:blipFill>
        <p:spPr>
          <a:xfrm>
            <a:off x="5628132" y="3044952"/>
            <a:ext cx="402336" cy="402336"/>
          </a:xfrm>
          <a:prstGeom prst="rect">
            <a:avLst/>
          </a:prstGeom>
        </p:spPr>
      </p:pic>
      <p:sp>
        <p:nvSpPr>
          <p:cNvPr id="13" name="Text 9"/>
          <p:cNvSpPr/>
          <p:nvPr/>
        </p:nvSpPr>
        <p:spPr>
          <a:xfrm>
            <a:off x="4206240" y="3703320"/>
            <a:ext cx="3246120" cy="914400"/>
          </a:xfrm>
          <a:prstGeom prst="rect">
            <a:avLst/>
          </a:prstGeom>
          <a:noFill/>
          <a:ln/>
        </p:spPr>
        <p:txBody>
          <a:bodyPr wrap="square" lIns="0" tIns="0" rIns="0" bIns="0" rtlCol="0" anchor="ctr"/>
          <a:lstStyle/>
          <a:p>
            <a:pPr algn="ctr" indent="0" marL="0">
              <a:buNone/>
            </a:pPr>
            <a:r>
              <a:rPr lang="en-US" sz="5600" b="1" dirty="0">
                <a:solidFill>
                  <a:srgbClr val="1E1B18"/>
                </a:solidFill>
                <a:latin typeface="Cambria" pitchFamily="34" charset="0"/>
                <a:ea typeface="Cambria" pitchFamily="34" charset="-122"/>
                <a:cs typeface="Cambria" pitchFamily="34" charset="-120"/>
              </a:rPr>
              <a:t>1</a:t>
            </a:r>
            <a:endParaRPr lang="en-US" sz="5600" dirty="0"/>
          </a:p>
        </p:txBody>
      </p:sp>
      <p:sp>
        <p:nvSpPr>
          <p:cNvPr id="14" name="Text 10"/>
          <p:cNvSpPr/>
          <p:nvPr/>
        </p:nvSpPr>
        <p:spPr>
          <a:xfrm>
            <a:off x="4526280" y="4617720"/>
            <a:ext cx="2606040" cy="731520"/>
          </a:xfrm>
          <a:prstGeom prst="rect">
            <a:avLst/>
          </a:prstGeom>
          <a:noFill/>
          <a:ln/>
        </p:spPr>
        <p:txBody>
          <a:bodyPr wrap="square" lIns="0" tIns="0" rIns="0" bIns="0" rtlCol="0" anchor="ctr"/>
          <a:lstStyle/>
          <a:p>
            <a:pPr algn="ctr" indent="0" marL="0">
              <a:buNone/>
            </a:pPr>
            <a:r>
              <a:rPr lang="en-US" sz="1300" dirty="0">
                <a:solidFill>
                  <a:srgbClr val="6B6B66"/>
                </a:solidFill>
                <a:latin typeface="Calibri" pitchFamily="34" charset="0"/>
                <a:ea typeface="Calibri" pitchFamily="34" charset="-122"/>
                <a:cs typeface="Calibri" pitchFamily="34" charset="-120"/>
              </a:rPr>
              <a:t>Objetivo cubierto: promoción de eventos</a:t>
            </a:r>
            <a:endParaRPr lang="en-US" sz="1300" dirty="0"/>
          </a:p>
        </p:txBody>
      </p:sp>
      <p:sp>
        <p:nvSpPr>
          <p:cNvPr id="15" name="Shape 11"/>
          <p:cNvSpPr/>
          <p:nvPr/>
        </p:nvSpPr>
        <p:spPr>
          <a:xfrm>
            <a:off x="7772400" y="2468880"/>
            <a:ext cx="3246120" cy="3017520"/>
          </a:xfrm>
          <a:prstGeom prst="roundRect">
            <a:avLst>
              <a:gd name="adj" fmla="val 2424"/>
            </a:avLst>
          </a:prstGeom>
          <a:solidFill>
            <a:srgbClr val="F7F6F4"/>
          </a:solidFill>
          <a:ln w="12700">
            <a:solidFill>
              <a:srgbClr val="E4E1DB"/>
            </a:solidFill>
            <a:prstDash val="solid"/>
          </a:ln>
        </p:spPr>
      </p:sp>
      <p:sp>
        <p:nvSpPr>
          <p:cNvPr id="16" name="Shape 12"/>
          <p:cNvSpPr/>
          <p:nvPr/>
        </p:nvSpPr>
        <p:spPr>
          <a:xfrm>
            <a:off x="9029700" y="2880360"/>
            <a:ext cx="731520" cy="731520"/>
          </a:xfrm>
          <a:prstGeom prst="ellipse">
            <a:avLst/>
          </a:prstGeom>
          <a:solidFill>
            <a:srgbClr val="FFFFFF"/>
          </a:solidFill>
          <a:ln/>
        </p:spPr>
      </p:sp>
      <p:pic>
        <p:nvPicPr>
          <p:cNvPr id="17" name="Image 2" descr="/tmp/claude-0/-home-user-Presentaciones-y-varios/903c1196-30c4-57a8-b469-52313f1ce01c/scratchpad/palco/icons/route_C1502E.png">    </p:cNvPr>
          <p:cNvPicPr>
            <a:picLocks noChangeAspect="1"/>
          </p:cNvPicPr>
          <p:nvPr/>
        </p:nvPicPr>
        <p:blipFill>
          <a:blip r:embed="rId3"/>
          <a:stretch>
            <a:fillRect/>
          </a:stretch>
        </p:blipFill>
        <p:spPr>
          <a:xfrm>
            <a:off x="9194292" y="3044952"/>
            <a:ext cx="402336" cy="402336"/>
          </a:xfrm>
          <a:prstGeom prst="rect">
            <a:avLst/>
          </a:prstGeom>
        </p:spPr>
      </p:pic>
      <p:sp>
        <p:nvSpPr>
          <p:cNvPr id="18" name="Text 13"/>
          <p:cNvSpPr/>
          <p:nvPr/>
        </p:nvSpPr>
        <p:spPr>
          <a:xfrm>
            <a:off x="7772400" y="3703320"/>
            <a:ext cx="3246120" cy="914400"/>
          </a:xfrm>
          <a:prstGeom prst="rect">
            <a:avLst/>
          </a:prstGeom>
          <a:noFill/>
          <a:ln/>
        </p:spPr>
        <p:txBody>
          <a:bodyPr wrap="square" lIns="0" tIns="0" rIns="0" bIns="0" rtlCol="0" anchor="ctr"/>
          <a:lstStyle/>
          <a:p>
            <a:pPr algn="ctr" indent="0" marL="0">
              <a:buNone/>
            </a:pPr>
            <a:r>
              <a:rPr lang="en-US" sz="5600" b="1" dirty="0">
                <a:solidFill>
                  <a:srgbClr val="1E1B18"/>
                </a:solidFill>
                <a:latin typeface="Cambria" pitchFamily="34" charset="0"/>
                <a:ea typeface="Cambria" pitchFamily="34" charset="-122"/>
                <a:cs typeface="Cambria" pitchFamily="34" charset="-120"/>
              </a:rPr>
              <a:t>0</a:t>
            </a:r>
            <a:endParaRPr lang="en-US" sz="5600" dirty="0"/>
          </a:p>
        </p:txBody>
      </p:sp>
      <p:sp>
        <p:nvSpPr>
          <p:cNvPr id="19" name="Text 14"/>
          <p:cNvSpPr/>
          <p:nvPr/>
        </p:nvSpPr>
        <p:spPr>
          <a:xfrm>
            <a:off x="8092440" y="4617720"/>
            <a:ext cx="2606040" cy="731520"/>
          </a:xfrm>
          <a:prstGeom prst="rect">
            <a:avLst/>
          </a:prstGeom>
          <a:noFill/>
          <a:ln/>
        </p:spPr>
        <p:txBody>
          <a:bodyPr wrap="square" lIns="0" tIns="0" rIns="0" bIns="0" rtlCol="0" anchor="ctr"/>
          <a:lstStyle/>
          <a:p>
            <a:pPr algn="ctr" indent="0" marL="0">
              <a:buNone/>
            </a:pPr>
            <a:r>
              <a:rPr lang="en-US" sz="1300" dirty="0">
                <a:solidFill>
                  <a:srgbClr val="6B6B66"/>
                </a:solidFill>
                <a:latin typeface="Calibri" pitchFamily="34" charset="0"/>
                <a:ea typeface="Calibri" pitchFamily="34" charset="-122"/>
                <a:cs typeface="Calibri" pitchFamily="34" charset="-120"/>
              </a:rPr>
              <a:t>Etapas de decisión del cliente cubiertas</a:t>
            </a:r>
            <a:endParaRPr lang="en-US" sz="1300" dirty="0"/>
          </a:p>
        </p:txBody>
      </p:sp>
      <p:sp>
        <p:nvSpPr>
          <p:cNvPr id="20" name="Text 15"/>
          <p:cNvSpPr/>
          <p:nvPr/>
        </p:nvSpPr>
        <p:spPr>
          <a:xfrm>
            <a:off x="640080" y="5806440"/>
            <a:ext cx="10881360" cy="548640"/>
          </a:xfrm>
          <a:prstGeom prst="rect">
            <a:avLst/>
          </a:prstGeom>
          <a:noFill/>
          <a:ln/>
        </p:spPr>
        <p:txBody>
          <a:bodyPr wrap="square" lIns="0" tIns="0" rIns="0" bIns="0" rtlCol="0" anchor="ctr"/>
          <a:lstStyle/>
          <a:p>
            <a:pPr indent="0" marL="0">
              <a:buNone/>
            </a:pPr>
            <a:r>
              <a:rPr lang="en-US" sz="1400" i="1" dirty="0">
                <a:solidFill>
                  <a:srgbClr val="1E1B18"/>
                </a:solidFill>
                <a:latin typeface="Calibri" pitchFamily="34" charset="0"/>
                <a:ea typeface="Calibri" pitchFamily="34" charset="-122"/>
                <a:cs typeface="Calibri" pitchFamily="34" charset="-120"/>
              </a:rPr>
              <a:t>La cuenta genera resultados puntuales. Pero no existe una arquitectura que convierta cada peso invertido en un cliente que vuelve.</a:t>
            </a:r>
            <a:endParaRPr lang="en-US" sz="1400" dirty="0"/>
          </a:p>
        </p:txBody>
      </p:sp>
      <p:sp>
        <p:nvSpPr>
          <p:cNvPr id="21" name="Text 16"/>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C1502E"/>
                </a:solidFill>
                <a:latin typeface="Calibri" pitchFamily="34" charset="0"/>
                <a:ea typeface="Calibri" pitchFamily="34" charset="-122"/>
                <a:cs typeface="Calibri" pitchFamily="34" charset="-120"/>
              </a:rPr>
              <a:t>EL DIAGNÓSTICO ESTRATÉGICO</a:t>
            </a:r>
            <a:endParaRPr lang="en-US" sz="1200" dirty="0"/>
          </a:p>
        </p:txBody>
      </p:sp>
      <p:sp>
        <p:nvSpPr>
          <p:cNvPr id="3" name="Text 1"/>
          <p:cNvSpPr/>
          <p:nvPr/>
        </p:nvSpPr>
        <p:spPr>
          <a:xfrm>
            <a:off x="640080" y="841248"/>
            <a:ext cx="10515600" cy="822960"/>
          </a:xfrm>
          <a:prstGeom prst="rect">
            <a:avLst/>
          </a:prstGeom>
          <a:noFill/>
          <a:ln/>
        </p:spPr>
        <p:txBody>
          <a:bodyPr wrap="square" lIns="0" tIns="0" rIns="0" bIns="0" rtlCol="0" anchor="ctr"/>
          <a:lstStyle/>
          <a:p>
            <a:pPr algn="l" indent="0" marL="0">
              <a:buNone/>
            </a:pPr>
            <a:r>
              <a:rPr lang="en-US" sz="3400" b="1" dirty="0">
                <a:solidFill>
                  <a:srgbClr val="1E1B18"/>
                </a:solidFill>
                <a:latin typeface="Cambria" pitchFamily="34" charset="0"/>
                <a:ea typeface="Cambria" pitchFamily="34" charset="-122"/>
                <a:cs typeface="Cambria" pitchFamily="34" charset="-120"/>
              </a:rPr>
              <a:t>Una campaña no es una estrategia.</a:t>
            </a:r>
            <a:endParaRPr lang="en-US" sz="3400" dirty="0"/>
          </a:p>
        </p:txBody>
      </p:sp>
      <p:sp>
        <p:nvSpPr>
          <p:cNvPr id="4" name="Shape 2"/>
          <p:cNvSpPr/>
          <p:nvPr/>
        </p:nvSpPr>
        <p:spPr>
          <a:xfrm>
            <a:off x="640080" y="1965960"/>
            <a:ext cx="5074920" cy="4114800"/>
          </a:xfrm>
          <a:prstGeom prst="roundRect">
            <a:avLst>
              <a:gd name="adj" fmla="val 1778"/>
            </a:avLst>
          </a:prstGeom>
          <a:solidFill>
            <a:srgbClr val="F7F6F4"/>
          </a:solidFill>
          <a:ln/>
        </p:spPr>
      </p:sp>
      <p:sp>
        <p:nvSpPr>
          <p:cNvPr id="5" name="Text 3"/>
          <p:cNvSpPr/>
          <p:nvPr/>
        </p:nvSpPr>
        <p:spPr>
          <a:xfrm>
            <a:off x="1005840" y="2286000"/>
            <a:ext cx="4343400" cy="365760"/>
          </a:xfrm>
          <a:prstGeom prst="rect">
            <a:avLst/>
          </a:prstGeom>
          <a:noFill/>
          <a:ln/>
        </p:spPr>
        <p:txBody>
          <a:bodyPr wrap="square" lIns="0" tIns="0" rIns="0" bIns="0" rtlCol="0" anchor="ctr"/>
          <a:lstStyle/>
          <a:p>
            <a:pPr indent="0" marL="0">
              <a:buNone/>
            </a:pPr>
            <a:r>
              <a:rPr lang="en-US" sz="1400" b="1" spc="150" kern="0" dirty="0">
                <a:solidFill>
                  <a:srgbClr val="6B6B66"/>
                </a:solidFill>
                <a:latin typeface="Calibri" pitchFamily="34" charset="0"/>
                <a:ea typeface="Calibri" pitchFamily="34" charset="-122"/>
                <a:cs typeface="Calibri" pitchFamily="34" charset="-120"/>
              </a:rPr>
              <a:t>PUBLICIDAD TÁCTICA</a:t>
            </a:r>
            <a:endParaRPr lang="en-US" sz="1400" dirty="0"/>
          </a:p>
        </p:txBody>
      </p:sp>
      <p:sp>
        <p:nvSpPr>
          <p:cNvPr id="6" name="Text 4"/>
          <p:cNvSpPr/>
          <p:nvPr/>
        </p:nvSpPr>
        <p:spPr>
          <a:xfrm>
            <a:off x="1005840" y="2880360"/>
            <a:ext cx="4343400" cy="548640"/>
          </a:xfrm>
          <a:prstGeom prst="rect">
            <a:avLst/>
          </a:prstGeom>
          <a:noFill/>
          <a:ln/>
        </p:spPr>
        <p:txBody>
          <a:bodyPr wrap="square" lIns="0" tIns="0" rIns="0" bIns="0" rtlCol="0" anchor="ctr"/>
          <a:lstStyle/>
          <a:p>
            <a:pPr marL="342900" indent="-342900">
              <a:buSzPct val="100000"/>
              <a:buChar char="–"/>
            </a:pPr>
            <a:r>
              <a:rPr lang="en-US" sz="1500" dirty="0">
                <a:solidFill>
                  <a:srgbClr val="1E1B18"/>
                </a:solidFill>
                <a:latin typeface="Calibri" pitchFamily="34" charset="0"/>
                <a:ea typeface="Calibri" pitchFamily="34" charset="-122"/>
                <a:cs typeface="Calibri" pitchFamily="34" charset="-120"/>
              </a:rPr>
              <a:t>Un solo objetivo: promocionar</a:t>
            </a:r>
            <a:endParaRPr lang="en-US" sz="1500" dirty="0"/>
          </a:p>
        </p:txBody>
      </p:sp>
      <p:sp>
        <p:nvSpPr>
          <p:cNvPr id="7" name="Text 5"/>
          <p:cNvSpPr/>
          <p:nvPr/>
        </p:nvSpPr>
        <p:spPr>
          <a:xfrm>
            <a:off x="1005840" y="3566160"/>
            <a:ext cx="4343400" cy="548640"/>
          </a:xfrm>
          <a:prstGeom prst="rect">
            <a:avLst/>
          </a:prstGeom>
          <a:noFill/>
          <a:ln/>
        </p:spPr>
        <p:txBody>
          <a:bodyPr wrap="square" lIns="0" tIns="0" rIns="0" bIns="0" rtlCol="0" anchor="ctr"/>
          <a:lstStyle/>
          <a:p>
            <a:pPr marL="342900" indent="-342900">
              <a:buSzPct val="100000"/>
              <a:buChar char="–"/>
            </a:pPr>
            <a:r>
              <a:rPr lang="en-US" sz="1500" dirty="0">
                <a:solidFill>
                  <a:srgbClr val="1E1B18"/>
                </a:solidFill>
                <a:latin typeface="Calibri" pitchFamily="34" charset="0"/>
                <a:ea typeface="Calibri" pitchFamily="34" charset="-122"/>
                <a:cs typeface="Calibri" pitchFamily="34" charset="-120"/>
              </a:rPr>
              <a:t>Un solo público: todos a la vez</a:t>
            </a:r>
            <a:endParaRPr lang="en-US" sz="1500" dirty="0"/>
          </a:p>
        </p:txBody>
      </p:sp>
      <p:sp>
        <p:nvSpPr>
          <p:cNvPr id="8" name="Text 6"/>
          <p:cNvSpPr/>
          <p:nvPr/>
        </p:nvSpPr>
        <p:spPr>
          <a:xfrm>
            <a:off x="1005840" y="4251960"/>
            <a:ext cx="4343400" cy="548640"/>
          </a:xfrm>
          <a:prstGeom prst="rect">
            <a:avLst/>
          </a:prstGeom>
          <a:noFill/>
          <a:ln/>
        </p:spPr>
        <p:txBody>
          <a:bodyPr wrap="square" lIns="0" tIns="0" rIns="0" bIns="0" rtlCol="0" anchor="ctr"/>
          <a:lstStyle/>
          <a:p>
            <a:pPr marL="342900" indent="-342900">
              <a:buSzPct val="100000"/>
              <a:buChar char="–"/>
            </a:pPr>
            <a:r>
              <a:rPr lang="en-US" sz="1500" dirty="0">
                <a:solidFill>
                  <a:srgbClr val="1E1B18"/>
                </a:solidFill>
                <a:latin typeface="Calibri" pitchFamily="34" charset="0"/>
                <a:ea typeface="Calibri" pitchFamily="34" charset="-122"/>
                <a:cs typeface="Calibri" pitchFamily="34" charset="-120"/>
              </a:rPr>
              <a:t>Sin recorrido: se impacta una sola vez</a:t>
            </a:r>
            <a:endParaRPr lang="en-US" sz="1500" dirty="0"/>
          </a:p>
        </p:txBody>
      </p:sp>
      <p:sp>
        <p:nvSpPr>
          <p:cNvPr id="9" name="Text 7"/>
          <p:cNvSpPr/>
          <p:nvPr/>
        </p:nvSpPr>
        <p:spPr>
          <a:xfrm>
            <a:off x="1005840" y="4937760"/>
            <a:ext cx="4343400" cy="548640"/>
          </a:xfrm>
          <a:prstGeom prst="rect">
            <a:avLst/>
          </a:prstGeom>
          <a:noFill/>
          <a:ln/>
        </p:spPr>
        <p:txBody>
          <a:bodyPr wrap="square" lIns="0" tIns="0" rIns="0" bIns="0" rtlCol="0" anchor="ctr"/>
          <a:lstStyle/>
          <a:p>
            <a:pPr marL="342900" indent="-342900">
              <a:buSzPct val="100000"/>
              <a:buChar char="–"/>
            </a:pPr>
            <a:r>
              <a:rPr lang="en-US" sz="1500" dirty="0">
                <a:solidFill>
                  <a:srgbClr val="1E1B18"/>
                </a:solidFill>
                <a:latin typeface="Calibri" pitchFamily="34" charset="0"/>
                <a:ea typeface="Calibri" pitchFamily="34" charset="-122"/>
                <a:cs typeface="Calibri" pitchFamily="34" charset="-120"/>
              </a:rPr>
              <a:t>El resultado depende de la suerte del anuncio</a:t>
            </a:r>
            <a:endParaRPr lang="en-US" sz="1500" dirty="0"/>
          </a:p>
        </p:txBody>
      </p:sp>
      <p:sp>
        <p:nvSpPr>
          <p:cNvPr id="10" name="Shape 8"/>
          <p:cNvSpPr/>
          <p:nvPr/>
        </p:nvSpPr>
        <p:spPr>
          <a:xfrm>
            <a:off x="6172200" y="1965960"/>
            <a:ext cx="5074920" cy="4114800"/>
          </a:xfrm>
          <a:prstGeom prst="roundRect">
            <a:avLst>
              <a:gd name="adj" fmla="val 1778"/>
            </a:avLst>
          </a:prstGeom>
          <a:solidFill>
            <a:srgbClr val="1E1B18"/>
          </a:solidFill>
          <a:ln/>
        </p:spPr>
      </p:sp>
      <p:sp>
        <p:nvSpPr>
          <p:cNvPr id="11" name="Text 9"/>
          <p:cNvSpPr/>
          <p:nvPr/>
        </p:nvSpPr>
        <p:spPr>
          <a:xfrm>
            <a:off x="6537960" y="2286000"/>
            <a:ext cx="4343400" cy="365760"/>
          </a:xfrm>
          <a:prstGeom prst="rect">
            <a:avLst/>
          </a:prstGeom>
          <a:noFill/>
          <a:ln/>
        </p:spPr>
        <p:txBody>
          <a:bodyPr wrap="square" lIns="0" tIns="0" rIns="0" bIns="0" rtlCol="0" anchor="ctr"/>
          <a:lstStyle/>
          <a:p>
            <a:pPr indent="0" marL="0">
              <a:buNone/>
            </a:pPr>
            <a:r>
              <a:rPr lang="en-US" sz="1400" b="1" spc="150" kern="0" dirty="0">
                <a:solidFill>
                  <a:srgbClr val="C1502E"/>
                </a:solidFill>
                <a:latin typeface="Calibri" pitchFamily="34" charset="0"/>
                <a:ea typeface="Calibri" pitchFamily="34" charset="-122"/>
                <a:cs typeface="Calibri" pitchFamily="34" charset="-120"/>
              </a:rPr>
              <a:t>SISTEMA COMERCIAL</a:t>
            </a:r>
            <a:endParaRPr lang="en-US" sz="1400" dirty="0"/>
          </a:p>
        </p:txBody>
      </p:sp>
      <p:sp>
        <p:nvSpPr>
          <p:cNvPr id="12" name="Text 10"/>
          <p:cNvSpPr/>
          <p:nvPr/>
        </p:nvSpPr>
        <p:spPr>
          <a:xfrm>
            <a:off x="6537960" y="2880360"/>
            <a:ext cx="4343400" cy="548640"/>
          </a:xfrm>
          <a:prstGeom prst="rect">
            <a:avLst/>
          </a:prstGeom>
          <a:noFill/>
          <a:ln/>
        </p:spPr>
        <p:txBody>
          <a:bodyPr wrap="square" lIns="0" tIns="0" rIns="0" bIns="0" rtlCol="0" anchor="ctr"/>
          <a:lstStyle/>
          <a:p>
            <a:pPr marL="342900" indent="-342900">
              <a:buSzPct val="100000"/>
              <a:buChar char="–"/>
            </a:pPr>
            <a:r>
              <a:rPr lang="en-US" sz="1500" dirty="0">
                <a:solidFill>
                  <a:srgbClr val="FFFFFF"/>
                </a:solidFill>
                <a:latin typeface="Calibri" pitchFamily="34" charset="0"/>
                <a:ea typeface="Calibri" pitchFamily="34" charset="-122"/>
                <a:cs typeface="Calibri" pitchFamily="34" charset="-120"/>
              </a:rPr>
              <a:t>Cuatro objetivos, uno por etapa del cliente</a:t>
            </a:r>
            <a:endParaRPr lang="en-US" sz="1500" dirty="0"/>
          </a:p>
        </p:txBody>
      </p:sp>
      <p:sp>
        <p:nvSpPr>
          <p:cNvPr id="13" name="Text 11"/>
          <p:cNvSpPr/>
          <p:nvPr/>
        </p:nvSpPr>
        <p:spPr>
          <a:xfrm>
            <a:off x="6537960" y="3566160"/>
            <a:ext cx="4343400" cy="548640"/>
          </a:xfrm>
          <a:prstGeom prst="rect">
            <a:avLst/>
          </a:prstGeom>
          <a:noFill/>
          <a:ln/>
        </p:spPr>
        <p:txBody>
          <a:bodyPr wrap="square" lIns="0" tIns="0" rIns="0" bIns="0" rtlCol="0" anchor="ctr"/>
          <a:lstStyle/>
          <a:p>
            <a:pPr marL="342900" indent="-342900">
              <a:buSzPct val="100000"/>
              <a:buChar char="–"/>
            </a:pPr>
            <a:r>
              <a:rPr lang="en-US" sz="1500" dirty="0">
                <a:solidFill>
                  <a:srgbClr val="FFFFFF"/>
                </a:solidFill>
                <a:latin typeface="Calibri" pitchFamily="34" charset="0"/>
                <a:ea typeface="Calibri" pitchFamily="34" charset="-122"/>
                <a:cs typeface="Calibri" pitchFamily="34" charset="-120"/>
              </a:rPr>
              <a:t>Audiencias que cambian según su comportamiento</a:t>
            </a:r>
            <a:endParaRPr lang="en-US" sz="1500" dirty="0"/>
          </a:p>
        </p:txBody>
      </p:sp>
      <p:sp>
        <p:nvSpPr>
          <p:cNvPr id="14" name="Text 12"/>
          <p:cNvSpPr/>
          <p:nvPr/>
        </p:nvSpPr>
        <p:spPr>
          <a:xfrm>
            <a:off x="6537960" y="4251960"/>
            <a:ext cx="4343400" cy="548640"/>
          </a:xfrm>
          <a:prstGeom prst="rect">
            <a:avLst/>
          </a:prstGeom>
          <a:noFill/>
          <a:ln/>
        </p:spPr>
        <p:txBody>
          <a:bodyPr wrap="square" lIns="0" tIns="0" rIns="0" bIns="0" rtlCol="0" anchor="ctr"/>
          <a:lstStyle/>
          <a:p>
            <a:pPr marL="342900" indent="-342900">
              <a:buSzPct val="100000"/>
              <a:buChar char="–"/>
            </a:pPr>
            <a:r>
              <a:rPr lang="en-US" sz="1500" dirty="0">
                <a:solidFill>
                  <a:srgbClr val="FFFFFF"/>
                </a:solidFill>
                <a:latin typeface="Calibri" pitchFamily="34" charset="0"/>
                <a:ea typeface="Calibri" pitchFamily="34" charset="-122"/>
                <a:cs typeface="Calibri" pitchFamily="34" charset="-120"/>
              </a:rPr>
              <a:t>Recorrido continuo: se impacta en el momento correcto</a:t>
            </a:r>
            <a:endParaRPr lang="en-US" sz="1500" dirty="0"/>
          </a:p>
        </p:txBody>
      </p:sp>
      <p:sp>
        <p:nvSpPr>
          <p:cNvPr id="15" name="Text 13"/>
          <p:cNvSpPr/>
          <p:nvPr/>
        </p:nvSpPr>
        <p:spPr>
          <a:xfrm>
            <a:off x="6537960" y="4937760"/>
            <a:ext cx="4343400" cy="548640"/>
          </a:xfrm>
          <a:prstGeom prst="rect">
            <a:avLst/>
          </a:prstGeom>
          <a:noFill/>
          <a:ln/>
        </p:spPr>
        <p:txBody>
          <a:bodyPr wrap="square" lIns="0" tIns="0" rIns="0" bIns="0" rtlCol="0" anchor="ctr"/>
          <a:lstStyle/>
          <a:p>
            <a:pPr marL="342900" indent="-342900">
              <a:buSzPct val="100000"/>
              <a:buChar char="–"/>
            </a:pPr>
            <a:r>
              <a:rPr lang="en-US" sz="1500" dirty="0">
                <a:solidFill>
                  <a:srgbClr val="FFFFFF"/>
                </a:solidFill>
                <a:latin typeface="Calibri" pitchFamily="34" charset="0"/>
                <a:ea typeface="Calibri" pitchFamily="34" charset="-122"/>
                <a:cs typeface="Calibri" pitchFamily="34" charset="-120"/>
              </a:rPr>
              <a:t>El resultado depende de la arquitectura, no del azar</a:t>
            </a:r>
            <a:endParaRPr lang="en-US" sz="1500" dirty="0"/>
          </a:p>
        </p:txBody>
      </p:sp>
      <p:sp>
        <p:nvSpPr>
          <p:cNvPr id="16" name="Text 14"/>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C1502E"/>
                </a:solidFill>
                <a:latin typeface="Calibri" pitchFamily="34" charset="0"/>
                <a:ea typeface="Calibri" pitchFamily="34" charset="-122"/>
                <a:cs typeface="Calibri" pitchFamily="34" charset="-120"/>
              </a:rPr>
              <a:t>LA PROPUESTA</a:t>
            </a:r>
            <a:endParaRPr lang="en-US" sz="1200" dirty="0"/>
          </a:p>
        </p:txBody>
      </p:sp>
      <p:sp>
        <p:nvSpPr>
          <p:cNvPr id="3" name="Text 1"/>
          <p:cNvSpPr/>
          <p:nvPr/>
        </p:nvSpPr>
        <p:spPr>
          <a:xfrm>
            <a:off x="640080" y="841248"/>
            <a:ext cx="10515600" cy="822960"/>
          </a:xfrm>
          <a:prstGeom prst="rect">
            <a:avLst/>
          </a:prstGeom>
          <a:noFill/>
          <a:ln/>
        </p:spPr>
        <p:txBody>
          <a:bodyPr wrap="square" lIns="0" tIns="0" rIns="0" bIns="0" rtlCol="0" anchor="ctr"/>
          <a:lstStyle/>
          <a:p>
            <a:pPr algn="l" indent="0" marL="0">
              <a:buNone/>
            </a:pPr>
            <a:r>
              <a:rPr lang="en-US" sz="3400" b="1" dirty="0">
                <a:solidFill>
                  <a:srgbClr val="1E1B18"/>
                </a:solidFill>
                <a:latin typeface="Cambria" pitchFamily="34" charset="0"/>
                <a:ea typeface="Cambria" pitchFamily="34" charset="-122"/>
                <a:cs typeface="Cambria" pitchFamily="34" charset="-120"/>
              </a:rPr>
              <a:t>Meta Ads como ecosistema comercial</a:t>
            </a:r>
            <a:endParaRPr lang="en-US" sz="3400" dirty="0"/>
          </a:p>
        </p:txBody>
      </p:sp>
      <p:sp>
        <p:nvSpPr>
          <p:cNvPr id="4" name="Text 2"/>
          <p:cNvSpPr/>
          <p:nvPr/>
        </p:nvSpPr>
        <p:spPr>
          <a:xfrm>
            <a:off x="640080" y="1481328"/>
            <a:ext cx="9144000" cy="365760"/>
          </a:xfrm>
          <a:prstGeom prst="rect">
            <a:avLst/>
          </a:prstGeom>
          <a:noFill/>
          <a:ln/>
        </p:spPr>
        <p:txBody>
          <a:bodyPr wrap="square" lIns="0" tIns="0" rIns="0" bIns="0" rtlCol="0" anchor="ctr"/>
          <a:lstStyle/>
          <a:p>
            <a:pPr indent="0" marL="0">
              <a:buNone/>
            </a:pPr>
            <a:r>
              <a:rPr lang="en-US" sz="1500" dirty="0">
                <a:solidFill>
                  <a:srgbClr val="6B6B66"/>
                </a:solidFill>
                <a:latin typeface="Calibri" pitchFamily="34" charset="0"/>
                <a:ea typeface="Calibri" pitchFamily="34" charset="-122"/>
                <a:cs typeface="Calibri" pitchFamily="34" charset="-120"/>
              </a:rPr>
              <a:t>Cuatro etapas. Cada una prepara la siguiente.</a:t>
            </a:r>
            <a:endParaRPr lang="en-US" sz="1500" dirty="0"/>
          </a:p>
        </p:txBody>
      </p:sp>
      <p:sp>
        <p:nvSpPr>
          <p:cNvPr id="5" name="Shape 3"/>
          <p:cNvSpPr/>
          <p:nvPr/>
        </p:nvSpPr>
        <p:spPr>
          <a:xfrm>
            <a:off x="777240" y="2743200"/>
            <a:ext cx="2331720" cy="2834640"/>
          </a:xfrm>
          <a:prstGeom prst="roundRect">
            <a:avLst>
              <a:gd name="adj" fmla="val 3137"/>
            </a:avLst>
          </a:prstGeom>
          <a:solidFill>
            <a:srgbClr val="F7F6F4"/>
          </a:solidFill>
          <a:ln/>
        </p:spPr>
      </p:sp>
      <p:sp>
        <p:nvSpPr>
          <p:cNvPr id="6" name="Shape 4"/>
          <p:cNvSpPr/>
          <p:nvPr/>
        </p:nvSpPr>
        <p:spPr>
          <a:xfrm>
            <a:off x="1577340" y="1993392"/>
            <a:ext cx="731520" cy="731520"/>
          </a:xfrm>
          <a:prstGeom prst="ellipse">
            <a:avLst/>
          </a:prstGeom>
          <a:solidFill>
            <a:srgbClr val="1E1B18"/>
          </a:solidFill>
          <a:ln/>
        </p:spPr>
      </p:sp>
      <p:sp>
        <p:nvSpPr>
          <p:cNvPr id="7" name="Text 5"/>
          <p:cNvSpPr/>
          <p:nvPr/>
        </p:nvSpPr>
        <p:spPr>
          <a:xfrm>
            <a:off x="1577340" y="1993392"/>
            <a:ext cx="731520" cy="731520"/>
          </a:xfrm>
          <a:prstGeom prst="rect">
            <a:avLst/>
          </a:prstGeom>
          <a:noFill/>
          <a:ln/>
        </p:spPr>
        <p:txBody>
          <a:bodyPr wrap="square" lIns="0" tIns="0" rIns="0" bIns="0" rtlCol="0" anchor="ctr"/>
          <a:lstStyle/>
          <a:p>
            <a:pPr algn="ctr" indent="0" marL="0">
              <a:buNone/>
            </a:pPr>
            <a:r>
              <a:rPr lang="en-US" sz="2720" b="1" dirty="0">
                <a:solidFill>
                  <a:srgbClr val="FFFFFF"/>
                </a:solidFill>
                <a:latin typeface="Cambria" pitchFamily="34" charset="0"/>
                <a:ea typeface="Cambria" pitchFamily="34" charset="-122"/>
                <a:cs typeface="Cambria" pitchFamily="34" charset="-120"/>
              </a:rPr>
              <a:t>01</a:t>
            </a:r>
            <a:endParaRPr lang="en-US" sz="2720" dirty="0"/>
          </a:p>
        </p:txBody>
      </p:sp>
      <p:sp>
        <p:nvSpPr>
          <p:cNvPr id="8" name="Shape 6"/>
          <p:cNvSpPr/>
          <p:nvPr/>
        </p:nvSpPr>
        <p:spPr>
          <a:xfrm>
            <a:off x="1595628" y="3401568"/>
            <a:ext cx="694944" cy="694944"/>
          </a:xfrm>
          <a:prstGeom prst="ellipse">
            <a:avLst/>
          </a:prstGeom>
          <a:solidFill>
            <a:srgbClr val="FFFFFF"/>
          </a:solidFill>
          <a:ln/>
        </p:spPr>
      </p:sp>
      <p:pic>
        <p:nvPicPr>
          <p:cNvPr id="9" name="Image 0" descr="/tmp/claude-0/-home-user-Presentaciones-y-varios/903c1196-30c4-57a8-b469-52313f1ce01c/scratchpad/palco/icons/eye_C1502E.png">    </p:cNvPr>
          <p:cNvPicPr>
            <a:picLocks noChangeAspect="1"/>
          </p:cNvPicPr>
          <p:nvPr/>
        </p:nvPicPr>
        <p:blipFill>
          <a:blip r:embed="rId1"/>
          <a:stretch>
            <a:fillRect/>
          </a:stretch>
        </p:blipFill>
        <p:spPr>
          <a:xfrm>
            <a:off x="1751990" y="3557930"/>
            <a:ext cx="382219" cy="382219"/>
          </a:xfrm>
          <a:prstGeom prst="rect">
            <a:avLst/>
          </a:prstGeom>
        </p:spPr>
      </p:pic>
      <p:sp>
        <p:nvSpPr>
          <p:cNvPr id="10" name="Text 7"/>
          <p:cNvSpPr/>
          <p:nvPr/>
        </p:nvSpPr>
        <p:spPr>
          <a:xfrm>
            <a:off x="914400" y="4251960"/>
            <a:ext cx="2057400" cy="411480"/>
          </a:xfrm>
          <a:prstGeom prst="rect">
            <a:avLst/>
          </a:prstGeom>
          <a:noFill/>
          <a:ln/>
        </p:spPr>
        <p:txBody>
          <a:bodyPr wrap="square" lIns="0" tIns="0" rIns="0" bIns="0" rtlCol="0" anchor="ctr"/>
          <a:lstStyle/>
          <a:p>
            <a:pPr algn="ctr" indent="0" marL="0">
              <a:buNone/>
            </a:pPr>
            <a:r>
              <a:rPr lang="en-US" sz="1700" b="1" dirty="0">
                <a:solidFill>
                  <a:srgbClr val="1E1B18"/>
                </a:solidFill>
                <a:latin typeface="Cambria" pitchFamily="34" charset="0"/>
                <a:ea typeface="Cambria" pitchFamily="34" charset="-122"/>
                <a:cs typeface="Cambria" pitchFamily="34" charset="-120"/>
              </a:rPr>
              <a:t>Presentación</a:t>
            </a:r>
            <a:endParaRPr lang="en-US" sz="1700" dirty="0"/>
          </a:p>
        </p:txBody>
      </p:sp>
      <p:sp>
        <p:nvSpPr>
          <p:cNvPr id="11" name="Text 8"/>
          <p:cNvSpPr/>
          <p:nvPr/>
        </p:nvSpPr>
        <p:spPr>
          <a:xfrm>
            <a:off x="914400" y="4709160"/>
            <a:ext cx="2057400" cy="365760"/>
          </a:xfrm>
          <a:prstGeom prst="rect">
            <a:avLst/>
          </a:prstGeom>
          <a:noFill/>
          <a:ln/>
        </p:spPr>
        <p:txBody>
          <a:bodyPr wrap="square" lIns="0" tIns="0" rIns="0" bIns="0" rtlCol="0" anchor="ctr"/>
          <a:lstStyle/>
          <a:p>
            <a:pPr algn="ctr" indent="0" marL="0">
              <a:buNone/>
            </a:pPr>
            <a:r>
              <a:rPr lang="en-US" sz="1200" i="1" dirty="0">
                <a:solidFill>
                  <a:srgbClr val="6B6B66"/>
                </a:solidFill>
                <a:latin typeface="Calibri" pitchFamily="34" charset="0"/>
                <a:ea typeface="Calibri" pitchFamily="34" charset="-122"/>
                <a:cs typeface="Calibri" pitchFamily="34" charset="-120"/>
              </a:rPr>
              <a:t>Descubrir</a:t>
            </a:r>
            <a:endParaRPr lang="en-US" sz="1200" dirty="0"/>
          </a:p>
        </p:txBody>
      </p:sp>
      <p:pic>
        <p:nvPicPr>
          <p:cNvPr id="12" name="Image 1" descr="/tmp/claude-0/-home-user-Presentaciones-y-varios/903c1196-30c4-57a8-b469-52313f1ce01c/scratchpad/palco/icons/arrowRight_C1502E.png">    </p:cNvPr>
          <p:cNvPicPr>
            <a:picLocks noChangeAspect="1"/>
          </p:cNvPicPr>
          <p:nvPr/>
        </p:nvPicPr>
        <p:blipFill>
          <a:blip r:embed="rId2"/>
          <a:stretch>
            <a:fillRect/>
          </a:stretch>
        </p:blipFill>
        <p:spPr>
          <a:xfrm>
            <a:off x="3145536" y="3977640"/>
            <a:ext cx="246888" cy="246888"/>
          </a:xfrm>
          <a:prstGeom prst="rect">
            <a:avLst/>
          </a:prstGeom>
        </p:spPr>
      </p:pic>
      <p:sp>
        <p:nvSpPr>
          <p:cNvPr id="13" name="Shape 9"/>
          <p:cNvSpPr/>
          <p:nvPr/>
        </p:nvSpPr>
        <p:spPr>
          <a:xfrm>
            <a:off x="3429000" y="2743200"/>
            <a:ext cx="2331720" cy="2834640"/>
          </a:xfrm>
          <a:prstGeom prst="roundRect">
            <a:avLst>
              <a:gd name="adj" fmla="val 3137"/>
            </a:avLst>
          </a:prstGeom>
          <a:solidFill>
            <a:srgbClr val="E7EBE2"/>
          </a:solidFill>
          <a:ln/>
        </p:spPr>
      </p:sp>
      <p:sp>
        <p:nvSpPr>
          <p:cNvPr id="14" name="Shape 10"/>
          <p:cNvSpPr/>
          <p:nvPr/>
        </p:nvSpPr>
        <p:spPr>
          <a:xfrm>
            <a:off x="4229100" y="1993392"/>
            <a:ext cx="731520" cy="731520"/>
          </a:xfrm>
          <a:prstGeom prst="ellipse">
            <a:avLst/>
          </a:prstGeom>
          <a:solidFill>
            <a:srgbClr val="1E1B18"/>
          </a:solidFill>
          <a:ln/>
        </p:spPr>
      </p:sp>
      <p:sp>
        <p:nvSpPr>
          <p:cNvPr id="15" name="Text 11"/>
          <p:cNvSpPr/>
          <p:nvPr/>
        </p:nvSpPr>
        <p:spPr>
          <a:xfrm>
            <a:off x="4229100" y="1993392"/>
            <a:ext cx="731520" cy="731520"/>
          </a:xfrm>
          <a:prstGeom prst="rect">
            <a:avLst/>
          </a:prstGeom>
          <a:noFill/>
          <a:ln/>
        </p:spPr>
        <p:txBody>
          <a:bodyPr wrap="square" lIns="0" tIns="0" rIns="0" bIns="0" rtlCol="0" anchor="ctr"/>
          <a:lstStyle/>
          <a:p>
            <a:pPr algn="ctr" indent="0" marL="0">
              <a:buNone/>
            </a:pPr>
            <a:r>
              <a:rPr lang="en-US" sz="2720" b="1" dirty="0">
                <a:solidFill>
                  <a:srgbClr val="FFFFFF"/>
                </a:solidFill>
                <a:latin typeface="Cambria" pitchFamily="34" charset="0"/>
                <a:ea typeface="Cambria" pitchFamily="34" charset="-122"/>
                <a:cs typeface="Cambria" pitchFamily="34" charset="-120"/>
              </a:rPr>
              <a:t>02</a:t>
            </a:r>
            <a:endParaRPr lang="en-US" sz="2720" dirty="0"/>
          </a:p>
        </p:txBody>
      </p:sp>
      <p:sp>
        <p:nvSpPr>
          <p:cNvPr id="16" name="Shape 12"/>
          <p:cNvSpPr/>
          <p:nvPr/>
        </p:nvSpPr>
        <p:spPr>
          <a:xfrm>
            <a:off x="4247388" y="3401568"/>
            <a:ext cx="694944" cy="694944"/>
          </a:xfrm>
          <a:prstGeom prst="ellipse">
            <a:avLst/>
          </a:prstGeom>
          <a:solidFill>
            <a:srgbClr val="FFFFFF"/>
          </a:solidFill>
          <a:ln/>
        </p:spPr>
      </p:sp>
      <p:pic>
        <p:nvPicPr>
          <p:cNvPr id="17" name="Image 2" descr="/tmp/claude-0/-home-user-Presentaciones-y-varios/903c1196-30c4-57a8-b469-52313f1ce01c/scratchpad/palco/icons/star_C1502E.png">    </p:cNvPr>
          <p:cNvPicPr>
            <a:picLocks noChangeAspect="1"/>
          </p:cNvPicPr>
          <p:nvPr/>
        </p:nvPicPr>
        <p:blipFill>
          <a:blip r:embed="rId3"/>
          <a:stretch>
            <a:fillRect/>
          </a:stretch>
        </p:blipFill>
        <p:spPr>
          <a:xfrm>
            <a:off x="4403750" y="3557930"/>
            <a:ext cx="382219" cy="382219"/>
          </a:xfrm>
          <a:prstGeom prst="rect">
            <a:avLst/>
          </a:prstGeom>
        </p:spPr>
      </p:pic>
      <p:sp>
        <p:nvSpPr>
          <p:cNvPr id="18" name="Text 13"/>
          <p:cNvSpPr/>
          <p:nvPr/>
        </p:nvSpPr>
        <p:spPr>
          <a:xfrm>
            <a:off x="3566160" y="4251960"/>
            <a:ext cx="2057400" cy="411480"/>
          </a:xfrm>
          <a:prstGeom prst="rect">
            <a:avLst/>
          </a:prstGeom>
          <a:noFill/>
          <a:ln/>
        </p:spPr>
        <p:txBody>
          <a:bodyPr wrap="square" lIns="0" tIns="0" rIns="0" bIns="0" rtlCol="0" anchor="ctr"/>
          <a:lstStyle/>
          <a:p>
            <a:pPr algn="ctr" indent="0" marL="0">
              <a:buNone/>
            </a:pPr>
            <a:r>
              <a:rPr lang="en-US" sz="1700" b="1" dirty="0">
                <a:solidFill>
                  <a:srgbClr val="1E1B18"/>
                </a:solidFill>
                <a:latin typeface="Cambria" pitchFamily="34" charset="0"/>
                <a:ea typeface="Cambria" pitchFamily="34" charset="-122"/>
                <a:cs typeface="Cambria" pitchFamily="34" charset="-120"/>
              </a:rPr>
              <a:t>Evaluación</a:t>
            </a:r>
            <a:endParaRPr lang="en-US" sz="1700" dirty="0"/>
          </a:p>
        </p:txBody>
      </p:sp>
      <p:sp>
        <p:nvSpPr>
          <p:cNvPr id="19" name="Text 14"/>
          <p:cNvSpPr/>
          <p:nvPr/>
        </p:nvSpPr>
        <p:spPr>
          <a:xfrm>
            <a:off x="3566160" y="4709160"/>
            <a:ext cx="2057400" cy="365760"/>
          </a:xfrm>
          <a:prstGeom prst="rect">
            <a:avLst/>
          </a:prstGeom>
          <a:noFill/>
          <a:ln/>
        </p:spPr>
        <p:txBody>
          <a:bodyPr wrap="square" lIns="0" tIns="0" rIns="0" bIns="0" rtlCol="0" anchor="ctr"/>
          <a:lstStyle/>
          <a:p>
            <a:pPr algn="ctr" indent="0" marL="0">
              <a:buNone/>
            </a:pPr>
            <a:r>
              <a:rPr lang="en-US" sz="1200" i="1" dirty="0">
                <a:solidFill>
                  <a:srgbClr val="6B6B66"/>
                </a:solidFill>
                <a:latin typeface="Calibri" pitchFamily="34" charset="0"/>
                <a:ea typeface="Calibri" pitchFamily="34" charset="-122"/>
                <a:cs typeface="Calibri" pitchFamily="34" charset="-120"/>
              </a:rPr>
              <a:t>Confiar</a:t>
            </a:r>
            <a:endParaRPr lang="en-US" sz="1200" dirty="0"/>
          </a:p>
        </p:txBody>
      </p:sp>
      <p:pic>
        <p:nvPicPr>
          <p:cNvPr id="20" name="Image 3" descr="/tmp/claude-0/-home-user-Presentaciones-y-varios/903c1196-30c4-57a8-b469-52313f1ce01c/scratchpad/palco/icons/arrowRight_C1502E.png">    </p:cNvPr>
          <p:cNvPicPr>
            <a:picLocks noChangeAspect="1"/>
          </p:cNvPicPr>
          <p:nvPr/>
        </p:nvPicPr>
        <p:blipFill>
          <a:blip r:embed="rId4"/>
          <a:stretch>
            <a:fillRect/>
          </a:stretch>
        </p:blipFill>
        <p:spPr>
          <a:xfrm>
            <a:off x="5797296" y="3977640"/>
            <a:ext cx="246888" cy="246888"/>
          </a:xfrm>
          <a:prstGeom prst="rect">
            <a:avLst/>
          </a:prstGeom>
        </p:spPr>
      </p:pic>
      <p:sp>
        <p:nvSpPr>
          <p:cNvPr id="21" name="Shape 15"/>
          <p:cNvSpPr/>
          <p:nvPr/>
        </p:nvSpPr>
        <p:spPr>
          <a:xfrm>
            <a:off x="6080760" y="2743200"/>
            <a:ext cx="2331720" cy="2834640"/>
          </a:xfrm>
          <a:prstGeom prst="roundRect">
            <a:avLst>
              <a:gd name="adj" fmla="val 3137"/>
            </a:avLst>
          </a:prstGeom>
          <a:solidFill>
            <a:srgbClr val="F7F6F4"/>
          </a:solidFill>
          <a:ln/>
        </p:spPr>
      </p:sp>
      <p:sp>
        <p:nvSpPr>
          <p:cNvPr id="22" name="Shape 16"/>
          <p:cNvSpPr/>
          <p:nvPr/>
        </p:nvSpPr>
        <p:spPr>
          <a:xfrm>
            <a:off x="6880860" y="1993392"/>
            <a:ext cx="731520" cy="731520"/>
          </a:xfrm>
          <a:prstGeom prst="ellipse">
            <a:avLst/>
          </a:prstGeom>
          <a:solidFill>
            <a:srgbClr val="1E1B18"/>
          </a:solidFill>
          <a:ln/>
        </p:spPr>
      </p:sp>
      <p:sp>
        <p:nvSpPr>
          <p:cNvPr id="23" name="Text 17"/>
          <p:cNvSpPr/>
          <p:nvPr/>
        </p:nvSpPr>
        <p:spPr>
          <a:xfrm>
            <a:off x="6880860" y="1993392"/>
            <a:ext cx="731520" cy="731520"/>
          </a:xfrm>
          <a:prstGeom prst="rect">
            <a:avLst/>
          </a:prstGeom>
          <a:noFill/>
          <a:ln/>
        </p:spPr>
        <p:txBody>
          <a:bodyPr wrap="square" lIns="0" tIns="0" rIns="0" bIns="0" rtlCol="0" anchor="ctr"/>
          <a:lstStyle/>
          <a:p>
            <a:pPr algn="ctr" indent="0" marL="0">
              <a:buNone/>
            </a:pPr>
            <a:r>
              <a:rPr lang="en-US" sz="2720" b="1" dirty="0">
                <a:solidFill>
                  <a:srgbClr val="FFFFFF"/>
                </a:solidFill>
                <a:latin typeface="Cambria" pitchFamily="34" charset="0"/>
                <a:ea typeface="Cambria" pitchFamily="34" charset="-122"/>
                <a:cs typeface="Cambria" pitchFamily="34" charset="-120"/>
              </a:rPr>
              <a:t>03</a:t>
            </a:r>
            <a:endParaRPr lang="en-US" sz="2720" dirty="0"/>
          </a:p>
        </p:txBody>
      </p:sp>
      <p:sp>
        <p:nvSpPr>
          <p:cNvPr id="24" name="Shape 18"/>
          <p:cNvSpPr/>
          <p:nvPr/>
        </p:nvSpPr>
        <p:spPr>
          <a:xfrm>
            <a:off x="6899148" y="3401568"/>
            <a:ext cx="694944" cy="694944"/>
          </a:xfrm>
          <a:prstGeom prst="ellipse">
            <a:avLst/>
          </a:prstGeom>
          <a:solidFill>
            <a:srgbClr val="FFFFFF"/>
          </a:solidFill>
          <a:ln/>
        </p:spPr>
      </p:sp>
      <p:pic>
        <p:nvPicPr>
          <p:cNvPr id="25" name="Image 4" descr="/tmp/claude-0/-home-user-Presentaciones-y-varios/903c1196-30c4-57a8-b469-52313f1ce01c/scratchpad/palco/icons/whatsapp_C1502E.png">    </p:cNvPr>
          <p:cNvPicPr>
            <a:picLocks noChangeAspect="1"/>
          </p:cNvPicPr>
          <p:nvPr/>
        </p:nvPicPr>
        <p:blipFill>
          <a:blip r:embed="rId5"/>
          <a:stretch>
            <a:fillRect/>
          </a:stretch>
        </p:blipFill>
        <p:spPr>
          <a:xfrm>
            <a:off x="7055510" y="3557930"/>
            <a:ext cx="382219" cy="382219"/>
          </a:xfrm>
          <a:prstGeom prst="rect">
            <a:avLst/>
          </a:prstGeom>
        </p:spPr>
      </p:pic>
      <p:sp>
        <p:nvSpPr>
          <p:cNvPr id="26" name="Text 19"/>
          <p:cNvSpPr/>
          <p:nvPr/>
        </p:nvSpPr>
        <p:spPr>
          <a:xfrm>
            <a:off x="6217920" y="4251960"/>
            <a:ext cx="2057400" cy="411480"/>
          </a:xfrm>
          <a:prstGeom prst="rect">
            <a:avLst/>
          </a:prstGeom>
          <a:noFill/>
          <a:ln/>
        </p:spPr>
        <p:txBody>
          <a:bodyPr wrap="square" lIns="0" tIns="0" rIns="0" bIns="0" rtlCol="0" anchor="ctr"/>
          <a:lstStyle/>
          <a:p>
            <a:pPr algn="ctr" indent="0" marL="0">
              <a:buNone/>
            </a:pPr>
            <a:r>
              <a:rPr lang="en-US" sz="1700" b="1" dirty="0">
                <a:solidFill>
                  <a:srgbClr val="1E1B18"/>
                </a:solidFill>
                <a:latin typeface="Cambria" pitchFamily="34" charset="0"/>
                <a:ea typeface="Cambria" pitchFamily="34" charset="-122"/>
                <a:cs typeface="Cambria" pitchFamily="34" charset="-120"/>
              </a:rPr>
              <a:t>Conversión</a:t>
            </a:r>
            <a:endParaRPr lang="en-US" sz="1700" dirty="0"/>
          </a:p>
        </p:txBody>
      </p:sp>
      <p:sp>
        <p:nvSpPr>
          <p:cNvPr id="27" name="Text 20"/>
          <p:cNvSpPr/>
          <p:nvPr/>
        </p:nvSpPr>
        <p:spPr>
          <a:xfrm>
            <a:off x="6217920" y="4709160"/>
            <a:ext cx="2057400" cy="365760"/>
          </a:xfrm>
          <a:prstGeom prst="rect">
            <a:avLst/>
          </a:prstGeom>
          <a:noFill/>
          <a:ln/>
        </p:spPr>
        <p:txBody>
          <a:bodyPr wrap="square" lIns="0" tIns="0" rIns="0" bIns="0" rtlCol="0" anchor="ctr"/>
          <a:lstStyle/>
          <a:p>
            <a:pPr algn="ctr" indent="0" marL="0">
              <a:buNone/>
            </a:pPr>
            <a:r>
              <a:rPr lang="en-US" sz="1200" i="1" dirty="0">
                <a:solidFill>
                  <a:srgbClr val="6B6B66"/>
                </a:solidFill>
                <a:latin typeface="Calibri" pitchFamily="34" charset="0"/>
                <a:ea typeface="Calibri" pitchFamily="34" charset="-122"/>
                <a:cs typeface="Calibri" pitchFamily="34" charset="-120"/>
              </a:rPr>
              <a:t>Reservar</a:t>
            </a:r>
            <a:endParaRPr lang="en-US" sz="1200" dirty="0"/>
          </a:p>
        </p:txBody>
      </p:sp>
      <p:pic>
        <p:nvPicPr>
          <p:cNvPr id="28" name="Image 5" descr="/tmp/claude-0/-home-user-Presentaciones-y-varios/903c1196-30c4-57a8-b469-52313f1ce01c/scratchpad/palco/icons/arrowRight_C1502E.png">    </p:cNvPr>
          <p:cNvPicPr>
            <a:picLocks noChangeAspect="1"/>
          </p:cNvPicPr>
          <p:nvPr/>
        </p:nvPicPr>
        <p:blipFill>
          <a:blip r:embed="rId6"/>
          <a:stretch>
            <a:fillRect/>
          </a:stretch>
        </p:blipFill>
        <p:spPr>
          <a:xfrm>
            <a:off x="8449056" y="3977640"/>
            <a:ext cx="246888" cy="246888"/>
          </a:xfrm>
          <a:prstGeom prst="rect">
            <a:avLst/>
          </a:prstGeom>
        </p:spPr>
      </p:pic>
      <p:sp>
        <p:nvSpPr>
          <p:cNvPr id="29" name="Shape 21"/>
          <p:cNvSpPr/>
          <p:nvPr/>
        </p:nvSpPr>
        <p:spPr>
          <a:xfrm>
            <a:off x="8732520" y="2743200"/>
            <a:ext cx="2331720" cy="2834640"/>
          </a:xfrm>
          <a:prstGeom prst="roundRect">
            <a:avLst>
              <a:gd name="adj" fmla="val 3137"/>
            </a:avLst>
          </a:prstGeom>
          <a:solidFill>
            <a:srgbClr val="E7EBE2"/>
          </a:solidFill>
          <a:ln/>
        </p:spPr>
      </p:sp>
      <p:sp>
        <p:nvSpPr>
          <p:cNvPr id="30" name="Shape 22"/>
          <p:cNvSpPr/>
          <p:nvPr/>
        </p:nvSpPr>
        <p:spPr>
          <a:xfrm>
            <a:off x="9532620" y="1993392"/>
            <a:ext cx="731520" cy="731520"/>
          </a:xfrm>
          <a:prstGeom prst="ellipse">
            <a:avLst/>
          </a:prstGeom>
          <a:solidFill>
            <a:srgbClr val="1E1B18"/>
          </a:solidFill>
          <a:ln/>
        </p:spPr>
      </p:sp>
      <p:sp>
        <p:nvSpPr>
          <p:cNvPr id="31" name="Text 23"/>
          <p:cNvSpPr/>
          <p:nvPr/>
        </p:nvSpPr>
        <p:spPr>
          <a:xfrm>
            <a:off x="9532620" y="1993392"/>
            <a:ext cx="731520" cy="731520"/>
          </a:xfrm>
          <a:prstGeom prst="rect">
            <a:avLst/>
          </a:prstGeom>
          <a:noFill/>
          <a:ln/>
        </p:spPr>
        <p:txBody>
          <a:bodyPr wrap="square" lIns="0" tIns="0" rIns="0" bIns="0" rtlCol="0" anchor="ctr"/>
          <a:lstStyle/>
          <a:p>
            <a:pPr algn="ctr" indent="0" marL="0">
              <a:buNone/>
            </a:pPr>
            <a:r>
              <a:rPr lang="en-US" sz="2720" b="1" dirty="0">
                <a:solidFill>
                  <a:srgbClr val="FFFFFF"/>
                </a:solidFill>
                <a:latin typeface="Cambria" pitchFamily="34" charset="0"/>
                <a:ea typeface="Cambria" pitchFamily="34" charset="-122"/>
                <a:cs typeface="Cambria" pitchFamily="34" charset="-120"/>
              </a:rPr>
              <a:t>04</a:t>
            </a:r>
            <a:endParaRPr lang="en-US" sz="2720" dirty="0"/>
          </a:p>
        </p:txBody>
      </p:sp>
      <p:sp>
        <p:nvSpPr>
          <p:cNvPr id="32" name="Shape 24"/>
          <p:cNvSpPr/>
          <p:nvPr/>
        </p:nvSpPr>
        <p:spPr>
          <a:xfrm>
            <a:off x="9550908" y="3401568"/>
            <a:ext cx="694944" cy="694944"/>
          </a:xfrm>
          <a:prstGeom prst="ellipse">
            <a:avLst/>
          </a:prstGeom>
          <a:solidFill>
            <a:srgbClr val="FFFFFF"/>
          </a:solidFill>
          <a:ln/>
        </p:spPr>
      </p:sp>
      <p:pic>
        <p:nvPicPr>
          <p:cNvPr id="33" name="Image 6" descr="/tmp/claude-0/-home-user-Presentaciones-y-varios/903c1196-30c4-57a8-b469-52313f1ce01c/scratchpad/palco/icons/sync_C1502E.png">    </p:cNvPr>
          <p:cNvPicPr>
            <a:picLocks noChangeAspect="1"/>
          </p:cNvPicPr>
          <p:nvPr/>
        </p:nvPicPr>
        <p:blipFill>
          <a:blip r:embed="rId7"/>
          <a:stretch>
            <a:fillRect/>
          </a:stretch>
        </p:blipFill>
        <p:spPr>
          <a:xfrm>
            <a:off x="9707270" y="3557930"/>
            <a:ext cx="382219" cy="382219"/>
          </a:xfrm>
          <a:prstGeom prst="rect">
            <a:avLst/>
          </a:prstGeom>
        </p:spPr>
      </p:pic>
      <p:sp>
        <p:nvSpPr>
          <p:cNvPr id="34" name="Text 25"/>
          <p:cNvSpPr/>
          <p:nvPr/>
        </p:nvSpPr>
        <p:spPr>
          <a:xfrm>
            <a:off x="8869680" y="4251960"/>
            <a:ext cx="2057400" cy="411480"/>
          </a:xfrm>
          <a:prstGeom prst="rect">
            <a:avLst/>
          </a:prstGeom>
          <a:noFill/>
          <a:ln/>
        </p:spPr>
        <p:txBody>
          <a:bodyPr wrap="square" lIns="0" tIns="0" rIns="0" bIns="0" rtlCol="0" anchor="ctr"/>
          <a:lstStyle/>
          <a:p>
            <a:pPr algn="ctr" indent="0" marL="0">
              <a:buNone/>
            </a:pPr>
            <a:r>
              <a:rPr lang="en-US" sz="1700" b="1" dirty="0">
                <a:solidFill>
                  <a:srgbClr val="1E1B18"/>
                </a:solidFill>
                <a:latin typeface="Cambria" pitchFamily="34" charset="0"/>
                <a:ea typeface="Cambria" pitchFamily="34" charset="-122"/>
                <a:cs typeface="Cambria" pitchFamily="34" charset="-120"/>
              </a:rPr>
              <a:t>Ascensión</a:t>
            </a:r>
            <a:endParaRPr lang="en-US" sz="1700" dirty="0"/>
          </a:p>
        </p:txBody>
      </p:sp>
      <p:sp>
        <p:nvSpPr>
          <p:cNvPr id="35" name="Text 26"/>
          <p:cNvSpPr/>
          <p:nvPr/>
        </p:nvSpPr>
        <p:spPr>
          <a:xfrm>
            <a:off x="8869680" y="4709160"/>
            <a:ext cx="2057400" cy="365760"/>
          </a:xfrm>
          <a:prstGeom prst="rect">
            <a:avLst/>
          </a:prstGeom>
          <a:noFill/>
          <a:ln/>
        </p:spPr>
        <p:txBody>
          <a:bodyPr wrap="square" lIns="0" tIns="0" rIns="0" bIns="0" rtlCol="0" anchor="ctr"/>
          <a:lstStyle/>
          <a:p>
            <a:pPr algn="ctr" indent="0" marL="0">
              <a:buNone/>
            </a:pPr>
            <a:r>
              <a:rPr lang="en-US" sz="1200" i="1" dirty="0">
                <a:solidFill>
                  <a:srgbClr val="6B6B66"/>
                </a:solidFill>
                <a:latin typeface="Calibri" pitchFamily="34" charset="0"/>
                <a:ea typeface="Calibri" pitchFamily="34" charset="-122"/>
                <a:cs typeface="Calibri" pitchFamily="34" charset="-120"/>
              </a:rPr>
              <a:t>Volver</a:t>
            </a:r>
            <a:endParaRPr lang="en-US" sz="1200" dirty="0"/>
          </a:p>
        </p:txBody>
      </p:sp>
      <p:sp>
        <p:nvSpPr>
          <p:cNvPr id="36" name="Text 27"/>
          <p:cNvSpPr/>
          <p:nvPr/>
        </p:nvSpPr>
        <p:spPr>
          <a:xfrm>
            <a:off x="640080" y="5989320"/>
            <a:ext cx="10881360" cy="457200"/>
          </a:xfrm>
          <a:prstGeom prst="rect">
            <a:avLst/>
          </a:prstGeom>
          <a:noFill/>
          <a:ln/>
        </p:spPr>
        <p:txBody>
          <a:bodyPr wrap="square" lIns="0" tIns="0" rIns="0" bIns="0" rtlCol="0" anchor="ctr"/>
          <a:lstStyle/>
          <a:p>
            <a:pPr indent="0" marL="0">
              <a:buNone/>
            </a:pPr>
            <a:r>
              <a:rPr lang="en-US" sz="1400" i="1" dirty="0">
                <a:solidFill>
                  <a:srgbClr val="1E1B18"/>
                </a:solidFill>
                <a:latin typeface="Calibri" pitchFamily="34" charset="0"/>
                <a:ea typeface="Calibri" pitchFamily="34" charset="-122"/>
                <a:cs typeface="Calibri" pitchFamily="34" charset="-120"/>
              </a:rPr>
              <a:t>El resultado no es una tanda de anuncios: es un cliente que descubre, confía, reserva y regresa.</a:t>
            </a:r>
            <a:endParaRPr lang="en-US" sz="1400" dirty="0"/>
          </a:p>
        </p:txBody>
      </p:sp>
      <p:sp>
        <p:nvSpPr>
          <p:cNvPr id="37" name="Text 28"/>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1B18"/>
        </a:solidFill>
      </p:bgPr>
    </p:bg>
    <p:spTree>
      <p:nvGrpSpPr>
        <p:cNvPr id="1" name=""/>
        <p:cNvGrpSpPr/>
        <p:nvPr/>
      </p:nvGrpSpPr>
      <p:grpSpPr>
        <a:xfrm>
          <a:off x="0" y="0"/>
          <a:ext cx="0" cy="0"/>
          <a:chOff x="0" y="0"/>
          <a:chExt cx="0" cy="0"/>
        </a:xfrm>
      </p:grpSpPr>
      <p:sp>
        <p:nvSpPr>
          <p:cNvPr id="2" name="Text 0"/>
          <p:cNvSpPr/>
          <p:nvPr/>
        </p:nvSpPr>
        <p:spPr>
          <a:xfrm>
            <a:off x="777240" y="777240"/>
            <a:ext cx="5486400" cy="365760"/>
          </a:xfrm>
          <a:prstGeom prst="rect">
            <a:avLst/>
          </a:prstGeom>
          <a:noFill/>
          <a:ln/>
        </p:spPr>
        <p:txBody>
          <a:bodyPr wrap="square" lIns="0" tIns="0" rIns="0" bIns="0" rtlCol="0" anchor="ctr"/>
          <a:lstStyle/>
          <a:p>
            <a:pPr indent="0" marL="0">
              <a:buNone/>
            </a:pPr>
            <a:r>
              <a:rPr lang="en-US" sz="1400" b="1" spc="300" kern="0" dirty="0">
                <a:solidFill>
                  <a:srgbClr val="C1502E"/>
                </a:solidFill>
                <a:latin typeface="Calibri" pitchFamily="34" charset="0"/>
                <a:ea typeface="Calibri" pitchFamily="34" charset="-122"/>
                <a:cs typeface="Calibri" pitchFamily="34" charset="-120"/>
              </a:rPr>
              <a:t>ETAPA 01</a:t>
            </a:r>
            <a:endParaRPr lang="en-US" sz="1400" dirty="0"/>
          </a:p>
        </p:txBody>
      </p:sp>
      <p:sp>
        <p:nvSpPr>
          <p:cNvPr id="3" name="Shape 1"/>
          <p:cNvSpPr/>
          <p:nvPr/>
        </p:nvSpPr>
        <p:spPr>
          <a:xfrm>
            <a:off x="777240" y="1440180"/>
            <a:ext cx="1051560" cy="1051560"/>
          </a:xfrm>
          <a:prstGeom prst="ellipse">
            <a:avLst/>
          </a:prstGeom>
          <a:solidFill>
            <a:srgbClr val="C1502E"/>
          </a:solidFill>
          <a:ln/>
        </p:spPr>
      </p:sp>
      <p:sp>
        <p:nvSpPr>
          <p:cNvPr id="4" name="Text 2"/>
          <p:cNvSpPr/>
          <p:nvPr/>
        </p:nvSpPr>
        <p:spPr>
          <a:xfrm>
            <a:off x="777240" y="1440180"/>
            <a:ext cx="1051560" cy="1051560"/>
          </a:xfrm>
          <a:prstGeom prst="rect">
            <a:avLst/>
          </a:prstGeom>
          <a:noFill/>
          <a:ln/>
        </p:spPr>
        <p:txBody>
          <a:bodyPr wrap="square" lIns="0" tIns="0" rIns="0" bIns="0" rtlCol="0" anchor="ctr"/>
          <a:lstStyle/>
          <a:p>
            <a:pPr algn="ctr" indent="0" marL="0">
              <a:buNone/>
            </a:pPr>
            <a:r>
              <a:rPr lang="en-US" sz="3910" b="1" dirty="0">
                <a:solidFill>
                  <a:srgbClr val="FFFFFF"/>
                </a:solidFill>
                <a:latin typeface="Cambria" pitchFamily="34" charset="0"/>
                <a:ea typeface="Cambria" pitchFamily="34" charset="-122"/>
                <a:cs typeface="Cambria" pitchFamily="34" charset="-120"/>
              </a:rPr>
              <a:t>01</a:t>
            </a:r>
            <a:endParaRPr lang="en-US" sz="3910" dirty="0"/>
          </a:p>
        </p:txBody>
      </p:sp>
      <p:sp>
        <p:nvSpPr>
          <p:cNvPr id="5" name="Text 3"/>
          <p:cNvSpPr/>
          <p:nvPr/>
        </p:nvSpPr>
        <p:spPr>
          <a:xfrm>
            <a:off x="2148840" y="1417320"/>
            <a:ext cx="86868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Presentación</a:t>
            </a:r>
            <a:endParaRPr lang="en-US" sz="4000" dirty="0"/>
          </a:p>
        </p:txBody>
      </p:sp>
      <p:sp>
        <p:nvSpPr>
          <p:cNvPr id="6" name="Text 4"/>
          <p:cNvSpPr/>
          <p:nvPr/>
        </p:nvSpPr>
        <p:spPr>
          <a:xfrm>
            <a:off x="2167128" y="2148840"/>
            <a:ext cx="8686800" cy="457200"/>
          </a:xfrm>
          <a:prstGeom prst="rect">
            <a:avLst/>
          </a:prstGeom>
          <a:noFill/>
          <a:ln/>
        </p:spPr>
        <p:txBody>
          <a:bodyPr wrap="square" lIns="0" tIns="0" rIns="0" bIns="0" rtlCol="0" anchor="ctr"/>
          <a:lstStyle/>
          <a:p>
            <a:pPr indent="0" marL="0">
              <a:buNone/>
            </a:pPr>
            <a:r>
              <a:rPr lang="en-US" sz="1800" i="1" dirty="0">
                <a:solidFill>
                  <a:srgbClr val="D8D4CC"/>
                </a:solidFill>
                <a:latin typeface="Calibri" pitchFamily="34" charset="0"/>
                <a:ea typeface="Calibri" pitchFamily="34" charset="-122"/>
                <a:cs typeface="Calibri" pitchFamily="34" charset="-120"/>
              </a:rPr>
              <a:t>Objetivo: despertar interés, no vender.</a:t>
            </a:r>
            <a:endParaRPr lang="en-US" sz="1800" dirty="0"/>
          </a:p>
        </p:txBody>
      </p:sp>
      <p:sp>
        <p:nvSpPr>
          <p:cNvPr id="7" name="Shape 5"/>
          <p:cNvSpPr/>
          <p:nvPr/>
        </p:nvSpPr>
        <p:spPr>
          <a:xfrm>
            <a:off x="1714500" y="3840480"/>
            <a:ext cx="640080" cy="640080"/>
          </a:xfrm>
          <a:prstGeom prst="ellipse">
            <a:avLst/>
          </a:prstGeom>
          <a:solidFill>
            <a:srgbClr val="2B2622"/>
          </a:solidFill>
          <a:ln/>
        </p:spPr>
      </p:sp>
      <p:pic>
        <p:nvPicPr>
          <p:cNvPr id="8" name="Image 0" descr="/tmp/claude-0/-home-user-Presentaciones-y-varios/903c1196-30c4-57a8-b469-52313f1ce01c/scratchpad/palco/icons/eye_C1502E.png">    </p:cNvPr>
          <p:cNvPicPr>
            <a:picLocks noChangeAspect="1"/>
          </p:cNvPicPr>
          <p:nvPr/>
        </p:nvPicPr>
        <p:blipFill>
          <a:blip r:embed="rId1"/>
          <a:stretch>
            <a:fillRect/>
          </a:stretch>
        </p:blipFill>
        <p:spPr>
          <a:xfrm>
            <a:off x="1868119" y="3994099"/>
            <a:ext cx="332842" cy="332842"/>
          </a:xfrm>
          <a:prstGeom prst="rect">
            <a:avLst/>
          </a:prstGeom>
        </p:spPr>
      </p:pic>
      <p:sp>
        <p:nvSpPr>
          <p:cNvPr id="9" name="Text 6"/>
          <p:cNvSpPr/>
          <p:nvPr/>
        </p:nvSpPr>
        <p:spPr>
          <a:xfrm>
            <a:off x="777240" y="4617720"/>
            <a:ext cx="2514600" cy="73152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Alcance</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masivo calificado</a:t>
            </a:r>
            <a:endParaRPr lang="en-US" sz="1300" dirty="0"/>
          </a:p>
        </p:txBody>
      </p:sp>
      <p:sp>
        <p:nvSpPr>
          <p:cNvPr id="10" name="Shape 7"/>
          <p:cNvSpPr/>
          <p:nvPr/>
        </p:nvSpPr>
        <p:spPr>
          <a:xfrm>
            <a:off x="4485132" y="3840480"/>
            <a:ext cx="640080" cy="640080"/>
          </a:xfrm>
          <a:prstGeom prst="ellipse">
            <a:avLst/>
          </a:prstGeom>
          <a:solidFill>
            <a:srgbClr val="2B2622"/>
          </a:solidFill>
          <a:ln/>
        </p:spPr>
      </p:sp>
      <p:pic>
        <p:nvPicPr>
          <p:cNvPr id="11" name="Image 1" descr="/tmp/claude-0/-home-user-Presentaciones-y-varios/903c1196-30c4-57a8-b469-52313f1ce01c/scratchpad/palco/icons/video_C1502E.png">    </p:cNvPr>
          <p:cNvPicPr>
            <a:picLocks noChangeAspect="1"/>
          </p:cNvPicPr>
          <p:nvPr/>
        </p:nvPicPr>
        <p:blipFill>
          <a:blip r:embed="rId2"/>
          <a:stretch>
            <a:fillRect/>
          </a:stretch>
        </p:blipFill>
        <p:spPr>
          <a:xfrm>
            <a:off x="4638751" y="3994099"/>
            <a:ext cx="332842" cy="332842"/>
          </a:xfrm>
          <a:prstGeom prst="rect">
            <a:avLst/>
          </a:prstGeom>
        </p:spPr>
      </p:pic>
      <p:sp>
        <p:nvSpPr>
          <p:cNvPr id="12" name="Text 8"/>
          <p:cNvSpPr/>
          <p:nvPr/>
        </p:nvSpPr>
        <p:spPr>
          <a:xfrm>
            <a:off x="3547872" y="4617720"/>
            <a:ext cx="2514600" cy="73152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Video e</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interacción</a:t>
            </a:r>
            <a:endParaRPr lang="en-US" sz="1300" dirty="0"/>
          </a:p>
        </p:txBody>
      </p:sp>
      <p:sp>
        <p:nvSpPr>
          <p:cNvPr id="13" name="Shape 9"/>
          <p:cNvSpPr/>
          <p:nvPr/>
        </p:nvSpPr>
        <p:spPr>
          <a:xfrm>
            <a:off x="7255764" y="3840480"/>
            <a:ext cx="640080" cy="640080"/>
          </a:xfrm>
          <a:prstGeom prst="ellipse">
            <a:avLst/>
          </a:prstGeom>
          <a:solidFill>
            <a:srgbClr val="2B2622"/>
          </a:solidFill>
          <a:ln/>
        </p:spPr>
      </p:sp>
      <p:pic>
        <p:nvPicPr>
          <p:cNvPr id="14" name="Image 2" descr="/tmp/claude-0/-home-user-Presentaciones-y-varios/903c1196-30c4-57a8-b469-52313f1ce01c/scratchpad/palco/icons/heart_C1502E.png">    </p:cNvPr>
          <p:cNvPicPr>
            <a:picLocks noChangeAspect="1"/>
          </p:cNvPicPr>
          <p:nvPr/>
        </p:nvPicPr>
        <p:blipFill>
          <a:blip r:embed="rId3"/>
          <a:stretch>
            <a:fillRect/>
          </a:stretch>
        </p:blipFill>
        <p:spPr>
          <a:xfrm>
            <a:off x="7409383" y="3994099"/>
            <a:ext cx="332842" cy="332842"/>
          </a:xfrm>
          <a:prstGeom prst="rect">
            <a:avLst/>
          </a:prstGeom>
        </p:spPr>
      </p:pic>
      <p:sp>
        <p:nvSpPr>
          <p:cNvPr id="15" name="Text 10"/>
          <p:cNvSpPr/>
          <p:nvPr/>
        </p:nvSpPr>
        <p:spPr>
          <a:xfrm>
            <a:off x="6318504" y="4617720"/>
            <a:ext cx="2514600" cy="73152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Conexión</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emocional</a:t>
            </a:r>
            <a:endParaRPr lang="en-US" sz="1300" dirty="0"/>
          </a:p>
        </p:txBody>
      </p:sp>
      <p:sp>
        <p:nvSpPr>
          <p:cNvPr id="16" name="Shape 11"/>
          <p:cNvSpPr/>
          <p:nvPr/>
        </p:nvSpPr>
        <p:spPr>
          <a:xfrm>
            <a:off x="10026396" y="3840480"/>
            <a:ext cx="640080" cy="640080"/>
          </a:xfrm>
          <a:prstGeom prst="ellipse">
            <a:avLst/>
          </a:prstGeom>
          <a:solidFill>
            <a:srgbClr val="2B2622"/>
          </a:solidFill>
          <a:ln/>
        </p:spPr>
      </p:sp>
      <p:pic>
        <p:nvPicPr>
          <p:cNvPr id="17" name="Image 3" descr="/tmp/claude-0/-home-user-Presentaciones-y-varios/903c1196-30c4-57a8-b469-52313f1ce01c/scratchpad/palco/icons/tree_C1502E.png">    </p:cNvPr>
          <p:cNvPicPr>
            <a:picLocks noChangeAspect="1"/>
          </p:cNvPicPr>
          <p:nvPr/>
        </p:nvPicPr>
        <p:blipFill>
          <a:blip r:embed="rId4"/>
          <a:stretch>
            <a:fillRect/>
          </a:stretch>
        </p:blipFill>
        <p:spPr>
          <a:xfrm>
            <a:off x="10180015" y="3994099"/>
            <a:ext cx="332842" cy="332842"/>
          </a:xfrm>
          <a:prstGeom prst="rect">
            <a:avLst/>
          </a:prstGeom>
        </p:spPr>
      </p:pic>
      <p:sp>
        <p:nvSpPr>
          <p:cNvPr id="18" name="Text 12"/>
          <p:cNvSpPr/>
          <p:nvPr/>
        </p:nvSpPr>
        <p:spPr>
          <a:xfrm>
            <a:off x="9089136" y="4617720"/>
            <a:ext cx="2514600" cy="73152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Territorio:</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Chía y Bogotá</a:t>
            </a:r>
            <a:endParaRPr lang="en-US" sz="1300" dirty="0"/>
          </a:p>
        </p:txBody>
      </p:sp>
      <p:sp>
        <p:nvSpPr>
          <p:cNvPr id="19" name="Text 13"/>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9A9691"/>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C1502E"/>
                </a:solidFill>
                <a:latin typeface="Calibri" pitchFamily="34" charset="0"/>
                <a:ea typeface="Calibri" pitchFamily="34" charset="-122"/>
                <a:cs typeface="Calibri" pitchFamily="34" charset="-120"/>
              </a:rPr>
              <a:t>ETAPA 1 · PRESENTACIÓN</a:t>
            </a:r>
            <a:endParaRPr lang="en-US" sz="1200" dirty="0"/>
          </a:p>
        </p:txBody>
      </p:sp>
      <p:sp>
        <p:nvSpPr>
          <p:cNvPr id="3" name="Text 1"/>
          <p:cNvSpPr/>
          <p:nvPr/>
        </p:nvSpPr>
        <p:spPr>
          <a:xfrm>
            <a:off x="640080" y="841248"/>
            <a:ext cx="10515600" cy="822960"/>
          </a:xfrm>
          <a:prstGeom prst="rect">
            <a:avLst/>
          </a:prstGeom>
          <a:noFill/>
          <a:ln/>
        </p:spPr>
        <p:txBody>
          <a:bodyPr wrap="square" lIns="0" tIns="0" rIns="0" bIns="0" rtlCol="0" anchor="ctr"/>
          <a:lstStyle/>
          <a:p>
            <a:pPr algn="l" indent="0" marL="0">
              <a:buNone/>
            </a:pPr>
            <a:r>
              <a:rPr lang="en-US" sz="3400" b="1" dirty="0">
                <a:solidFill>
                  <a:srgbClr val="1E1B18"/>
                </a:solidFill>
                <a:latin typeface="Cambria" pitchFamily="34" charset="0"/>
                <a:ea typeface="Cambria" pitchFamily="34" charset="-122"/>
                <a:cs typeface="Cambria" pitchFamily="34" charset="-120"/>
              </a:rPr>
              <a:t>Los cinco pilares del descubrimiento</a:t>
            </a:r>
            <a:endParaRPr lang="en-US" sz="3400" dirty="0"/>
          </a:p>
        </p:txBody>
      </p:sp>
      <p:sp>
        <p:nvSpPr>
          <p:cNvPr id="4" name="Text 2"/>
          <p:cNvSpPr/>
          <p:nvPr/>
        </p:nvSpPr>
        <p:spPr>
          <a:xfrm>
            <a:off x="640080" y="1481328"/>
            <a:ext cx="9144000" cy="365760"/>
          </a:xfrm>
          <a:prstGeom prst="rect">
            <a:avLst/>
          </a:prstGeom>
          <a:noFill/>
          <a:ln/>
        </p:spPr>
        <p:txBody>
          <a:bodyPr wrap="square" lIns="0" tIns="0" rIns="0" bIns="0" rtlCol="0" anchor="ctr"/>
          <a:lstStyle/>
          <a:p>
            <a:pPr indent="0" marL="0">
              <a:buNone/>
            </a:pPr>
            <a:r>
              <a:rPr lang="en-US" sz="1500" dirty="0">
                <a:solidFill>
                  <a:srgbClr val="6B6B66"/>
                </a:solidFill>
                <a:latin typeface="Calibri" pitchFamily="34" charset="0"/>
                <a:ea typeface="Calibri" pitchFamily="34" charset="-122"/>
                <a:cs typeface="Calibri" pitchFamily="34" charset="-120"/>
              </a:rPr>
              <a:t>Cada pilar ataca una razón distinta de decisión.</a:t>
            </a:r>
            <a:endParaRPr lang="en-US" sz="1500" dirty="0"/>
          </a:p>
        </p:txBody>
      </p:sp>
      <p:sp>
        <p:nvSpPr>
          <p:cNvPr id="5" name="Shape 3"/>
          <p:cNvSpPr/>
          <p:nvPr/>
        </p:nvSpPr>
        <p:spPr>
          <a:xfrm>
            <a:off x="640080" y="2331720"/>
            <a:ext cx="3429000" cy="1965960"/>
          </a:xfrm>
          <a:prstGeom prst="roundRect">
            <a:avLst>
              <a:gd name="adj" fmla="val 3721"/>
            </a:avLst>
          </a:prstGeom>
          <a:solidFill>
            <a:srgbClr val="F7F6F4"/>
          </a:solidFill>
          <a:ln/>
        </p:spPr>
      </p:sp>
      <p:sp>
        <p:nvSpPr>
          <p:cNvPr id="6" name="Shape 4"/>
          <p:cNvSpPr/>
          <p:nvPr/>
        </p:nvSpPr>
        <p:spPr>
          <a:xfrm>
            <a:off x="960120" y="2606040"/>
            <a:ext cx="640080" cy="640080"/>
          </a:xfrm>
          <a:prstGeom prst="ellipse">
            <a:avLst/>
          </a:prstGeom>
          <a:solidFill>
            <a:srgbClr val="FFFFFF"/>
          </a:solidFill>
          <a:ln/>
        </p:spPr>
      </p:sp>
      <p:pic>
        <p:nvPicPr>
          <p:cNvPr id="7" name="Image 0" descr="/tmp/claude-0/-home-user-Presentaciones-y-varios/903c1196-30c4-57a8-b469-52313f1ce01c/scratchpad/palco/icons/fire_C1502E.png">    </p:cNvPr>
          <p:cNvPicPr>
            <a:picLocks noChangeAspect="1"/>
          </p:cNvPicPr>
          <p:nvPr/>
        </p:nvPicPr>
        <p:blipFill>
          <a:blip r:embed="rId1"/>
          <a:stretch>
            <a:fillRect/>
          </a:stretch>
        </p:blipFill>
        <p:spPr>
          <a:xfrm>
            <a:off x="1104138" y="2750058"/>
            <a:ext cx="352044" cy="352044"/>
          </a:xfrm>
          <a:prstGeom prst="rect">
            <a:avLst/>
          </a:prstGeom>
        </p:spPr>
      </p:pic>
      <p:sp>
        <p:nvSpPr>
          <p:cNvPr id="8" name="Text 5"/>
          <p:cNvSpPr/>
          <p:nvPr/>
        </p:nvSpPr>
        <p:spPr>
          <a:xfrm>
            <a:off x="1737360" y="2560320"/>
            <a:ext cx="2148840" cy="365760"/>
          </a:xfrm>
          <a:prstGeom prst="rect">
            <a:avLst/>
          </a:prstGeom>
          <a:noFill/>
          <a:ln/>
        </p:spPr>
        <p:txBody>
          <a:bodyPr wrap="square" lIns="0" tIns="0" rIns="0" bIns="0" rtlCol="0" anchor="ctr"/>
          <a:lstStyle/>
          <a:p>
            <a:pPr indent="0" marL="0">
              <a:buNone/>
            </a:pPr>
            <a:r>
              <a:rPr lang="en-US" sz="1500" b="1" dirty="0">
                <a:solidFill>
                  <a:srgbClr val="1E1B18"/>
                </a:solidFill>
                <a:latin typeface="Cambria" pitchFamily="34" charset="0"/>
                <a:ea typeface="Cambria" pitchFamily="34" charset="-122"/>
                <a:cs typeface="Cambria" pitchFamily="34" charset="-120"/>
              </a:rPr>
              <a:t>Parrilla en vivo</a:t>
            </a:r>
            <a:endParaRPr lang="en-US" sz="1500" dirty="0"/>
          </a:p>
        </p:txBody>
      </p:sp>
      <p:sp>
        <p:nvSpPr>
          <p:cNvPr id="9" name="Text 6"/>
          <p:cNvSpPr/>
          <p:nvPr/>
        </p:nvSpPr>
        <p:spPr>
          <a:xfrm>
            <a:off x="1737360" y="2953512"/>
            <a:ext cx="2148840" cy="822960"/>
          </a:xfrm>
          <a:prstGeom prst="rect">
            <a:avLst/>
          </a:prstGeom>
          <a:noFill/>
          <a:ln/>
        </p:spPr>
        <p:txBody>
          <a:bodyPr wrap="square" lIns="0" tIns="0" rIns="0" bIns="0" rtlCol="0" anchor="ctr"/>
          <a:lstStyle/>
          <a:p>
            <a:pPr indent="0" marL="0">
              <a:buNone/>
            </a:pPr>
            <a:r>
              <a:rPr lang="en-US" sz="1200" dirty="0">
                <a:solidFill>
                  <a:srgbClr val="6B6B66"/>
                </a:solidFill>
                <a:latin typeface="Calibri" pitchFamily="34" charset="0"/>
                <a:ea typeface="Calibri" pitchFamily="34" charset="-122"/>
                <a:cs typeface="Calibri" pitchFamily="34" charset="-120"/>
              </a:rPr>
              <a:t>La cocción y el fuego como espectáculo</a:t>
            </a:r>
            <a:endParaRPr lang="en-US" sz="1200" dirty="0"/>
          </a:p>
        </p:txBody>
      </p:sp>
      <p:sp>
        <p:nvSpPr>
          <p:cNvPr id="10" name="Shape 7"/>
          <p:cNvSpPr/>
          <p:nvPr/>
        </p:nvSpPr>
        <p:spPr>
          <a:xfrm>
            <a:off x="4297680" y="2331720"/>
            <a:ext cx="3429000" cy="1965960"/>
          </a:xfrm>
          <a:prstGeom prst="roundRect">
            <a:avLst>
              <a:gd name="adj" fmla="val 3721"/>
            </a:avLst>
          </a:prstGeom>
          <a:solidFill>
            <a:srgbClr val="F7F6F4"/>
          </a:solidFill>
          <a:ln/>
        </p:spPr>
      </p:sp>
      <p:sp>
        <p:nvSpPr>
          <p:cNvPr id="11" name="Shape 8"/>
          <p:cNvSpPr/>
          <p:nvPr/>
        </p:nvSpPr>
        <p:spPr>
          <a:xfrm>
            <a:off x="4617720" y="2606040"/>
            <a:ext cx="640080" cy="640080"/>
          </a:xfrm>
          <a:prstGeom prst="ellipse">
            <a:avLst/>
          </a:prstGeom>
          <a:solidFill>
            <a:srgbClr val="FFFFFF"/>
          </a:solidFill>
          <a:ln/>
        </p:spPr>
      </p:sp>
      <p:pic>
        <p:nvPicPr>
          <p:cNvPr id="12" name="Image 1" descr="/tmp/claude-0/-home-user-Presentaciones-y-varios/903c1196-30c4-57a8-b469-52313f1ce01c/scratchpad/palco/icons/tree_C1502E.png">    </p:cNvPr>
          <p:cNvPicPr>
            <a:picLocks noChangeAspect="1"/>
          </p:cNvPicPr>
          <p:nvPr/>
        </p:nvPicPr>
        <p:blipFill>
          <a:blip r:embed="rId2"/>
          <a:stretch>
            <a:fillRect/>
          </a:stretch>
        </p:blipFill>
        <p:spPr>
          <a:xfrm>
            <a:off x="4761738" y="2750058"/>
            <a:ext cx="352044" cy="352044"/>
          </a:xfrm>
          <a:prstGeom prst="rect">
            <a:avLst/>
          </a:prstGeom>
        </p:spPr>
      </p:pic>
      <p:sp>
        <p:nvSpPr>
          <p:cNvPr id="13" name="Text 9"/>
          <p:cNvSpPr/>
          <p:nvPr/>
        </p:nvSpPr>
        <p:spPr>
          <a:xfrm>
            <a:off x="5394960" y="2560320"/>
            <a:ext cx="2148840" cy="365760"/>
          </a:xfrm>
          <a:prstGeom prst="rect">
            <a:avLst/>
          </a:prstGeom>
          <a:noFill/>
          <a:ln/>
        </p:spPr>
        <p:txBody>
          <a:bodyPr wrap="square" lIns="0" tIns="0" rIns="0" bIns="0" rtlCol="0" anchor="ctr"/>
          <a:lstStyle/>
          <a:p>
            <a:pPr indent="0" marL="0">
              <a:buNone/>
            </a:pPr>
            <a:r>
              <a:rPr lang="en-US" sz="1500" b="1" dirty="0">
                <a:solidFill>
                  <a:srgbClr val="1E1B18"/>
                </a:solidFill>
                <a:latin typeface="Cambria" pitchFamily="34" charset="0"/>
                <a:ea typeface="Cambria" pitchFamily="34" charset="-122"/>
                <a:cs typeface="Cambria" pitchFamily="34" charset="-120"/>
              </a:rPr>
              <a:t>Ambiente campestre</a:t>
            </a:r>
            <a:endParaRPr lang="en-US" sz="1500" dirty="0"/>
          </a:p>
        </p:txBody>
      </p:sp>
      <p:sp>
        <p:nvSpPr>
          <p:cNvPr id="14" name="Text 10"/>
          <p:cNvSpPr/>
          <p:nvPr/>
        </p:nvSpPr>
        <p:spPr>
          <a:xfrm>
            <a:off x="5394960" y="2953512"/>
            <a:ext cx="2148840" cy="822960"/>
          </a:xfrm>
          <a:prstGeom prst="rect">
            <a:avLst/>
          </a:prstGeom>
          <a:noFill/>
          <a:ln/>
        </p:spPr>
        <p:txBody>
          <a:bodyPr wrap="square" lIns="0" tIns="0" rIns="0" bIns="0" rtlCol="0" anchor="ctr"/>
          <a:lstStyle/>
          <a:p>
            <a:pPr indent="0" marL="0">
              <a:buNone/>
            </a:pPr>
            <a:r>
              <a:rPr lang="en-US" sz="1200" dirty="0">
                <a:solidFill>
                  <a:srgbClr val="6B6B66"/>
                </a:solidFill>
                <a:latin typeface="Calibri" pitchFamily="34" charset="0"/>
                <a:ea typeface="Calibri" pitchFamily="34" charset="-122"/>
                <a:cs typeface="Calibri" pitchFamily="34" charset="-120"/>
              </a:rPr>
              <a:t>Naturaleza a minutos de Bogotá</a:t>
            </a:r>
            <a:endParaRPr lang="en-US" sz="1200" dirty="0"/>
          </a:p>
        </p:txBody>
      </p:sp>
      <p:sp>
        <p:nvSpPr>
          <p:cNvPr id="15" name="Shape 11"/>
          <p:cNvSpPr/>
          <p:nvPr/>
        </p:nvSpPr>
        <p:spPr>
          <a:xfrm>
            <a:off x="7955280" y="2331720"/>
            <a:ext cx="3429000" cy="1965960"/>
          </a:xfrm>
          <a:prstGeom prst="roundRect">
            <a:avLst>
              <a:gd name="adj" fmla="val 3721"/>
            </a:avLst>
          </a:prstGeom>
          <a:solidFill>
            <a:srgbClr val="F7F6F4"/>
          </a:solidFill>
          <a:ln/>
        </p:spPr>
      </p:sp>
      <p:sp>
        <p:nvSpPr>
          <p:cNvPr id="16" name="Shape 12"/>
          <p:cNvSpPr/>
          <p:nvPr/>
        </p:nvSpPr>
        <p:spPr>
          <a:xfrm>
            <a:off x="8275320" y="2606040"/>
            <a:ext cx="640080" cy="640080"/>
          </a:xfrm>
          <a:prstGeom prst="ellipse">
            <a:avLst/>
          </a:prstGeom>
          <a:solidFill>
            <a:srgbClr val="FFFFFF"/>
          </a:solidFill>
          <a:ln/>
        </p:spPr>
      </p:sp>
      <p:pic>
        <p:nvPicPr>
          <p:cNvPr id="17" name="Image 2" descr="/tmp/claude-0/-home-user-Presentaciones-y-varios/903c1196-30c4-57a8-b469-52313f1ce01c/scratchpad/palco/icons/users_C1502E.png">    </p:cNvPr>
          <p:cNvPicPr>
            <a:picLocks noChangeAspect="1"/>
          </p:cNvPicPr>
          <p:nvPr/>
        </p:nvPicPr>
        <p:blipFill>
          <a:blip r:embed="rId3"/>
          <a:stretch>
            <a:fillRect/>
          </a:stretch>
        </p:blipFill>
        <p:spPr>
          <a:xfrm>
            <a:off x="8419338" y="2750058"/>
            <a:ext cx="352044" cy="352044"/>
          </a:xfrm>
          <a:prstGeom prst="rect">
            <a:avLst/>
          </a:prstGeom>
        </p:spPr>
      </p:pic>
      <p:sp>
        <p:nvSpPr>
          <p:cNvPr id="18" name="Text 13"/>
          <p:cNvSpPr/>
          <p:nvPr/>
        </p:nvSpPr>
        <p:spPr>
          <a:xfrm>
            <a:off x="9052560" y="2560320"/>
            <a:ext cx="2148840" cy="365760"/>
          </a:xfrm>
          <a:prstGeom prst="rect">
            <a:avLst/>
          </a:prstGeom>
          <a:noFill/>
          <a:ln/>
        </p:spPr>
        <p:txBody>
          <a:bodyPr wrap="square" lIns="0" tIns="0" rIns="0" bIns="0" rtlCol="0" anchor="ctr"/>
          <a:lstStyle/>
          <a:p>
            <a:pPr indent="0" marL="0">
              <a:buNone/>
            </a:pPr>
            <a:r>
              <a:rPr lang="en-US" sz="1500" b="1" dirty="0">
                <a:solidFill>
                  <a:srgbClr val="1E1B18"/>
                </a:solidFill>
                <a:latin typeface="Cambria" pitchFamily="34" charset="0"/>
                <a:ea typeface="Cambria" pitchFamily="34" charset="-122"/>
                <a:cs typeface="Cambria" pitchFamily="34" charset="-120"/>
              </a:rPr>
              <a:t>Familias y mascotas</a:t>
            </a:r>
            <a:endParaRPr lang="en-US" sz="1500" dirty="0"/>
          </a:p>
        </p:txBody>
      </p:sp>
      <p:sp>
        <p:nvSpPr>
          <p:cNvPr id="19" name="Text 14"/>
          <p:cNvSpPr/>
          <p:nvPr/>
        </p:nvSpPr>
        <p:spPr>
          <a:xfrm>
            <a:off x="9052560" y="2953512"/>
            <a:ext cx="2148840" cy="822960"/>
          </a:xfrm>
          <a:prstGeom prst="rect">
            <a:avLst/>
          </a:prstGeom>
          <a:noFill/>
          <a:ln/>
        </p:spPr>
        <p:txBody>
          <a:bodyPr wrap="square" lIns="0" tIns="0" rIns="0" bIns="0" rtlCol="0" anchor="ctr"/>
          <a:lstStyle/>
          <a:p>
            <a:pPr indent="0" marL="0">
              <a:buNone/>
            </a:pPr>
            <a:r>
              <a:rPr lang="en-US" sz="1200" dirty="0">
                <a:solidFill>
                  <a:srgbClr val="6B6B66"/>
                </a:solidFill>
                <a:latin typeface="Calibri" pitchFamily="34" charset="0"/>
                <a:ea typeface="Calibri" pitchFamily="34" charset="-122"/>
                <a:cs typeface="Calibri" pitchFamily="34" charset="-120"/>
              </a:rPr>
              <a:t>Espacios pensados para todos</a:t>
            </a:r>
            <a:endParaRPr lang="en-US" sz="1200" dirty="0"/>
          </a:p>
        </p:txBody>
      </p:sp>
      <p:sp>
        <p:nvSpPr>
          <p:cNvPr id="20" name="Shape 15"/>
          <p:cNvSpPr/>
          <p:nvPr/>
        </p:nvSpPr>
        <p:spPr>
          <a:xfrm>
            <a:off x="640080" y="4663440"/>
            <a:ext cx="3429000" cy="1965960"/>
          </a:xfrm>
          <a:prstGeom prst="roundRect">
            <a:avLst>
              <a:gd name="adj" fmla="val 3721"/>
            </a:avLst>
          </a:prstGeom>
          <a:solidFill>
            <a:srgbClr val="F7F6F4"/>
          </a:solidFill>
          <a:ln/>
        </p:spPr>
      </p:sp>
      <p:sp>
        <p:nvSpPr>
          <p:cNvPr id="21" name="Shape 16"/>
          <p:cNvSpPr/>
          <p:nvPr/>
        </p:nvSpPr>
        <p:spPr>
          <a:xfrm>
            <a:off x="960120" y="4937760"/>
            <a:ext cx="640080" cy="640080"/>
          </a:xfrm>
          <a:prstGeom prst="ellipse">
            <a:avLst/>
          </a:prstGeom>
          <a:solidFill>
            <a:srgbClr val="FFFFFF"/>
          </a:solidFill>
          <a:ln/>
        </p:spPr>
      </p:sp>
      <p:pic>
        <p:nvPicPr>
          <p:cNvPr id="22" name="Image 3" descr="/tmp/claude-0/-home-user-Presentaciones-y-varios/903c1196-30c4-57a8-b469-52313f1ce01c/scratchpad/palco/icons/music_C1502E.png">    </p:cNvPr>
          <p:cNvPicPr>
            <a:picLocks noChangeAspect="1"/>
          </p:cNvPicPr>
          <p:nvPr/>
        </p:nvPicPr>
        <p:blipFill>
          <a:blip r:embed="rId4"/>
          <a:stretch>
            <a:fillRect/>
          </a:stretch>
        </p:blipFill>
        <p:spPr>
          <a:xfrm>
            <a:off x="1104138" y="5081778"/>
            <a:ext cx="352044" cy="352044"/>
          </a:xfrm>
          <a:prstGeom prst="rect">
            <a:avLst/>
          </a:prstGeom>
        </p:spPr>
      </p:pic>
      <p:sp>
        <p:nvSpPr>
          <p:cNvPr id="23" name="Text 17"/>
          <p:cNvSpPr/>
          <p:nvPr/>
        </p:nvSpPr>
        <p:spPr>
          <a:xfrm>
            <a:off x="1737360" y="4892040"/>
            <a:ext cx="2148840" cy="365760"/>
          </a:xfrm>
          <a:prstGeom prst="rect">
            <a:avLst/>
          </a:prstGeom>
          <a:noFill/>
          <a:ln/>
        </p:spPr>
        <p:txBody>
          <a:bodyPr wrap="square" lIns="0" tIns="0" rIns="0" bIns="0" rtlCol="0" anchor="ctr"/>
          <a:lstStyle/>
          <a:p>
            <a:pPr indent="0" marL="0">
              <a:buNone/>
            </a:pPr>
            <a:r>
              <a:rPr lang="en-US" sz="1500" b="1" dirty="0">
                <a:solidFill>
                  <a:srgbClr val="1E1B18"/>
                </a:solidFill>
                <a:latin typeface="Cambria" pitchFamily="34" charset="0"/>
                <a:ea typeface="Cambria" pitchFamily="34" charset="-122"/>
                <a:cs typeface="Cambria" pitchFamily="34" charset="-120"/>
              </a:rPr>
              <a:t>Eventos y música</a:t>
            </a:r>
            <a:endParaRPr lang="en-US" sz="1500" dirty="0"/>
          </a:p>
        </p:txBody>
      </p:sp>
      <p:sp>
        <p:nvSpPr>
          <p:cNvPr id="24" name="Text 18"/>
          <p:cNvSpPr/>
          <p:nvPr/>
        </p:nvSpPr>
        <p:spPr>
          <a:xfrm>
            <a:off x="1737360" y="5285232"/>
            <a:ext cx="2148840" cy="822960"/>
          </a:xfrm>
          <a:prstGeom prst="rect">
            <a:avLst/>
          </a:prstGeom>
          <a:noFill/>
          <a:ln/>
        </p:spPr>
        <p:txBody>
          <a:bodyPr wrap="square" lIns="0" tIns="0" rIns="0" bIns="0" rtlCol="0" anchor="ctr"/>
          <a:lstStyle/>
          <a:p>
            <a:pPr indent="0" marL="0">
              <a:buNone/>
            </a:pPr>
            <a:r>
              <a:rPr lang="en-US" sz="1200" dirty="0">
                <a:solidFill>
                  <a:srgbClr val="6B6B66"/>
                </a:solidFill>
                <a:latin typeface="Calibri" pitchFamily="34" charset="0"/>
                <a:ea typeface="Calibri" pitchFamily="34" charset="-122"/>
                <a:cs typeface="Calibri" pitchFamily="34" charset="-120"/>
              </a:rPr>
              <a:t>Celebración en vivo, no solo comida</a:t>
            </a:r>
            <a:endParaRPr lang="en-US" sz="1200" dirty="0"/>
          </a:p>
        </p:txBody>
      </p:sp>
      <p:sp>
        <p:nvSpPr>
          <p:cNvPr id="25" name="Shape 19"/>
          <p:cNvSpPr/>
          <p:nvPr/>
        </p:nvSpPr>
        <p:spPr>
          <a:xfrm>
            <a:off x="4297680" y="4663440"/>
            <a:ext cx="3429000" cy="1965960"/>
          </a:xfrm>
          <a:prstGeom prst="roundRect">
            <a:avLst>
              <a:gd name="adj" fmla="val 3721"/>
            </a:avLst>
          </a:prstGeom>
          <a:solidFill>
            <a:srgbClr val="F7F6F4"/>
          </a:solidFill>
          <a:ln/>
        </p:spPr>
      </p:sp>
      <p:sp>
        <p:nvSpPr>
          <p:cNvPr id="26" name="Shape 20"/>
          <p:cNvSpPr/>
          <p:nvPr/>
        </p:nvSpPr>
        <p:spPr>
          <a:xfrm>
            <a:off x="4617720" y="4937760"/>
            <a:ext cx="640080" cy="640080"/>
          </a:xfrm>
          <a:prstGeom prst="ellipse">
            <a:avLst/>
          </a:prstGeom>
          <a:solidFill>
            <a:srgbClr val="FFFFFF"/>
          </a:solidFill>
          <a:ln/>
        </p:spPr>
      </p:sp>
      <p:pic>
        <p:nvPicPr>
          <p:cNvPr id="27" name="Image 4" descr="/tmp/claude-0/-home-user-Presentaciones-y-varios/903c1196-30c4-57a8-b469-52313f1ce01c/scratchpad/palco/icons/star_C1502E.png">    </p:cNvPr>
          <p:cNvPicPr>
            <a:picLocks noChangeAspect="1"/>
          </p:cNvPicPr>
          <p:nvPr/>
        </p:nvPicPr>
        <p:blipFill>
          <a:blip r:embed="rId5"/>
          <a:stretch>
            <a:fillRect/>
          </a:stretch>
        </p:blipFill>
        <p:spPr>
          <a:xfrm>
            <a:off x="4761738" y="5081778"/>
            <a:ext cx="352044" cy="352044"/>
          </a:xfrm>
          <a:prstGeom prst="rect">
            <a:avLst/>
          </a:prstGeom>
        </p:spPr>
      </p:pic>
      <p:sp>
        <p:nvSpPr>
          <p:cNvPr id="28" name="Text 21"/>
          <p:cNvSpPr/>
          <p:nvPr/>
        </p:nvSpPr>
        <p:spPr>
          <a:xfrm>
            <a:off x="5394960" y="4892040"/>
            <a:ext cx="2148840" cy="365760"/>
          </a:xfrm>
          <a:prstGeom prst="rect">
            <a:avLst/>
          </a:prstGeom>
          <a:noFill/>
          <a:ln/>
        </p:spPr>
        <p:txBody>
          <a:bodyPr wrap="square" lIns="0" tIns="0" rIns="0" bIns="0" rtlCol="0" anchor="ctr"/>
          <a:lstStyle/>
          <a:p>
            <a:pPr indent="0" marL="0">
              <a:buNone/>
            </a:pPr>
            <a:r>
              <a:rPr lang="en-US" sz="1500" b="1" dirty="0">
                <a:solidFill>
                  <a:srgbClr val="1E1B18"/>
                </a:solidFill>
                <a:latin typeface="Cambria" pitchFamily="34" charset="0"/>
                <a:ea typeface="Cambria" pitchFamily="34" charset="-122"/>
                <a:cs typeface="Cambria" pitchFamily="34" charset="-120"/>
              </a:rPr>
              <a:t>Chicharrón Espectacular</a:t>
            </a:r>
            <a:endParaRPr lang="en-US" sz="1500" dirty="0"/>
          </a:p>
        </p:txBody>
      </p:sp>
      <p:sp>
        <p:nvSpPr>
          <p:cNvPr id="29" name="Text 22"/>
          <p:cNvSpPr/>
          <p:nvPr/>
        </p:nvSpPr>
        <p:spPr>
          <a:xfrm>
            <a:off x="5394960" y="5285232"/>
            <a:ext cx="2148840" cy="822960"/>
          </a:xfrm>
          <a:prstGeom prst="rect">
            <a:avLst/>
          </a:prstGeom>
          <a:noFill/>
          <a:ln/>
        </p:spPr>
        <p:txBody>
          <a:bodyPr wrap="square" lIns="0" tIns="0" rIns="0" bIns="0" rtlCol="0" anchor="ctr"/>
          <a:lstStyle/>
          <a:p>
            <a:pPr indent="0" marL="0">
              <a:buNone/>
            </a:pPr>
            <a:r>
              <a:rPr lang="en-US" sz="1200" dirty="0">
                <a:solidFill>
                  <a:srgbClr val="6B6B66"/>
                </a:solidFill>
                <a:latin typeface="Calibri" pitchFamily="34" charset="0"/>
                <a:ea typeface="Calibri" pitchFamily="34" charset="-122"/>
                <a:cs typeface="Calibri" pitchFamily="34" charset="-120"/>
              </a:rPr>
              <a:t>Reconocido por Tulio Recomienda</a:t>
            </a:r>
            <a:endParaRPr lang="en-US" sz="1200" dirty="0"/>
          </a:p>
        </p:txBody>
      </p:sp>
      <p:sp>
        <p:nvSpPr>
          <p:cNvPr id="30" name="Text 23"/>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1B18"/>
        </a:solidFill>
      </p:bgPr>
    </p:bg>
    <p:spTree>
      <p:nvGrpSpPr>
        <p:cNvPr id="1" name=""/>
        <p:cNvGrpSpPr/>
        <p:nvPr/>
      </p:nvGrpSpPr>
      <p:grpSpPr>
        <a:xfrm>
          <a:off x="0" y="0"/>
          <a:ext cx="0" cy="0"/>
          <a:chOff x="0" y="0"/>
          <a:chExt cx="0" cy="0"/>
        </a:xfrm>
      </p:grpSpPr>
      <p:sp>
        <p:nvSpPr>
          <p:cNvPr id="2" name="Text 0"/>
          <p:cNvSpPr/>
          <p:nvPr/>
        </p:nvSpPr>
        <p:spPr>
          <a:xfrm>
            <a:off x="777240" y="777240"/>
            <a:ext cx="5486400" cy="365760"/>
          </a:xfrm>
          <a:prstGeom prst="rect">
            <a:avLst/>
          </a:prstGeom>
          <a:noFill/>
          <a:ln/>
        </p:spPr>
        <p:txBody>
          <a:bodyPr wrap="square" lIns="0" tIns="0" rIns="0" bIns="0" rtlCol="0" anchor="ctr"/>
          <a:lstStyle/>
          <a:p>
            <a:pPr indent="0" marL="0">
              <a:buNone/>
            </a:pPr>
            <a:r>
              <a:rPr lang="en-US" sz="1400" b="1" spc="300" kern="0" dirty="0">
                <a:solidFill>
                  <a:srgbClr val="C1502E"/>
                </a:solidFill>
                <a:latin typeface="Calibri" pitchFamily="34" charset="0"/>
                <a:ea typeface="Calibri" pitchFamily="34" charset="-122"/>
                <a:cs typeface="Calibri" pitchFamily="34" charset="-120"/>
              </a:rPr>
              <a:t>ETAPA 02</a:t>
            </a:r>
            <a:endParaRPr lang="en-US" sz="1400" dirty="0"/>
          </a:p>
        </p:txBody>
      </p:sp>
      <p:sp>
        <p:nvSpPr>
          <p:cNvPr id="3" name="Shape 1"/>
          <p:cNvSpPr/>
          <p:nvPr/>
        </p:nvSpPr>
        <p:spPr>
          <a:xfrm>
            <a:off x="777240" y="1440180"/>
            <a:ext cx="1051560" cy="1051560"/>
          </a:xfrm>
          <a:prstGeom prst="ellipse">
            <a:avLst/>
          </a:prstGeom>
          <a:solidFill>
            <a:srgbClr val="C1502E"/>
          </a:solidFill>
          <a:ln/>
        </p:spPr>
      </p:sp>
      <p:sp>
        <p:nvSpPr>
          <p:cNvPr id="4" name="Text 2"/>
          <p:cNvSpPr/>
          <p:nvPr/>
        </p:nvSpPr>
        <p:spPr>
          <a:xfrm>
            <a:off x="777240" y="1440180"/>
            <a:ext cx="1051560" cy="1051560"/>
          </a:xfrm>
          <a:prstGeom prst="rect">
            <a:avLst/>
          </a:prstGeom>
          <a:noFill/>
          <a:ln/>
        </p:spPr>
        <p:txBody>
          <a:bodyPr wrap="square" lIns="0" tIns="0" rIns="0" bIns="0" rtlCol="0" anchor="ctr"/>
          <a:lstStyle/>
          <a:p>
            <a:pPr algn="ctr" indent="0" marL="0">
              <a:buNone/>
            </a:pPr>
            <a:r>
              <a:rPr lang="en-US" sz="3910" b="1" dirty="0">
                <a:solidFill>
                  <a:srgbClr val="FFFFFF"/>
                </a:solidFill>
                <a:latin typeface="Cambria" pitchFamily="34" charset="0"/>
                <a:ea typeface="Cambria" pitchFamily="34" charset="-122"/>
                <a:cs typeface="Cambria" pitchFamily="34" charset="-120"/>
              </a:rPr>
              <a:t>02</a:t>
            </a:r>
            <a:endParaRPr lang="en-US" sz="3910" dirty="0"/>
          </a:p>
        </p:txBody>
      </p:sp>
      <p:sp>
        <p:nvSpPr>
          <p:cNvPr id="5" name="Text 3"/>
          <p:cNvSpPr/>
          <p:nvPr/>
        </p:nvSpPr>
        <p:spPr>
          <a:xfrm>
            <a:off x="2148840" y="1417320"/>
            <a:ext cx="86868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Evaluación</a:t>
            </a:r>
            <a:endParaRPr lang="en-US" sz="4000" dirty="0"/>
          </a:p>
        </p:txBody>
      </p:sp>
      <p:sp>
        <p:nvSpPr>
          <p:cNvPr id="6" name="Text 4"/>
          <p:cNvSpPr/>
          <p:nvPr/>
        </p:nvSpPr>
        <p:spPr>
          <a:xfrm>
            <a:off x="2167128" y="2148840"/>
            <a:ext cx="8686800" cy="457200"/>
          </a:xfrm>
          <a:prstGeom prst="rect">
            <a:avLst/>
          </a:prstGeom>
          <a:noFill/>
          <a:ln/>
        </p:spPr>
        <p:txBody>
          <a:bodyPr wrap="square" lIns="0" tIns="0" rIns="0" bIns="0" rtlCol="0" anchor="ctr"/>
          <a:lstStyle/>
          <a:p>
            <a:pPr indent="0" marL="0">
              <a:buNone/>
            </a:pPr>
            <a:r>
              <a:rPr lang="en-US" sz="1800" i="1" dirty="0">
                <a:solidFill>
                  <a:srgbClr val="D8D4CC"/>
                </a:solidFill>
                <a:latin typeface="Calibri" pitchFamily="34" charset="0"/>
                <a:ea typeface="Calibri" pitchFamily="34" charset="-122"/>
                <a:cs typeface="Calibri" pitchFamily="34" charset="-120"/>
              </a:rPr>
              <a:t>Objetivo: el usuario ya conoce El Palco. Ahora necesita convencerse.</a:t>
            </a:r>
            <a:endParaRPr lang="en-US" sz="1800" dirty="0"/>
          </a:p>
        </p:txBody>
      </p:sp>
      <p:sp>
        <p:nvSpPr>
          <p:cNvPr id="7" name="Shape 5"/>
          <p:cNvSpPr/>
          <p:nvPr/>
        </p:nvSpPr>
        <p:spPr>
          <a:xfrm>
            <a:off x="1714500" y="3840480"/>
            <a:ext cx="640080" cy="640080"/>
          </a:xfrm>
          <a:prstGeom prst="ellipse">
            <a:avLst/>
          </a:prstGeom>
          <a:solidFill>
            <a:srgbClr val="2B2622"/>
          </a:solidFill>
          <a:ln/>
        </p:spPr>
      </p:sp>
      <p:pic>
        <p:nvPicPr>
          <p:cNvPr id="8" name="Image 0" descr="/tmp/claude-0/-home-user-Presentaciones-y-varios/903c1196-30c4-57a8-b469-52313f1ce01c/scratchpad/palco/icons/star_C1502E.png">    </p:cNvPr>
          <p:cNvPicPr>
            <a:picLocks noChangeAspect="1"/>
          </p:cNvPicPr>
          <p:nvPr/>
        </p:nvPicPr>
        <p:blipFill>
          <a:blip r:embed="rId1"/>
          <a:stretch>
            <a:fillRect/>
          </a:stretch>
        </p:blipFill>
        <p:spPr>
          <a:xfrm>
            <a:off x="1868119" y="3994099"/>
            <a:ext cx="332842" cy="332842"/>
          </a:xfrm>
          <a:prstGeom prst="rect">
            <a:avLst/>
          </a:prstGeom>
        </p:spPr>
      </p:pic>
      <p:sp>
        <p:nvSpPr>
          <p:cNvPr id="9" name="Text 6"/>
          <p:cNvSpPr/>
          <p:nvPr/>
        </p:nvSpPr>
        <p:spPr>
          <a:xfrm>
            <a:off x="777240" y="4617720"/>
            <a:ext cx="2514600" cy="73152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Prueba</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social real</a:t>
            </a:r>
            <a:endParaRPr lang="en-US" sz="1300" dirty="0"/>
          </a:p>
        </p:txBody>
      </p:sp>
      <p:sp>
        <p:nvSpPr>
          <p:cNvPr id="10" name="Shape 7"/>
          <p:cNvSpPr/>
          <p:nvPr/>
        </p:nvSpPr>
        <p:spPr>
          <a:xfrm>
            <a:off x="4485132" y="3840480"/>
            <a:ext cx="640080" cy="640080"/>
          </a:xfrm>
          <a:prstGeom prst="ellipse">
            <a:avLst/>
          </a:prstGeom>
          <a:solidFill>
            <a:srgbClr val="2B2622"/>
          </a:solidFill>
          <a:ln/>
        </p:spPr>
      </p:sp>
      <p:pic>
        <p:nvPicPr>
          <p:cNvPr id="11" name="Image 1" descr="/tmp/claude-0/-home-user-Presentaciones-y-varios/903c1196-30c4-57a8-b469-52313f1ce01c/scratchpad/palco/icons/video_C1502E.png">    </p:cNvPr>
          <p:cNvPicPr>
            <a:picLocks noChangeAspect="1"/>
          </p:cNvPicPr>
          <p:nvPr/>
        </p:nvPicPr>
        <p:blipFill>
          <a:blip r:embed="rId2"/>
          <a:stretch>
            <a:fillRect/>
          </a:stretch>
        </p:blipFill>
        <p:spPr>
          <a:xfrm>
            <a:off x="4638751" y="3994099"/>
            <a:ext cx="332842" cy="332842"/>
          </a:xfrm>
          <a:prstGeom prst="rect">
            <a:avLst/>
          </a:prstGeom>
        </p:spPr>
      </p:pic>
      <p:sp>
        <p:nvSpPr>
          <p:cNvPr id="12" name="Text 8"/>
          <p:cNvSpPr/>
          <p:nvPr/>
        </p:nvSpPr>
        <p:spPr>
          <a:xfrm>
            <a:off x="3547872" y="4617720"/>
            <a:ext cx="2514600" cy="73152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Historias y</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testimonios</a:t>
            </a:r>
            <a:endParaRPr lang="en-US" sz="1300" dirty="0"/>
          </a:p>
        </p:txBody>
      </p:sp>
      <p:sp>
        <p:nvSpPr>
          <p:cNvPr id="13" name="Shape 9"/>
          <p:cNvSpPr/>
          <p:nvPr/>
        </p:nvSpPr>
        <p:spPr>
          <a:xfrm>
            <a:off x="7255764" y="3840480"/>
            <a:ext cx="640080" cy="640080"/>
          </a:xfrm>
          <a:prstGeom prst="ellipse">
            <a:avLst/>
          </a:prstGeom>
          <a:solidFill>
            <a:srgbClr val="2B2622"/>
          </a:solidFill>
          <a:ln/>
        </p:spPr>
      </p:sp>
      <p:pic>
        <p:nvPicPr>
          <p:cNvPr id="14" name="Image 2" descr="/tmp/claude-0/-home-user-Presentaciones-y-varios/903c1196-30c4-57a8-b469-52313f1ce01c/scratchpad/palco/icons/sync_C1502E.png">    </p:cNvPr>
          <p:cNvPicPr>
            <a:picLocks noChangeAspect="1"/>
          </p:cNvPicPr>
          <p:nvPr/>
        </p:nvPicPr>
        <p:blipFill>
          <a:blip r:embed="rId3"/>
          <a:stretch>
            <a:fillRect/>
          </a:stretch>
        </p:blipFill>
        <p:spPr>
          <a:xfrm>
            <a:off x="7409383" y="3994099"/>
            <a:ext cx="332842" cy="332842"/>
          </a:xfrm>
          <a:prstGeom prst="rect">
            <a:avLst/>
          </a:prstGeom>
        </p:spPr>
      </p:pic>
      <p:sp>
        <p:nvSpPr>
          <p:cNvPr id="15" name="Text 10"/>
          <p:cNvSpPr/>
          <p:nvPr/>
        </p:nvSpPr>
        <p:spPr>
          <a:xfrm>
            <a:off x="6318504" y="4617720"/>
            <a:ext cx="2514600" cy="73152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Remarketing</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por interacción</a:t>
            </a:r>
            <a:endParaRPr lang="en-US" sz="1300" dirty="0"/>
          </a:p>
        </p:txBody>
      </p:sp>
      <p:sp>
        <p:nvSpPr>
          <p:cNvPr id="16" name="Shape 11"/>
          <p:cNvSpPr/>
          <p:nvPr/>
        </p:nvSpPr>
        <p:spPr>
          <a:xfrm>
            <a:off x="10026396" y="3840480"/>
            <a:ext cx="640080" cy="640080"/>
          </a:xfrm>
          <a:prstGeom prst="ellipse">
            <a:avLst/>
          </a:prstGeom>
          <a:solidFill>
            <a:srgbClr val="2B2622"/>
          </a:solidFill>
          <a:ln/>
        </p:spPr>
      </p:sp>
      <p:pic>
        <p:nvPicPr>
          <p:cNvPr id="17" name="Image 3" descr="/tmp/claude-0/-home-user-Presentaciones-y-varios/903c1196-30c4-57a8-b469-52313f1ce01c/scratchpad/palco/icons/check_C1502E.png">    </p:cNvPr>
          <p:cNvPicPr>
            <a:picLocks noChangeAspect="1"/>
          </p:cNvPicPr>
          <p:nvPr/>
        </p:nvPicPr>
        <p:blipFill>
          <a:blip r:embed="rId4"/>
          <a:stretch>
            <a:fillRect/>
          </a:stretch>
        </p:blipFill>
        <p:spPr>
          <a:xfrm>
            <a:off x="10180015" y="3994099"/>
            <a:ext cx="332842" cy="332842"/>
          </a:xfrm>
          <a:prstGeom prst="rect">
            <a:avLst/>
          </a:prstGeom>
        </p:spPr>
      </p:pic>
      <p:sp>
        <p:nvSpPr>
          <p:cNvPr id="18" name="Text 12"/>
          <p:cNvSpPr/>
          <p:nvPr/>
        </p:nvSpPr>
        <p:spPr>
          <a:xfrm>
            <a:off x="9089136" y="4617720"/>
            <a:ext cx="2514600" cy="73152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Comparación</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y confianza</a:t>
            </a:r>
            <a:endParaRPr lang="en-US" sz="1300" dirty="0"/>
          </a:p>
        </p:txBody>
      </p:sp>
      <p:sp>
        <p:nvSpPr>
          <p:cNvPr id="19" name="Text 13"/>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9A9691"/>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C1502E"/>
                </a:solidFill>
                <a:latin typeface="Calibri" pitchFamily="34" charset="0"/>
                <a:ea typeface="Calibri" pitchFamily="34" charset="-122"/>
                <a:cs typeface="Calibri" pitchFamily="34" charset="-120"/>
              </a:rPr>
              <a:t>ETAPA 2 · EVALUACIÓN</a:t>
            </a:r>
            <a:endParaRPr lang="en-US" sz="1200" dirty="0"/>
          </a:p>
        </p:txBody>
      </p:sp>
      <p:sp>
        <p:nvSpPr>
          <p:cNvPr id="3" name="Text 1"/>
          <p:cNvSpPr/>
          <p:nvPr/>
        </p:nvSpPr>
        <p:spPr>
          <a:xfrm>
            <a:off x="640080" y="841248"/>
            <a:ext cx="10515600" cy="822960"/>
          </a:xfrm>
          <a:prstGeom prst="rect">
            <a:avLst/>
          </a:prstGeom>
          <a:noFill/>
          <a:ln/>
        </p:spPr>
        <p:txBody>
          <a:bodyPr wrap="square" lIns="0" tIns="0" rIns="0" bIns="0" rtlCol="0" anchor="ctr"/>
          <a:lstStyle/>
          <a:p>
            <a:pPr algn="l" indent="0" marL="0">
              <a:buNone/>
            </a:pPr>
            <a:r>
              <a:rPr lang="en-US" sz="3400" b="1" dirty="0">
                <a:solidFill>
                  <a:srgbClr val="1E1B18"/>
                </a:solidFill>
                <a:latin typeface="Cambria" pitchFamily="34" charset="0"/>
                <a:ea typeface="Cambria" pitchFamily="34" charset="-122"/>
                <a:cs typeface="Cambria" pitchFamily="34" charset="-120"/>
              </a:rPr>
              <a:t>El activo que hoy no se está usando</a:t>
            </a:r>
            <a:endParaRPr lang="en-US" sz="3400" dirty="0"/>
          </a:p>
        </p:txBody>
      </p:sp>
      <p:sp>
        <p:nvSpPr>
          <p:cNvPr id="4" name="Shape 2"/>
          <p:cNvSpPr/>
          <p:nvPr/>
        </p:nvSpPr>
        <p:spPr>
          <a:xfrm>
            <a:off x="640080" y="1965960"/>
            <a:ext cx="3200400" cy="2103120"/>
          </a:xfrm>
          <a:prstGeom prst="roundRect">
            <a:avLst>
              <a:gd name="adj" fmla="val 3478"/>
            </a:avLst>
          </a:prstGeom>
          <a:solidFill>
            <a:srgbClr val="E7EBE2"/>
          </a:solidFill>
          <a:ln/>
        </p:spPr>
      </p:sp>
      <p:sp>
        <p:nvSpPr>
          <p:cNvPr id="5" name="Shape 3"/>
          <p:cNvSpPr/>
          <p:nvPr/>
        </p:nvSpPr>
        <p:spPr>
          <a:xfrm>
            <a:off x="1005840" y="2606040"/>
            <a:ext cx="822960" cy="822960"/>
          </a:xfrm>
          <a:prstGeom prst="ellipse">
            <a:avLst/>
          </a:prstGeom>
          <a:solidFill>
            <a:srgbClr val="FFFFFF"/>
          </a:solidFill>
          <a:ln/>
        </p:spPr>
      </p:sp>
      <p:pic>
        <p:nvPicPr>
          <p:cNvPr id="6" name="Image 0" descr="/tmp/claude-0/-home-user-Presentaciones-y-varios/903c1196-30c4-57a8-b469-52313f1ce01c/scratchpad/palco/icons/instagram_5B6B4F.png">    </p:cNvPr>
          <p:cNvPicPr>
            <a:picLocks noChangeAspect="1"/>
          </p:cNvPicPr>
          <p:nvPr/>
        </p:nvPicPr>
        <p:blipFill>
          <a:blip r:embed="rId1"/>
          <a:stretch>
            <a:fillRect/>
          </a:stretch>
        </p:blipFill>
        <p:spPr>
          <a:xfrm>
            <a:off x="1211580" y="2811780"/>
            <a:ext cx="411480" cy="411480"/>
          </a:xfrm>
          <a:prstGeom prst="rect">
            <a:avLst/>
          </a:prstGeom>
        </p:spPr>
      </p:pic>
      <p:sp>
        <p:nvSpPr>
          <p:cNvPr id="7" name="Text 4"/>
          <p:cNvSpPr/>
          <p:nvPr/>
        </p:nvSpPr>
        <p:spPr>
          <a:xfrm>
            <a:off x="2011680" y="2240280"/>
            <a:ext cx="1554480" cy="640080"/>
          </a:xfrm>
          <a:prstGeom prst="rect">
            <a:avLst/>
          </a:prstGeom>
          <a:noFill/>
          <a:ln/>
        </p:spPr>
        <p:txBody>
          <a:bodyPr wrap="square" lIns="0" tIns="0" rIns="0" bIns="0" rtlCol="0" anchor="ctr"/>
          <a:lstStyle/>
          <a:p>
            <a:pPr indent="0" marL="0">
              <a:buNone/>
            </a:pPr>
            <a:r>
              <a:rPr lang="en-US" sz="3400" b="1" dirty="0">
                <a:solidFill>
                  <a:srgbClr val="1E1B18"/>
                </a:solidFill>
                <a:latin typeface="Cambria" pitchFamily="34" charset="0"/>
                <a:ea typeface="Cambria" pitchFamily="34" charset="-122"/>
                <a:cs typeface="Cambria" pitchFamily="34" charset="-120"/>
              </a:rPr>
              <a:t>21K</a:t>
            </a:r>
            <a:endParaRPr lang="en-US" sz="3400" dirty="0"/>
          </a:p>
        </p:txBody>
      </p:sp>
      <p:sp>
        <p:nvSpPr>
          <p:cNvPr id="8" name="Text 5"/>
          <p:cNvSpPr/>
          <p:nvPr/>
        </p:nvSpPr>
        <p:spPr>
          <a:xfrm>
            <a:off x="2011680" y="2880360"/>
            <a:ext cx="1554480" cy="1005840"/>
          </a:xfrm>
          <a:prstGeom prst="rect">
            <a:avLst/>
          </a:prstGeom>
          <a:noFill/>
          <a:ln/>
        </p:spPr>
        <p:txBody>
          <a:bodyPr wrap="square" lIns="0" tIns="0" rIns="0" bIns="0" rtlCol="0" anchor="ctr"/>
          <a:lstStyle/>
          <a:p>
            <a:pPr indent="0" marL="0">
              <a:buNone/>
            </a:pPr>
            <a:r>
              <a:rPr lang="en-US" sz="1250" dirty="0">
                <a:solidFill>
                  <a:srgbClr val="6B6B66"/>
                </a:solidFill>
                <a:latin typeface="Calibri" pitchFamily="34" charset="0"/>
                <a:ea typeface="Calibri" pitchFamily="34" charset="-122"/>
                <a:cs typeface="Calibri" pitchFamily="34" charset="-120"/>
              </a:rPr>
              <a:t>Seguidores en Instagram sin campaña de reimpacto</a:t>
            </a:r>
            <a:endParaRPr lang="en-US" sz="1250" dirty="0"/>
          </a:p>
        </p:txBody>
      </p:sp>
      <p:sp>
        <p:nvSpPr>
          <p:cNvPr id="9" name="Shape 6"/>
          <p:cNvSpPr/>
          <p:nvPr/>
        </p:nvSpPr>
        <p:spPr>
          <a:xfrm>
            <a:off x="4206240" y="1965960"/>
            <a:ext cx="3200400" cy="2103120"/>
          </a:xfrm>
          <a:prstGeom prst="roundRect">
            <a:avLst>
              <a:gd name="adj" fmla="val 3478"/>
            </a:avLst>
          </a:prstGeom>
          <a:solidFill>
            <a:srgbClr val="E7EBE2"/>
          </a:solidFill>
          <a:ln/>
        </p:spPr>
      </p:sp>
      <p:sp>
        <p:nvSpPr>
          <p:cNvPr id="10" name="Shape 7"/>
          <p:cNvSpPr/>
          <p:nvPr/>
        </p:nvSpPr>
        <p:spPr>
          <a:xfrm>
            <a:off x="4572000" y="2606040"/>
            <a:ext cx="822960" cy="822960"/>
          </a:xfrm>
          <a:prstGeom prst="ellipse">
            <a:avLst/>
          </a:prstGeom>
          <a:solidFill>
            <a:srgbClr val="FFFFFF"/>
          </a:solidFill>
          <a:ln/>
        </p:spPr>
      </p:sp>
      <p:pic>
        <p:nvPicPr>
          <p:cNvPr id="11" name="Image 1" descr="/tmp/claude-0/-home-user-Presentaciones-y-varios/903c1196-30c4-57a8-b469-52313f1ce01c/scratchpad/palco/icons/star_5B6B4F.png">    </p:cNvPr>
          <p:cNvPicPr>
            <a:picLocks noChangeAspect="1"/>
          </p:cNvPicPr>
          <p:nvPr/>
        </p:nvPicPr>
        <p:blipFill>
          <a:blip r:embed="rId2"/>
          <a:stretch>
            <a:fillRect/>
          </a:stretch>
        </p:blipFill>
        <p:spPr>
          <a:xfrm>
            <a:off x="4777740" y="2811780"/>
            <a:ext cx="411480" cy="411480"/>
          </a:xfrm>
          <a:prstGeom prst="rect">
            <a:avLst/>
          </a:prstGeom>
        </p:spPr>
      </p:pic>
      <p:sp>
        <p:nvSpPr>
          <p:cNvPr id="12" name="Text 8"/>
          <p:cNvSpPr/>
          <p:nvPr/>
        </p:nvSpPr>
        <p:spPr>
          <a:xfrm>
            <a:off x="5577840" y="2240280"/>
            <a:ext cx="1554480" cy="640080"/>
          </a:xfrm>
          <a:prstGeom prst="rect">
            <a:avLst/>
          </a:prstGeom>
          <a:noFill/>
          <a:ln/>
        </p:spPr>
        <p:txBody>
          <a:bodyPr wrap="square" lIns="0" tIns="0" rIns="0" bIns="0" rtlCol="0" anchor="ctr"/>
          <a:lstStyle/>
          <a:p>
            <a:pPr indent="0" marL="0">
              <a:buNone/>
            </a:pPr>
            <a:r>
              <a:rPr lang="en-US" sz="3400" b="1" dirty="0">
                <a:solidFill>
                  <a:srgbClr val="1E1B18"/>
                </a:solidFill>
                <a:latin typeface="Cambria" pitchFamily="34" charset="0"/>
                <a:ea typeface="Cambria" pitchFamily="34" charset="-122"/>
                <a:cs typeface="Cambria" pitchFamily="34" charset="-120"/>
              </a:rPr>
              <a:t>4.8/5</a:t>
            </a:r>
            <a:endParaRPr lang="en-US" sz="3400" dirty="0"/>
          </a:p>
        </p:txBody>
      </p:sp>
      <p:sp>
        <p:nvSpPr>
          <p:cNvPr id="13" name="Text 9"/>
          <p:cNvSpPr/>
          <p:nvPr/>
        </p:nvSpPr>
        <p:spPr>
          <a:xfrm>
            <a:off x="5577840" y="2880360"/>
            <a:ext cx="1554480" cy="1005840"/>
          </a:xfrm>
          <a:prstGeom prst="rect">
            <a:avLst/>
          </a:prstGeom>
          <a:noFill/>
          <a:ln/>
        </p:spPr>
        <p:txBody>
          <a:bodyPr wrap="square" lIns="0" tIns="0" rIns="0" bIns="0" rtlCol="0" anchor="ctr"/>
          <a:lstStyle/>
          <a:p>
            <a:pPr indent="0" marL="0">
              <a:buNone/>
            </a:pPr>
            <a:r>
              <a:rPr lang="en-US" sz="1250" dirty="0">
                <a:solidFill>
                  <a:srgbClr val="6B6B66"/>
                </a:solidFill>
                <a:latin typeface="Calibri" pitchFamily="34" charset="0"/>
                <a:ea typeface="Calibri" pitchFamily="34" charset="-122"/>
                <a:cs typeface="Calibri" pitchFamily="34" charset="-120"/>
              </a:rPr>
              <a:t>En 2.483 reseñas públicas no usadas como creativo</a:t>
            </a:r>
            <a:endParaRPr lang="en-US" sz="1250" dirty="0"/>
          </a:p>
        </p:txBody>
      </p:sp>
      <p:sp>
        <p:nvSpPr>
          <p:cNvPr id="14" name="Shape 10"/>
          <p:cNvSpPr/>
          <p:nvPr/>
        </p:nvSpPr>
        <p:spPr>
          <a:xfrm>
            <a:off x="1463040" y="4572000"/>
            <a:ext cx="2468880" cy="1234440"/>
          </a:xfrm>
          <a:prstGeom prst="roundRect">
            <a:avLst>
              <a:gd name="adj" fmla="val 5926"/>
            </a:avLst>
          </a:prstGeom>
          <a:solidFill>
            <a:srgbClr val="F7F6F4"/>
          </a:solidFill>
          <a:ln w="12700">
            <a:solidFill>
              <a:srgbClr val="E4E1DB"/>
            </a:solidFill>
            <a:prstDash val="solid"/>
          </a:ln>
        </p:spPr>
      </p:sp>
      <p:pic>
        <p:nvPicPr>
          <p:cNvPr id="15" name="Image 2" descr="/tmp/claude-0/-home-user-Presentaciones-y-varios/903c1196-30c4-57a8-b469-52313f1ce01c/scratchpad/palco/icons/eye_C1502E.png">    </p:cNvPr>
          <p:cNvPicPr>
            <a:picLocks noChangeAspect="1"/>
          </p:cNvPicPr>
          <p:nvPr/>
        </p:nvPicPr>
        <p:blipFill>
          <a:blip r:embed="rId3"/>
          <a:stretch>
            <a:fillRect/>
          </a:stretch>
        </p:blipFill>
        <p:spPr>
          <a:xfrm>
            <a:off x="1691640" y="4983480"/>
            <a:ext cx="411480" cy="411480"/>
          </a:xfrm>
          <a:prstGeom prst="rect">
            <a:avLst/>
          </a:prstGeom>
        </p:spPr>
      </p:pic>
      <p:sp>
        <p:nvSpPr>
          <p:cNvPr id="16" name="Text 11"/>
          <p:cNvSpPr/>
          <p:nvPr/>
        </p:nvSpPr>
        <p:spPr>
          <a:xfrm>
            <a:off x="2194560" y="4572000"/>
            <a:ext cx="1600200" cy="1234440"/>
          </a:xfrm>
          <a:prstGeom prst="rect">
            <a:avLst/>
          </a:prstGeom>
          <a:noFill/>
          <a:ln/>
        </p:spPr>
        <p:txBody>
          <a:bodyPr wrap="square" lIns="0" tIns="0" rIns="0" bIns="0" rtlCol="0" anchor="ctr"/>
          <a:lstStyle/>
          <a:p>
            <a:pPr indent="0" marL="0">
              <a:buNone/>
            </a:pPr>
            <a:r>
              <a:rPr lang="en-US" sz="1300" b="1" dirty="0">
                <a:solidFill>
                  <a:srgbClr val="1E1B18"/>
                </a:solidFill>
                <a:latin typeface="Calibri" pitchFamily="34" charset="0"/>
                <a:ea typeface="Calibri" pitchFamily="34" charset="-122"/>
                <a:cs typeface="Calibri" pitchFamily="34" charset="-120"/>
              </a:rPr>
              <a:t>Interacción</a:t>
            </a:r>
            <a:endParaRPr lang="en-US" sz="1300" dirty="0"/>
          </a:p>
          <a:p>
            <a:pPr indent="0" marL="0">
              <a:buNone/>
            </a:pPr>
            <a:r>
              <a:rPr lang="en-US" sz="1300" b="1" dirty="0">
                <a:solidFill>
                  <a:srgbClr val="1E1B18"/>
                </a:solidFill>
                <a:latin typeface="Calibri" pitchFamily="34" charset="0"/>
                <a:ea typeface="Calibri" pitchFamily="34" charset="-122"/>
                <a:cs typeface="Calibri" pitchFamily="34" charset="-120"/>
              </a:rPr>
              <a:t>orgánica</a:t>
            </a:r>
            <a:endParaRPr lang="en-US" sz="1300" dirty="0"/>
          </a:p>
        </p:txBody>
      </p:sp>
      <p:pic>
        <p:nvPicPr>
          <p:cNvPr id="17" name="Image 3" descr="/tmp/claude-0/-home-user-Presentaciones-y-varios/903c1196-30c4-57a8-b469-52313f1ce01c/scratchpad/palco/icons/arrowRight_C1502E.png">    </p:cNvPr>
          <p:cNvPicPr>
            <a:picLocks noChangeAspect="1"/>
          </p:cNvPicPr>
          <p:nvPr/>
        </p:nvPicPr>
        <p:blipFill>
          <a:blip r:embed="rId4"/>
          <a:stretch>
            <a:fillRect/>
          </a:stretch>
        </p:blipFill>
        <p:spPr>
          <a:xfrm>
            <a:off x="4133088" y="5074920"/>
            <a:ext cx="274320" cy="274320"/>
          </a:xfrm>
          <a:prstGeom prst="rect">
            <a:avLst/>
          </a:prstGeom>
        </p:spPr>
      </p:pic>
      <p:sp>
        <p:nvSpPr>
          <p:cNvPr id="18" name="Shape 12"/>
          <p:cNvSpPr/>
          <p:nvPr/>
        </p:nvSpPr>
        <p:spPr>
          <a:xfrm>
            <a:off x="4617720" y="4572000"/>
            <a:ext cx="2468880" cy="1234440"/>
          </a:xfrm>
          <a:prstGeom prst="roundRect">
            <a:avLst>
              <a:gd name="adj" fmla="val 5926"/>
            </a:avLst>
          </a:prstGeom>
          <a:solidFill>
            <a:srgbClr val="F7F6F4"/>
          </a:solidFill>
          <a:ln w="12700">
            <a:solidFill>
              <a:srgbClr val="E4E1DB"/>
            </a:solidFill>
            <a:prstDash val="solid"/>
          </a:ln>
        </p:spPr>
      </p:sp>
      <p:pic>
        <p:nvPicPr>
          <p:cNvPr id="19" name="Image 4" descr="/tmp/claude-0/-home-user-Presentaciones-y-varios/903c1196-30c4-57a8-b469-52313f1ce01c/scratchpad/palco/icons/filter_C1502E.png">    </p:cNvPr>
          <p:cNvPicPr>
            <a:picLocks noChangeAspect="1"/>
          </p:cNvPicPr>
          <p:nvPr/>
        </p:nvPicPr>
        <p:blipFill>
          <a:blip r:embed="rId5"/>
          <a:stretch>
            <a:fillRect/>
          </a:stretch>
        </p:blipFill>
        <p:spPr>
          <a:xfrm>
            <a:off x="4846320" y="4983480"/>
            <a:ext cx="411480" cy="411480"/>
          </a:xfrm>
          <a:prstGeom prst="rect">
            <a:avLst/>
          </a:prstGeom>
        </p:spPr>
      </p:pic>
      <p:sp>
        <p:nvSpPr>
          <p:cNvPr id="20" name="Text 13"/>
          <p:cNvSpPr/>
          <p:nvPr/>
        </p:nvSpPr>
        <p:spPr>
          <a:xfrm>
            <a:off x="5349240" y="4572000"/>
            <a:ext cx="1600200" cy="1234440"/>
          </a:xfrm>
          <a:prstGeom prst="rect">
            <a:avLst/>
          </a:prstGeom>
          <a:noFill/>
          <a:ln/>
        </p:spPr>
        <p:txBody>
          <a:bodyPr wrap="square" lIns="0" tIns="0" rIns="0" bIns="0" rtlCol="0" anchor="ctr"/>
          <a:lstStyle/>
          <a:p>
            <a:pPr indent="0" marL="0">
              <a:buNone/>
            </a:pPr>
            <a:r>
              <a:rPr lang="en-US" sz="1300" b="1" dirty="0">
                <a:solidFill>
                  <a:srgbClr val="1E1B18"/>
                </a:solidFill>
                <a:latin typeface="Calibri" pitchFamily="34" charset="0"/>
                <a:ea typeface="Calibri" pitchFamily="34" charset="-122"/>
                <a:cs typeface="Calibri" pitchFamily="34" charset="-120"/>
              </a:rPr>
              <a:t>Público</a:t>
            </a:r>
            <a:endParaRPr lang="en-US" sz="1300" dirty="0"/>
          </a:p>
          <a:p>
            <a:pPr indent="0" marL="0">
              <a:buNone/>
            </a:pPr>
            <a:r>
              <a:rPr lang="en-US" sz="1300" b="1" dirty="0">
                <a:solidFill>
                  <a:srgbClr val="1E1B18"/>
                </a:solidFill>
                <a:latin typeface="Calibri" pitchFamily="34" charset="0"/>
                <a:ea typeface="Calibri" pitchFamily="34" charset="-122"/>
                <a:cs typeface="Calibri" pitchFamily="34" charset="-120"/>
              </a:rPr>
              <a:t>personalizado</a:t>
            </a:r>
            <a:endParaRPr lang="en-US" sz="1300" dirty="0"/>
          </a:p>
        </p:txBody>
      </p:sp>
      <p:pic>
        <p:nvPicPr>
          <p:cNvPr id="21" name="Image 5" descr="/tmp/claude-0/-home-user-Presentaciones-y-varios/903c1196-30c4-57a8-b469-52313f1ce01c/scratchpad/palco/icons/arrowRight_C1502E.png">    </p:cNvPr>
          <p:cNvPicPr>
            <a:picLocks noChangeAspect="1"/>
          </p:cNvPicPr>
          <p:nvPr/>
        </p:nvPicPr>
        <p:blipFill>
          <a:blip r:embed="rId6"/>
          <a:stretch>
            <a:fillRect/>
          </a:stretch>
        </p:blipFill>
        <p:spPr>
          <a:xfrm>
            <a:off x="7287768" y="5074920"/>
            <a:ext cx="274320" cy="274320"/>
          </a:xfrm>
          <a:prstGeom prst="rect">
            <a:avLst/>
          </a:prstGeom>
        </p:spPr>
      </p:pic>
      <p:sp>
        <p:nvSpPr>
          <p:cNvPr id="22" name="Shape 14"/>
          <p:cNvSpPr/>
          <p:nvPr/>
        </p:nvSpPr>
        <p:spPr>
          <a:xfrm>
            <a:off x="7772400" y="4572000"/>
            <a:ext cx="2468880" cy="1234440"/>
          </a:xfrm>
          <a:prstGeom prst="roundRect">
            <a:avLst>
              <a:gd name="adj" fmla="val 5926"/>
            </a:avLst>
          </a:prstGeom>
          <a:solidFill>
            <a:srgbClr val="F7F6F4"/>
          </a:solidFill>
          <a:ln w="12700">
            <a:solidFill>
              <a:srgbClr val="E4E1DB"/>
            </a:solidFill>
            <a:prstDash val="solid"/>
          </a:ln>
        </p:spPr>
      </p:sp>
      <p:pic>
        <p:nvPicPr>
          <p:cNvPr id="23" name="Image 6" descr="/tmp/claude-0/-home-user-Presentaciones-y-varios/903c1196-30c4-57a8-b469-52313f1ce01c/scratchpad/palco/icons/target_C1502E.png">    </p:cNvPr>
          <p:cNvPicPr>
            <a:picLocks noChangeAspect="1"/>
          </p:cNvPicPr>
          <p:nvPr/>
        </p:nvPicPr>
        <p:blipFill>
          <a:blip r:embed="rId7"/>
          <a:stretch>
            <a:fillRect/>
          </a:stretch>
        </p:blipFill>
        <p:spPr>
          <a:xfrm>
            <a:off x="8001000" y="4983480"/>
            <a:ext cx="411480" cy="411480"/>
          </a:xfrm>
          <a:prstGeom prst="rect">
            <a:avLst/>
          </a:prstGeom>
        </p:spPr>
      </p:pic>
      <p:sp>
        <p:nvSpPr>
          <p:cNvPr id="24" name="Text 15"/>
          <p:cNvSpPr/>
          <p:nvPr/>
        </p:nvSpPr>
        <p:spPr>
          <a:xfrm>
            <a:off x="8503920" y="4572000"/>
            <a:ext cx="1600200" cy="1234440"/>
          </a:xfrm>
          <a:prstGeom prst="rect">
            <a:avLst/>
          </a:prstGeom>
          <a:noFill/>
          <a:ln/>
        </p:spPr>
        <p:txBody>
          <a:bodyPr wrap="square" lIns="0" tIns="0" rIns="0" bIns="0" rtlCol="0" anchor="ctr"/>
          <a:lstStyle/>
          <a:p>
            <a:pPr indent="0" marL="0">
              <a:buNone/>
            </a:pPr>
            <a:r>
              <a:rPr lang="en-US" sz="1300" b="1" dirty="0">
                <a:solidFill>
                  <a:srgbClr val="1E1B18"/>
                </a:solidFill>
                <a:latin typeface="Calibri" pitchFamily="34" charset="0"/>
                <a:ea typeface="Calibri" pitchFamily="34" charset="-122"/>
                <a:cs typeface="Calibri" pitchFamily="34" charset="-120"/>
              </a:rPr>
              <a:t>Anuncio de</a:t>
            </a:r>
            <a:endParaRPr lang="en-US" sz="1300" dirty="0"/>
          </a:p>
          <a:p>
            <a:pPr indent="0" marL="0">
              <a:buNone/>
            </a:pPr>
            <a:r>
              <a:rPr lang="en-US" sz="1300" b="1" dirty="0">
                <a:solidFill>
                  <a:srgbClr val="1E1B18"/>
                </a:solidFill>
                <a:latin typeface="Calibri" pitchFamily="34" charset="0"/>
                <a:ea typeface="Calibri" pitchFamily="34" charset="-122"/>
                <a:cs typeface="Calibri" pitchFamily="34" charset="-120"/>
              </a:rPr>
              <a:t>prueba social</a:t>
            </a:r>
            <a:endParaRPr lang="en-US" sz="1300" dirty="0"/>
          </a:p>
        </p:txBody>
      </p:sp>
      <p:sp>
        <p:nvSpPr>
          <p:cNvPr id="25" name="Text 16"/>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1B18"/>
        </a:solidFill>
      </p:bgPr>
    </p:bg>
    <p:spTree>
      <p:nvGrpSpPr>
        <p:cNvPr id="1" name=""/>
        <p:cNvGrpSpPr/>
        <p:nvPr/>
      </p:nvGrpSpPr>
      <p:grpSpPr>
        <a:xfrm>
          <a:off x="0" y="0"/>
          <a:ext cx="0" cy="0"/>
          <a:chOff x="0" y="0"/>
          <a:chExt cx="0" cy="0"/>
        </a:xfrm>
      </p:grpSpPr>
      <p:sp>
        <p:nvSpPr>
          <p:cNvPr id="2" name="Text 0"/>
          <p:cNvSpPr/>
          <p:nvPr/>
        </p:nvSpPr>
        <p:spPr>
          <a:xfrm>
            <a:off x="777240" y="777240"/>
            <a:ext cx="5486400" cy="365760"/>
          </a:xfrm>
          <a:prstGeom prst="rect">
            <a:avLst/>
          </a:prstGeom>
          <a:noFill/>
          <a:ln/>
        </p:spPr>
        <p:txBody>
          <a:bodyPr wrap="square" lIns="0" tIns="0" rIns="0" bIns="0" rtlCol="0" anchor="ctr"/>
          <a:lstStyle/>
          <a:p>
            <a:pPr indent="0" marL="0">
              <a:buNone/>
            </a:pPr>
            <a:r>
              <a:rPr lang="en-US" sz="1400" b="1" spc="300" kern="0" dirty="0">
                <a:solidFill>
                  <a:srgbClr val="C1502E"/>
                </a:solidFill>
                <a:latin typeface="Calibri" pitchFamily="34" charset="0"/>
                <a:ea typeface="Calibri" pitchFamily="34" charset="-122"/>
                <a:cs typeface="Calibri" pitchFamily="34" charset="-120"/>
              </a:rPr>
              <a:t>ETAPA 03</a:t>
            </a:r>
            <a:endParaRPr lang="en-US" sz="1400" dirty="0"/>
          </a:p>
        </p:txBody>
      </p:sp>
      <p:sp>
        <p:nvSpPr>
          <p:cNvPr id="3" name="Shape 1"/>
          <p:cNvSpPr/>
          <p:nvPr/>
        </p:nvSpPr>
        <p:spPr>
          <a:xfrm>
            <a:off x="777240" y="1440180"/>
            <a:ext cx="1051560" cy="1051560"/>
          </a:xfrm>
          <a:prstGeom prst="ellipse">
            <a:avLst/>
          </a:prstGeom>
          <a:solidFill>
            <a:srgbClr val="C1502E"/>
          </a:solidFill>
          <a:ln/>
        </p:spPr>
      </p:sp>
      <p:sp>
        <p:nvSpPr>
          <p:cNvPr id="4" name="Text 2"/>
          <p:cNvSpPr/>
          <p:nvPr/>
        </p:nvSpPr>
        <p:spPr>
          <a:xfrm>
            <a:off x="777240" y="1440180"/>
            <a:ext cx="1051560" cy="1051560"/>
          </a:xfrm>
          <a:prstGeom prst="rect">
            <a:avLst/>
          </a:prstGeom>
          <a:noFill/>
          <a:ln/>
        </p:spPr>
        <p:txBody>
          <a:bodyPr wrap="square" lIns="0" tIns="0" rIns="0" bIns="0" rtlCol="0" anchor="ctr"/>
          <a:lstStyle/>
          <a:p>
            <a:pPr algn="ctr" indent="0" marL="0">
              <a:buNone/>
            </a:pPr>
            <a:r>
              <a:rPr lang="en-US" sz="3910" b="1" dirty="0">
                <a:solidFill>
                  <a:srgbClr val="FFFFFF"/>
                </a:solidFill>
                <a:latin typeface="Cambria" pitchFamily="34" charset="0"/>
                <a:ea typeface="Cambria" pitchFamily="34" charset="-122"/>
                <a:cs typeface="Cambria" pitchFamily="34" charset="-120"/>
              </a:rPr>
              <a:t>03</a:t>
            </a:r>
            <a:endParaRPr lang="en-US" sz="3910" dirty="0"/>
          </a:p>
        </p:txBody>
      </p:sp>
      <p:sp>
        <p:nvSpPr>
          <p:cNvPr id="5" name="Text 3"/>
          <p:cNvSpPr/>
          <p:nvPr/>
        </p:nvSpPr>
        <p:spPr>
          <a:xfrm>
            <a:off x="2148840" y="1417320"/>
            <a:ext cx="86868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Conversión</a:t>
            </a:r>
            <a:endParaRPr lang="en-US" sz="4000" dirty="0"/>
          </a:p>
        </p:txBody>
      </p:sp>
      <p:sp>
        <p:nvSpPr>
          <p:cNvPr id="6" name="Text 4"/>
          <p:cNvSpPr/>
          <p:nvPr/>
        </p:nvSpPr>
        <p:spPr>
          <a:xfrm>
            <a:off x="2167128" y="2148840"/>
            <a:ext cx="8686800" cy="457200"/>
          </a:xfrm>
          <a:prstGeom prst="rect">
            <a:avLst/>
          </a:prstGeom>
          <a:noFill/>
          <a:ln/>
        </p:spPr>
        <p:txBody>
          <a:bodyPr wrap="square" lIns="0" tIns="0" rIns="0" bIns="0" rtlCol="0" anchor="ctr"/>
          <a:lstStyle/>
          <a:p>
            <a:pPr indent="0" marL="0">
              <a:buNone/>
            </a:pPr>
            <a:r>
              <a:rPr lang="en-US" sz="1800" i="1" dirty="0">
                <a:solidFill>
                  <a:srgbClr val="D8D4CC"/>
                </a:solidFill>
                <a:latin typeface="Calibri" pitchFamily="34" charset="0"/>
                <a:ea typeface="Calibri" pitchFamily="34" charset="-122"/>
                <a:cs typeface="Calibri" pitchFamily="34" charset="-120"/>
              </a:rPr>
              <a:t>Objetivo: convertir solo a quien ya demostró interés.</a:t>
            </a:r>
            <a:endParaRPr lang="en-US" sz="1800" dirty="0"/>
          </a:p>
        </p:txBody>
      </p:sp>
      <p:sp>
        <p:nvSpPr>
          <p:cNvPr id="7" name="Shape 5"/>
          <p:cNvSpPr/>
          <p:nvPr/>
        </p:nvSpPr>
        <p:spPr>
          <a:xfrm>
            <a:off x="1714500" y="3840480"/>
            <a:ext cx="640080" cy="640080"/>
          </a:xfrm>
          <a:prstGeom prst="ellipse">
            <a:avLst/>
          </a:prstGeom>
          <a:solidFill>
            <a:srgbClr val="2B2622"/>
          </a:solidFill>
          <a:ln/>
        </p:spPr>
      </p:sp>
      <p:pic>
        <p:nvPicPr>
          <p:cNvPr id="8" name="Image 0" descr="/tmp/claude-0/-home-user-Presentaciones-y-varios/903c1196-30c4-57a8-b469-52313f1ce01c/scratchpad/palco/icons/whatsapp_C1502E.png">    </p:cNvPr>
          <p:cNvPicPr>
            <a:picLocks noChangeAspect="1"/>
          </p:cNvPicPr>
          <p:nvPr/>
        </p:nvPicPr>
        <p:blipFill>
          <a:blip r:embed="rId1"/>
          <a:stretch>
            <a:fillRect/>
          </a:stretch>
        </p:blipFill>
        <p:spPr>
          <a:xfrm>
            <a:off x="1868119" y="3994099"/>
            <a:ext cx="332842" cy="332842"/>
          </a:xfrm>
          <a:prstGeom prst="rect">
            <a:avLst/>
          </a:prstGeom>
        </p:spPr>
      </p:pic>
      <p:sp>
        <p:nvSpPr>
          <p:cNvPr id="9" name="Text 6"/>
          <p:cNvSpPr/>
          <p:nvPr/>
        </p:nvSpPr>
        <p:spPr>
          <a:xfrm>
            <a:off x="777240" y="4617720"/>
            <a:ext cx="2514600" cy="73152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WhatsApp y</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cotizaciones</a:t>
            </a:r>
            <a:endParaRPr lang="en-US" sz="1300" dirty="0"/>
          </a:p>
        </p:txBody>
      </p:sp>
      <p:sp>
        <p:nvSpPr>
          <p:cNvPr id="10" name="Shape 7"/>
          <p:cNvSpPr/>
          <p:nvPr/>
        </p:nvSpPr>
        <p:spPr>
          <a:xfrm>
            <a:off x="4485132" y="3840480"/>
            <a:ext cx="640080" cy="640080"/>
          </a:xfrm>
          <a:prstGeom prst="ellipse">
            <a:avLst/>
          </a:prstGeom>
          <a:solidFill>
            <a:srgbClr val="2B2622"/>
          </a:solidFill>
          <a:ln/>
        </p:spPr>
      </p:sp>
      <p:pic>
        <p:nvPicPr>
          <p:cNvPr id="11" name="Image 1" descr="/tmp/claude-0/-home-user-Presentaciones-y-varios/903c1196-30c4-57a8-b469-52313f1ce01c/scratchpad/palco/icons/birthday_C1502E.png">    </p:cNvPr>
          <p:cNvPicPr>
            <a:picLocks noChangeAspect="1"/>
          </p:cNvPicPr>
          <p:nvPr/>
        </p:nvPicPr>
        <p:blipFill>
          <a:blip r:embed="rId2"/>
          <a:stretch>
            <a:fillRect/>
          </a:stretch>
        </p:blipFill>
        <p:spPr>
          <a:xfrm>
            <a:off x="4638751" y="3994099"/>
            <a:ext cx="332842" cy="332842"/>
          </a:xfrm>
          <a:prstGeom prst="rect">
            <a:avLst/>
          </a:prstGeom>
        </p:spPr>
      </p:pic>
      <p:sp>
        <p:nvSpPr>
          <p:cNvPr id="12" name="Text 8"/>
          <p:cNvSpPr/>
          <p:nvPr/>
        </p:nvSpPr>
        <p:spPr>
          <a:xfrm>
            <a:off x="3547872" y="4617720"/>
            <a:ext cx="2514600" cy="73152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Cumpleaños y</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reservas familiares</a:t>
            </a:r>
            <a:endParaRPr lang="en-US" sz="1300" dirty="0"/>
          </a:p>
        </p:txBody>
      </p:sp>
      <p:sp>
        <p:nvSpPr>
          <p:cNvPr id="13" name="Shape 9"/>
          <p:cNvSpPr/>
          <p:nvPr/>
        </p:nvSpPr>
        <p:spPr>
          <a:xfrm>
            <a:off x="7255764" y="3840480"/>
            <a:ext cx="640080" cy="640080"/>
          </a:xfrm>
          <a:prstGeom prst="ellipse">
            <a:avLst/>
          </a:prstGeom>
          <a:solidFill>
            <a:srgbClr val="2B2622"/>
          </a:solidFill>
          <a:ln/>
        </p:spPr>
      </p:sp>
      <p:pic>
        <p:nvPicPr>
          <p:cNvPr id="14" name="Image 2" descr="/tmp/claude-0/-home-user-Presentaciones-y-varios/903c1196-30c4-57a8-b469-52313f1ce01c/scratchpad/palco/icons/briefcase_C1502E.png">    </p:cNvPr>
          <p:cNvPicPr>
            <a:picLocks noChangeAspect="1"/>
          </p:cNvPicPr>
          <p:nvPr/>
        </p:nvPicPr>
        <p:blipFill>
          <a:blip r:embed="rId3"/>
          <a:stretch>
            <a:fillRect/>
          </a:stretch>
        </p:blipFill>
        <p:spPr>
          <a:xfrm>
            <a:off x="7409383" y="3994099"/>
            <a:ext cx="332842" cy="332842"/>
          </a:xfrm>
          <a:prstGeom prst="rect">
            <a:avLst/>
          </a:prstGeom>
        </p:spPr>
      </p:pic>
      <p:sp>
        <p:nvSpPr>
          <p:cNvPr id="15" name="Text 10"/>
          <p:cNvSpPr/>
          <p:nvPr/>
        </p:nvSpPr>
        <p:spPr>
          <a:xfrm>
            <a:off x="6318504" y="4617720"/>
            <a:ext cx="2514600" cy="73152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Eventos</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empresariales</a:t>
            </a:r>
            <a:endParaRPr lang="en-US" sz="1300" dirty="0"/>
          </a:p>
        </p:txBody>
      </p:sp>
      <p:sp>
        <p:nvSpPr>
          <p:cNvPr id="16" name="Shape 11"/>
          <p:cNvSpPr/>
          <p:nvPr/>
        </p:nvSpPr>
        <p:spPr>
          <a:xfrm>
            <a:off x="10026396" y="3840480"/>
            <a:ext cx="640080" cy="640080"/>
          </a:xfrm>
          <a:prstGeom prst="ellipse">
            <a:avLst/>
          </a:prstGeom>
          <a:solidFill>
            <a:srgbClr val="2B2622"/>
          </a:solidFill>
          <a:ln/>
        </p:spPr>
      </p:sp>
      <p:pic>
        <p:nvPicPr>
          <p:cNvPr id="17" name="Image 3" descr="/tmp/claude-0/-home-user-Presentaciones-y-varios/903c1196-30c4-57a8-b469-52313f1ce01c/scratchpad/palco/icons/target_C1502E.png">    </p:cNvPr>
          <p:cNvPicPr>
            <a:picLocks noChangeAspect="1"/>
          </p:cNvPicPr>
          <p:nvPr/>
        </p:nvPicPr>
        <p:blipFill>
          <a:blip r:embed="rId4"/>
          <a:stretch>
            <a:fillRect/>
          </a:stretch>
        </p:blipFill>
        <p:spPr>
          <a:xfrm>
            <a:off x="10180015" y="3994099"/>
            <a:ext cx="332842" cy="332842"/>
          </a:xfrm>
          <a:prstGeom prst="rect">
            <a:avLst/>
          </a:prstGeom>
        </p:spPr>
      </p:pic>
      <p:sp>
        <p:nvSpPr>
          <p:cNvPr id="18" name="Text 12"/>
          <p:cNvSpPr/>
          <p:nvPr/>
        </p:nvSpPr>
        <p:spPr>
          <a:xfrm>
            <a:off x="9089136" y="4617720"/>
            <a:ext cx="2514600" cy="73152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Audiencias</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de precisión</a:t>
            </a:r>
            <a:endParaRPr lang="en-US" sz="1300" dirty="0"/>
          </a:p>
        </p:txBody>
      </p:sp>
      <p:sp>
        <p:nvSpPr>
          <p:cNvPr id="19" name="Text 13"/>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9A9691"/>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C1502E"/>
                </a:solidFill>
                <a:latin typeface="Calibri" pitchFamily="34" charset="0"/>
                <a:ea typeface="Calibri" pitchFamily="34" charset="-122"/>
                <a:cs typeface="Calibri" pitchFamily="34" charset="-120"/>
              </a:rPr>
              <a:t>ETAPA 3 · CONVERSIÓN</a:t>
            </a:r>
            <a:endParaRPr lang="en-US" sz="1200" dirty="0"/>
          </a:p>
        </p:txBody>
      </p:sp>
      <p:sp>
        <p:nvSpPr>
          <p:cNvPr id="3" name="Text 1"/>
          <p:cNvSpPr/>
          <p:nvPr/>
        </p:nvSpPr>
        <p:spPr>
          <a:xfrm>
            <a:off x="640080" y="841248"/>
            <a:ext cx="10515600" cy="822960"/>
          </a:xfrm>
          <a:prstGeom prst="rect">
            <a:avLst/>
          </a:prstGeom>
          <a:noFill/>
          <a:ln/>
        </p:spPr>
        <p:txBody>
          <a:bodyPr wrap="square" lIns="0" tIns="0" rIns="0" bIns="0" rtlCol="0" anchor="ctr"/>
          <a:lstStyle/>
          <a:p>
            <a:pPr algn="l" indent="0" marL="0">
              <a:buNone/>
            </a:pPr>
            <a:r>
              <a:rPr lang="en-US" sz="3400" b="1" dirty="0">
                <a:solidFill>
                  <a:srgbClr val="1E1B18"/>
                </a:solidFill>
                <a:latin typeface="Cambria" pitchFamily="34" charset="0"/>
                <a:ea typeface="Cambria" pitchFamily="34" charset="-122"/>
                <a:cs typeface="Cambria" pitchFamily="34" charset="-120"/>
              </a:rPr>
              <a:t>De la intención a la reserva</a:t>
            </a:r>
            <a:endParaRPr lang="en-US" sz="3400" dirty="0"/>
          </a:p>
        </p:txBody>
      </p:sp>
      <p:sp>
        <p:nvSpPr>
          <p:cNvPr id="4" name="Text 2"/>
          <p:cNvSpPr/>
          <p:nvPr/>
        </p:nvSpPr>
        <p:spPr>
          <a:xfrm>
            <a:off x="640080" y="1481328"/>
            <a:ext cx="9601200" cy="365760"/>
          </a:xfrm>
          <a:prstGeom prst="rect">
            <a:avLst/>
          </a:prstGeom>
          <a:noFill/>
          <a:ln/>
        </p:spPr>
        <p:txBody>
          <a:bodyPr wrap="square" lIns="0" tIns="0" rIns="0" bIns="0" rtlCol="0" anchor="ctr"/>
          <a:lstStyle/>
          <a:p>
            <a:pPr indent="0" marL="0">
              <a:buNone/>
            </a:pPr>
            <a:r>
              <a:rPr lang="en-US" sz="1500" dirty="0">
                <a:solidFill>
                  <a:srgbClr val="6B6B66"/>
                </a:solidFill>
                <a:latin typeface="Calibri" pitchFamily="34" charset="0"/>
                <a:ea typeface="Calibri" pitchFamily="34" charset="-122"/>
                <a:cs typeface="Calibri" pitchFamily="34" charset="-120"/>
              </a:rPr>
              <a:t>El mismo público, dos formas de pedirle que actúe.</a:t>
            </a:r>
            <a:endParaRPr lang="en-US" sz="1500" dirty="0"/>
          </a:p>
        </p:txBody>
      </p:sp>
      <p:sp>
        <p:nvSpPr>
          <p:cNvPr id="5" name="Shape 3"/>
          <p:cNvSpPr/>
          <p:nvPr/>
        </p:nvSpPr>
        <p:spPr>
          <a:xfrm>
            <a:off x="640080" y="2103120"/>
            <a:ext cx="5074920" cy="3840480"/>
          </a:xfrm>
          <a:prstGeom prst="roundRect">
            <a:avLst>
              <a:gd name="adj" fmla="val 1905"/>
            </a:avLst>
          </a:prstGeom>
          <a:solidFill>
            <a:srgbClr val="F7F6F4"/>
          </a:solidFill>
          <a:ln/>
        </p:spPr>
      </p:sp>
      <p:sp>
        <p:nvSpPr>
          <p:cNvPr id="6" name="Text 4"/>
          <p:cNvSpPr/>
          <p:nvPr/>
        </p:nvSpPr>
        <p:spPr>
          <a:xfrm>
            <a:off x="1005840" y="2377440"/>
            <a:ext cx="4343400" cy="320040"/>
          </a:xfrm>
          <a:prstGeom prst="rect">
            <a:avLst/>
          </a:prstGeom>
          <a:noFill/>
          <a:ln/>
        </p:spPr>
        <p:txBody>
          <a:bodyPr wrap="square" lIns="0" tIns="0" rIns="0" bIns="0" rtlCol="0" anchor="ctr"/>
          <a:lstStyle/>
          <a:p>
            <a:pPr indent="0" marL="0">
              <a:buNone/>
            </a:pPr>
            <a:r>
              <a:rPr lang="en-US" sz="1300" b="1" spc="150" kern="0" dirty="0">
                <a:solidFill>
                  <a:srgbClr val="6B6B66"/>
                </a:solidFill>
                <a:latin typeface="Calibri" pitchFamily="34" charset="0"/>
                <a:ea typeface="Calibri" pitchFamily="34" charset="-122"/>
                <a:cs typeface="Calibri" pitchFamily="34" charset="-120"/>
              </a:rPr>
              <a:t>CTA GENÉRICO</a:t>
            </a:r>
            <a:endParaRPr lang="en-US" sz="1300" dirty="0"/>
          </a:p>
        </p:txBody>
      </p:sp>
      <p:sp>
        <p:nvSpPr>
          <p:cNvPr id="7" name="Text 5"/>
          <p:cNvSpPr/>
          <p:nvPr/>
        </p:nvSpPr>
        <p:spPr>
          <a:xfrm>
            <a:off x="1005840" y="2788920"/>
            <a:ext cx="4343400" cy="548640"/>
          </a:xfrm>
          <a:prstGeom prst="rect">
            <a:avLst/>
          </a:prstGeom>
          <a:noFill/>
          <a:ln/>
        </p:spPr>
        <p:txBody>
          <a:bodyPr wrap="square" lIns="0" tIns="0" rIns="0" bIns="0" rtlCol="0" anchor="ctr"/>
          <a:lstStyle/>
          <a:p>
            <a:pPr indent="0" marL="0">
              <a:buNone/>
            </a:pPr>
            <a:r>
              <a:rPr lang="en-US" sz="1600" i="1" dirty="0">
                <a:solidFill>
                  <a:srgbClr val="1E1B18"/>
                </a:solidFill>
                <a:latin typeface="Cambria" pitchFamily="34" charset="0"/>
                <a:ea typeface="Cambria" pitchFamily="34" charset="-122"/>
                <a:cs typeface="Cambria" pitchFamily="34" charset="-120"/>
              </a:rPr>
              <a:t>“Visítanos este fin de semana”</a:t>
            </a:r>
            <a:endParaRPr lang="en-US" sz="1600" dirty="0"/>
          </a:p>
        </p:txBody>
      </p:sp>
      <p:sp>
        <p:nvSpPr>
          <p:cNvPr id="8" name="Text 6"/>
          <p:cNvSpPr/>
          <p:nvPr/>
        </p:nvSpPr>
        <p:spPr>
          <a:xfrm>
            <a:off x="1005840" y="3566160"/>
            <a:ext cx="4343400" cy="457200"/>
          </a:xfrm>
          <a:prstGeom prst="rect">
            <a:avLst/>
          </a:prstGeom>
          <a:noFill/>
          <a:ln/>
        </p:spPr>
        <p:txBody>
          <a:bodyPr wrap="square" lIns="0" tIns="0" rIns="0" bIns="0" rtlCol="0" anchor="ctr"/>
          <a:lstStyle/>
          <a:p>
            <a:pPr marL="342900" indent="-342900">
              <a:buSzPct val="100000"/>
              <a:buChar char="–"/>
            </a:pPr>
            <a:r>
              <a:rPr lang="en-US" sz="1400" dirty="0">
                <a:solidFill>
                  <a:srgbClr val="6B6B66"/>
                </a:solidFill>
                <a:latin typeface="Calibri" pitchFamily="34" charset="0"/>
                <a:ea typeface="Calibri" pitchFamily="34" charset="-122"/>
                <a:cs typeface="Calibri" pitchFamily="34" charset="-120"/>
              </a:rPr>
              <a:t>Sin ocasión específica</a:t>
            </a:r>
            <a:endParaRPr lang="en-US" sz="1400" dirty="0"/>
          </a:p>
        </p:txBody>
      </p:sp>
      <p:sp>
        <p:nvSpPr>
          <p:cNvPr id="9" name="Text 7"/>
          <p:cNvSpPr/>
          <p:nvPr/>
        </p:nvSpPr>
        <p:spPr>
          <a:xfrm>
            <a:off x="1005840" y="4069080"/>
            <a:ext cx="4343400" cy="457200"/>
          </a:xfrm>
          <a:prstGeom prst="rect">
            <a:avLst/>
          </a:prstGeom>
          <a:noFill/>
          <a:ln/>
        </p:spPr>
        <p:txBody>
          <a:bodyPr wrap="square" lIns="0" tIns="0" rIns="0" bIns="0" rtlCol="0" anchor="ctr"/>
          <a:lstStyle/>
          <a:p>
            <a:pPr marL="342900" indent="-342900">
              <a:buSzPct val="100000"/>
              <a:buChar char="–"/>
            </a:pPr>
            <a:r>
              <a:rPr lang="en-US" sz="1400" dirty="0">
                <a:solidFill>
                  <a:srgbClr val="6B6B66"/>
                </a:solidFill>
                <a:latin typeface="Calibri" pitchFamily="34" charset="0"/>
                <a:ea typeface="Calibri" pitchFamily="34" charset="-122"/>
                <a:cs typeface="Calibri" pitchFamily="34" charset="-120"/>
              </a:rPr>
              <a:t>Sin urgencia real</a:t>
            </a:r>
            <a:endParaRPr lang="en-US" sz="1400" dirty="0"/>
          </a:p>
        </p:txBody>
      </p:sp>
      <p:sp>
        <p:nvSpPr>
          <p:cNvPr id="10" name="Text 8"/>
          <p:cNvSpPr/>
          <p:nvPr/>
        </p:nvSpPr>
        <p:spPr>
          <a:xfrm>
            <a:off x="1005840" y="4572000"/>
            <a:ext cx="4343400" cy="457200"/>
          </a:xfrm>
          <a:prstGeom prst="rect">
            <a:avLst/>
          </a:prstGeom>
          <a:noFill/>
          <a:ln/>
        </p:spPr>
        <p:txBody>
          <a:bodyPr wrap="square" lIns="0" tIns="0" rIns="0" bIns="0" rtlCol="0" anchor="ctr"/>
          <a:lstStyle/>
          <a:p>
            <a:pPr marL="342900" indent="-342900">
              <a:buSzPct val="100000"/>
              <a:buChar char="–"/>
            </a:pPr>
            <a:r>
              <a:rPr lang="en-US" sz="1400" dirty="0">
                <a:solidFill>
                  <a:srgbClr val="6B6B66"/>
                </a:solidFill>
                <a:latin typeface="Calibri" pitchFamily="34" charset="0"/>
                <a:ea typeface="Calibri" pitchFamily="34" charset="-122"/>
                <a:cs typeface="Calibri" pitchFamily="34" charset="-120"/>
              </a:rPr>
              <a:t>Un solo público para todos</a:t>
            </a:r>
            <a:endParaRPr lang="en-US" sz="1400" dirty="0"/>
          </a:p>
        </p:txBody>
      </p:sp>
      <p:sp>
        <p:nvSpPr>
          <p:cNvPr id="11" name="Shape 9"/>
          <p:cNvSpPr/>
          <p:nvPr/>
        </p:nvSpPr>
        <p:spPr>
          <a:xfrm>
            <a:off x="6172200" y="2103120"/>
            <a:ext cx="5074920" cy="3840480"/>
          </a:xfrm>
          <a:prstGeom prst="roundRect">
            <a:avLst>
              <a:gd name="adj" fmla="val 1905"/>
            </a:avLst>
          </a:prstGeom>
          <a:solidFill>
            <a:srgbClr val="1E1B18"/>
          </a:solidFill>
          <a:ln/>
        </p:spPr>
      </p:sp>
      <p:sp>
        <p:nvSpPr>
          <p:cNvPr id="12" name="Text 10"/>
          <p:cNvSpPr/>
          <p:nvPr/>
        </p:nvSpPr>
        <p:spPr>
          <a:xfrm>
            <a:off x="6537960" y="2377440"/>
            <a:ext cx="4343400" cy="320040"/>
          </a:xfrm>
          <a:prstGeom prst="rect">
            <a:avLst/>
          </a:prstGeom>
          <a:noFill/>
          <a:ln/>
        </p:spPr>
        <p:txBody>
          <a:bodyPr wrap="square" lIns="0" tIns="0" rIns="0" bIns="0" rtlCol="0" anchor="ctr"/>
          <a:lstStyle/>
          <a:p>
            <a:pPr indent="0" marL="0">
              <a:buNone/>
            </a:pPr>
            <a:r>
              <a:rPr lang="en-US" sz="1300" b="1" spc="150" kern="0" dirty="0">
                <a:solidFill>
                  <a:srgbClr val="C1502E"/>
                </a:solidFill>
                <a:latin typeface="Calibri" pitchFamily="34" charset="0"/>
                <a:ea typeface="Calibri" pitchFamily="34" charset="-122"/>
                <a:cs typeface="Calibri" pitchFamily="34" charset="-120"/>
              </a:rPr>
              <a:t>CTA POR OCASIÓN</a:t>
            </a:r>
            <a:endParaRPr lang="en-US" sz="1300" dirty="0"/>
          </a:p>
        </p:txBody>
      </p:sp>
      <p:sp>
        <p:nvSpPr>
          <p:cNvPr id="13" name="Text 11"/>
          <p:cNvSpPr/>
          <p:nvPr/>
        </p:nvSpPr>
        <p:spPr>
          <a:xfrm>
            <a:off x="6537960" y="2788920"/>
            <a:ext cx="4343400" cy="548640"/>
          </a:xfrm>
          <a:prstGeom prst="rect">
            <a:avLst/>
          </a:prstGeom>
          <a:noFill/>
          <a:ln/>
        </p:spPr>
        <p:txBody>
          <a:bodyPr wrap="square" lIns="0" tIns="0" rIns="0" bIns="0" rtlCol="0" anchor="ctr"/>
          <a:lstStyle/>
          <a:p>
            <a:pPr indent="0" marL="0">
              <a:buNone/>
            </a:pPr>
            <a:r>
              <a:rPr lang="en-US" sz="1600" i="1" dirty="0">
                <a:solidFill>
                  <a:srgbClr val="FFFFFF"/>
                </a:solidFill>
                <a:latin typeface="Cambria" pitchFamily="34" charset="0"/>
                <a:ea typeface="Cambria" pitchFamily="34" charset="-122"/>
                <a:cs typeface="Cambria" pitchFamily="34" charset="-120"/>
              </a:rPr>
              <a:t>“Reserva la mesa del cumpleaños de tu papá”</a:t>
            </a:r>
            <a:endParaRPr lang="en-US" sz="1600" dirty="0"/>
          </a:p>
        </p:txBody>
      </p:sp>
      <p:sp>
        <p:nvSpPr>
          <p:cNvPr id="14" name="Text 12"/>
          <p:cNvSpPr/>
          <p:nvPr/>
        </p:nvSpPr>
        <p:spPr>
          <a:xfrm>
            <a:off x="6537960" y="3566160"/>
            <a:ext cx="4343400" cy="457200"/>
          </a:xfrm>
          <a:prstGeom prst="rect">
            <a:avLst/>
          </a:prstGeom>
          <a:noFill/>
          <a:ln/>
        </p:spPr>
        <p:txBody>
          <a:bodyPr wrap="square" lIns="0" tIns="0" rIns="0" bIns="0" rtlCol="0" anchor="ctr"/>
          <a:lstStyle/>
          <a:p>
            <a:pPr marL="342900" indent="-342900">
              <a:buSzPct val="100000"/>
              <a:buChar char="–"/>
            </a:pPr>
            <a:r>
              <a:rPr lang="en-US" sz="1400" dirty="0">
                <a:solidFill>
                  <a:srgbClr val="FFFFFF"/>
                </a:solidFill>
                <a:latin typeface="Calibri" pitchFamily="34" charset="0"/>
                <a:ea typeface="Calibri" pitchFamily="34" charset="-122"/>
                <a:cs typeface="Calibri" pitchFamily="34" charset="-120"/>
              </a:rPr>
              <a:t>Ocasión y audiencia específicas</a:t>
            </a:r>
            <a:endParaRPr lang="en-US" sz="1400" dirty="0"/>
          </a:p>
        </p:txBody>
      </p:sp>
      <p:sp>
        <p:nvSpPr>
          <p:cNvPr id="15" name="Text 13"/>
          <p:cNvSpPr/>
          <p:nvPr/>
        </p:nvSpPr>
        <p:spPr>
          <a:xfrm>
            <a:off x="6537960" y="4069080"/>
            <a:ext cx="4343400" cy="457200"/>
          </a:xfrm>
          <a:prstGeom prst="rect">
            <a:avLst/>
          </a:prstGeom>
          <a:noFill/>
          <a:ln/>
        </p:spPr>
        <p:txBody>
          <a:bodyPr wrap="square" lIns="0" tIns="0" rIns="0" bIns="0" rtlCol="0" anchor="ctr"/>
          <a:lstStyle/>
          <a:p>
            <a:pPr marL="342900" indent="-342900">
              <a:buSzPct val="100000"/>
              <a:buChar char="–"/>
            </a:pPr>
            <a:r>
              <a:rPr lang="en-US" sz="1400" dirty="0">
                <a:solidFill>
                  <a:srgbClr val="FFFFFF"/>
                </a:solidFill>
                <a:latin typeface="Calibri" pitchFamily="34" charset="0"/>
                <a:ea typeface="Calibri" pitchFamily="34" charset="-122"/>
                <a:cs typeface="Calibri" pitchFamily="34" charset="-120"/>
              </a:rPr>
              <a:t>Oferta y cupo con urgencia</a:t>
            </a:r>
            <a:endParaRPr lang="en-US" sz="1400" dirty="0"/>
          </a:p>
        </p:txBody>
      </p:sp>
      <p:sp>
        <p:nvSpPr>
          <p:cNvPr id="16" name="Text 14"/>
          <p:cNvSpPr/>
          <p:nvPr/>
        </p:nvSpPr>
        <p:spPr>
          <a:xfrm>
            <a:off x="6537960" y="4572000"/>
            <a:ext cx="4343400" cy="457200"/>
          </a:xfrm>
          <a:prstGeom prst="rect">
            <a:avLst/>
          </a:prstGeom>
          <a:noFill/>
          <a:ln/>
        </p:spPr>
        <p:txBody>
          <a:bodyPr wrap="square" lIns="0" tIns="0" rIns="0" bIns="0" rtlCol="0" anchor="ctr"/>
          <a:lstStyle/>
          <a:p>
            <a:pPr marL="342900" indent="-342900">
              <a:buSzPct val="100000"/>
              <a:buChar char="–"/>
            </a:pPr>
            <a:r>
              <a:rPr lang="en-US" sz="1400" dirty="0">
                <a:solidFill>
                  <a:srgbClr val="FFFFFF"/>
                </a:solidFill>
                <a:latin typeface="Calibri" pitchFamily="34" charset="0"/>
                <a:ea typeface="Calibri" pitchFamily="34" charset="-122"/>
                <a:cs typeface="Calibri" pitchFamily="34" charset="-120"/>
              </a:rPr>
              <a:t>Un anuncio por tipo de evento</a:t>
            </a:r>
            <a:endParaRPr lang="en-US" sz="1400" dirty="0"/>
          </a:p>
        </p:txBody>
      </p:sp>
      <p:sp>
        <p:nvSpPr>
          <p:cNvPr id="17" name="Text 15"/>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1B18"/>
        </a:solidFill>
      </p:bgPr>
    </p:bg>
    <p:spTree>
      <p:nvGrpSpPr>
        <p:cNvPr id="1" name=""/>
        <p:cNvGrpSpPr/>
        <p:nvPr/>
      </p:nvGrpSpPr>
      <p:grpSpPr>
        <a:xfrm>
          <a:off x="0" y="0"/>
          <a:ext cx="0" cy="0"/>
          <a:chOff x="0" y="0"/>
          <a:chExt cx="0" cy="0"/>
        </a:xfrm>
      </p:grpSpPr>
      <p:sp>
        <p:nvSpPr>
          <p:cNvPr id="2" name="Text 0"/>
          <p:cNvSpPr/>
          <p:nvPr/>
        </p:nvSpPr>
        <p:spPr>
          <a:xfrm>
            <a:off x="777240" y="777240"/>
            <a:ext cx="5486400" cy="365760"/>
          </a:xfrm>
          <a:prstGeom prst="rect">
            <a:avLst/>
          </a:prstGeom>
          <a:noFill/>
          <a:ln/>
        </p:spPr>
        <p:txBody>
          <a:bodyPr wrap="square" lIns="0" tIns="0" rIns="0" bIns="0" rtlCol="0" anchor="ctr"/>
          <a:lstStyle/>
          <a:p>
            <a:pPr indent="0" marL="0">
              <a:buNone/>
            </a:pPr>
            <a:r>
              <a:rPr lang="en-US" sz="1400" b="1" spc="300" kern="0" dirty="0">
                <a:solidFill>
                  <a:srgbClr val="C1502E"/>
                </a:solidFill>
                <a:latin typeface="Calibri" pitchFamily="34" charset="0"/>
                <a:ea typeface="Calibri" pitchFamily="34" charset="-122"/>
                <a:cs typeface="Calibri" pitchFamily="34" charset="-120"/>
              </a:rPr>
              <a:t>ETAPA 04</a:t>
            </a:r>
            <a:endParaRPr lang="en-US" sz="1400" dirty="0"/>
          </a:p>
        </p:txBody>
      </p:sp>
      <p:sp>
        <p:nvSpPr>
          <p:cNvPr id="3" name="Shape 1"/>
          <p:cNvSpPr/>
          <p:nvPr/>
        </p:nvSpPr>
        <p:spPr>
          <a:xfrm>
            <a:off x="777240" y="1440180"/>
            <a:ext cx="1051560" cy="1051560"/>
          </a:xfrm>
          <a:prstGeom prst="ellipse">
            <a:avLst/>
          </a:prstGeom>
          <a:solidFill>
            <a:srgbClr val="C1502E"/>
          </a:solidFill>
          <a:ln/>
        </p:spPr>
      </p:sp>
      <p:sp>
        <p:nvSpPr>
          <p:cNvPr id="4" name="Text 2"/>
          <p:cNvSpPr/>
          <p:nvPr/>
        </p:nvSpPr>
        <p:spPr>
          <a:xfrm>
            <a:off x="777240" y="1440180"/>
            <a:ext cx="1051560" cy="1051560"/>
          </a:xfrm>
          <a:prstGeom prst="rect">
            <a:avLst/>
          </a:prstGeom>
          <a:noFill/>
          <a:ln/>
        </p:spPr>
        <p:txBody>
          <a:bodyPr wrap="square" lIns="0" tIns="0" rIns="0" bIns="0" rtlCol="0" anchor="ctr"/>
          <a:lstStyle/>
          <a:p>
            <a:pPr algn="ctr" indent="0" marL="0">
              <a:buNone/>
            </a:pPr>
            <a:r>
              <a:rPr lang="en-US" sz="3910" b="1" dirty="0">
                <a:solidFill>
                  <a:srgbClr val="FFFFFF"/>
                </a:solidFill>
                <a:latin typeface="Cambria" pitchFamily="34" charset="0"/>
                <a:ea typeface="Cambria" pitchFamily="34" charset="-122"/>
                <a:cs typeface="Cambria" pitchFamily="34" charset="-120"/>
              </a:rPr>
              <a:t>04</a:t>
            </a:r>
            <a:endParaRPr lang="en-US" sz="3910" dirty="0"/>
          </a:p>
        </p:txBody>
      </p:sp>
      <p:sp>
        <p:nvSpPr>
          <p:cNvPr id="5" name="Text 3"/>
          <p:cNvSpPr/>
          <p:nvPr/>
        </p:nvSpPr>
        <p:spPr>
          <a:xfrm>
            <a:off x="2148840" y="1417320"/>
            <a:ext cx="86868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Ascensión</a:t>
            </a:r>
            <a:endParaRPr lang="en-US" sz="4000" dirty="0"/>
          </a:p>
        </p:txBody>
      </p:sp>
      <p:sp>
        <p:nvSpPr>
          <p:cNvPr id="6" name="Text 4"/>
          <p:cNvSpPr/>
          <p:nvPr/>
        </p:nvSpPr>
        <p:spPr>
          <a:xfrm>
            <a:off x="2167128" y="2148840"/>
            <a:ext cx="8686800" cy="457200"/>
          </a:xfrm>
          <a:prstGeom prst="rect">
            <a:avLst/>
          </a:prstGeom>
          <a:noFill/>
          <a:ln/>
        </p:spPr>
        <p:txBody>
          <a:bodyPr wrap="square" lIns="0" tIns="0" rIns="0" bIns="0" rtlCol="0" anchor="ctr"/>
          <a:lstStyle/>
          <a:p>
            <a:pPr indent="0" marL="0">
              <a:buNone/>
            </a:pPr>
            <a:r>
              <a:rPr lang="en-US" sz="1800" i="1" dirty="0">
                <a:solidFill>
                  <a:srgbClr val="D8D4CC"/>
                </a:solidFill>
                <a:latin typeface="Calibri" pitchFamily="34" charset="0"/>
                <a:ea typeface="Calibri" pitchFamily="34" charset="-122"/>
                <a:cs typeface="Calibri" pitchFamily="34" charset="-120"/>
              </a:rPr>
              <a:t>Objetivo: el mayor potencial de crecimiento sin explotar.</a:t>
            </a:r>
            <a:endParaRPr lang="en-US" sz="1800" dirty="0"/>
          </a:p>
        </p:txBody>
      </p:sp>
      <p:sp>
        <p:nvSpPr>
          <p:cNvPr id="7" name="Shape 5"/>
          <p:cNvSpPr/>
          <p:nvPr/>
        </p:nvSpPr>
        <p:spPr>
          <a:xfrm>
            <a:off x="1714500" y="3840480"/>
            <a:ext cx="640080" cy="640080"/>
          </a:xfrm>
          <a:prstGeom prst="ellipse">
            <a:avLst/>
          </a:prstGeom>
          <a:solidFill>
            <a:srgbClr val="2B2622"/>
          </a:solidFill>
          <a:ln/>
        </p:spPr>
      </p:sp>
      <p:pic>
        <p:nvPicPr>
          <p:cNvPr id="8" name="Image 0" descr="/tmp/claude-0/-home-user-Presentaciones-y-varios/903c1196-30c4-57a8-b469-52313f1ce01c/scratchpad/palco/icons/sync_C1502E.png">    </p:cNvPr>
          <p:cNvPicPr>
            <a:picLocks noChangeAspect="1"/>
          </p:cNvPicPr>
          <p:nvPr/>
        </p:nvPicPr>
        <p:blipFill>
          <a:blip r:embed="rId1"/>
          <a:stretch>
            <a:fillRect/>
          </a:stretch>
        </p:blipFill>
        <p:spPr>
          <a:xfrm>
            <a:off x="1868119" y="3994099"/>
            <a:ext cx="332842" cy="332842"/>
          </a:xfrm>
          <a:prstGeom prst="rect">
            <a:avLst/>
          </a:prstGeom>
        </p:spPr>
      </p:pic>
      <p:sp>
        <p:nvSpPr>
          <p:cNvPr id="9" name="Text 6"/>
          <p:cNvSpPr/>
          <p:nvPr/>
        </p:nvSpPr>
        <p:spPr>
          <a:xfrm>
            <a:off x="777240" y="4617720"/>
            <a:ext cx="2514600" cy="73152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Reimpactar</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clientes anteriores</a:t>
            </a:r>
            <a:endParaRPr lang="en-US" sz="1300" dirty="0"/>
          </a:p>
        </p:txBody>
      </p:sp>
      <p:sp>
        <p:nvSpPr>
          <p:cNvPr id="10" name="Shape 7"/>
          <p:cNvSpPr/>
          <p:nvPr/>
        </p:nvSpPr>
        <p:spPr>
          <a:xfrm>
            <a:off x="4485132" y="3840480"/>
            <a:ext cx="640080" cy="640080"/>
          </a:xfrm>
          <a:prstGeom prst="ellipse">
            <a:avLst/>
          </a:prstGeom>
          <a:solidFill>
            <a:srgbClr val="2B2622"/>
          </a:solidFill>
          <a:ln/>
        </p:spPr>
      </p:sp>
      <p:pic>
        <p:nvPicPr>
          <p:cNvPr id="11" name="Image 1" descr="/tmp/claude-0/-home-user-Presentaciones-y-varios/903c1196-30c4-57a8-b469-52313f1ce01c/scratchpad/palco/icons/gift_C1502E.png">    </p:cNvPr>
          <p:cNvPicPr>
            <a:picLocks noChangeAspect="1"/>
          </p:cNvPicPr>
          <p:nvPr/>
        </p:nvPicPr>
        <p:blipFill>
          <a:blip r:embed="rId2"/>
          <a:stretch>
            <a:fillRect/>
          </a:stretch>
        </p:blipFill>
        <p:spPr>
          <a:xfrm>
            <a:off x="4638751" y="3994099"/>
            <a:ext cx="332842" cy="332842"/>
          </a:xfrm>
          <a:prstGeom prst="rect">
            <a:avLst/>
          </a:prstGeom>
        </p:spPr>
      </p:pic>
      <p:sp>
        <p:nvSpPr>
          <p:cNvPr id="12" name="Text 8"/>
          <p:cNvSpPr/>
          <p:nvPr/>
        </p:nvSpPr>
        <p:spPr>
          <a:xfrm>
            <a:off x="3547872" y="4617720"/>
            <a:ext cx="2514600" cy="73152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Bonos de</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regalo</a:t>
            </a:r>
            <a:endParaRPr lang="en-US" sz="1300" dirty="0"/>
          </a:p>
        </p:txBody>
      </p:sp>
      <p:sp>
        <p:nvSpPr>
          <p:cNvPr id="13" name="Shape 9"/>
          <p:cNvSpPr/>
          <p:nvPr/>
        </p:nvSpPr>
        <p:spPr>
          <a:xfrm>
            <a:off x="7255764" y="3840480"/>
            <a:ext cx="640080" cy="640080"/>
          </a:xfrm>
          <a:prstGeom prst="ellipse">
            <a:avLst/>
          </a:prstGeom>
          <a:solidFill>
            <a:srgbClr val="2B2622"/>
          </a:solidFill>
          <a:ln/>
        </p:spPr>
      </p:sp>
      <p:pic>
        <p:nvPicPr>
          <p:cNvPr id="14" name="Image 2" descr="/tmp/claude-0/-home-user-Presentaciones-y-varios/903c1196-30c4-57a8-b469-52313f1ce01c/scratchpad/palco/icons/calendar_C1502E.png">    </p:cNvPr>
          <p:cNvPicPr>
            <a:picLocks noChangeAspect="1"/>
          </p:cNvPicPr>
          <p:nvPr/>
        </p:nvPicPr>
        <p:blipFill>
          <a:blip r:embed="rId3"/>
          <a:stretch>
            <a:fillRect/>
          </a:stretch>
        </p:blipFill>
        <p:spPr>
          <a:xfrm>
            <a:off x="7409383" y="3994099"/>
            <a:ext cx="332842" cy="332842"/>
          </a:xfrm>
          <a:prstGeom prst="rect">
            <a:avLst/>
          </a:prstGeom>
        </p:spPr>
      </p:pic>
      <p:sp>
        <p:nvSpPr>
          <p:cNvPr id="15" name="Text 10"/>
          <p:cNvSpPr/>
          <p:nvPr/>
        </p:nvSpPr>
        <p:spPr>
          <a:xfrm>
            <a:off x="6318504" y="4617720"/>
            <a:ext cx="2514600" cy="73152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Fechas</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comerciales</a:t>
            </a:r>
            <a:endParaRPr lang="en-US" sz="1300" dirty="0"/>
          </a:p>
        </p:txBody>
      </p:sp>
      <p:sp>
        <p:nvSpPr>
          <p:cNvPr id="16" name="Shape 11"/>
          <p:cNvSpPr/>
          <p:nvPr/>
        </p:nvSpPr>
        <p:spPr>
          <a:xfrm>
            <a:off x="10026396" y="3840480"/>
            <a:ext cx="640080" cy="640080"/>
          </a:xfrm>
          <a:prstGeom prst="ellipse">
            <a:avLst/>
          </a:prstGeom>
          <a:solidFill>
            <a:srgbClr val="2B2622"/>
          </a:solidFill>
          <a:ln/>
        </p:spPr>
      </p:sp>
      <p:pic>
        <p:nvPicPr>
          <p:cNvPr id="17" name="Image 3" descr="/tmp/claude-0/-home-user-Presentaciones-y-varios/903c1196-30c4-57a8-b469-52313f1ce01c/scratchpad/palco/icons/clock_C1502E.png">    </p:cNvPr>
          <p:cNvPicPr>
            <a:picLocks noChangeAspect="1"/>
          </p:cNvPicPr>
          <p:nvPr/>
        </p:nvPicPr>
        <p:blipFill>
          <a:blip r:embed="rId4"/>
          <a:stretch>
            <a:fillRect/>
          </a:stretch>
        </p:blipFill>
        <p:spPr>
          <a:xfrm>
            <a:off x="10180015" y="3994099"/>
            <a:ext cx="332842" cy="332842"/>
          </a:xfrm>
          <a:prstGeom prst="rect">
            <a:avLst/>
          </a:prstGeom>
        </p:spPr>
      </p:pic>
      <p:sp>
        <p:nvSpPr>
          <p:cNvPr id="18" name="Text 12"/>
          <p:cNvSpPr/>
          <p:nvPr/>
        </p:nvSpPr>
        <p:spPr>
          <a:xfrm>
            <a:off x="9089136" y="4617720"/>
            <a:ext cx="2514600" cy="73152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Clientes +90 días</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sin visitar</a:t>
            </a:r>
            <a:endParaRPr lang="en-US" sz="1300" dirty="0"/>
          </a:p>
        </p:txBody>
      </p:sp>
      <p:sp>
        <p:nvSpPr>
          <p:cNvPr id="19" name="Text 13"/>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9A969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C1502E"/>
                </a:solidFill>
                <a:latin typeface="Calibri" pitchFamily="34" charset="0"/>
                <a:ea typeface="Calibri" pitchFamily="34" charset="-122"/>
                <a:cs typeface="Calibri" pitchFamily="34" charset="-120"/>
              </a:rPr>
              <a:t>ETAPA 4 · ASCENSIÓN</a:t>
            </a:r>
            <a:endParaRPr lang="en-US" sz="1200" dirty="0"/>
          </a:p>
        </p:txBody>
      </p:sp>
      <p:sp>
        <p:nvSpPr>
          <p:cNvPr id="3" name="Text 1"/>
          <p:cNvSpPr/>
          <p:nvPr/>
        </p:nvSpPr>
        <p:spPr>
          <a:xfrm>
            <a:off x="640080" y="841248"/>
            <a:ext cx="10515600" cy="822960"/>
          </a:xfrm>
          <a:prstGeom prst="rect">
            <a:avLst/>
          </a:prstGeom>
          <a:noFill/>
          <a:ln/>
        </p:spPr>
        <p:txBody>
          <a:bodyPr wrap="square" lIns="0" tIns="0" rIns="0" bIns="0" rtlCol="0" anchor="ctr"/>
          <a:lstStyle/>
          <a:p>
            <a:pPr algn="l" indent="0" marL="0">
              <a:buNone/>
            </a:pPr>
            <a:r>
              <a:rPr lang="en-US" sz="3400" b="1" dirty="0">
                <a:solidFill>
                  <a:srgbClr val="1E1B18"/>
                </a:solidFill>
                <a:latin typeface="Cambria" pitchFamily="34" charset="0"/>
                <a:ea typeface="Cambria" pitchFamily="34" charset="-122"/>
                <a:cs typeface="Cambria" pitchFamily="34" charset="-120"/>
              </a:rPr>
              <a:t>Cada fecha, una razón para volver</a:t>
            </a:r>
            <a:endParaRPr lang="en-US" sz="3400" dirty="0"/>
          </a:p>
        </p:txBody>
      </p:sp>
      <p:sp>
        <p:nvSpPr>
          <p:cNvPr id="4" name="Shape 2"/>
          <p:cNvSpPr/>
          <p:nvPr/>
        </p:nvSpPr>
        <p:spPr>
          <a:xfrm>
            <a:off x="676656" y="2148840"/>
            <a:ext cx="1691640" cy="1417320"/>
          </a:xfrm>
          <a:prstGeom prst="roundRect">
            <a:avLst>
              <a:gd name="adj" fmla="val 5161"/>
            </a:avLst>
          </a:prstGeom>
          <a:solidFill>
            <a:srgbClr val="F7F6F4"/>
          </a:solidFill>
          <a:ln/>
        </p:spPr>
      </p:sp>
      <p:sp>
        <p:nvSpPr>
          <p:cNvPr id="5" name="Shape 3"/>
          <p:cNvSpPr/>
          <p:nvPr/>
        </p:nvSpPr>
        <p:spPr>
          <a:xfrm>
            <a:off x="1248156" y="2331720"/>
            <a:ext cx="548640" cy="548640"/>
          </a:xfrm>
          <a:prstGeom prst="ellipse">
            <a:avLst/>
          </a:prstGeom>
          <a:solidFill>
            <a:srgbClr val="FFFFFF"/>
          </a:solidFill>
          <a:ln/>
        </p:spPr>
      </p:sp>
      <p:pic>
        <p:nvPicPr>
          <p:cNvPr id="6" name="Image 0" descr="/tmp/claude-0/-home-user-Presentaciones-y-varios/903c1196-30c4-57a8-b469-52313f1ce01c/scratchpad/palco/icons/birthday_C1502E.png">    </p:cNvPr>
          <p:cNvPicPr>
            <a:picLocks noChangeAspect="1"/>
          </p:cNvPicPr>
          <p:nvPr/>
        </p:nvPicPr>
        <p:blipFill>
          <a:blip r:embed="rId1"/>
          <a:stretch>
            <a:fillRect/>
          </a:stretch>
        </p:blipFill>
        <p:spPr>
          <a:xfrm>
            <a:off x="1371600" y="2455164"/>
            <a:ext cx="301752" cy="301752"/>
          </a:xfrm>
          <a:prstGeom prst="rect">
            <a:avLst/>
          </a:prstGeom>
        </p:spPr>
      </p:pic>
      <p:sp>
        <p:nvSpPr>
          <p:cNvPr id="7" name="Text 4"/>
          <p:cNvSpPr/>
          <p:nvPr/>
        </p:nvSpPr>
        <p:spPr>
          <a:xfrm>
            <a:off x="722376" y="3017520"/>
            <a:ext cx="1600200" cy="457200"/>
          </a:xfrm>
          <a:prstGeom prst="rect">
            <a:avLst/>
          </a:prstGeom>
          <a:noFill/>
          <a:ln/>
        </p:spPr>
        <p:txBody>
          <a:bodyPr wrap="square" lIns="0" tIns="0" rIns="0" bIns="0" rtlCol="0" anchor="ctr"/>
          <a:lstStyle/>
          <a:p>
            <a:pPr algn="ctr" indent="0" marL="0">
              <a:buNone/>
            </a:pPr>
            <a:r>
              <a:rPr lang="en-US" sz="1100" b="1" dirty="0">
                <a:solidFill>
                  <a:srgbClr val="1E1B18"/>
                </a:solidFill>
                <a:latin typeface="Calibri" pitchFamily="34" charset="0"/>
                <a:ea typeface="Calibri" pitchFamily="34" charset="-122"/>
                <a:cs typeface="Calibri" pitchFamily="34" charset="-120"/>
              </a:rPr>
              <a:t>Cumpleaños</a:t>
            </a:r>
            <a:endParaRPr lang="en-US" sz="1100" dirty="0"/>
          </a:p>
        </p:txBody>
      </p:sp>
      <p:sp>
        <p:nvSpPr>
          <p:cNvPr id="8" name="Shape 5"/>
          <p:cNvSpPr/>
          <p:nvPr/>
        </p:nvSpPr>
        <p:spPr>
          <a:xfrm>
            <a:off x="2505456" y="2148840"/>
            <a:ext cx="1691640" cy="1417320"/>
          </a:xfrm>
          <a:prstGeom prst="roundRect">
            <a:avLst>
              <a:gd name="adj" fmla="val 5161"/>
            </a:avLst>
          </a:prstGeom>
          <a:solidFill>
            <a:srgbClr val="E7EBE2"/>
          </a:solidFill>
          <a:ln/>
        </p:spPr>
      </p:sp>
      <p:sp>
        <p:nvSpPr>
          <p:cNvPr id="9" name="Shape 6"/>
          <p:cNvSpPr/>
          <p:nvPr/>
        </p:nvSpPr>
        <p:spPr>
          <a:xfrm>
            <a:off x="3076956" y="2331720"/>
            <a:ext cx="548640" cy="548640"/>
          </a:xfrm>
          <a:prstGeom prst="ellipse">
            <a:avLst/>
          </a:prstGeom>
          <a:solidFill>
            <a:srgbClr val="FFFFFF"/>
          </a:solidFill>
          <a:ln/>
        </p:spPr>
      </p:sp>
      <p:pic>
        <p:nvPicPr>
          <p:cNvPr id="10" name="Image 1" descr="/tmp/claude-0/-home-user-Presentaciones-y-varios/903c1196-30c4-57a8-b469-52313f1ce01c/scratchpad/palco/icons/gift_C1502E.png">    </p:cNvPr>
          <p:cNvPicPr>
            <a:picLocks noChangeAspect="1"/>
          </p:cNvPicPr>
          <p:nvPr/>
        </p:nvPicPr>
        <p:blipFill>
          <a:blip r:embed="rId2"/>
          <a:stretch>
            <a:fillRect/>
          </a:stretch>
        </p:blipFill>
        <p:spPr>
          <a:xfrm>
            <a:off x="3200400" y="2455164"/>
            <a:ext cx="301752" cy="301752"/>
          </a:xfrm>
          <a:prstGeom prst="rect">
            <a:avLst/>
          </a:prstGeom>
        </p:spPr>
      </p:pic>
      <p:sp>
        <p:nvSpPr>
          <p:cNvPr id="11" name="Text 7"/>
          <p:cNvSpPr/>
          <p:nvPr/>
        </p:nvSpPr>
        <p:spPr>
          <a:xfrm>
            <a:off x="2551176" y="3017520"/>
            <a:ext cx="1600200" cy="457200"/>
          </a:xfrm>
          <a:prstGeom prst="rect">
            <a:avLst/>
          </a:prstGeom>
          <a:noFill/>
          <a:ln/>
        </p:spPr>
        <p:txBody>
          <a:bodyPr wrap="square" lIns="0" tIns="0" rIns="0" bIns="0" rtlCol="0" anchor="ctr"/>
          <a:lstStyle/>
          <a:p>
            <a:pPr algn="ctr" indent="0" marL="0">
              <a:buNone/>
            </a:pPr>
            <a:r>
              <a:rPr lang="en-US" sz="1100" b="1" dirty="0">
                <a:solidFill>
                  <a:srgbClr val="1E1B18"/>
                </a:solidFill>
                <a:latin typeface="Calibri" pitchFamily="34" charset="0"/>
                <a:ea typeface="Calibri" pitchFamily="34" charset="-122"/>
                <a:cs typeface="Calibri" pitchFamily="34" charset="-120"/>
              </a:rPr>
              <a:t>Día del Padre</a:t>
            </a:r>
            <a:endParaRPr lang="en-US" sz="1100" dirty="0"/>
          </a:p>
        </p:txBody>
      </p:sp>
      <p:sp>
        <p:nvSpPr>
          <p:cNvPr id="12" name="Shape 8"/>
          <p:cNvSpPr/>
          <p:nvPr/>
        </p:nvSpPr>
        <p:spPr>
          <a:xfrm>
            <a:off x="4334256" y="2148840"/>
            <a:ext cx="1691640" cy="1417320"/>
          </a:xfrm>
          <a:prstGeom prst="roundRect">
            <a:avLst>
              <a:gd name="adj" fmla="val 5161"/>
            </a:avLst>
          </a:prstGeom>
          <a:solidFill>
            <a:srgbClr val="F7F6F4"/>
          </a:solidFill>
          <a:ln/>
        </p:spPr>
      </p:sp>
      <p:sp>
        <p:nvSpPr>
          <p:cNvPr id="13" name="Shape 9"/>
          <p:cNvSpPr/>
          <p:nvPr/>
        </p:nvSpPr>
        <p:spPr>
          <a:xfrm>
            <a:off x="4905756" y="2331720"/>
            <a:ext cx="548640" cy="548640"/>
          </a:xfrm>
          <a:prstGeom prst="ellipse">
            <a:avLst/>
          </a:prstGeom>
          <a:solidFill>
            <a:srgbClr val="FFFFFF"/>
          </a:solidFill>
          <a:ln/>
        </p:spPr>
      </p:sp>
      <p:pic>
        <p:nvPicPr>
          <p:cNvPr id="14" name="Image 2" descr="/tmp/claude-0/-home-user-Presentaciones-y-varios/903c1196-30c4-57a8-b469-52313f1ce01c/scratchpad/palco/icons/heart_C1502E.png">    </p:cNvPr>
          <p:cNvPicPr>
            <a:picLocks noChangeAspect="1"/>
          </p:cNvPicPr>
          <p:nvPr/>
        </p:nvPicPr>
        <p:blipFill>
          <a:blip r:embed="rId3"/>
          <a:stretch>
            <a:fillRect/>
          </a:stretch>
        </p:blipFill>
        <p:spPr>
          <a:xfrm>
            <a:off x="5029200" y="2455164"/>
            <a:ext cx="301752" cy="301752"/>
          </a:xfrm>
          <a:prstGeom prst="rect">
            <a:avLst/>
          </a:prstGeom>
        </p:spPr>
      </p:pic>
      <p:sp>
        <p:nvSpPr>
          <p:cNvPr id="15" name="Text 10"/>
          <p:cNvSpPr/>
          <p:nvPr/>
        </p:nvSpPr>
        <p:spPr>
          <a:xfrm>
            <a:off x="4379976" y="3017520"/>
            <a:ext cx="1600200" cy="457200"/>
          </a:xfrm>
          <a:prstGeom prst="rect">
            <a:avLst/>
          </a:prstGeom>
          <a:noFill/>
          <a:ln/>
        </p:spPr>
        <p:txBody>
          <a:bodyPr wrap="square" lIns="0" tIns="0" rIns="0" bIns="0" rtlCol="0" anchor="ctr"/>
          <a:lstStyle/>
          <a:p>
            <a:pPr algn="ctr" indent="0" marL="0">
              <a:buNone/>
            </a:pPr>
            <a:r>
              <a:rPr lang="en-US" sz="1100" b="1" dirty="0">
                <a:solidFill>
                  <a:srgbClr val="1E1B18"/>
                </a:solidFill>
                <a:latin typeface="Calibri" pitchFamily="34" charset="0"/>
                <a:ea typeface="Calibri" pitchFamily="34" charset="-122"/>
                <a:cs typeface="Calibri" pitchFamily="34" charset="-120"/>
              </a:rPr>
              <a:t>Día de la Madre</a:t>
            </a:r>
            <a:endParaRPr lang="en-US" sz="1100" dirty="0"/>
          </a:p>
        </p:txBody>
      </p:sp>
      <p:sp>
        <p:nvSpPr>
          <p:cNvPr id="16" name="Shape 11"/>
          <p:cNvSpPr/>
          <p:nvPr/>
        </p:nvSpPr>
        <p:spPr>
          <a:xfrm>
            <a:off x="6163056" y="2148840"/>
            <a:ext cx="1691640" cy="1417320"/>
          </a:xfrm>
          <a:prstGeom prst="roundRect">
            <a:avLst>
              <a:gd name="adj" fmla="val 5161"/>
            </a:avLst>
          </a:prstGeom>
          <a:solidFill>
            <a:srgbClr val="E7EBE2"/>
          </a:solidFill>
          <a:ln/>
        </p:spPr>
      </p:sp>
      <p:sp>
        <p:nvSpPr>
          <p:cNvPr id="17" name="Shape 12"/>
          <p:cNvSpPr/>
          <p:nvPr/>
        </p:nvSpPr>
        <p:spPr>
          <a:xfrm>
            <a:off x="6734556" y="2331720"/>
            <a:ext cx="548640" cy="548640"/>
          </a:xfrm>
          <a:prstGeom prst="ellipse">
            <a:avLst/>
          </a:prstGeom>
          <a:solidFill>
            <a:srgbClr val="FFFFFF"/>
          </a:solidFill>
          <a:ln/>
        </p:spPr>
      </p:sp>
      <p:pic>
        <p:nvPicPr>
          <p:cNvPr id="18" name="Image 3" descr="/tmp/claude-0/-home-user-Presentaciones-y-varios/903c1196-30c4-57a8-b469-52313f1ce01c/scratchpad/palco/icons/ring_C1502E.png">    </p:cNvPr>
          <p:cNvPicPr>
            <a:picLocks noChangeAspect="1"/>
          </p:cNvPicPr>
          <p:nvPr/>
        </p:nvPicPr>
        <p:blipFill>
          <a:blip r:embed="rId4"/>
          <a:stretch>
            <a:fillRect/>
          </a:stretch>
        </p:blipFill>
        <p:spPr>
          <a:xfrm>
            <a:off x="6858000" y="2455164"/>
            <a:ext cx="301752" cy="301752"/>
          </a:xfrm>
          <a:prstGeom prst="rect">
            <a:avLst/>
          </a:prstGeom>
        </p:spPr>
      </p:pic>
      <p:sp>
        <p:nvSpPr>
          <p:cNvPr id="19" name="Text 13"/>
          <p:cNvSpPr/>
          <p:nvPr/>
        </p:nvSpPr>
        <p:spPr>
          <a:xfrm>
            <a:off x="6208776" y="3017520"/>
            <a:ext cx="1600200" cy="457200"/>
          </a:xfrm>
          <a:prstGeom prst="rect">
            <a:avLst/>
          </a:prstGeom>
          <a:noFill/>
          <a:ln/>
        </p:spPr>
        <p:txBody>
          <a:bodyPr wrap="square" lIns="0" tIns="0" rIns="0" bIns="0" rtlCol="0" anchor="ctr"/>
          <a:lstStyle/>
          <a:p>
            <a:pPr algn="ctr" indent="0" marL="0">
              <a:buNone/>
            </a:pPr>
            <a:r>
              <a:rPr lang="en-US" sz="1100" b="1" dirty="0">
                <a:solidFill>
                  <a:srgbClr val="1E1B18"/>
                </a:solidFill>
                <a:latin typeface="Calibri" pitchFamily="34" charset="0"/>
                <a:ea typeface="Calibri" pitchFamily="34" charset="-122"/>
                <a:cs typeface="Calibri" pitchFamily="34" charset="-120"/>
              </a:rPr>
              <a:t>Amor y Amistad</a:t>
            </a:r>
            <a:endParaRPr lang="en-US" sz="1100" dirty="0"/>
          </a:p>
        </p:txBody>
      </p:sp>
      <p:sp>
        <p:nvSpPr>
          <p:cNvPr id="20" name="Shape 14"/>
          <p:cNvSpPr/>
          <p:nvPr/>
        </p:nvSpPr>
        <p:spPr>
          <a:xfrm>
            <a:off x="7991856" y="2148840"/>
            <a:ext cx="1691640" cy="1417320"/>
          </a:xfrm>
          <a:prstGeom prst="roundRect">
            <a:avLst>
              <a:gd name="adj" fmla="val 5161"/>
            </a:avLst>
          </a:prstGeom>
          <a:solidFill>
            <a:srgbClr val="F7F6F4"/>
          </a:solidFill>
          <a:ln/>
        </p:spPr>
      </p:sp>
      <p:sp>
        <p:nvSpPr>
          <p:cNvPr id="21" name="Shape 15"/>
          <p:cNvSpPr/>
          <p:nvPr/>
        </p:nvSpPr>
        <p:spPr>
          <a:xfrm>
            <a:off x="8563356" y="2331720"/>
            <a:ext cx="548640" cy="548640"/>
          </a:xfrm>
          <a:prstGeom prst="ellipse">
            <a:avLst/>
          </a:prstGeom>
          <a:solidFill>
            <a:srgbClr val="FFFFFF"/>
          </a:solidFill>
          <a:ln/>
        </p:spPr>
      </p:sp>
      <p:pic>
        <p:nvPicPr>
          <p:cNvPr id="22" name="Image 4" descr="/tmp/claude-0/-home-user-Presentaciones-y-varios/903c1196-30c4-57a8-b469-52313f1ce01c/scratchpad/palco/icons/snowflake_C1502E.png">    </p:cNvPr>
          <p:cNvPicPr>
            <a:picLocks noChangeAspect="1"/>
          </p:cNvPicPr>
          <p:nvPr/>
        </p:nvPicPr>
        <p:blipFill>
          <a:blip r:embed="rId5"/>
          <a:stretch>
            <a:fillRect/>
          </a:stretch>
        </p:blipFill>
        <p:spPr>
          <a:xfrm>
            <a:off x="8686800" y="2455164"/>
            <a:ext cx="301752" cy="301752"/>
          </a:xfrm>
          <a:prstGeom prst="rect">
            <a:avLst/>
          </a:prstGeom>
        </p:spPr>
      </p:pic>
      <p:sp>
        <p:nvSpPr>
          <p:cNvPr id="23" name="Text 16"/>
          <p:cNvSpPr/>
          <p:nvPr/>
        </p:nvSpPr>
        <p:spPr>
          <a:xfrm>
            <a:off x="8037576" y="3017520"/>
            <a:ext cx="1600200" cy="457200"/>
          </a:xfrm>
          <a:prstGeom prst="rect">
            <a:avLst/>
          </a:prstGeom>
          <a:noFill/>
          <a:ln/>
        </p:spPr>
        <p:txBody>
          <a:bodyPr wrap="square" lIns="0" tIns="0" rIns="0" bIns="0" rtlCol="0" anchor="ctr"/>
          <a:lstStyle/>
          <a:p>
            <a:pPr algn="ctr" indent="0" marL="0">
              <a:buNone/>
            </a:pPr>
            <a:r>
              <a:rPr lang="en-US" sz="1100" b="1" dirty="0">
                <a:solidFill>
                  <a:srgbClr val="1E1B18"/>
                </a:solidFill>
                <a:latin typeface="Calibri" pitchFamily="34" charset="0"/>
                <a:ea typeface="Calibri" pitchFamily="34" charset="-122"/>
                <a:cs typeface="Calibri" pitchFamily="34" charset="-120"/>
              </a:rPr>
              <a:t>Navidad</a:t>
            </a:r>
            <a:endParaRPr lang="en-US" sz="1100" dirty="0"/>
          </a:p>
        </p:txBody>
      </p:sp>
      <p:sp>
        <p:nvSpPr>
          <p:cNvPr id="24" name="Shape 17"/>
          <p:cNvSpPr/>
          <p:nvPr/>
        </p:nvSpPr>
        <p:spPr>
          <a:xfrm>
            <a:off x="9820656" y="2148840"/>
            <a:ext cx="1691640" cy="1417320"/>
          </a:xfrm>
          <a:prstGeom prst="roundRect">
            <a:avLst>
              <a:gd name="adj" fmla="val 5161"/>
            </a:avLst>
          </a:prstGeom>
          <a:solidFill>
            <a:srgbClr val="E7EBE2"/>
          </a:solidFill>
          <a:ln/>
        </p:spPr>
      </p:sp>
      <p:sp>
        <p:nvSpPr>
          <p:cNvPr id="25" name="Shape 18"/>
          <p:cNvSpPr/>
          <p:nvPr/>
        </p:nvSpPr>
        <p:spPr>
          <a:xfrm>
            <a:off x="10392156" y="2331720"/>
            <a:ext cx="548640" cy="548640"/>
          </a:xfrm>
          <a:prstGeom prst="ellipse">
            <a:avLst/>
          </a:prstGeom>
          <a:solidFill>
            <a:srgbClr val="FFFFFF"/>
          </a:solidFill>
          <a:ln/>
        </p:spPr>
      </p:sp>
      <p:pic>
        <p:nvPicPr>
          <p:cNvPr id="26" name="Image 5" descr="/tmp/claude-0/-home-user-Presentaciones-y-varios/903c1196-30c4-57a8-b469-52313f1ce01c/scratchpad/palco/icons/building_C1502E.png">    </p:cNvPr>
          <p:cNvPicPr>
            <a:picLocks noChangeAspect="1"/>
          </p:cNvPicPr>
          <p:nvPr/>
        </p:nvPicPr>
        <p:blipFill>
          <a:blip r:embed="rId6"/>
          <a:stretch>
            <a:fillRect/>
          </a:stretch>
        </p:blipFill>
        <p:spPr>
          <a:xfrm>
            <a:off x="10515600" y="2455164"/>
            <a:ext cx="301752" cy="301752"/>
          </a:xfrm>
          <a:prstGeom prst="rect">
            <a:avLst/>
          </a:prstGeom>
        </p:spPr>
      </p:pic>
      <p:sp>
        <p:nvSpPr>
          <p:cNvPr id="27" name="Text 19"/>
          <p:cNvSpPr/>
          <p:nvPr/>
        </p:nvSpPr>
        <p:spPr>
          <a:xfrm>
            <a:off x="9866376" y="3017520"/>
            <a:ext cx="1600200" cy="457200"/>
          </a:xfrm>
          <a:prstGeom prst="rect">
            <a:avLst/>
          </a:prstGeom>
          <a:noFill/>
          <a:ln/>
        </p:spPr>
        <p:txBody>
          <a:bodyPr wrap="square" lIns="0" tIns="0" rIns="0" bIns="0" rtlCol="0" anchor="ctr"/>
          <a:lstStyle/>
          <a:p>
            <a:pPr algn="ctr" indent="0" marL="0">
              <a:buNone/>
            </a:pPr>
            <a:r>
              <a:rPr lang="en-US" sz="1100" b="1" dirty="0">
                <a:solidFill>
                  <a:srgbClr val="1E1B18"/>
                </a:solidFill>
                <a:latin typeface="Calibri" pitchFamily="34" charset="0"/>
                <a:ea typeface="Calibri" pitchFamily="34" charset="-122"/>
                <a:cs typeface="Calibri" pitchFamily="34" charset="-120"/>
              </a:rPr>
              <a:t>Empresas</a:t>
            </a:r>
            <a:endParaRPr lang="en-US" sz="1100" dirty="0"/>
          </a:p>
        </p:txBody>
      </p:sp>
      <p:sp>
        <p:nvSpPr>
          <p:cNvPr id="28" name="Text 20"/>
          <p:cNvSpPr/>
          <p:nvPr/>
        </p:nvSpPr>
        <p:spPr>
          <a:xfrm>
            <a:off x="640080" y="4160520"/>
            <a:ext cx="7315200" cy="320040"/>
          </a:xfrm>
          <a:prstGeom prst="rect">
            <a:avLst/>
          </a:prstGeom>
          <a:noFill/>
          <a:ln/>
        </p:spPr>
        <p:txBody>
          <a:bodyPr wrap="square" lIns="0" tIns="0" rIns="0" bIns="0" rtlCol="0" anchor="ctr"/>
          <a:lstStyle/>
          <a:p>
            <a:pPr indent="0" marL="0">
              <a:buNone/>
            </a:pPr>
            <a:r>
              <a:rPr lang="en-US" sz="1300" b="1" spc="150" kern="0" dirty="0">
                <a:solidFill>
                  <a:srgbClr val="6B6B66"/>
                </a:solidFill>
                <a:latin typeface="Calibri" pitchFamily="34" charset="0"/>
                <a:ea typeface="Calibri" pitchFamily="34" charset="-122"/>
                <a:cs typeface="Calibri" pitchFamily="34" charset="-120"/>
              </a:rPr>
              <a:t>EL PRINCIPIO: LIFETIME VALUE</a:t>
            </a:r>
            <a:endParaRPr lang="en-US" sz="1300" dirty="0"/>
          </a:p>
        </p:txBody>
      </p:sp>
      <p:sp>
        <p:nvSpPr>
          <p:cNvPr id="29" name="Shape 21"/>
          <p:cNvSpPr/>
          <p:nvPr/>
        </p:nvSpPr>
        <p:spPr>
          <a:xfrm>
            <a:off x="640080" y="4572000"/>
            <a:ext cx="4937760" cy="1554480"/>
          </a:xfrm>
          <a:prstGeom prst="roundRect">
            <a:avLst>
              <a:gd name="adj" fmla="val 4706"/>
            </a:avLst>
          </a:prstGeom>
          <a:solidFill>
            <a:srgbClr val="F7F6F4"/>
          </a:solidFill>
          <a:ln/>
        </p:spPr>
      </p:sp>
      <p:sp>
        <p:nvSpPr>
          <p:cNvPr id="30" name="Text 22"/>
          <p:cNvSpPr/>
          <p:nvPr/>
        </p:nvSpPr>
        <p:spPr>
          <a:xfrm>
            <a:off x="868680" y="4800600"/>
            <a:ext cx="2011680" cy="548640"/>
          </a:xfrm>
          <a:prstGeom prst="rect">
            <a:avLst/>
          </a:prstGeom>
          <a:noFill/>
          <a:ln/>
        </p:spPr>
        <p:txBody>
          <a:bodyPr wrap="square" lIns="0" tIns="0" rIns="0" bIns="0" rtlCol="0" anchor="ctr"/>
          <a:lstStyle/>
          <a:p>
            <a:pPr indent="0" marL="0">
              <a:buNone/>
            </a:pPr>
            <a:r>
              <a:rPr lang="en-US" sz="2400" b="1" dirty="0">
                <a:solidFill>
                  <a:srgbClr val="1E1B18"/>
                </a:solidFill>
                <a:latin typeface="Cambria" pitchFamily="34" charset="0"/>
                <a:ea typeface="Cambria" pitchFamily="34" charset="-122"/>
                <a:cs typeface="Cambria" pitchFamily="34" charset="-120"/>
              </a:rPr>
              <a:t>1 visita</a:t>
            </a:r>
            <a:endParaRPr lang="en-US" sz="2400" dirty="0"/>
          </a:p>
        </p:txBody>
      </p:sp>
      <p:sp>
        <p:nvSpPr>
          <p:cNvPr id="31" name="Text 23"/>
          <p:cNvSpPr/>
          <p:nvPr/>
        </p:nvSpPr>
        <p:spPr>
          <a:xfrm>
            <a:off x="868680" y="5303520"/>
            <a:ext cx="4480560" cy="640080"/>
          </a:xfrm>
          <a:prstGeom prst="rect">
            <a:avLst/>
          </a:prstGeom>
          <a:noFill/>
          <a:ln/>
        </p:spPr>
        <p:txBody>
          <a:bodyPr wrap="square" lIns="0" tIns="0" rIns="0" bIns="0" rtlCol="0" anchor="ctr"/>
          <a:lstStyle/>
          <a:p>
            <a:pPr indent="0" marL="0">
              <a:buNone/>
            </a:pPr>
            <a:r>
              <a:rPr lang="en-US" sz="1150" dirty="0">
                <a:solidFill>
                  <a:srgbClr val="6B6B66"/>
                </a:solidFill>
                <a:latin typeface="Calibri" pitchFamily="34" charset="0"/>
                <a:ea typeface="Calibri" pitchFamily="34" charset="-122"/>
                <a:cs typeface="Calibri" pitchFamily="34" charset="-120"/>
              </a:rPr>
              <a:t>Cliente que llega</a:t>
            </a:r>
            <a:endParaRPr lang="en-US" sz="1150" dirty="0"/>
          </a:p>
          <a:p>
            <a:pPr indent="0" marL="0">
              <a:buNone/>
            </a:pPr>
            <a:r>
              <a:rPr lang="en-US" sz="1150" dirty="0">
                <a:solidFill>
                  <a:srgbClr val="6B6B66"/>
                </a:solidFill>
                <a:latin typeface="Calibri" pitchFamily="34" charset="0"/>
                <a:ea typeface="Calibri" pitchFamily="34" charset="-122"/>
                <a:cs typeface="Calibri" pitchFamily="34" charset="-120"/>
              </a:rPr>
              <a:t>por una campaña puntual</a:t>
            </a:r>
            <a:endParaRPr lang="en-US" sz="1150" dirty="0"/>
          </a:p>
        </p:txBody>
      </p:sp>
      <p:pic>
        <p:nvPicPr>
          <p:cNvPr id="32" name="Image 6" descr="/tmp/claude-0/-home-user-Presentaciones-y-varios/903c1196-30c4-57a8-b469-52313f1ce01c/scratchpad/palco/icons/arrowRight_C1502E.png">    </p:cNvPr>
          <p:cNvPicPr>
            <a:picLocks noChangeAspect="1"/>
          </p:cNvPicPr>
          <p:nvPr/>
        </p:nvPicPr>
        <p:blipFill>
          <a:blip r:embed="rId7"/>
          <a:stretch>
            <a:fillRect/>
          </a:stretch>
        </p:blipFill>
        <p:spPr>
          <a:xfrm>
            <a:off x="5760720" y="5212080"/>
            <a:ext cx="365760" cy="365760"/>
          </a:xfrm>
          <a:prstGeom prst="rect">
            <a:avLst/>
          </a:prstGeom>
        </p:spPr>
      </p:pic>
      <p:sp>
        <p:nvSpPr>
          <p:cNvPr id="33" name="Shape 24"/>
          <p:cNvSpPr/>
          <p:nvPr/>
        </p:nvSpPr>
        <p:spPr>
          <a:xfrm>
            <a:off x="6309360" y="4572000"/>
            <a:ext cx="5212080" cy="1554480"/>
          </a:xfrm>
          <a:prstGeom prst="roundRect">
            <a:avLst>
              <a:gd name="adj" fmla="val 4706"/>
            </a:avLst>
          </a:prstGeom>
          <a:solidFill>
            <a:srgbClr val="1E1B18"/>
          </a:solidFill>
          <a:ln/>
        </p:spPr>
      </p:sp>
      <p:sp>
        <p:nvSpPr>
          <p:cNvPr id="34" name="Text 25"/>
          <p:cNvSpPr/>
          <p:nvPr/>
        </p:nvSpPr>
        <p:spPr>
          <a:xfrm>
            <a:off x="6537960" y="4800600"/>
            <a:ext cx="475488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Cliente recurrente</a:t>
            </a:r>
            <a:endParaRPr lang="en-US" sz="2200" dirty="0"/>
          </a:p>
        </p:txBody>
      </p:sp>
      <p:sp>
        <p:nvSpPr>
          <p:cNvPr id="35" name="Text 26"/>
          <p:cNvSpPr/>
          <p:nvPr/>
        </p:nvSpPr>
        <p:spPr>
          <a:xfrm>
            <a:off x="6537960" y="5303520"/>
            <a:ext cx="4754880" cy="640080"/>
          </a:xfrm>
          <a:prstGeom prst="rect">
            <a:avLst/>
          </a:prstGeom>
          <a:noFill/>
          <a:ln/>
        </p:spPr>
        <p:txBody>
          <a:bodyPr wrap="square" lIns="0" tIns="0" rIns="0" bIns="0" rtlCol="0" anchor="ctr"/>
          <a:lstStyle/>
          <a:p>
            <a:pPr indent="0" marL="0">
              <a:buNone/>
            </a:pPr>
            <a:r>
              <a:rPr lang="en-US" sz="1150" dirty="0">
                <a:solidFill>
                  <a:srgbClr val="D8D4CC"/>
                </a:solidFill>
                <a:latin typeface="Calibri" pitchFamily="34" charset="0"/>
                <a:ea typeface="Calibri" pitchFamily="34" charset="-122"/>
                <a:cs typeface="Calibri" pitchFamily="34" charset="-120"/>
              </a:rPr>
              <a:t>Vuelve por cumpleaños, fechas especiales,</a:t>
            </a:r>
            <a:endParaRPr lang="en-US" sz="1150" dirty="0"/>
          </a:p>
          <a:p>
            <a:pPr indent="0" marL="0">
              <a:buNone/>
            </a:pPr>
            <a:r>
              <a:rPr lang="en-US" sz="1150" dirty="0">
                <a:solidFill>
                  <a:srgbClr val="D8D4CC"/>
                </a:solidFill>
                <a:latin typeface="Calibri" pitchFamily="34" charset="0"/>
                <a:ea typeface="Calibri" pitchFamily="34" charset="-122"/>
                <a:cs typeface="Calibri" pitchFamily="34" charset="-120"/>
              </a:rPr>
              <a:t>eventos y bonos de regalo durante el año</a:t>
            </a:r>
            <a:endParaRPr lang="en-US" sz="1150" dirty="0"/>
          </a:p>
        </p:txBody>
      </p:sp>
      <p:sp>
        <p:nvSpPr>
          <p:cNvPr id="36" name="Text 2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1B18"/>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C1502E"/>
                </a:solidFill>
                <a:latin typeface="Calibri" pitchFamily="34" charset="0"/>
                <a:ea typeface="Calibri" pitchFamily="34" charset="-122"/>
                <a:cs typeface="Calibri" pitchFamily="34" charset="-120"/>
              </a:rPr>
              <a:t>LA CONSOLIDACIÓN</a:t>
            </a:r>
            <a:endParaRPr lang="en-US" sz="1200" dirty="0"/>
          </a:p>
        </p:txBody>
      </p:sp>
      <p:sp>
        <p:nvSpPr>
          <p:cNvPr id="3" name="Text 1"/>
          <p:cNvSpPr/>
          <p:nvPr/>
        </p:nvSpPr>
        <p:spPr>
          <a:xfrm>
            <a:off x="640080" y="841248"/>
            <a:ext cx="91440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El sistema completo</a:t>
            </a:r>
            <a:endParaRPr lang="en-US" sz="3400" dirty="0"/>
          </a:p>
        </p:txBody>
      </p:sp>
      <p:sp>
        <p:nvSpPr>
          <p:cNvPr id="4" name="Text 2"/>
          <p:cNvSpPr/>
          <p:nvPr/>
        </p:nvSpPr>
        <p:spPr>
          <a:xfrm>
            <a:off x="640080" y="1481328"/>
            <a:ext cx="9601200" cy="365760"/>
          </a:xfrm>
          <a:prstGeom prst="rect">
            <a:avLst/>
          </a:prstGeom>
          <a:noFill/>
          <a:ln/>
        </p:spPr>
        <p:txBody>
          <a:bodyPr wrap="square" lIns="0" tIns="0" rIns="0" bIns="0" rtlCol="0" anchor="ctr"/>
          <a:lstStyle/>
          <a:p>
            <a:pPr indent="0" marL="0">
              <a:buNone/>
            </a:pPr>
            <a:r>
              <a:rPr lang="en-US" sz="1500" dirty="0">
                <a:solidFill>
                  <a:srgbClr val="D8D4CC"/>
                </a:solidFill>
                <a:latin typeface="Calibri" pitchFamily="34" charset="0"/>
                <a:ea typeface="Calibri" pitchFamily="34" charset="-122"/>
                <a:cs typeface="Calibri" pitchFamily="34" charset="-120"/>
              </a:rPr>
              <a:t>Ninguna etapa funciona sola. El valor está en la conexión.</a:t>
            </a:r>
            <a:endParaRPr lang="en-US" sz="1500" dirty="0"/>
          </a:p>
        </p:txBody>
      </p:sp>
      <p:sp>
        <p:nvSpPr>
          <p:cNvPr id="5" name="Shape 3"/>
          <p:cNvSpPr/>
          <p:nvPr/>
        </p:nvSpPr>
        <p:spPr>
          <a:xfrm>
            <a:off x="1325880" y="2606040"/>
            <a:ext cx="1234440" cy="1234440"/>
          </a:xfrm>
          <a:prstGeom prst="ellipse">
            <a:avLst/>
          </a:prstGeom>
          <a:solidFill>
            <a:srgbClr val="2B2622"/>
          </a:solidFill>
          <a:ln w="19050">
            <a:solidFill>
              <a:srgbClr val="C1502E"/>
            </a:solidFill>
            <a:prstDash val="solid"/>
          </a:ln>
        </p:spPr>
      </p:sp>
      <p:pic>
        <p:nvPicPr>
          <p:cNvPr id="6" name="Image 0" descr="/tmp/claude-0/-home-user-Presentaciones-y-varios/903c1196-30c4-57a8-b469-52313f1ce01c/scratchpad/palco/icons/eye_C1502E.png">    </p:cNvPr>
          <p:cNvPicPr>
            <a:picLocks noChangeAspect="1"/>
          </p:cNvPicPr>
          <p:nvPr/>
        </p:nvPicPr>
        <p:blipFill>
          <a:blip r:embed="rId1"/>
          <a:stretch>
            <a:fillRect/>
          </a:stretch>
        </p:blipFill>
        <p:spPr>
          <a:xfrm>
            <a:off x="1696212" y="2976372"/>
            <a:ext cx="493776" cy="493776"/>
          </a:xfrm>
          <a:prstGeom prst="rect">
            <a:avLst/>
          </a:prstGeom>
        </p:spPr>
      </p:pic>
      <p:sp>
        <p:nvSpPr>
          <p:cNvPr id="7" name="Text 4"/>
          <p:cNvSpPr/>
          <p:nvPr/>
        </p:nvSpPr>
        <p:spPr>
          <a:xfrm>
            <a:off x="777240" y="3950208"/>
            <a:ext cx="2331720" cy="274320"/>
          </a:xfrm>
          <a:prstGeom prst="rect">
            <a:avLst/>
          </a:prstGeom>
          <a:noFill/>
          <a:ln/>
        </p:spPr>
        <p:txBody>
          <a:bodyPr wrap="square" lIns="0" tIns="0" rIns="0" bIns="0" rtlCol="0" anchor="ctr"/>
          <a:lstStyle/>
          <a:p>
            <a:pPr algn="ctr" indent="0" marL="0">
              <a:buNone/>
            </a:pPr>
            <a:r>
              <a:rPr lang="en-US" sz="1100" b="1" dirty="0">
                <a:solidFill>
                  <a:srgbClr val="C1502E"/>
                </a:solidFill>
                <a:latin typeface="Calibri" pitchFamily="34" charset="0"/>
                <a:ea typeface="Calibri" pitchFamily="34" charset="-122"/>
                <a:cs typeface="Calibri" pitchFamily="34" charset="-120"/>
              </a:rPr>
              <a:t>01</a:t>
            </a:r>
            <a:endParaRPr lang="en-US" sz="1100" dirty="0"/>
          </a:p>
        </p:txBody>
      </p:sp>
      <p:sp>
        <p:nvSpPr>
          <p:cNvPr id="8" name="Text 5"/>
          <p:cNvSpPr/>
          <p:nvPr/>
        </p:nvSpPr>
        <p:spPr>
          <a:xfrm>
            <a:off x="777240" y="4224528"/>
            <a:ext cx="233172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Presentación</a:t>
            </a:r>
            <a:endParaRPr lang="en-US" sz="1500" dirty="0"/>
          </a:p>
        </p:txBody>
      </p:sp>
      <p:pic>
        <p:nvPicPr>
          <p:cNvPr id="9" name="Image 1" descr="/tmp/claude-0/-home-user-Presentaciones-y-varios/903c1196-30c4-57a8-b469-52313f1ce01c/scratchpad/palco/icons/arrowRight_C1502E.png">    </p:cNvPr>
          <p:cNvPicPr>
            <a:picLocks noChangeAspect="1"/>
          </p:cNvPicPr>
          <p:nvPr/>
        </p:nvPicPr>
        <p:blipFill>
          <a:blip r:embed="rId2"/>
          <a:stretch>
            <a:fillRect/>
          </a:stretch>
        </p:blipFill>
        <p:spPr>
          <a:xfrm>
            <a:off x="3145536" y="3095244"/>
            <a:ext cx="246888" cy="246888"/>
          </a:xfrm>
          <a:prstGeom prst="rect">
            <a:avLst/>
          </a:prstGeom>
        </p:spPr>
      </p:pic>
      <p:sp>
        <p:nvSpPr>
          <p:cNvPr id="10" name="Shape 6"/>
          <p:cNvSpPr/>
          <p:nvPr/>
        </p:nvSpPr>
        <p:spPr>
          <a:xfrm>
            <a:off x="3977640" y="2606040"/>
            <a:ext cx="1234440" cy="1234440"/>
          </a:xfrm>
          <a:prstGeom prst="ellipse">
            <a:avLst/>
          </a:prstGeom>
          <a:solidFill>
            <a:srgbClr val="2B2622"/>
          </a:solidFill>
          <a:ln w="19050">
            <a:solidFill>
              <a:srgbClr val="C1502E"/>
            </a:solidFill>
            <a:prstDash val="solid"/>
          </a:ln>
        </p:spPr>
      </p:sp>
      <p:pic>
        <p:nvPicPr>
          <p:cNvPr id="11" name="Image 2" descr="/tmp/claude-0/-home-user-Presentaciones-y-varios/903c1196-30c4-57a8-b469-52313f1ce01c/scratchpad/palco/icons/star_C1502E.png">    </p:cNvPr>
          <p:cNvPicPr>
            <a:picLocks noChangeAspect="1"/>
          </p:cNvPicPr>
          <p:nvPr/>
        </p:nvPicPr>
        <p:blipFill>
          <a:blip r:embed="rId3"/>
          <a:stretch>
            <a:fillRect/>
          </a:stretch>
        </p:blipFill>
        <p:spPr>
          <a:xfrm>
            <a:off x="4347972" y="2976372"/>
            <a:ext cx="493776" cy="493776"/>
          </a:xfrm>
          <a:prstGeom prst="rect">
            <a:avLst/>
          </a:prstGeom>
        </p:spPr>
      </p:pic>
      <p:sp>
        <p:nvSpPr>
          <p:cNvPr id="12" name="Text 7"/>
          <p:cNvSpPr/>
          <p:nvPr/>
        </p:nvSpPr>
        <p:spPr>
          <a:xfrm>
            <a:off x="3429000" y="3950208"/>
            <a:ext cx="2331720" cy="274320"/>
          </a:xfrm>
          <a:prstGeom prst="rect">
            <a:avLst/>
          </a:prstGeom>
          <a:noFill/>
          <a:ln/>
        </p:spPr>
        <p:txBody>
          <a:bodyPr wrap="square" lIns="0" tIns="0" rIns="0" bIns="0" rtlCol="0" anchor="ctr"/>
          <a:lstStyle/>
          <a:p>
            <a:pPr algn="ctr" indent="0" marL="0">
              <a:buNone/>
            </a:pPr>
            <a:r>
              <a:rPr lang="en-US" sz="1100" b="1" dirty="0">
                <a:solidFill>
                  <a:srgbClr val="C1502E"/>
                </a:solidFill>
                <a:latin typeface="Calibri" pitchFamily="34" charset="0"/>
                <a:ea typeface="Calibri" pitchFamily="34" charset="-122"/>
                <a:cs typeface="Calibri" pitchFamily="34" charset="-120"/>
              </a:rPr>
              <a:t>02</a:t>
            </a:r>
            <a:endParaRPr lang="en-US" sz="1100" dirty="0"/>
          </a:p>
        </p:txBody>
      </p:sp>
      <p:sp>
        <p:nvSpPr>
          <p:cNvPr id="13" name="Text 8"/>
          <p:cNvSpPr/>
          <p:nvPr/>
        </p:nvSpPr>
        <p:spPr>
          <a:xfrm>
            <a:off x="3429000" y="4224528"/>
            <a:ext cx="233172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Evaluación</a:t>
            </a:r>
            <a:endParaRPr lang="en-US" sz="1500" dirty="0"/>
          </a:p>
        </p:txBody>
      </p:sp>
      <p:pic>
        <p:nvPicPr>
          <p:cNvPr id="14" name="Image 3" descr="/tmp/claude-0/-home-user-Presentaciones-y-varios/903c1196-30c4-57a8-b469-52313f1ce01c/scratchpad/palco/icons/arrowRight_C1502E.png">    </p:cNvPr>
          <p:cNvPicPr>
            <a:picLocks noChangeAspect="1"/>
          </p:cNvPicPr>
          <p:nvPr/>
        </p:nvPicPr>
        <p:blipFill>
          <a:blip r:embed="rId4"/>
          <a:stretch>
            <a:fillRect/>
          </a:stretch>
        </p:blipFill>
        <p:spPr>
          <a:xfrm>
            <a:off x="5797296" y="3095244"/>
            <a:ext cx="246888" cy="246888"/>
          </a:xfrm>
          <a:prstGeom prst="rect">
            <a:avLst/>
          </a:prstGeom>
        </p:spPr>
      </p:pic>
      <p:sp>
        <p:nvSpPr>
          <p:cNvPr id="15" name="Shape 9"/>
          <p:cNvSpPr/>
          <p:nvPr/>
        </p:nvSpPr>
        <p:spPr>
          <a:xfrm>
            <a:off x="6629400" y="2606040"/>
            <a:ext cx="1234440" cy="1234440"/>
          </a:xfrm>
          <a:prstGeom prst="ellipse">
            <a:avLst/>
          </a:prstGeom>
          <a:solidFill>
            <a:srgbClr val="2B2622"/>
          </a:solidFill>
          <a:ln w="19050">
            <a:solidFill>
              <a:srgbClr val="C1502E"/>
            </a:solidFill>
            <a:prstDash val="solid"/>
          </a:ln>
        </p:spPr>
      </p:sp>
      <p:pic>
        <p:nvPicPr>
          <p:cNvPr id="16" name="Image 4" descr="/tmp/claude-0/-home-user-Presentaciones-y-varios/903c1196-30c4-57a8-b469-52313f1ce01c/scratchpad/palco/icons/whatsapp_C1502E.png">    </p:cNvPr>
          <p:cNvPicPr>
            <a:picLocks noChangeAspect="1"/>
          </p:cNvPicPr>
          <p:nvPr/>
        </p:nvPicPr>
        <p:blipFill>
          <a:blip r:embed="rId5"/>
          <a:stretch>
            <a:fillRect/>
          </a:stretch>
        </p:blipFill>
        <p:spPr>
          <a:xfrm>
            <a:off x="6999732" y="2976372"/>
            <a:ext cx="493776" cy="493776"/>
          </a:xfrm>
          <a:prstGeom prst="rect">
            <a:avLst/>
          </a:prstGeom>
        </p:spPr>
      </p:pic>
      <p:sp>
        <p:nvSpPr>
          <p:cNvPr id="17" name="Text 10"/>
          <p:cNvSpPr/>
          <p:nvPr/>
        </p:nvSpPr>
        <p:spPr>
          <a:xfrm>
            <a:off x="6080760" y="3950208"/>
            <a:ext cx="2331720" cy="274320"/>
          </a:xfrm>
          <a:prstGeom prst="rect">
            <a:avLst/>
          </a:prstGeom>
          <a:noFill/>
          <a:ln/>
        </p:spPr>
        <p:txBody>
          <a:bodyPr wrap="square" lIns="0" tIns="0" rIns="0" bIns="0" rtlCol="0" anchor="ctr"/>
          <a:lstStyle/>
          <a:p>
            <a:pPr algn="ctr" indent="0" marL="0">
              <a:buNone/>
            </a:pPr>
            <a:r>
              <a:rPr lang="en-US" sz="1100" b="1" dirty="0">
                <a:solidFill>
                  <a:srgbClr val="C1502E"/>
                </a:solidFill>
                <a:latin typeface="Calibri" pitchFamily="34" charset="0"/>
                <a:ea typeface="Calibri" pitchFamily="34" charset="-122"/>
                <a:cs typeface="Calibri" pitchFamily="34" charset="-120"/>
              </a:rPr>
              <a:t>03</a:t>
            </a:r>
            <a:endParaRPr lang="en-US" sz="1100" dirty="0"/>
          </a:p>
        </p:txBody>
      </p:sp>
      <p:sp>
        <p:nvSpPr>
          <p:cNvPr id="18" name="Text 11"/>
          <p:cNvSpPr/>
          <p:nvPr/>
        </p:nvSpPr>
        <p:spPr>
          <a:xfrm>
            <a:off x="6080760" y="4224528"/>
            <a:ext cx="233172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Conversión</a:t>
            </a:r>
            <a:endParaRPr lang="en-US" sz="1500" dirty="0"/>
          </a:p>
        </p:txBody>
      </p:sp>
      <p:pic>
        <p:nvPicPr>
          <p:cNvPr id="19" name="Image 5" descr="/tmp/claude-0/-home-user-Presentaciones-y-varios/903c1196-30c4-57a8-b469-52313f1ce01c/scratchpad/palco/icons/arrowRight_C1502E.png">    </p:cNvPr>
          <p:cNvPicPr>
            <a:picLocks noChangeAspect="1"/>
          </p:cNvPicPr>
          <p:nvPr/>
        </p:nvPicPr>
        <p:blipFill>
          <a:blip r:embed="rId6"/>
          <a:stretch>
            <a:fillRect/>
          </a:stretch>
        </p:blipFill>
        <p:spPr>
          <a:xfrm>
            <a:off x="8449056" y="3095244"/>
            <a:ext cx="246888" cy="246888"/>
          </a:xfrm>
          <a:prstGeom prst="rect">
            <a:avLst/>
          </a:prstGeom>
        </p:spPr>
      </p:pic>
      <p:sp>
        <p:nvSpPr>
          <p:cNvPr id="20" name="Shape 12"/>
          <p:cNvSpPr/>
          <p:nvPr/>
        </p:nvSpPr>
        <p:spPr>
          <a:xfrm>
            <a:off x="9281160" y="2606040"/>
            <a:ext cx="1234440" cy="1234440"/>
          </a:xfrm>
          <a:prstGeom prst="ellipse">
            <a:avLst/>
          </a:prstGeom>
          <a:solidFill>
            <a:srgbClr val="2B2622"/>
          </a:solidFill>
          <a:ln w="19050">
            <a:solidFill>
              <a:srgbClr val="C1502E"/>
            </a:solidFill>
            <a:prstDash val="solid"/>
          </a:ln>
        </p:spPr>
      </p:sp>
      <p:pic>
        <p:nvPicPr>
          <p:cNvPr id="21" name="Image 6" descr="/tmp/claude-0/-home-user-Presentaciones-y-varios/903c1196-30c4-57a8-b469-52313f1ce01c/scratchpad/palco/icons/sync_C1502E.png">    </p:cNvPr>
          <p:cNvPicPr>
            <a:picLocks noChangeAspect="1"/>
          </p:cNvPicPr>
          <p:nvPr/>
        </p:nvPicPr>
        <p:blipFill>
          <a:blip r:embed="rId7"/>
          <a:stretch>
            <a:fillRect/>
          </a:stretch>
        </p:blipFill>
        <p:spPr>
          <a:xfrm>
            <a:off x="9651492" y="2976372"/>
            <a:ext cx="493776" cy="493776"/>
          </a:xfrm>
          <a:prstGeom prst="rect">
            <a:avLst/>
          </a:prstGeom>
        </p:spPr>
      </p:pic>
      <p:sp>
        <p:nvSpPr>
          <p:cNvPr id="22" name="Text 13"/>
          <p:cNvSpPr/>
          <p:nvPr/>
        </p:nvSpPr>
        <p:spPr>
          <a:xfrm>
            <a:off x="8732520" y="3950208"/>
            <a:ext cx="2331720" cy="274320"/>
          </a:xfrm>
          <a:prstGeom prst="rect">
            <a:avLst/>
          </a:prstGeom>
          <a:noFill/>
          <a:ln/>
        </p:spPr>
        <p:txBody>
          <a:bodyPr wrap="square" lIns="0" tIns="0" rIns="0" bIns="0" rtlCol="0" anchor="ctr"/>
          <a:lstStyle/>
          <a:p>
            <a:pPr algn="ctr" indent="0" marL="0">
              <a:buNone/>
            </a:pPr>
            <a:r>
              <a:rPr lang="en-US" sz="1100" b="1" dirty="0">
                <a:solidFill>
                  <a:srgbClr val="C1502E"/>
                </a:solidFill>
                <a:latin typeface="Calibri" pitchFamily="34" charset="0"/>
                <a:ea typeface="Calibri" pitchFamily="34" charset="-122"/>
                <a:cs typeface="Calibri" pitchFamily="34" charset="-120"/>
              </a:rPr>
              <a:t>04</a:t>
            </a:r>
            <a:endParaRPr lang="en-US" sz="1100" dirty="0"/>
          </a:p>
        </p:txBody>
      </p:sp>
      <p:sp>
        <p:nvSpPr>
          <p:cNvPr id="23" name="Text 14"/>
          <p:cNvSpPr/>
          <p:nvPr/>
        </p:nvSpPr>
        <p:spPr>
          <a:xfrm>
            <a:off x="8732520" y="4224528"/>
            <a:ext cx="233172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Ascensión</a:t>
            </a:r>
            <a:endParaRPr lang="en-US" sz="1500" dirty="0"/>
          </a:p>
        </p:txBody>
      </p:sp>
      <p:sp>
        <p:nvSpPr>
          <p:cNvPr id="24" name="Shape 15"/>
          <p:cNvSpPr/>
          <p:nvPr/>
        </p:nvSpPr>
        <p:spPr>
          <a:xfrm>
            <a:off x="2103120" y="4800600"/>
            <a:ext cx="7955280" cy="868680"/>
          </a:xfrm>
          <a:prstGeom prst="roundRect">
            <a:avLst>
              <a:gd name="adj" fmla="val 10526"/>
            </a:avLst>
          </a:prstGeom>
          <a:solidFill>
            <a:srgbClr val="2B2622"/>
          </a:solidFill>
          <a:ln/>
        </p:spPr>
      </p:sp>
      <p:sp>
        <p:nvSpPr>
          <p:cNvPr id="25" name="Shape 16"/>
          <p:cNvSpPr/>
          <p:nvPr/>
        </p:nvSpPr>
        <p:spPr>
          <a:xfrm>
            <a:off x="2377440" y="4960620"/>
            <a:ext cx="548640" cy="548640"/>
          </a:xfrm>
          <a:prstGeom prst="ellipse">
            <a:avLst/>
          </a:prstGeom>
          <a:solidFill>
            <a:srgbClr val="3A342E"/>
          </a:solidFill>
          <a:ln/>
        </p:spPr>
      </p:sp>
      <p:pic>
        <p:nvPicPr>
          <p:cNvPr id="26" name="Image 7" descr="/tmp/claude-0/-home-user-Presentaciones-y-varios/903c1196-30c4-57a8-b469-52313f1ce01c/scratchpad/palco/icons/sync_C1502E.png">    </p:cNvPr>
          <p:cNvPicPr>
            <a:picLocks noChangeAspect="1"/>
          </p:cNvPicPr>
          <p:nvPr/>
        </p:nvPicPr>
        <p:blipFill>
          <a:blip r:embed="rId8"/>
          <a:stretch>
            <a:fillRect/>
          </a:stretch>
        </p:blipFill>
        <p:spPr>
          <a:xfrm>
            <a:off x="2500884" y="5084064"/>
            <a:ext cx="301752" cy="301752"/>
          </a:xfrm>
          <a:prstGeom prst="rect">
            <a:avLst/>
          </a:prstGeom>
        </p:spPr>
      </p:pic>
      <p:sp>
        <p:nvSpPr>
          <p:cNvPr id="27" name="Text 17"/>
          <p:cNvSpPr/>
          <p:nvPr/>
        </p:nvSpPr>
        <p:spPr>
          <a:xfrm>
            <a:off x="3154680" y="4800600"/>
            <a:ext cx="6720840" cy="868680"/>
          </a:xfrm>
          <a:prstGeom prst="rect">
            <a:avLst/>
          </a:prstGeom>
          <a:noFill/>
          <a:ln/>
        </p:spPr>
        <p:txBody>
          <a:bodyPr wrap="square" lIns="0" tIns="0" rIns="0" bIns="0" rtlCol="0" anchor="ctr"/>
          <a:lstStyle/>
          <a:p>
            <a:pPr indent="0" marL="0">
              <a:buNone/>
            </a:pPr>
            <a:r>
              <a:rPr lang="en-US" sz="1350" i="1" dirty="0">
                <a:solidFill>
                  <a:srgbClr val="D8D4CC"/>
                </a:solidFill>
                <a:latin typeface="Calibri" pitchFamily="34" charset="0"/>
                <a:ea typeface="Calibri" pitchFamily="34" charset="-122"/>
                <a:cs typeface="Calibri" pitchFamily="34" charset="-120"/>
              </a:rPr>
              <a:t>El ciclo se repite: quien asciende vuelve a entrar por evaluación en su próxima ocasión de compra.</a:t>
            </a:r>
            <a:endParaRPr lang="en-US" sz="1350" dirty="0"/>
          </a:p>
        </p:txBody>
      </p:sp>
      <p:sp>
        <p:nvSpPr>
          <p:cNvPr id="28" name="Text 18"/>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9A969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C1502E"/>
                </a:solidFill>
                <a:latin typeface="Calibri" pitchFamily="34" charset="0"/>
                <a:ea typeface="Calibri" pitchFamily="34" charset="-122"/>
                <a:cs typeface="Calibri" pitchFamily="34" charset="-120"/>
              </a:rPr>
              <a:t>EL RAZONAMIENTO ECONÓMICO</a:t>
            </a:r>
            <a:endParaRPr lang="en-US" sz="1200" dirty="0"/>
          </a:p>
        </p:txBody>
      </p:sp>
      <p:sp>
        <p:nvSpPr>
          <p:cNvPr id="3" name="Text 1"/>
          <p:cNvSpPr/>
          <p:nvPr/>
        </p:nvSpPr>
        <p:spPr>
          <a:xfrm>
            <a:off x="640080" y="841248"/>
            <a:ext cx="10515600" cy="822960"/>
          </a:xfrm>
          <a:prstGeom prst="rect">
            <a:avLst/>
          </a:prstGeom>
          <a:noFill/>
          <a:ln/>
        </p:spPr>
        <p:txBody>
          <a:bodyPr wrap="square" lIns="0" tIns="0" rIns="0" bIns="0" rtlCol="0" anchor="ctr"/>
          <a:lstStyle/>
          <a:p>
            <a:pPr algn="l" indent="0" marL="0">
              <a:buNone/>
            </a:pPr>
            <a:r>
              <a:rPr lang="en-US" sz="3400" b="1" dirty="0">
                <a:solidFill>
                  <a:srgbClr val="1E1B18"/>
                </a:solidFill>
                <a:latin typeface="Cambria" pitchFamily="34" charset="0"/>
                <a:ea typeface="Cambria" pitchFamily="34" charset="-122"/>
                <a:cs typeface="Cambria" pitchFamily="34" charset="-120"/>
              </a:rPr>
              <a:t>La lógica de negocio detrás del sistema</a:t>
            </a:r>
            <a:endParaRPr lang="en-US" sz="3400" dirty="0"/>
          </a:p>
        </p:txBody>
      </p:sp>
      <p:sp>
        <p:nvSpPr>
          <p:cNvPr id="4" name="Shape 2"/>
          <p:cNvSpPr/>
          <p:nvPr/>
        </p:nvSpPr>
        <p:spPr>
          <a:xfrm>
            <a:off x="640080" y="2148840"/>
            <a:ext cx="3520440" cy="3291840"/>
          </a:xfrm>
          <a:prstGeom prst="roundRect">
            <a:avLst>
              <a:gd name="adj" fmla="val 2222"/>
            </a:avLst>
          </a:prstGeom>
          <a:solidFill>
            <a:srgbClr val="F7F6F4"/>
          </a:solidFill>
          <a:ln/>
        </p:spPr>
      </p:sp>
      <p:sp>
        <p:nvSpPr>
          <p:cNvPr id="5" name="Shape 3"/>
          <p:cNvSpPr/>
          <p:nvPr/>
        </p:nvSpPr>
        <p:spPr>
          <a:xfrm>
            <a:off x="2034540" y="2468880"/>
            <a:ext cx="731520" cy="731520"/>
          </a:xfrm>
          <a:prstGeom prst="ellipse">
            <a:avLst/>
          </a:prstGeom>
          <a:solidFill>
            <a:srgbClr val="FFFFFF"/>
          </a:solidFill>
          <a:ln/>
        </p:spPr>
      </p:sp>
      <p:pic>
        <p:nvPicPr>
          <p:cNvPr id="6" name="Image 0" descr="/tmp/claude-0/-home-user-Presentaciones-y-varios/903c1196-30c4-57a8-b469-52313f1ce01c/scratchpad/palco/icons/dollar_C1502E.png">    </p:cNvPr>
          <p:cNvPicPr>
            <a:picLocks noChangeAspect="1"/>
          </p:cNvPicPr>
          <p:nvPr/>
        </p:nvPicPr>
        <p:blipFill>
          <a:blip r:embed="rId1"/>
          <a:stretch>
            <a:fillRect/>
          </a:stretch>
        </p:blipFill>
        <p:spPr>
          <a:xfrm>
            <a:off x="2217420" y="2651760"/>
            <a:ext cx="365760" cy="365760"/>
          </a:xfrm>
          <a:prstGeom prst="rect">
            <a:avLst/>
          </a:prstGeom>
        </p:spPr>
      </p:pic>
      <p:sp>
        <p:nvSpPr>
          <p:cNvPr id="7" name="Text 4"/>
          <p:cNvSpPr/>
          <p:nvPr/>
        </p:nvSpPr>
        <p:spPr>
          <a:xfrm>
            <a:off x="914400" y="3383280"/>
            <a:ext cx="2971800" cy="731520"/>
          </a:xfrm>
          <a:prstGeom prst="rect">
            <a:avLst/>
          </a:prstGeom>
          <a:noFill/>
          <a:ln/>
        </p:spPr>
        <p:txBody>
          <a:bodyPr wrap="square" lIns="0" tIns="0" rIns="0" bIns="0" rtlCol="0" anchor="ctr"/>
          <a:lstStyle/>
          <a:p>
            <a:pPr algn="ctr" indent="0" marL="0">
              <a:buNone/>
            </a:pPr>
            <a:r>
              <a:rPr lang="en-US" sz="1550" b="1" dirty="0">
                <a:solidFill>
                  <a:srgbClr val="1E1B18"/>
                </a:solidFill>
                <a:latin typeface="Cambria" pitchFamily="34" charset="0"/>
                <a:ea typeface="Cambria" pitchFamily="34" charset="-122"/>
                <a:cs typeface="Cambria" pitchFamily="34" charset="-120"/>
              </a:rPr>
              <a:t>Menor costo por cliente en el tiempo</a:t>
            </a:r>
            <a:endParaRPr lang="en-US" sz="1550" dirty="0"/>
          </a:p>
        </p:txBody>
      </p:sp>
      <p:sp>
        <p:nvSpPr>
          <p:cNvPr id="8" name="Text 5"/>
          <p:cNvSpPr/>
          <p:nvPr/>
        </p:nvSpPr>
        <p:spPr>
          <a:xfrm>
            <a:off x="960120" y="4160520"/>
            <a:ext cx="2880360" cy="1097280"/>
          </a:xfrm>
          <a:prstGeom prst="rect">
            <a:avLst/>
          </a:prstGeom>
          <a:noFill/>
          <a:ln/>
        </p:spPr>
        <p:txBody>
          <a:bodyPr wrap="square" lIns="0" tIns="0" rIns="0" bIns="0" rtlCol="0" anchor="ctr"/>
          <a:lstStyle/>
          <a:p>
            <a:pPr algn="ctr" indent="0" marL="0">
              <a:buNone/>
            </a:pPr>
            <a:r>
              <a:rPr lang="en-US" sz="1250" dirty="0">
                <a:solidFill>
                  <a:srgbClr val="6B6B66"/>
                </a:solidFill>
                <a:latin typeface="Calibri" pitchFamily="34" charset="0"/>
                <a:ea typeface="Calibri" pitchFamily="34" charset="-122"/>
                <a:cs typeface="Calibri" pitchFamily="34" charset="-120"/>
              </a:rPr>
              <a:t>Reimpactar a quien ya conoce la marca cuesta menos que conseguir un desconocido.</a:t>
            </a:r>
            <a:endParaRPr lang="en-US" sz="1250" dirty="0"/>
          </a:p>
        </p:txBody>
      </p:sp>
      <p:sp>
        <p:nvSpPr>
          <p:cNvPr id="9" name="Shape 6"/>
          <p:cNvSpPr/>
          <p:nvPr/>
        </p:nvSpPr>
        <p:spPr>
          <a:xfrm>
            <a:off x="4480560" y="2148840"/>
            <a:ext cx="3520440" cy="3291840"/>
          </a:xfrm>
          <a:prstGeom prst="roundRect">
            <a:avLst>
              <a:gd name="adj" fmla="val 2222"/>
            </a:avLst>
          </a:prstGeom>
          <a:solidFill>
            <a:srgbClr val="F7F6F4"/>
          </a:solidFill>
          <a:ln/>
        </p:spPr>
      </p:sp>
      <p:sp>
        <p:nvSpPr>
          <p:cNvPr id="10" name="Shape 7"/>
          <p:cNvSpPr/>
          <p:nvPr/>
        </p:nvSpPr>
        <p:spPr>
          <a:xfrm>
            <a:off x="5875020" y="2468880"/>
            <a:ext cx="731520" cy="731520"/>
          </a:xfrm>
          <a:prstGeom prst="ellipse">
            <a:avLst/>
          </a:prstGeom>
          <a:solidFill>
            <a:srgbClr val="FFFFFF"/>
          </a:solidFill>
          <a:ln/>
        </p:spPr>
      </p:sp>
      <p:pic>
        <p:nvPicPr>
          <p:cNvPr id="11" name="Image 1" descr="/tmp/claude-0/-home-user-Presentaciones-y-varios/903c1196-30c4-57a8-b469-52313f1ce01c/scratchpad/palco/icons/repeat2_C1502E.png">    </p:cNvPr>
          <p:cNvPicPr>
            <a:picLocks noChangeAspect="1"/>
          </p:cNvPicPr>
          <p:nvPr/>
        </p:nvPicPr>
        <p:blipFill>
          <a:blip r:embed="rId2"/>
          <a:stretch>
            <a:fillRect/>
          </a:stretch>
        </p:blipFill>
        <p:spPr>
          <a:xfrm>
            <a:off x="6057900" y="2651760"/>
            <a:ext cx="365760" cy="365760"/>
          </a:xfrm>
          <a:prstGeom prst="rect">
            <a:avLst/>
          </a:prstGeom>
        </p:spPr>
      </p:pic>
      <p:sp>
        <p:nvSpPr>
          <p:cNvPr id="12" name="Text 8"/>
          <p:cNvSpPr/>
          <p:nvPr/>
        </p:nvSpPr>
        <p:spPr>
          <a:xfrm>
            <a:off x="4754880" y="3383280"/>
            <a:ext cx="2971800" cy="731520"/>
          </a:xfrm>
          <a:prstGeom prst="rect">
            <a:avLst/>
          </a:prstGeom>
          <a:noFill/>
          <a:ln/>
        </p:spPr>
        <p:txBody>
          <a:bodyPr wrap="square" lIns="0" tIns="0" rIns="0" bIns="0" rtlCol="0" anchor="ctr"/>
          <a:lstStyle/>
          <a:p>
            <a:pPr algn="ctr" indent="0" marL="0">
              <a:buNone/>
            </a:pPr>
            <a:r>
              <a:rPr lang="en-US" sz="1550" b="1" dirty="0">
                <a:solidFill>
                  <a:srgbClr val="1E1B18"/>
                </a:solidFill>
                <a:latin typeface="Cambria" pitchFamily="34" charset="0"/>
                <a:ea typeface="Cambria" pitchFamily="34" charset="-122"/>
                <a:cs typeface="Cambria" pitchFamily="34" charset="-120"/>
              </a:rPr>
              <a:t>Mayor frecuencia de visita</a:t>
            </a:r>
            <a:endParaRPr lang="en-US" sz="1550" dirty="0"/>
          </a:p>
        </p:txBody>
      </p:sp>
      <p:sp>
        <p:nvSpPr>
          <p:cNvPr id="13" name="Text 9"/>
          <p:cNvSpPr/>
          <p:nvPr/>
        </p:nvSpPr>
        <p:spPr>
          <a:xfrm>
            <a:off x="4800600" y="4160520"/>
            <a:ext cx="2880360" cy="1097280"/>
          </a:xfrm>
          <a:prstGeom prst="rect">
            <a:avLst/>
          </a:prstGeom>
          <a:noFill/>
          <a:ln/>
        </p:spPr>
        <p:txBody>
          <a:bodyPr wrap="square" lIns="0" tIns="0" rIns="0" bIns="0" rtlCol="0" anchor="ctr"/>
          <a:lstStyle/>
          <a:p>
            <a:pPr algn="ctr" indent="0" marL="0">
              <a:buNone/>
            </a:pPr>
            <a:r>
              <a:rPr lang="en-US" sz="1250" dirty="0">
                <a:solidFill>
                  <a:srgbClr val="6B6B66"/>
                </a:solidFill>
                <a:latin typeface="Calibri" pitchFamily="34" charset="0"/>
                <a:ea typeface="Calibri" pitchFamily="34" charset="-122"/>
                <a:cs typeface="Calibri" pitchFamily="34" charset="-120"/>
              </a:rPr>
              <a:t>Cada fecha comercial reactiva a clientes existentes en lugar de dejarlos en silencio.</a:t>
            </a:r>
            <a:endParaRPr lang="en-US" sz="1250" dirty="0"/>
          </a:p>
        </p:txBody>
      </p:sp>
      <p:sp>
        <p:nvSpPr>
          <p:cNvPr id="14" name="Shape 10"/>
          <p:cNvSpPr/>
          <p:nvPr/>
        </p:nvSpPr>
        <p:spPr>
          <a:xfrm>
            <a:off x="8321040" y="2148840"/>
            <a:ext cx="3520440" cy="3291840"/>
          </a:xfrm>
          <a:prstGeom prst="roundRect">
            <a:avLst>
              <a:gd name="adj" fmla="val 2222"/>
            </a:avLst>
          </a:prstGeom>
          <a:solidFill>
            <a:srgbClr val="F7F6F4"/>
          </a:solidFill>
          <a:ln/>
        </p:spPr>
      </p:sp>
      <p:sp>
        <p:nvSpPr>
          <p:cNvPr id="15" name="Shape 11"/>
          <p:cNvSpPr/>
          <p:nvPr/>
        </p:nvSpPr>
        <p:spPr>
          <a:xfrm>
            <a:off x="9715500" y="2468880"/>
            <a:ext cx="731520" cy="731520"/>
          </a:xfrm>
          <a:prstGeom prst="ellipse">
            <a:avLst/>
          </a:prstGeom>
          <a:solidFill>
            <a:srgbClr val="FFFFFF"/>
          </a:solidFill>
          <a:ln/>
        </p:spPr>
      </p:sp>
      <p:pic>
        <p:nvPicPr>
          <p:cNvPr id="16" name="Image 2" descr="/tmp/claude-0/-home-user-Presentaciones-y-varios/903c1196-30c4-57a8-b469-52313f1ce01c/scratchpad/palco/icons/ticket_C1502E.png">    </p:cNvPr>
          <p:cNvPicPr>
            <a:picLocks noChangeAspect="1"/>
          </p:cNvPicPr>
          <p:nvPr/>
        </p:nvPicPr>
        <p:blipFill>
          <a:blip r:embed="rId3"/>
          <a:stretch>
            <a:fillRect/>
          </a:stretch>
        </p:blipFill>
        <p:spPr>
          <a:xfrm>
            <a:off x="9898380" y="2651760"/>
            <a:ext cx="365760" cy="365760"/>
          </a:xfrm>
          <a:prstGeom prst="rect">
            <a:avLst/>
          </a:prstGeom>
        </p:spPr>
      </p:pic>
      <p:sp>
        <p:nvSpPr>
          <p:cNvPr id="17" name="Text 12"/>
          <p:cNvSpPr/>
          <p:nvPr/>
        </p:nvSpPr>
        <p:spPr>
          <a:xfrm>
            <a:off x="8595360" y="3383280"/>
            <a:ext cx="2971800" cy="731520"/>
          </a:xfrm>
          <a:prstGeom prst="rect">
            <a:avLst/>
          </a:prstGeom>
          <a:noFill/>
          <a:ln/>
        </p:spPr>
        <p:txBody>
          <a:bodyPr wrap="square" lIns="0" tIns="0" rIns="0" bIns="0" rtlCol="0" anchor="ctr"/>
          <a:lstStyle/>
          <a:p>
            <a:pPr algn="ctr" indent="0" marL="0">
              <a:buNone/>
            </a:pPr>
            <a:r>
              <a:rPr lang="en-US" sz="1550" b="1" dirty="0">
                <a:solidFill>
                  <a:srgbClr val="1E1B18"/>
                </a:solidFill>
                <a:latin typeface="Cambria" pitchFamily="34" charset="0"/>
                <a:ea typeface="Cambria" pitchFamily="34" charset="-122"/>
                <a:cs typeface="Cambria" pitchFamily="34" charset="-120"/>
              </a:rPr>
              <a:t>Mayor ticket promedio</a:t>
            </a:r>
            <a:endParaRPr lang="en-US" sz="1550" dirty="0"/>
          </a:p>
        </p:txBody>
      </p:sp>
      <p:sp>
        <p:nvSpPr>
          <p:cNvPr id="18" name="Text 13"/>
          <p:cNvSpPr/>
          <p:nvPr/>
        </p:nvSpPr>
        <p:spPr>
          <a:xfrm>
            <a:off x="8641080" y="4160520"/>
            <a:ext cx="2880360" cy="1097280"/>
          </a:xfrm>
          <a:prstGeom prst="rect">
            <a:avLst/>
          </a:prstGeom>
          <a:noFill/>
          <a:ln/>
        </p:spPr>
        <p:txBody>
          <a:bodyPr wrap="square" lIns="0" tIns="0" rIns="0" bIns="0" rtlCol="0" anchor="ctr"/>
          <a:lstStyle/>
          <a:p>
            <a:pPr algn="ctr" indent="0" marL="0">
              <a:buNone/>
            </a:pPr>
            <a:r>
              <a:rPr lang="en-US" sz="1250" dirty="0">
                <a:solidFill>
                  <a:srgbClr val="6B6B66"/>
                </a:solidFill>
                <a:latin typeface="Calibri" pitchFamily="34" charset="0"/>
                <a:ea typeface="Calibri" pitchFamily="34" charset="-122"/>
                <a:cs typeface="Calibri" pitchFamily="34" charset="-120"/>
              </a:rPr>
              <a:t>Eventos, bonos de regalo y cotizaciones se ofrecen a quien ya confía en El Palco.</a:t>
            </a:r>
            <a:endParaRPr lang="en-US" sz="1250" dirty="0"/>
          </a:p>
        </p:txBody>
      </p:sp>
      <p:sp>
        <p:nvSpPr>
          <p:cNvPr id="19" name="Text 14"/>
          <p:cNvSpPr/>
          <p:nvPr/>
        </p:nvSpPr>
        <p:spPr>
          <a:xfrm>
            <a:off x="640080" y="5760720"/>
            <a:ext cx="10881360" cy="548640"/>
          </a:xfrm>
          <a:prstGeom prst="rect">
            <a:avLst/>
          </a:prstGeom>
          <a:noFill/>
          <a:ln/>
        </p:spPr>
        <p:txBody>
          <a:bodyPr wrap="square" lIns="0" tIns="0" rIns="0" bIns="0" rtlCol="0" anchor="ctr"/>
          <a:lstStyle/>
          <a:p>
            <a:pPr indent="0" marL="0">
              <a:buNone/>
            </a:pPr>
            <a:r>
              <a:rPr lang="en-US" sz="1300" i="1" dirty="0">
                <a:solidFill>
                  <a:srgbClr val="1E1B18"/>
                </a:solidFill>
                <a:latin typeface="Calibri" pitchFamily="34" charset="0"/>
                <a:ea typeface="Calibri" pitchFamily="34" charset="-122"/>
                <a:cs typeface="Calibri" pitchFamily="34" charset="-120"/>
              </a:rPr>
              <a:t>El sistema no promete resultados garantizados. Reduce la dependencia de conseguir clientes nuevos cada vez y aumenta el valor de los que ya se ganaron.</a:t>
            </a:r>
            <a:endParaRPr lang="en-US" sz="1300" dirty="0"/>
          </a:p>
        </p:txBody>
      </p:sp>
      <p:sp>
        <p:nvSpPr>
          <p:cNvPr id="20" name="Text 15"/>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1B18"/>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C1502E"/>
                </a:solidFill>
                <a:latin typeface="Calibri" pitchFamily="34" charset="0"/>
                <a:ea typeface="Calibri" pitchFamily="34" charset="-122"/>
                <a:cs typeface="Calibri" pitchFamily="34" charset="-120"/>
              </a:rPr>
              <a:t>EL CIERRE DEL DIAGNÓSTICO</a:t>
            </a:r>
            <a:endParaRPr lang="en-US" sz="1200" dirty="0"/>
          </a:p>
        </p:txBody>
      </p:sp>
      <p:sp>
        <p:nvSpPr>
          <p:cNvPr id="3" name="Text 1"/>
          <p:cNvSpPr/>
          <p:nvPr/>
        </p:nvSpPr>
        <p:spPr>
          <a:xfrm>
            <a:off x="640080" y="685800"/>
            <a:ext cx="10881360" cy="1005840"/>
          </a:xfrm>
          <a:prstGeom prst="rect">
            <a:avLst/>
          </a:prstGeom>
          <a:noFill/>
          <a:ln/>
        </p:spPr>
        <p:txBody>
          <a:bodyPr wrap="square" lIns="0" tIns="0" rIns="0" bIns="0" rtlCol="0" anchor="ctr"/>
          <a:lstStyle/>
          <a:p>
            <a:pPr indent="0" marL="0">
              <a:lnSpc>
                <a:spcPct val="105000"/>
              </a:lnSpc>
              <a:buNone/>
            </a:pPr>
            <a:r>
              <a:rPr lang="en-US" sz="2600" b="1" dirty="0">
                <a:solidFill>
                  <a:srgbClr val="FFFFFF"/>
                </a:solidFill>
                <a:latin typeface="Cambria" pitchFamily="34" charset="0"/>
                <a:ea typeface="Cambria" pitchFamily="34" charset="-122"/>
                <a:cs typeface="Cambria" pitchFamily="34" charset="-120"/>
              </a:rPr>
              <a:t>Las oportunidades que hoy El Palco Parrilla</a:t>
            </a:r>
            <a:endParaRPr lang="en-US" sz="2600" dirty="0"/>
          </a:p>
          <a:p>
            <a:pPr indent="0" marL="0">
              <a:lnSpc>
                <a:spcPct val="105000"/>
              </a:lnSpc>
              <a:buNone/>
            </a:pPr>
            <a:r>
              <a:rPr lang="en-US" sz="2600" b="1" dirty="0">
                <a:solidFill>
                  <a:srgbClr val="FFFFFF"/>
                </a:solidFill>
                <a:latin typeface="Cambria" pitchFamily="34" charset="0"/>
                <a:ea typeface="Cambria" pitchFamily="34" charset="-122"/>
                <a:cs typeface="Cambria" pitchFamily="34" charset="-120"/>
              </a:rPr>
              <a:t>está dejando sobre la mesa</a:t>
            </a:r>
            <a:endParaRPr lang="en-US" sz="2600" dirty="0"/>
          </a:p>
        </p:txBody>
      </p:sp>
      <p:sp>
        <p:nvSpPr>
          <p:cNvPr id="4" name="Shape 2"/>
          <p:cNvSpPr/>
          <p:nvPr/>
        </p:nvSpPr>
        <p:spPr>
          <a:xfrm>
            <a:off x="640080" y="1783080"/>
            <a:ext cx="5257800" cy="749808"/>
          </a:xfrm>
          <a:prstGeom prst="roundRect">
            <a:avLst>
              <a:gd name="adj" fmla="val 8537"/>
            </a:avLst>
          </a:prstGeom>
          <a:solidFill>
            <a:srgbClr val="2B2622"/>
          </a:solidFill>
          <a:ln/>
        </p:spPr>
      </p:sp>
      <p:sp>
        <p:nvSpPr>
          <p:cNvPr id="5" name="Shape 3"/>
          <p:cNvSpPr/>
          <p:nvPr/>
        </p:nvSpPr>
        <p:spPr>
          <a:xfrm>
            <a:off x="1078992" y="1929384"/>
            <a:ext cx="457200" cy="457200"/>
          </a:xfrm>
          <a:prstGeom prst="ellipse">
            <a:avLst/>
          </a:prstGeom>
          <a:solidFill>
            <a:srgbClr val="3A342E"/>
          </a:solidFill>
          <a:ln/>
        </p:spPr>
      </p:sp>
      <p:pic>
        <p:nvPicPr>
          <p:cNvPr id="6" name="Image 0" descr="/tmp/claude-0/-home-user-Presentaciones-y-varios/903c1196-30c4-57a8-b469-52313f1ce01c/scratchpad/palco/icons/instagram_C1502E.png">    </p:cNvPr>
          <p:cNvPicPr>
            <a:picLocks noChangeAspect="1"/>
          </p:cNvPicPr>
          <p:nvPr/>
        </p:nvPicPr>
        <p:blipFill>
          <a:blip r:embed="rId1"/>
          <a:stretch>
            <a:fillRect/>
          </a:stretch>
        </p:blipFill>
        <p:spPr>
          <a:xfrm>
            <a:off x="1181862" y="2032254"/>
            <a:ext cx="251460" cy="251460"/>
          </a:xfrm>
          <a:prstGeom prst="rect">
            <a:avLst/>
          </a:prstGeom>
        </p:spPr>
      </p:pic>
      <p:sp>
        <p:nvSpPr>
          <p:cNvPr id="7" name="Text 4"/>
          <p:cNvSpPr/>
          <p:nvPr/>
        </p:nvSpPr>
        <p:spPr>
          <a:xfrm>
            <a:off x="1508760" y="1837944"/>
            <a:ext cx="4160520" cy="640080"/>
          </a:xfrm>
          <a:prstGeom prst="rect">
            <a:avLst/>
          </a:prstGeom>
          <a:noFill/>
          <a:ln/>
        </p:spPr>
        <p:txBody>
          <a:bodyPr wrap="square" lIns="0" tIns="0" rIns="0" bIns="0" rtlCol="0" anchor="ctr"/>
          <a:lstStyle/>
          <a:p>
            <a:pPr indent="0" marL="0">
              <a:buNone/>
            </a:pPr>
            <a:r>
              <a:rPr lang="en-US" sz="1020" dirty="0">
                <a:solidFill>
                  <a:srgbClr val="FFFFFF"/>
                </a:solidFill>
                <a:latin typeface="Calibri" pitchFamily="34" charset="0"/>
                <a:ea typeface="Calibri" pitchFamily="34" charset="-122"/>
                <a:cs typeface="Calibri" pitchFamily="34" charset="-120"/>
              </a:rPr>
              <a:t>Activar remarketing sobre los 21.000 seguidores de Instagram, hoy sin ninguna campaña de reimpacto.</a:t>
            </a:r>
            <a:endParaRPr lang="en-US" sz="1020" dirty="0"/>
          </a:p>
        </p:txBody>
      </p:sp>
      <p:sp>
        <p:nvSpPr>
          <p:cNvPr id="8" name="Shape 5"/>
          <p:cNvSpPr/>
          <p:nvPr/>
        </p:nvSpPr>
        <p:spPr>
          <a:xfrm>
            <a:off x="6217920" y="1783080"/>
            <a:ext cx="5257800" cy="749808"/>
          </a:xfrm>
          <a:prstGeom prst="roundRect">
            <a:avLst>
              <a:gd name="adj" fmla="val 8537"/>
            </a:avLst>
          </a:prstGeom>
          <a:solidFill>
            <a:srgbClr val="2B2622"/>
          </a:solidFill>
          <a:ln/>
        </p:spPr>
      </p:sp>
      <p:sp>
        <p:nvSpPr>
          <p:cNvPr id="9" name="Shape 6"/>
          <p:cNvSpPr/>
          <p:nvPr/>
        </p:nvSpPr>
        <p:spPr>
          <a:xfrm>
            <a:off x="6656832" y="1929384"/>
            <a:ext cx="457200" cy="457200"/>
          </a:xfrm>
          <a:prstGeom prst="ellipse">
            <a:avLst/>
          </a:prstGeom>
          <a:solidFill>
            <a:srgbClr val="3A342E"/>
          </a:solidFill>
          <a:ln/>
        </p:spPr>
      </p:sp>
      <p:pic>
        <p:nvPicPr>
          <p:cNvPr id="10" name="Image 1" descr="/tmp/claude-0/-home-user-Presentaciones-y-varios/903c1196-30c4-57a8-b469-52313f1ce01c/scratchpad/palco/icons/star_C1502E.png">    </p:cNvPr>
          <p:cNvPicPr>
            <a:picLocks noChangeAspect="1"/>
          </p:cNvPicPr>
          <p:nvPr/>
        </p:nvPicPr>
        <p:blipFill>
          <a:blip r:embed="rId2"/>
          <a:stretch>
            <a:fillRect/>
          </a:stretch>
        </p:blipFill>
        <p:spPr>
          <a:xfrm>
            <a:off x="6759702" y="2032254"/>
            <a:ext cx="251460" cy="251460"/>
          </a:xfrm>
          <a:prstGeom prst="rect">
            <a:avLst/>
          </a:prstGeom>
        </p:spPr>
      </p:pic>
      <p:sp>
        <p:nvSpPr>
          <p:cNvPr id="11" name="Text 7"/>
          <p:cNvSpPr/>
          <p:nvPr/>
        </p:nvSpPr>
        <p:spPr>
          <a:xfrm>
            <a:off x="7086600" y="1837944"/>
            <a:ext cx="4160520" cy="640080"/>
          </a:xfrm>
          <a:prstGeom prst="rect">
            <a:avLst/>
          </a:prstGeom>
          <a:noFill/>
          <a:ln/>
        </p:spPr>
        <p:txBody>
          <a:bodyPr wrap="square" lIns="0" tIns="0" rIns="0" bIns="0" rtlCol="0" anchor="ctr"/>
          <a:lstStyle/>
          <a:p>
            <a:pPr indent="0" marL="0">
              <a:buNone/>
            </a:pPr>
            <a:r>
              <a:rPr lang="en-US" sz="1020" dirty="0">
                <a:solidFill>
                  <a:srgbClr val="FFFFFF"/>
                </a:solidFill>
                <a:latin typeface="Calibri" pitchFamily="34" charset="0"/>
                <a:ea typeface="Calibri" pitchFamily="34" charset="-122"/>
                <a:cs typeface="Calibri" pitchFamily="34" charset="-120"/>
              </a:rPr>
              <a:t>Convertir las 2.483 reseñas (4.8/5) en creativos de prueba social para la etapa de conversión.</a:t>
            </a:r>
            <a:endParaRPr lang="en-US" sz="1020" dirty="0"/>
          </a:p>
        </p:txBody>
      </p:sp>
      <p:sp>
        <p:nvSpPr>
          <p:cNvPr id="12" name="Shape 8"/>
          <p:cNvSpPr/>
          <p:nvPr/>
        </p:nvSpPr>
        <p:spPr>
          <a:xfrm>
            <a:off x="640080" y="2679192"/>
            <a:ext cx="5257800" cy="749808"/>
          </a:xfrm>
          <a:prstGeom prst="roundRect">
            <a:avLst>
              <a:gd name="adj" fmla="val 8537"/>
            </a:avLst>
          </a:prstGeom>
          <a:solidFill>
            <a:srgbClr val="2B2622"/>
          </a:solidFill>
          <a:ln/>
        </p:spPr>
      </p:sp>
      <p:sp>
        <p:nvSpPr>
          <p:cNvPr id="13" name="Shape 9"/>
          <p:cNvSpPr/>
          <p:nvPr/>
        </p:nvSpPr>
        <p:spPr>
          <a:xfrm>
            <a:off x="1078992" y="2825496"/>
            <a:ext cx="457200" cy="457200"/>
          </a:xfrm>
          <a:prstGeom prst="ellipse">
            <a:avLst/>
          </a:prstGeom>
          <a:solidFill>
            <a:srgbClr val="3A342E"/>
          </a:solidFill>
          <a:ln/>
        </p:spPr>
      </p:sp>
      <p:pic>
        <p:nvPicPr>
          <p:cNvPr id="14" name="Image 2" descr="/tmp/claude-0/-home-user-Presentaciones-y-varios/903c1196-30c4-57a8-b469-52313f1ce01c/scratchpad/palco/icons/target_C1502E.png">    </p:cNvPr>
          <p:cNvPicPr>
            <a:picLocks noChangeAspect="1"/>
          </p:cNvPicPr>
          <p:nvPr/>
        </p:nvPicPr>
        <p:blipFill>
          <a:blip r:embed="rId3"/>
          <a:stretch>
            <a:fillRect/>
          </a:stretch>
        </p:blipFill>
        <p:spPr>
          <a:xfrm>
            <a:off x="1181862" y="2928366"/>
            <a:ext cx="251460" cy="251460"/>
          </a:xfrm>
          <a:prstGeom prst="rect">
            <a:avLst/>
          </a:prstGeom>
        </p:spPr>
      </p:pic>
      <p:sp>
        <p:nvSpPr>
          <p:cNvPr id="15" name="Text 10"/>
          <p:cNvSpPr/>
          <p:nvPr/>
        </p:nvSpPr>
        <p:spPr>
          <a:xfrm>
            <a:off x="1508760" y="2734056"/>
            <a:ext cx="4160520" cy="640080"/>
          </a:xfrm>
          <a:prstGeom prst="rect">
            <a:avLst/>
          </a:prstGeom>
          <a:noFill/>
          <a:ln/>
        </p:spPr>
        <p:txBody>
          <a:bodyPr wrap="square" lIns="0" tIns="0" rIns="0" bIns="0" rtlCol="0" anchor="ctr"/>
          <a:lstStyle/>
          <a:p>
            <a:pPr indent="0" marL="0">
              <a:buNone/>
            </a:pPr>
            <a:r>
              <a:rPr lang="en-US" sz="1020" dirty="0">
                <a:solidFill>
                  <a:srgbClr val="FFFFFF"/>
                </a:solidFill>
                <a:latin typeface="Calibri" pitchFamily="34" charset="0"/>
                <a:ea typeface="Calibri" pitchFamily="34" charset="-122"/>
                <a:cs typeface="Calibri" pitchFamily="34" charset="-120"/>
              </a:rPr>
              <a:t>Usar el reconocimiento de Tulio Recomienda como ancla de autoridad en la campaña de descubrimiento.</a:t>
            </a:r>
            <a:endParaRPr lang="en-US" sz="1020" dirty="0"/>
          </a:p>
        </p:txBody>
      </p:sp>
      <p:sp>
        <p:nvSpPr>
          <p:cNvPr id="16" name="Shape 11"/>
          <p:cNvSpPr/>
          <p:nvPr/>
        </p:nvSpPr>
        <p:spPr>
          <a:xfrm>
            <a:off x="6217920" y="2679192"/>
            <a:ext cx="5257800" cy="749808"/>
          </a:xfrm>
          <a:prstGeom prst="roundRect">
            <a:avLst>
              <a:gd name="adj" fmla="val 8537"/>
            </a:avLst>
          </a:prstGeom>
          <a:solidFill>
            <a:srgbClr val="2B2622"/>
          </a:solidFill>
          <a:ln/>
        </p:spPr>
      </p:sp>
      <p:sp>
        <p:nvSpPr>
          <p:cNvPr id="17" name="Shape 12"/>
          <p:cNvSpPr/>
          <p:nvPr/>
        </p:nvSpPr>
        <p:spPr>
          <a:xfrm>
            <a:off x="6656832" y="2825496"/>
            <a:ext cx="457200" cy="457200"/>
          </a:xfrm>
          <a:prstGeom prst="ellipse">
            <a:avLst/>
          </a:prstGeom>
          <a:solidFill>
            <a:srgbClr val="3A342E"/>
          </a:solidFill>
          <a:ln/>
        </p:spPr>
      </p:sp>
      <p:pic>
        <p:nvPicPr>
          <p:cNvPr id="18" name="Image 3" descr="/tmp/claude-0/-home-user-Presentaciones-y-varios/903c1196-30c4-57a8-b469-52313f1ce01c/scratchpad/palco/icons/clock_C1502E.png">    </p:cNvPr>
          <p:cNvPicPr>
            <a:picLocks noChangeAspect="1"/>
          </p:cNvPicPr>
          <p:nvPr/>
        </p:nvPicPr>
        <p:blipFill>
          <a:blip r:embed="rId4"/>
          <a:stretch>
            <a:fillRect/>
          </a:stretch>
        </p:blipFill>
        <p:spPr>
          <a:xfrm>
            <a:off x="6759702" y="2928366"/>
            <a:ext cx="251460" cy="251460"/>
          </a:xfrm>
          <a:prstGeom prst="rect">
            <a:avLst/>
          </a:prstGeom>
        </p:spPr>
      </p:pic>
      <p:sp>
        <p:nvSpPr>
          <p:cNvPr id="19" name="Text 13"/>
          <p:cNvSpPr/>
          <p:nvPr/>
        </p:nvSpPr>
        <p:spPr>
          <a:xfrm>
            <a:off x="7086600" y="2734056"/>
            <a:ext cx="4160520" cy="640080"/>
          </a:xfrm>
          <a:prstGeom prst="rect">
            <a:avLst/>
          </a:prstGeom>
          <a:noFill/>
          <a:ln/>
        </p:spPr>
        <p:txBody>
          <a:bodyPr wrap="square" lIns="0" tIns="0" rIns="0" bIns="0" rtlCol="0" anchor="ctr"/>
          <a:lstStyle/>
          <a:p>
            <a:pPr indent="0" marL="0">
              <a:buNone/>
            </a:pPr>
            <a:r>
              <a:rPr lang="en-US" sz="1020" dirty="0">
                <a:solidFill>
                  <a:srgbClr val="FFFFFF"/>
                </a:solidFill>
                <a:latin typeface="Calibri" pitchFamily="34" charset="0"/>
                <a:ea typeface="Calibri" pitchFamily="34" charset="-122"/>
                <a:cs typeface="Calibri" pitchFamily="34" charset="-120"/>
              </a:rPr>
              <a:t>Crear un público de clientes con más de 90 días sin visitar para campañas de reactivación.</a:t>
            </a:r>
            <a:endParaRPr lang="en-US" sz="1020" dirty="0"/>
          </a:p>
        </p:txBody>
      </p:sp>
      <p:sp>
        <p:nvSpPr>
          <p:cNvPr id="20" name="Shape 14"/>
          <p:cNvSpPr/>
          <p:nvPr/>
        </p:nvSpPr>
        <p:spPr>
          <a:xfrm>
            <a:off x="640080" y="3575304"/>
            <a:ext cx="5257800" cy="749808"/>
          </a:xfrm>
          <a:prstGeom prst="roundRect">
            <a:avLst>
              <a:gd name="adj" fmla="val 8537"/>
            </a:avLst>
          </a:prstGeom>
          <a:solidFill>
            <a:srgbClr val="2B2622"/>
          </a:solidFill>
          <a:ln/>
        </p:spPr>
      </p:sp>
      <p:sp>
        <p:nvSpPr>
          <p:cNvPr id="21" name="Shape 15"/>
          <p:cNvSpPr/>
          <p:nvPr/>
        </p:nvSpPr>
        <p:spPr>
          <a:xfrm>
            <a:off x="1078992" y="3721608"/>
            <a:ext cx="457200" cy="457200"/>
          </a:xfrm>
          <a:prstGeom prst="ellipse">
            <a:avLst/>
          </a:prstGeom>
          <a:solidFill>
            <a:srgbClr val="3A342E"/>
          </a:solidFill>
          <a:ln/>
        </p:spPr>
      </p:sp>
      <p:pic>
        <p:nvPicPr>
          <p:cNvPr id="22" name="Image 4" descr="/tmp/claude-0/-home-user-Presentaciones-y-varios/903c1196-30c4-57a8-b469-52313f1ce01c/scratchpad/palco/icons/gift_C1502E.png">    </p:cNvPr>
          <p:cNvPicPr>
            <a:picLocks noChangeAspect="1"/>
          </p:cNvPicPr>
          <p:nvPr/>
        </p:nvPicPr>
        <p:blipFill>
          <a:blip r:embed="rId5"/>
          <a:stretch>
            <a:fillRect/>
          </a:stretch>
        </p:blipFill>
        <p:spPr>
          <a:xfrm>
            <a:off x="1181862" y="3824478"/>
            <a:ext cx="251460" cy="251460"/>
          </a:xfrm>
          <a:prstGeom prst="rect">
            <a:avLst/>
          </a:prstGeom>
        </p:spPr>
      </p:pic>
      <p:sp>
        <p:nvSpPr>
          <p:cNvPr id="23" name="Text 16"/>
          <p:cNvSpPr/>
          <p:nvPr/>
        </p:nvSpPr>
        <p:spPr>
          <a:xfrm>
            <a:off x="1508760" y="3630168"/>
            <a:ext cx="4160520" cy="640080"/>
          </a:xfrm>
          <a:prstGeom prst="rect">
            <a:avLst/>
          </a:prstGeom>
          <a:noFill/>
          <a:ln/>
        </p:spPr>
        <p:txBody>
          <a:bodyPr wrap="square" lIns="0" tIns="0" rIns="0" bIns="0" rtlCol="0" anchor="ctr"/>
          <a:lstStyle/>
          <a:p>
            <a:pPr indent="0" marL="0">
              <a:buNone/>
            </a:pPr>
            <a:r>
              <a:rPr lang="en-US" sz="1020" dirty="0">
                <a:solidFill>
                  <a:srgbClr val="FFFFFF"/>
                </a:solidFill>
                <a:latin typeface="Calibri" pitchFamily="34" charset="0"/>
                <a:ea typeface="Calibri" pitchFamily="34" charset="-122"/>
                <a:cs typeface="Calibri" pitchFamily="34" charset="-120"/>
              </a:rPr>
              <a:t>Lanzar campaña de bonos de regalo en fechas clave: Navidad, Amor y Amistad, Día del Padre y de la Madre.</a:t>
            </a:r>
            <a:endParaRPr lang="en-US" sz="1020" dirty="0"/>
          </a:p>
        </p:txBody>
      </p:sp>
      <p:sp>
        <p:nvSpPr>
          <p:cNvPr id="24" name="Shape 17"/>
          <p:cNvSpPr/>
          <p:nvPr/>
        </p:nvSpPr>
        <p:spPr>
          <a:xfrm>
            <a:off x="6217920" y="3575304"/>
            <a:ext cx="5257800" cy="749808"/>
          </a:xfrm>
          <a:prstGeom prst="roundRect">
            <a:avLst>
              <a:gd name="adj" fmla="val 8537"/>
            </a:avLst>
          </a:prstGeom>
          <a:solidFill>
            <a:srgbClr val="2B2622"/>
          </a:solidFill>
          <a:ln/>
        </p:spPr>
      </p:sp>
      <p:sp>
        <p:nvSpPr>
          <p:cNvPr id="25" name="Shape 18"/>
          <p:cNvSpPr/>
          <p:nvPr/>
        </p:nvSpPr>
        <p:spPr>
          <a:xfrm>
            <a:off x="6656832" y="3721608"/>
            <a:ext cx="457200" cy="457200"/>
          </a:xfrm>
          <a:prstGeom prst="ellipse">
            <a:avLst/>
          </a:prstGeom>
          <a:solidFill>
            <a:srgbClr val="3A342E"/>
          </a:solidFill>
          <a:ln/>
        </p:spPr>
      </p:sp>
      <p:pic>
        <p:nvPicPr>
          <p:cNvPr id="26" name="Image 5" descr="/tmp/claude-0/-home-user-Presentaciones-y-varios/903c1196-30c4-57a8-b469-52313f1ce01c/scratchpad/palco/icons/paw_C1502E.png">    </p:cNvPr>
          <p:cNvPicPr>
            <a:picLocks noChangeAspect="1"/>
          </p:cNvPicPr>
          <p:nvPr/>
        </p:nvPicPr>
        <p:blipFill>
          <a:blip r:embed="rId6"/>
          <a:stretch>
            <a:fillRect/>
          </a:stretch>
        </p:blipFill>
        <p:spPr>
          <a:xfrm>
            <a:off x="6759702" y="3824478"/>
            <a:ext cx="251460" cy="251460"/>
          </a:xfrm>
          <a:prstGeom prst="rect">
            <a:avLst/>
          </a:prstGeom>
        </p:spPr>
      </p:pic>
      <p:sp>
        <p:nvSpPr>
          <p:cNvPr id="27" name="Text 19"/>
          <p:cNvSpPr/>
          <p:nvPr/>
        </p:nvSpPr>
        <p:spPr>
          <a:xfrm>
            <a:off x="7086600" y="3630168"/>
            <a:ext cx="4160520" cy="640080"/>
          </a:xfrm>
          <a:prstGeom prst="rect">
            <a:avLst/>
          </a:prstGeom>
          <a:noFill/>
          <a:ln/>
        </p:spPr>
        <p:txBody>
          <a:bodyPr wrap="square" lIns="0" tIns="0" rIns="0" bIns="0" rtlCol="0" anchor="ctr"/>
          <a:lstStyle/>
          <a:p>
            <a:pPr indent="0" marL="0">
              <a:buNone/>
            </a:pPr>
            <a:r>
              <a:rPr lang="en-US" sz="1020" dirty="0">
                <a:solidFill>
                  <a:srgbClr val="FFFFFF"/>
                </a:solidFill>
                <a:latin typeface="Calibri" pitchFamily="34" charset="0"/>
                <a:ea typeface="Calibri" pitchFamily="34" charset="-122"/>
                <a:cs typeface="Calibri" pitchFamily="34" charset="-120"/>
              </a:rPr>
              <a:t>Segmentar la audiencia pet friendly como nicho diferenciador frente a otros restaurantes campestres.</a:t>
            </a:r>
            <a:endParaRPr lang="en-US" sz="1020" dirty="0"/>
          </a:p>
        </p:txBody>
      </p:sp>
      <p:sp>
        <p:nvSpPr>
          <p:cNvPr id="28" name="Shape 20"/>
          <p:cNvSpPr/>
          <p:nvPr/>
        </p:nvSpPr>
        <p:spPr>
          <a:xfrm>
            <a:off x="640080" y="4471416"/>
            <a:ext cx="5257800" cy="749808"/>
          </a:xfrm>
          <a:prstGeom prst="roundRect">
            <a:avLst>
              <a:gd name="adj" fmla="val 8537"/>
            </a:avLst>
          </a:prstGeom>
          <a:solidFill>
            <a:srgbClr val="2B2622"/>
          </a:solidFill>
          <a:ln/>
        </p:spPr>
      </p:sp>
      <p:sp>
        <p:nvSpPr>
          <p:cNvPr id="29" name="Shape 21"/>
          <p:cNvSpPr/>
          <p:nvPr/>
        </p:nvSpPr>
        <p:spPr>
          <a:xfrm>
            <a:off x="1078992" y="4617720"/>
            <a:ext cx="457200" cy="457200"/>
          </a:xfrm>
          <a:prstGeom prst="ellipse">
            <a:avLst/>
          </a:prstGeom>
          <a:solidFill>
            <a:srgbClr val="3A342E"/>
          </a:solidFill>
          <a:ln/>
        </p:spPr>
      </p:sp>
      <p:pic>
        <p:nvPicPr>
          <p:cNvPr id="30" name="Image 6" descr="/tmp/claude-0/-home-user-Presentaciones-y-varios/903c1196-30c4-57a8-b469-52313f1ce01c/scratchpad/palco/icons/briefcase_C1502E.png">    </p:cNvPr>
          <p:cNvPicPr>
            <a:picLocks noChangeAspect="1"/>
          </p:cNvPicPr>
          <p:nvPr/>
        </p:nvPicPr>
        <p:blipFill>
          <a:blip r:embed="rId7"/>
          <a:stretch>
            <a:fillRect/>
          </a:stretch>
        </p:blipFill>
        <p:spPr>
          <a:xfrm>
            <a:off x="1181862" y="4720590"/>
            <a:ext cx="251460" cy="251460"/>
          </a:xfrm>
          <a:prstGeom prst="rect">
            <a:avLst/>
          </a:prstGeom>
        </p:spPr>
      </p:pic>
      <p:sp>
        <p:nvSpPr>
          <p:cNvPr id="31" name="Text 22"/>
          <p:cNvSpPr/>
          <p:nvPr/>
        </p:nvSpPr>
        <p:spPr>
          <a:xfrm>
            <a:off x="1508760" y="4526280"/>
            <a:ext cx="4160520" cy="640080"/>
          </a:xfrm>
          <a:prstGeom prst="rect">
            <a:avLst/>
          </a:prstGeom>
          <a:noFill/>
          <a:ln/>
        </p:spPr>
        <p:txBody>
          <a:bodyPr wrap="square" lIns="0" tIns="0" rIns="0" bIns="0" rtlCol="0" anchor="ctr"/>
          <a:lstStyle/>
          <a:p>
            <a:pPr indent="0" marL="0">
              <a:buNone/>
            </a:pPr>
            <a:r>
              <a:rPr lang="en-US" sz="1020" dirty="0">
                <a:solidFill>
                  <a:srgbClr val="FFFFFF"/>
                </a:solidFill>
                <a:latin typeface="Calibri" pitchFamily="34" charset="0"/>
                <a:ea typeface="Calibri" pitchFamily="34" charset="-122"/>
                <a:cs typeface="Calibri" pitchFamily="34" charset="-120"/>
              </a:rPr>
              <a:t>Construir un embudo independiente para eventos empresariales, separado del tráfico familiar.</a:t>
            </a:r>
            <a:endParaRPr lang="en-US" sz="1020" dirty="0"/>
          </a:p>
        </p:txBody>
      </p:sp>
      <p:sp>
        <p:nvSpPr>
          <p:cNvPr id="32" name="Shape 23"/>
          <p:cNvSpPr/>
          <p:nvPr/>
        </p:nvSpPr>
        <p:spPr>
          <a:xfrm>
            <a:off x="6217920" y="4471416"/>
            <a:ext cx="5257800" cy="749808"/>
          </a:xfrm>
          <a:prstGeom prst="roundRect">
            <a:avLst>
              <a:gd name="adj" fmla="val 8537"/>
            </a:avLst>
          </a:prstGeom>
          <a:solidFill>
            <a:srgbClr val="2B2622"/>
          </a:solidFill>
          <a:ln/>
        </p:spPr>
      </p:sp>
      <p:sp>
        <p:nvSpPr>
          <p:cNvPr id="33" name="Shape 24"/>
          <p:cNvSpPr/>
          <p:nvPr/>
        </p:nvSpPr>
        <p:spPr>
          <a:xfrm>
            <a:off x="6656832" y="4617720"/>
            <a:ext cx="457200" cy="457200"/>
          </a:xfrm>
          <a:prstGeom prst="ellipse">
            <a:avLst/>
          </a:prstGeom>
          <a:solidFill>
            <a:srgbClr val="3A342E"/>
          </a:solidFill>
          <a:ln/>
        </p:spPr>
      </p:sp>
      <p:pic>
        <p:nvPicPr>
          <p:cNvPr id="34" name="Image 7" descr="/tmp/claude-0/-home-user-Presentaciones-y-varios/903c1196-30c4-57a8-b469-52313f1ce01c/scratchpad/palco/icons/child_C1502E.png">    </p:cNvPr>
          <p:cNvPicPr>
            <a:picLocks noChangeAspect="1"/>
          </p:cNvPicPr>
          <p:nvPr/>
        </p:nvPicPr>
        <p:blipFill>
          <a:blip r:embed="rId8"/>
          <a:stretch>
            <a:fillRect/>
          </a:stretch>
        </p:blipFill>
        <p:spPr>
          <a:xfrm>
            <a:off x="6759702" y="4720590"/>
            <a:ext cx="251460" cy="251460"/>
          </a:xfrm>
          <a:prstGeom prst="rect">
            <a:avLst/>
          </a:prstGeom>
        </p:spPr>
      </p:pic>
      <p:sp>
        <p:nvSpPr>
          <p:cNvPr id="35" name="Text 25"/>
          <p:cNvSpPr/>
          <p:nvPr/>
        </p:nvSpPr>
        <p:spPr>
          <a:xfrm>
            <a:off x="7086600" y="4526280"/>
            <a:ext cx="4160520" cy="640080"/>
          </a:xfrm>
          <a:prstGeom prst="rect">
            <a:avLst/>
          </a:prstGeom>
          <a:noFill/>
          <a:ln/>
        </p:spPr>
        <p:txBody>
          <a:bodyPr wrap="square" lIns="0" tIns="0" rIns="0" bIns="0" rtlCol="0" anchor="ctr"/>
          <a:lstStyle/>
          <a:p>
            <a:pPr indent="0" marL="0">
              <a:buNone/>
            </a:pPr>
            <a:r>
              <a:rPr lang="en-US" sz="1020" dirty="0">
                <a:solidFill>
                  <a:srgbClr val="FFFFFF"/>
                </a:solidFill>
                <a:latin typeface="Calibri" pitchFamily="34" charset="0"/>
                <a:ea typeface="Calibri" pitchFamily="34" charset="-122"/>
                <a:cs typeface="Calibri" pitchFamily="34" charset="-120"/>
              </a:rPr>
              <a:t>Anunciar el menú infantil y las opciones vegetarianas, hoy ausentes en la pauta activa.</a:t>
            </a:r>
            <a:endParaRPr lang="en-US" sz="1020" dirty="0"/>
          </a:p>
        </p:txBody>
      </p:sp>
      <p:sp>
        <p:nvSpPr>
          <p:cNvPr id="36" name="Shape 26"/>
          <p:cNvSpPr/>
          <p:nvPr/>
        </p:nvSpPr>
        <p:spPr>
          <a:xfrm>
            <a:off x="640080" y="5367528"/>
            <a:ext cx="5257800" cy="749808"/>
          </a:xfrm>
          <a:prstGeom prst="roundRect">
            <a:avLst>
              <a:gd name="adj" fmla="val 8537"/>
            </a:avLst>
          </a:prstGeom>
          <a:solidFill>
            <a:srgbClr val="2B2622"/>
          </a:solidFill>
          <a:ln/>
        </p:spPr>
      </p:sp>
      <p:sp>
        <p:nvSpPr>
          <p:cNvPr id="37" name="Shape 27"/>
          <p:cNvSpPr/>
          <p:nvPr/>
        </p:nvSpPr>
        <p:spPr>
          <a:xfrm>
            <a:off x="1078992" y="5513832"/>
            <a:ext cx="457200" cy="457200"/>
          </a:xfrm>
          <a:prstGeom prst="ellipse">
            <a:avLst/>
          </a:prstGeom>
          <a:solidFill>
            <a:srgbClr val="3A342E"/>
          </a:solidFill>
          <a:ln/>
        </p:spPr>
      </p:sp>
      <p:pic>
        <p:nvPicPr>
          <p:cNvPr id="38" name="Image 8" descr="/tmp/claude-0/-home-user-Presentaciones-y-varios/903c1196-30c4-57a8-b469-52313f1ce01c/scratchpad/palco/icons/mountain_C1502E.png">    </p:cNvPr>
          <p:cNvPicPr>
            <a:picLocks noChangeAspect="1"/>
          </p:cNvPicPr>
          <p:nvPr/>
        </p:nvPicPr>
        <p:blipFill>
          <a:blip r:embed="rId9"/>
          <a:stretch>
            <a:fillRect/>
          </a:stretch>
        </p:blipFill>
        <p:spPr>
          <a:xfrm>
            <a:off x="1181862" y="5616702"/>
            <a:ext cx="251460" cy="251460"/>
          </a:xfrm>
          <a:prstGeom prst="rect">
            <a:avLst/>
          </a:prstGeom>
        </p:spPr>
      </p:pic>
      <p:sp>
        <p:nvSpPr>
          <p:cNvPr id="39" name="Text 28"/>
          <p:cNvSpPr/>
          <p:nvPr/>
        </p:nvSpPr>
        <p:spPr>
          <a:xfrm>
            <a:off x="1508760" y="5422392"/>
            <a:ext cx="4160520" cy="640080"/>
          </a:xfrm>
          <a:prstGeom prst="rect">
            <a:avLst/>
          </a:prstGeom>
          <a:noFill/>
          <a:ln/>
        </p:spPr>
        <p:txBody>
          <a:bodyPr wrap="square" lIns="0" tIns="0" rIns="0" bIns="0" rtlCol="0" anchor="ctr"/>
          <a:lstStyle/>
          <a:p>
            <a:pPr indent="0" marL="0">
              <a:buNone/>
            </a:pPr>
            <a:r>
              <a:rPr lang="en-US" sz="1020" dirty="0">
                <a:solidFill>
                  <a:srgbClr val="FFFFFF"/>
                </a:solidFill>
                <a:latin typeface="Calibri" pitchFamily="34" charset="0"/>
                <a:ea typeface="Calibri" pitchFamily="34" charset="-122"/>
                <a:cs typeface="Calibri" pitchFamily="34" charset="-120"/>
              </a:rPr>
              <a:t>Usar bungee, muro de escalada y tirolínea para atraer familias con niños por interés de aventura.</a:t>
            </a:r>
            <a:endParaRPr lang="en-US" sz="1020" dirty="0"/>
          </a:p>
        </p:txBody>
      </p:sp>
      <p:sp>
        <p:nvSpPr>
          <p:cNvPr id="40" name="Shape 29"/>
          <p:cNvSpPr/>
          <p:nvPr/>
        </p:nvSpPr>
        <p:spPr>
          <a:xfrm>
            <a:off x="6217920" y="5367528"/>
            <a:ext cx="5257800" cy="749808"/>
          </a:xfrm>
          <a:prstGeom prst="roundRect">
            <a:avLst>
              <a:gd name="adj" fmla="val 8537"/>
            </a:avLst>
          </a:prstGeom>
          <a:solidFill>
            <a:srgbClr val="2B2622"/>
          </a:solidFill>
          <a:ln/>
        </p:spPr>
      </p:sp>
      <p:sp>
        <p:nvSpPr>
          <p:cNvPr id="41" name="Shape 30"/>
          <p:cNvSpPr/>
          <p:nvPr/>
        </p:nvSpPr>
        <p:spPr>
          <a:xfrm>
            <a:off x="6656832" y="5513832"/>
            <a:ext cx="457200" cy="457200"/>
          </a:xfrm>
          <a:prstGeom prst="ellipse">
            <a:avLst/>
          </a:prstGeom>
          <a:solidFill>
            <a:srgbClr val="3A342E"/>
          </a:solidFill>
          <a:ln/>
        </p:spPr>
      </p:sp>
      <p:pic>
        <p:nvPicPr>
          <p:cNvPr id="42" name="Image 9" descr="/tmp/claude-0/-home-user-Presentaciones-y-varios/903c1196-30c4-57a8-b469-52313f1ce01c/scratchpad/palco/icons/pin_C1502E.png">    </p:cNvPr>
          <p:cNvPicPr>
            <a:picLocks noChangeAspect="1"/>
          </p:cNvPicPr>
          <p:nvPr/>
        </p:nvPicPr>
        <p:blipFill>
          <a:blip r:embed="rId10"/>
          <a:stretch>
            <a:fillRect/>
          </a:stretch>
        </p:blipFill>
        <p:spPr>
          <a:xfrm>
            <a:off x="6759702" y="5616702"/>
            <a:ext cx="251460" cy="251460"/>
          </a:xfrm>
          <a:prstGeom prst="rect">
            <a:avLst/>
          </a:prstGeom>
        </p:spPr>
      </p:pic>
      <p:sp>
        <p:nvSpPr>
          <p:cNvPr id="43" name="Text 31"/>
          <p:cNvSpPr/>
          <p:nvPr/>
        </p:nvSpPr>
        <p:spPr>
          <a:xfrm>
            <a:off x="7086600" y="5422392"/>
            <a:ext cx="4160520" cy="640080"/>
          </a:xfrm>
          <a:prstGeom prst="rect">
            <a:avLst/>
          </a:prstGeom>
          <a:noFill/>
          <a:ln/>
        </p:spPr>
        <p:txBody>
          <a:bodyPr wrap="square" lIns="0" tIns="0" rIns="0" bIns="0" rtlCol="0" anchor="ctr"/>
          <a:lstStyle/>
          <a:p>
            <a:pPr indent="0" marL="0">
              <a:buNone/>
            </a:pPr>
            <a:r>
              <a:rPr lang="en-US" sz="1020" dirty="0">
                <a:solidFill>
                  <a:srgbClr val="FFFFFF"/>
                </a:solidFill>
                <a:latin typeface="Calibri" pitchFamily="34" charset="0"/>
                <a:ea typeface="Calibri" pitchFamily="34" charset="-122"/>
                <a:cs typeface="Calibri" pitchFamily="34" charset="-120"/>
              </a:rPr>
              <a:t>Posicionar la cercanía a Bogotá como “escapada cercana” frente a competidores más lejanos.</a:t>
            </a:r>
            <a:endParaRPr lang="en-US" sz="1020" dirty="0"/>
          </a:p>
        </p:txBody>
      </p:sp>
      <p:sp>
        <p:nvSpPr>
          <p:cNvPr id="44" name="Text 32"/>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9A969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200" kern="0" dirty="0">
                <a:solidFill>
                  <a:srgbClr val="C1502E"/>
                </a:solidFill>
                <a:latin typeface="Calibri" pitchFamily="34" charset="0"/>
                <a:ea typeface="Calibri" pitchFamily="34" charset="-122"/>
                <a:cs typeface="Calibri" pitchFamily="34" charset="-120"/>
              </a:rPr>
              <a:t>LA INVERSIÓN</a:t>
            </a:r>
            <a:endParaRPr lang="en-US" sz="1200" dirty="0"/>
          </a:p>
        </p:txBody>
      </p:sp>
      <p:sp>
        <p:nvSpPr>
          <p:cNvPr id="3" name="Text 1"/>
          <p:cNvSpPr/>
          <p:nvPr/>
        </p:nvSpPr>
        <p:spPr>
          <a:xfrm>
            <a:off x="640080" y="841248"/>
            <a:ext cx="10515600" cy="822960"/>
          </a:xfrm>
          <a:prstGeom prst="rect">
            <a:avLst/>
          </a:prstGeom>
          <a:noFill/>
          <a:ln/>
        </p:spPr>
        <p:txBody>
          <a:bodyPr wrap="square" lIns="0" tIns="0" rIns="0" bIns="0" rtlCol="0" anchor="ctr"/>
          <a:lstStyle/>
          <a:p>
            <a:pPr algn="l" indent="0" marL="0">
              <a:buNone/>
            </a:pPr>
            <a:r>
              <a:rPr lang="en-US" sz="3400" b="1" dirty="0">
                <a:solidFill>
                  <a:srgbClr val="1E1B18"/>
                </a:solidFill>
                <a:latin typeface="Cambria" pitchFamily="34" charset="0"/>
                <a:ea typeface="Cambria" pitchFamily="34" charset="-122"/>
                <a:cs typeface="Cambria" pitchFamily="34" charset="-120"/>
              </a:rPr>
              <a:t>Lo que se necesita para activar el sistema</a:t>
            </a:r>
            <a:endParaRPr lang="en-US" sz="3400" dirty="0"/>
          </a:p>
        </p:txBody>
      </p:sp>
      <p:sp>
        <p:nvSpPr>
          <p:cNvPr id="4" name="Text 2"/>
          <p:cNvSpPr/>
          <p:nvPr/>
        </p:nvSpPr>
        <p:spPr>
          <a:xfrm>
            <a:off x="640080" y="1481328"/>
            <a:ext cx="9601200" cy="365760"/>
          </a:xfrm>
          <a:prstGeom prst="rect">
            <a:avLst/>
          </a:prstGeom>
          <a:noFill/>
          <a:ln/>
        </p:spPr>
        <p:txBody>
          <a:bodyPr wrap="square" lIns="0" tIns="0" rIns="0" bIns="0" rtlCol="0" anchor="ctr"/>
          <a:lstStyle/>
          <a:p>
            <a:pPr indent="0" marL="0">
              <a:buNone/>
            </a:pPr>
            <a:r>
              <a:rPr lang="en-US" sz="1500" dirty="0">
                <a:solidFill>
                  <a:srgbClr val="6B6B66"/>
                </a:solidFill>
                <a:latin typeface="Calibri" pitchFamily="34" charset="0"/>
                <a:ea typeface="Calibri" pitchFamily="34" charset="-122"/>
                <a:cs typeface="Calibri" pitchFamily="34" charset="-120"/>
              </a:rPr>
              <a:t>Dos líneas de inversión, independientes entre sí.</a:t>
            </a:r>
            <a:endParaRPr lang="en-US" sz="1500" dirty="0"/>
          </a:p>
        </p:txBody>
      </p:sp>
      <p:sp>
        <p:nvSpPr>
          <p:cNvPr id="5" name="Shape 3"/>
          <p:cNvSpPr/>
          <p:nvPr/>
        </p:nvSpPr>
        <p:spPr>
          <a:xfrm>
            <a:off x="640080" y="2011680"/>
            <a:ext cx="5074920" cy="3520440"/>
          </a:xfrm>
          <a:prstGeom prst="roundRect">
            <a:avLst>
              <a:gd name="adj" fmla="val 2078"/>
            </a:avLst>
          </a:prstGeom>
          <a:solidFill>
            <a:srgbClr val="F7F6F4"/>
          </a:solidFill>
          <a:ln/>
        </p:spPr>
      </p:sp>
      <p:sp>
        <p:nvSpPr>
          <p:cNvPr id="6" name="Text 4"/>
          <p:cNvSpPr/>
          <p:nvPr/>
        </p:nvSpPr>
        <p:spPr>
          <a:xfrm>
            <a:off x="1005840" y="2304288"/>
            <a:ext cx="4343400" cy="365760"/>
          </a:xfrm>
          <a:prstGeom prst="rect">
            <a:avLst/>
          </a:prstGeom>
          <a:noFill/>
          <a:ln/>
        </p:spPr>
        <p:txBody>
          <a:bodyPr wrap="square" lIns="0" tIns="0" rIns="0" bIns="0" rtlCol="0" anchor="ctr"/>
          <a:lstStyle/>
          <a:p>
            <a:pPr indent="0" marL="0">
              <a:buNone/>
            </a:pPr>
            <a:r>
              <a:rPr lang="en-US" sz="1250" b="1" spc="100" kern="0" dirty="0">
                <a:solidFill>
                  <a:srgbClr val="6B6B66"/>
                </a:solidFill>
                <a:latin typeface="Calibri" pitchFamily="34" charset="0"/>
                <a:ea typeface="Calibri" pitchFamily="34" charset="-122"/>
                <a:cs typeface="Calibri" pitchFamily="34" charset="-120"/>
              </a:rPr>
              <a:t>HONORARIOS DE GESTIÓN ESTRATÉGICA</a:t>
            </a:r>
            <a:endParaRPr lang="en-US" sz="1250" dirty="0"/>
          </a:p>
        </p:txBody>
      </p:sp>
      <p:sp>
        <p:nvSpPr>
          <p:cNvPr id="7" name="Text 5"/>
          <p:cNvSpPr/>
          <p:nvPr/>
        </p:nvSpPr>
        <p:spPr>
          <a:xfrm>
            <a:off x="1005840" y="2834640"/>
            <a:ext cx="4343400" cy="274320"/>
          </a:xfrm>
          <a:prstGeom prst="rect">
            <a:avLst/>
          </a:prstGeom>
          <a:noFill/>
          <a:ln/>
        </p:spPr>
        <p:txBody>
          <a:bodyPr wrap="square" lIns="0" tIns="0" rIns="0" bIns="0" rtlCol="0" anchor="ctr"/>
          <a:lstStyle/>
          <a:p>
            <a:pPr indent="0" marL="0">
              <a:buNone/>
            </a:pPr>
            <a:r>
              <a:rPr lang="en-US" sz="1050" b="1" spc="50" kern="0" dirty="0">
                <a:solidFill>
                  <a:srgbClr val="C1502E"/>
                </a:solidFill>
                <a:latin typeface="Calibri" pitchFamily="34" charset="0"/>
                <a:ea typeface="Calibri" pitchFamily="34" charset="-122"/>
                <a:cs typeface="Calibri" pitchFamily="34" charset="-120"/>
              </a:rPr>
              <a:t>MESES 1 A 3 · PRECIO DE LANZAMIENTO</a:t>
            </a:r>
            <a:endParaRPr lang="en-US" sz="1050" dirty="0"/>
          </a:p>
        </p:txBody>
      </p:sp>
      <p:sp>
        <p:nvSpPr>
          <p:cNvPr id="8" name="Text 6"/>
          <p:cNvSpPr/>
          <p:nvPr/>
        </p:nvSpPr>
        <p:spPr>
          <a:xfrm>
            <a:off x="1005840" y="3108960"/>
            <a:ext cx="4343400" cy="548640"/>
          </a:xfrm>
          <a:prstGeom prst="rect">
            <a:avLst/>
          </a:prstGeom>
          <a:noFill/>
          <a:ln/>
        </p:spPr>
        <p:txBody>
          <a:bodyPr wrap="square" lIns="0" tIns="0" rIns="0" bIns="0" rtlCol="0" anchor="ctr"/>
          <a:lstStyle/>
          <a:p>
            <a:pPr indent="0" marL="0">
              <a:buNone/>
            </a:pPr>
            <a:r>
              <a:rPr lang="en-US" sz="3400" b="1" dirty="0">
                <a:solidFill>
                  <a:srgbClr val="1E1B18"/>
                </a:solidFill>
                <a:latin typeface="Cambria" pitchFamily="34" charset="0"/>
                <a:ea typeface="Cambria" pitchFamily="34" charset="-122"/>
                <a:cs typeface="Cambria" pitchFamily="34" charset="-120"/>
              </a:rPr>
              <a:t>$950.000</a:t>
            </a:r>
            <a:pPr indent="0" marL="0">
              <a:buNone/>
            </a:pPr>
            <a:r>
              <a:rPr lang="en-US" sz="1500" dirty="0">
                <a:solidFill>
                  <a:srgbClr val="6B6B66"/>
                </a:solidFill>
                <a:latin typeface="Cambria" pitchFamily="34" charset="0"/>
                <a:ea typeface="Cambria" pitchFamily="34" charset="-122"/>
                <a:cs typeface="Cambria" pitchFamily="34" charset="-120"/>
              </a:rPr>
              <a:t>  /mes</a:t>
            </a:r>
            <a:endParaRPr lang="en-US" sz="3400" dirty="0"/>
          </a:p>
        </p:txBody>
      </p:sp>
      <p:sp>
        <p:nvSpPr>
          <p:cNvPr id="9" name="Shape 7"/>
          <p:cNvSpPr/>
          <p:nvPr/>
        </p:nvSpPr>
        <p:spPr>
          <a:xfrm>
            <a:off x="1005840" y="3840480"/>
            <a:ext cx="4343400" cy="0"/>
          </a:xfrm>
          <a:prstGeom prst="line">
            <a:avLst/>
          </a:prstGeom>
          <a:noFill/>
          <a:ln w="12700">
            <a:solidFill>
              <a:srgbClr val="E4E1DB"/>
            </a:solidFill>
            <a:prstDash val="solid"/>
          </a:ln>
        </p:spPr>
      </p:sp>
      <p:sp>
        <p:nvSpPr>
          <p:cNvPr id="10" name="Text 8"/>
          <p:cNvSpPr/>
          <p:nvPr/>
        </p:nvSpPr>
        <p:spPr>
          <a:xfrm>
            <a:off x="1005840" y="4005072"/>
            <a:ext cx="4343400" cy="274320"/>
          </a:xfrm>
          <a:prstGeom prst="rect">
            <a:avLst/>
          </a:prstGeom>
          <a:noFill/>
          <a:ln/>
        </p:spPr>
        <p:txBody>
          <a:bodyPr wrap="square" lIns="0" tIns="0" rIns="0" bIns="0" rtlCol="0" anchor="ctr"/>
          <a:lstStyle/>
          <a:p>
            <a:pPr indent="0" marL="0">
              <a:buNone/>
            </a:pPr>
            <a:r>
              <a:rPr lang="en-US" sz="1050" b="1" spc="50" kern="0" dirty="0">
                <a:solidFill>
                  <a:srgbClr val="6B6B66"/>
                </a:solidFill>
                <a:latin typeface="Calibri" pitchFamily="34" charset="0"/>
                <a:ea typeface="Calibri" pitchFamily="34" charset="-122"/>
                <a:cs typeface="Calibri" pitchFamily="34" charset="-120"/>
              </a:rPr>
              <a:t>DESDE EL MES 4 · TARIFA FULL</a:t>
            </a:r>
            <a:endParaRPr lang="en-US" sz="1050" dirty="0"/>
          </a:p>
        </p:txBody>
      </p:sp>
      <p:sp>
        <p:nvSpPr>
          <p:cNvPr id="11" name="Text 9"/>
          <p:cNvSpPr/>
          <p:nvPr/>
        </p:nvSpPr>
        <p:spPr>
          <a:xfrm>
            <a:off x="1005840" y="4279392"/>
            <a:ext cx="4343400" cy="548640"/>
          </a:xfrm>
          <a:prstGeom prst="rect">
            <a:avLst/>
          </a:prstGeom>
          <a:noFill/>
          <a:ln/>
        </p:spPr>
        <p:txBody>
          <a:bodyPr wrap="square" lIns="0" tIns="0" rIns="0" bIns="0" rtlCol="0" anchor="ctr"/>
          <a:lstStyle/>
          <a:p>
            <a:pPr indent="0" marL="0">
              <a:buNone/>
            </a:pPr>
            <a:r>
              <a:rPr lang="en-US" sz="3400" b="1" dirty="0">
                <a:solidFill>
                  <a:srgbClr val="1E1B18"/>
                </a:solidFill>
                <a:latin typeface="Cambria" pitchFamily="34" charset="0"/>
                <a:ea typeface="Cambria" pitchFamily="34" charset="-122"/>
                <a:cs typeface="Cambria" pitchFamily="34" charset="-120"/>
              </a:rPr>
              <a:t>$1.200.000</a:t>
            </a:r>
            <a:pPr indent="0" marL="0">
              <a:buNone/>
            </a:pPr>
            <a:r>
              <a:rPr lang="en-US" sz="1500" dirty="0">
                <a:solidFill>
                  <a:srgbClr val="6B6B66"/>
                </a:solidFill>
                <a:latin typeface="Cambria" pitchFamily="34" charset="0"/>
                <a:ea typeface="Cambria" pitchFamily="34" charset="-122"/>
                <a:cs typeface="Cambria" pitchFamily="34" charset="-120"/>
              </a:rPr>
              <a:t>  /mes</a:t>
            </a:r>
            <a:endParaRPr lang="en-US" sz="3400" dirty="0"/>
          </a:p>
        </p:txBody>
      </p:sp>
      <p:sp>
        <p:nvSpPr>
          <p:cNvPr id="12" name="Text 10"/>
          <p:cNvSpPr/>
          <p:nvPr/>
        </p:nvSpPr>
        <p:spPr>
          <a:xfrm>
            <a:off x="1005840" y="4919472"/>
            <a:ext cx="4343400" cy="548640"/>
          </a:xfrm>
          <a:prstGeom prst="rect">
            <a:avLst/>
          </a:prstGeom>
          <a:noFill/>
          <a:ln/>
        </p:spPr>
        <p:txBody>
          <a:bodyPr wrap="square" lIns="0" tIns="0" rIns="0" bIns="0" rtlCol="0" anchor="ctr"/>
          <a:lstStyle/>
          <a:p>
            <a:pPr indent="0" marL="0">
              <a:buNone/>
            </a:pPr>
            <a:r>
              <a:rPr lang="en-US" sz="1100" dirty="0">
                <a:solidFill>
                  <a:srgbClr val="6B6B66"/>
                </a:solidFill>
                <a:latin typeface="Calibri" pitchFamily="34" charset="0"/>
                <a:ea typeface="Calibri" pitchFamily="34" charset="-122"/>
                <a:cs typeface="Calibri" pitchFamily="34" charset="-120"/>
              </a:rPr>
              <a:t>Incluye estrategia, diseño de campañas, gestión y optimización continua de las 4 etapas del sistema.</a:t>
            </a:r>
            <a:endParaRPr lang="en-US" sz="1100" dirty="0"/>
          </a:p>
        </p:txBody>
      </p:sp>
      <p:sp>
        <p:nvSpPr>
          <p:cNvPr id="13" name="Shape 11"/>
          <p:cNvSpPr/>
          <p:nvPr/>
        </p:nvSpPr>
        <p:spPr>
          <a:xfrm>
            <a:off x="6172200" y="2011680"/>
            <a:ext cx="5074920" cy="3520440"/>
          </a:xfrm>
          <a:prstGeom prst="roundRect">
            <a:avLst>
              <a:gd name="adj" fmla="val 2078"/>
            </a:avLst>
          </a:prstGeom>
          <a:solidFill>
            <a:srgbClr val="1E1B18"/>
          </a:solidFill>
          <a:ln/>
        </p:spPr>
      </p:sp>
      <p:sp>
        <p:nvSpPr>
          <p:cNvPr id="14" name="Text 12"/>
          <p:cNvSpPr/>
          <p:nvPr/>
        </p:nvSpPr>
        <p:spPr>
          <a:xfrm>
            <a:off x="6537960" y="2304288"/>
            <a:ext cx="4343400" cy="365760"/>
          </a:xfrm>
          <a:prstGeom prst="rect">
            <a:avLst/>
          </a:prstGeom>
          <a:noFill/>
          <a:ln/>
        </p:spPr>
        <p:txBody>
          <a:bodyPr wrap="square" lIns="0" tIns="0" rIns="0" bIns="0" rtlCol="0" anchor="ctr"/>
          <a:lstStyle/>
          <a:p>
            <a:pPr indent="0" marL="0">
              <a:buNone/>
            </a:pPr>
            <a:r>
              <a:rPr lang="en-US" sz="1250" b="1" spc="100" kern="0" dirty="0">
                <a:solidFill>
                  <a:srgbClr val="C1502E"/>
                </a:solidFill>
                <a:latin typeface="Calibri" pitchFamily="34" charset="0"/>
                <a:ea typeface="Calibri" pitchFamily="34" charset="-122"/>
                <a:cs typeface="Calibri" pitchFamily="34" charset="-120"/>
              </a:rPr>
              <a:t>PRESUPUESTO DE PAUTA EN META ADS</a:t>
            </a:r>
            <a:endParaRPr lang="en-US" sz="1250" dirty="0"/>
          </a:p>
        </p:txBody>
      </p:sp>
      <p:sp>
        <p:nvSpPr>
          <p:cNvPr id="15" name="Text 13"/>
          <p:cNvSpPr/>
          <p:nvPr/>
        </p:nvSpPr>
        <p:spPr>
          <a:xfrm>
            <a:off x="6537960" y="2834640"/>
            <a:ext cx="4343400" cy="274320"/>
          </a:xfrm>
          <a:prstGeom prst="rect">
            <a:avLst/>
          </a:prstGeom>
          <a:noFill/>
          <a:ln/>
        </p:spPr>
        <p:txBody>
          <a:bodyPr wrap="square" lIns="0" tIns="0" rIns="0" bIns="0" rtlCol="0" anchor="ctr"/>
          <a:lstStyle/>
          <a:p>
            <a:pPr indent="0" marL="0">
              <a:buNone/>
            </a:pPr>
            <a:r>
              <a:rPr lang="en-US" sz="1050" b="1" spc="50" kern="0" dirty="0">
                <a:solidFill>
                  <a:srgbClr val="B8B4AC"/>
                </a:solidFill>
                <a:latin typeface="Calibri" pitchFamily="34" charset="0"/>
                <a:ea typeface="Calibri" pitchFamily="34" charset="-122"/>
                <a:cs typeface="Calibri" pitchFamily="34" charset="-120"/>
              </a:rPr>
              <a:t>MÍNIMO RECOMENDADO</a:t>
            </a:r>
            <a:endParaRPr lang="en-US" sz="1050" dirty="0"/>
          </a:p>
        </p:txBody>
      </p:sp>
      <p:sp>
        <p:nvSpPr>
          <p:cNvPr id="16" name="Text 14"/>
          <p:cNvSpPr/>
          <p:nvPr/>
        </p:nvSpPr>
        <p:spPr>
          <a:xfrm>
            <a:off x="6537960" y="3108960"/>
            <a:ext cx="4343400" cy="5486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$1.500.000</a:t>
            </a:r>
            <a:pPr indent="0" marL="0">
              <a:buNone/>
            </a:pPr>
            <a:r>
              <a:rPr lang="en-US" sz="1500" dirty="0">
                <a:solidFill>
                  <a:srgbClr val="B8B4AC"/>
                </a:solidFill>
                <a:latin typeface="Cambria" pitchFamily="34" charset="0"/>
                <a:ea typeface="Cambria" pitchFamily="34" charset="-122"/>
                <a:cs typeface="Cambria" pitchFamily="34" charset="-120"/>
              </a:rPr>
              <a:t>  /mes</a:t>
            </a:r>
            <a:endParaRPr lang="en-US" sz="3400" dirty="0"/>
          </a:p>
        </p:txBody>
      </p:sp>
      <p:sp>
        <p:nvSpPr>
          <p:cNvPr id="17" name="Shape 15"/>
          <p:cNvSpPr/>
          <p:nvPr/>
        </p:nvSpPr>
        <p:spPr>
          <a:xfrm>
            <a:off x="6537960" y="3840480"/>
            <a:ext cx="4343400" cy="0"/>
          </a:xfrm>
          <a:prstGeom prst="line">
            <a:avLst/>
          </a:prstGeom>
          <a:noFill/>
          <a:ln w="12700">
            <a:solidFill>
              <a:srgbClr val="3A342E"/>
            </a:solidFill>
            <a:prstDash val="solid"/>
          </a:ln>
        </p:spPr>
      </p:sp>
      <p:sp>
        <p:nvSpPr>
          <p:cNvPr id="18" name="Text 16"/>
          <p:cNvSpPr/>
          <p:nvPr/>
        </p:nvSpPr>
        <p:spPr>
          <a:xfrm>
            <a:off x="6537960" y="3977640"/>
            <a:ext cx="4343400" cy="1280160"/>
          </a:xfrm>
          <a:prstGeom prst="rect">
            <a:avLst/>
          </a:prstGeom>
          <a:noFill/>
          <a:ln/>
        </p:spPr>
        <p:txBody>
          <a:bodyPr wrap="square" lIns="0" tIns="0" rIns="0" bIns="0" rtlCol="0" anchor="ctr"/>
          <a:lstStyle/>
          <a:p>
            <a:pPr indent="0" marL="0">
              <a:buNone/>
            </a:pPr>
            <a:r>
              <a:rPr lang="en-US" sz="1200" dirty="0">
                <a:solidFill>
                  <a:srgbClr val="D8D4CC"/>
                </a:solidFill>
                <a:latin typeface="Calibri" pitchFamily="34" charset="0"/>
                <a:ea typeface="Calibri" pitchFamily="34" charset="-122"/>
                <a:cs typeface="Calibri" pitchFamily="34" charset="-120"/>
              </a:rPr>
              <a:t>Se invierte 100% en la plataforma de Meta. Financia el alcance, la evaluación, la conversión y la reactivación de clientes en las 4 etapas del sistema.</a:t>
            </a:r>
            <a:endParaRPr lang="en-US" sz="1200" dirty="0"/>
          </a:p>
        </p:txBody>
      </p:sp>
      <p:sp>
        <p:nvSpPr>
          <p:cNvPr id="19" name="Text 17"/>
          <p:cNvSpPr/>
          <p:nvPr/>
        </p:nvSpPr>
        <p:spPr>
          <a:xfrm>
            <a:off x="640080" y="5760720"/>
            <a:ext cx="10881360" cy="457200"/>
          </a:xfrm>
          <a:prstGeom prst="rect">
            <a:avLst/>
          </a:prstGeom>
          <a:noFill/>
          <a:ln/>
        </p:spPr>
        <p:txBody>
          <a:bodyPr wrap="square" lIns="0" tIns="0" rIns="0" bIns="0" rtlCol="0" anchor="ctr"/>
          <a:lstStyle/>
          <a:p>
            <a:pPr indent="0" marL="0">
              <a:buNone/>
            </a:pPr>
            <a:r>
              <a:rPr lang="en-US" sz="1250" i="1" dirty="0">
                <a:solidFill>
                  <a:srgbClr val="1E1B18"/>
                </a:solidFill>
                <a:latin typeface="Calibri" pitchFamily="34" charset="0"/>
                <a:ea typeface="Calibri" pitchFamily="34" charset="-122"/>
                <a:cs typeface="Calibri" pitchFamily="34" charset="-120"/>
              </a:rPr>
              <a:t>Los honorarios cubren la estrategia y la ejecución; el presupuesto de pauta pertenece 100% a El Palco Parrilla y se administra directamente dentro de la cuenta publicitaria.</a:t>
            </a:r>
            <a:endParaRPr lang="en-US" sz="1250" dirty="0"/>
          </a:p>
        </p:txBody>
      </p:sp>
      <p:sp>
        <p:nvSpPr>
          <p:cNvPr id="20" name="Text 18"/>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6B6B66"/>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1B18"/>
        </a:solidFill>
      </p:bgPr>
    </p:bg>
    <p:spTree>
      <p:nvGrpSpPr>
        <p:cNvPr id="1" name=""/>
        <p:cNvGrpSpPr/>
        <p:nvPr/>
      </p:nvGrpSpPr>
      <p:grpSpPr>
        <a:xfrm>
          <a:off x="0" y="0"/>
          <a:ext cx="0" cy="0"/>
          <a:chOff x="0" y="0"/>
          <a:chExt cx="0" cy="0"/>
        </a:xfrm>
      </p:grpSpPr>
      <p:sp>
        <p:nvSpPr>
          <p:cNvPr id="2" name="Text 0"/>
          <p:cNvSpPr/>
          <p:nvPr/>
        </p:nvSpPr>
        <p:spPr>
          <a:xfrm>
            <a:off x="777240" y="1188720"/>
            <a:ext cx="7315200" cy="365760"/>
          </a:xfrm>
          <a:prstGeom prst="rect">
            <a:avLst/>
          </a:prstGeom>
          <a:noFill/>
          <a:ln/>
        </p:spPr>
        <p:txBody>
          <a:bodyPr wrap="square" lIns="0" tIns="0" rIns="0" bIns="0" rtlCol="0" anchor="ctr"/>
          <a:lstStyle/>
          <a:p>
            <a:pPr indent="0" marL="0">
              <a:buNone/>
            </a:pPr>
            <a:r>
              <a:rPr lang="en-US" sz="1300" b="1" spc="300" kern="0" dirty="0">
                <a:solidFill>
                  <a:srgbClr val="C1502E"/>
                </a:solidFill>
                <a:latin typeface="Calibri" pitchFamily="34" charset="0"/>
                <a:ea typeface="Calibri" pitchFamily="34" charset="-122"/>
                <a:cs typeface="Calibri" pitchFamily="34" charset="-120"/>
              </a:rPr>
              <a:t>EL SIGUIENTE PASO</a:t>
            </a:r>
            <a:endParaRPr lang="en-US" sz="1300" dirty="0"/>
          </a:p>
        </p:txBody>
      </p:sp>
      <p:sp>
        <p:nvSpPr>
          <p:cNvPr id="3" name="Text 1"/>
          <p:cNvSpPr/>
          <p:nvPr/>
        </p:nvSpPr>
        <p:spPr>
          <a:xfrm>
            <a:off x="731520" y="1600200"/>
            <a:ext cx="10058400" cy="155448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No es más presupuesto.</a:t>
            </a:r>
            <a:endParaRPr lang="en-US" sz="3800" dirty="0"/>
          </a:p>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Es arquitectura.</a:t>
            </a:r>
            <a:endParaRPr lang="en-US" sz="3800" dirty="0"/>
          </a:p>
        </p:txBody>
      </p:sp>
      <p:sp>
        <p:nvSpPr>
          <p:cNvPr id="4" name="Shape 2"/>
          <p:cNvSpPr/>
          <p:nvPr/>
        </p:nvSpPr>
        <p:spPr>
          <a:xfrm>
            <a:off x="777240" y="3520440"/>
            <a:ext cx="548640" cy="548640"/>
          </a:xfrm>
          <a:prstGeom prst="ellipse">
            <a:avLst/>
          </a:prstGeom>
          <a:solidFill>
            <a:srgbClr val="C1502E"/>
          </a:solidFill>
          <a:ln/>
        </p:spPr>
      </p:sp>
      <p:sp>
        <p:nvSpPr>
          <p:cNvPr id="5" name="Text 3"/>
          <p:cNvSpPr/>
          <p:nvPr/>
        </p:nvSpPr>
        <p:spPr>
          <a:xfrm>
            <a:off x="777240" y="3520440"/>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Cambria" pitchFamily="34" charset="0"/>
                <a:ea typeface="Cambria" pitchFamily="34" charset="-122"/>
                <a:cs typeface="Cambria" pitchFamily="34" charset="-120"/>
              </a:rPr>
              <a:t>1</a:t>
            </a:r>
            <a:endParaRPr lang="en-US" sz="2040" dirty="0"/>
          </a:p>
        </p:txBody>
      </p:sp>
      <p:sp>
        <p:nvSpPr>
          <p:cNvPr id="6" name="Text 4"/>
          <p:cNvSpPr/>
          <p:nvPr/>
        </p:nvSpPr>
        <p:spPr>
          <a:xfrm>
            <a:off x="777240" y="4480560"/>
            <a:ext cx="338328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Auditoría de cuenta y píxel</a:t>
            </a:r>
            <a:endParaRPr lang="en-US" sz="1500" dirty="0"/>
          </a:p>
        </p:txBody>
      </p:sp>
      <p:sp>
        <p:nvSpPr>
          <p:cNvPr id="7" name="Text 5"/>
          <p:cNvSpPr/>
          <p:nvPr/>
        </p:nvSpPr>
        <p:spPr>
          <a:xfrm>
            <a:off x="777240" y="4937760"/>
            <a:ext cx="3383280" cy="548640"/>
          </a:xfrm>
          <a:prstGeom prst="rect">
            <a:avLst/>
          </a:prstGeom>
          <a:noFill/>
          <a:ln/>
        </p:spPr>
        <p:txBody>
          <a:bodyPr wrap="square" lIns="0" tIns="0" rIns="0" bIns="0" rtlCol="0" anchor="ctr"/>
          <a:lstStyle/>
          <a:p>
            <a:pPr indent="0" marL="0">
              <a:buNone/>
            </a:pPr>
            <a:r>
              <a:rPr lang="en-US" sz="1200" dirty="0">
                <a:solidFill>
                  <a:srgbClr val="B8B4AC"/>
                </a:solidFill>
                <a:latin typeface="Calibri" pitchFamily="34" charset="0"/>
                <a:ea typeface="Calibri" pitchFamily="34" charset="-122"/>
                <a:cs typeface="Calibri" pitchFamily="34" charset="-120"/>
              </a:rPr>
              <a:t>Revisión técnica de la configuración actual</a:t>
            </a:r>
            <a:endParaRPr lang="en-US" sz="1200" dirty="0"/>
          </a:p>
        </p:txBody>
      </p:sp>
      <p:sp>
        <p:nvSpPr>
          <p:cNvPr id="8" name="Shape 6"/>
          <p:cNvSpPr/>
          <p:nvPr/>
        </p:nvSpPr>
        <p:spPr>
          <a:xfrm>
            <a:off x="4480560" y="3520440"/>
            <a:ext cx="548640" cy="548640"/>
          </a:xfrm>
          <a:prstGeom prst="ellipse">
            <a:avLst/>
          </a:prstGeom>
          <a:solidFill>
            <a:srgbClr val="C1502E"/>
          </a:solidFill>
          <a:ln/>
        </p:spPr>
      </p:sp>
      <p:sp>
        <p:nvSpPr>
          <p:cNvPr id="9" name="Text 7"/>
          <p:cNvSpPr/>
          <p:nvPr/>
        </p:nvSpPr>
        <p:spPr>
          <a:xfrm>
            <a:off x="4480560" y="3520440"/>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Cambria" pitchFamily="34" charset="0"/>
                <a:ea typeface="Cambria" pitchFamily="34" charset="-122"/>
                <a:cs typeface="Cambria" pitchFamily="34" charset="-120"/>
              </a:rPr>
              <a:t>2</a:t>
            </a:r>
            <a:endParaRPr lang="en-US" sz="2040" dirty="0"/>
          </a:p>
        </p:txBody>
      </p:sp>
      <p:sp>
        <p:nvSpPr>
          <p:cNvPr id="10" name="Text 8"/>
          <p:cNvSpPr/>
          <p:nvPr/>
        </p:nvSpPr>
        <p:spPr>
          <a:xfrm>
            <a:off x="4480560" y="4480560"/>
            <a:ext cx="338328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Diseño de las 4 campañas</a:t>
            </a:r>
            <a:endParaRPr lang="en-US" sz="1500" dirty="0"/>
          </a:p>
        </p:txBody>
      </p:sp>
      <p:sp>
        <p:nvSpPr>
          <p:cNvPr id="11" name="Text 9"/>
          <p:cNvSpPr/>
          <p:nvPr/>
        </p:nvSpPr>
        <p:spPr>
          <a:xfrm>
            <a:off x="4480560" y="4937760"/>
            <a:ext cx="3383280" cy="548640"/>
          </a:xfrm>
          <a:prstGeom prst="rect">
            <a:avLst/>
          </a:prstGeom>
          <a:noFill/>
          <a:ln/>
        </p:spPr>
        <p:txBody>
          <a:bodyPr wrap="square" lIns="0" tIns="0" rIns="0" bIns="0" rtlCol="0" anchor="ctr"/>
          <a:lstStyle/>
          <a:p>
            <a:pPr indent="0" marL="0">
              <a:buNone/>
            </a:pPr>
            <a:r>
              <a:rPr lang="en-US" sz="1200" dirty="0">
                <a:solidFill>
                  <a:srgbClr val="B8B4AC"/>
                </a:solidFill>
                <a:latin typeface="Calibri" pitchFamily="34" charset="0"/>
                <a:ea typeface="Calibri" pitchFamily="34" charset="-122"/>
                <a:cs typeface="Calibri" pitchFamily="34" charset="-120"/>
              </a:rPr>
              <a:t>Presentación, Evaluación, Conversión, Ascensión</a:t>
            </a:r>
            <a:endParaRPr lang="en-US" sz="1200" dirty="0"/>
          </a:p>
        </p:txBody>
      </p:sp>
      <p:sp>
        <p:nvSpPr>
          <p:cNvPr id="12" name="Shape 10"/>
          <p:cNvSpPr/>
          <p:nvPr/>
        </p:nvSpPr>
        <p:spPr>
          <a:xfrm>
            <a:off x="8183880" y="3520440"/>
            <a:ext cx="548640" cy="548640"/>
          </a:xfrm>
          <a:prstGeom prst="ellipse">
            <a:avLst/>
          </a:prstGeom>
          <a:solidFill>
            <a:srgbClr val="C1502E"/>
          </a:solidFill>
          <a:ln/>
        </p:spPr>
      </p:sp>
      <p:sp>
        <p:nvSpPr>
          <p:cNvPr id="13" name="Text 11"/>
          <p:cNvSpPr/>
          <p:nvPr/>
        </p:nvSpPr>
        <p:spPr>
          <a:xfrm>
            <a:off x="8183880" y="3520440"/>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Cambria" pitchFamily="34" charset="0"/>
                <a:ea typeface="Cambria" pitchFamily="34" charset="-122"/>
                <a:cs typeface="Cambria" pitchFamily="34" charset="-120"/>
              </a:rPr>
              <a:t>3</a:t>
            </a:r>
            <a:endParaRPr lang="en-US" sz="2040" dirty="0"/>
          </a:p>
        </p:txBody>
      </p:sp>
      <p:sp>
        <p:nvSpPr>
          <p:cNvPr id="14" name="Text 12"/>
          <p:cNvSpPr/>
          <p:nvPr/>
        </p:nvSpPr>
        <p:spPr>
          <a:xfrm>
            <a:off x="8183880" y="4480560"/>
            <a:ext cx="338328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Activación por etapas</a:t>
            </a:r>
            <a:endParaRPr lang="en-US" sz="1500" dirty="0"/>
          </a:p>
        </p:txBody>
      </p:sp>
      <p:sp>
        <p:nvSpPr>
          <p:cNvPr id="15" name="Text 13"/>
          <p:cNvSpPr/>
          <p:nvPr/>
        </p:nvSpPr>
        <p:spPr>
          <a:xfrm>
            <a:off x="8183880" y="4937760"/>
            <a:ext cx="3383280" cy="548640"/>
          </a:xfrm>
          <a:prstGeom prst="rect">
            <a:avLst/>
          </a:prstGeom>
          <a:noFill/>
          <a:ln/>
        </p:spPr>
        <p:txBody>
          <a:bodyPr wrap="square" lIns="0" tIns="0" rIns="0" bIns="0" rtlCol="0" anchor="ctr"/>
          <a:lstStyle/>
          <a:p>
            <a:pPr indent="0" marL="0">
              <a:buNone/>
            </a:pPr>
            <a:r>
              <a:rPr lang="en-US" sz="1200" dirty="0">
                <a:solidFill>
                  <a:srgbClr val="B8B4AC"/>
                </a:solidFill>
                <a:latin typeface="Calibri" pitchFamily="34" charset="0"/>
                <a:ea typeface="Calibri" pitchFamily="34" charset="-122"/>
                <a:cs typeface="Calibri" pitchFamily="34" charset="-120"/>
              </a:rPr>
              <a:t>Implementación progresiva y medible</a:t>
            </a:r>
            <a:endParaRPr lang="en-US" sz="1200" dirty="0"/>
          </a:p>
        </p:txBody>
      </p:sp>
      <p:sp>
        <p:nvSpPr>
          <p:cNvPr id="16" name="Text 14"/>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9A9691"/>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2026-07-22T15:03:35Z</dcterms:created>
  <dcterms:modified xsi:type="dcterms:W3CDTF">2026-07-22T15:03:35Z</dcterms:modified>
</cp:coreProperties>
</file>