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Establecer el estado actual de forma objetiva y sin juicio, para que los socios reconozcan el punto de partida real.
MENSAJE PRINCIPAL: La inversión actual en Meta Ads genera resultados aislados, pero no está diseñada como sistema.
QUÉ EXPLICAR: Hoy existen 2 anuncios, ambos enfocados en eventos. Funcionan de forma independiente: no hay etapas, no hay recorrido del cliente, no hay reactivación de clientes anteriores. Se está usando una herramienta de sistema comercial como si fuera un botón de 'promocionar publicación'.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Cambiar el modelo mental de 'anuncios' a 'sistema'.
MENSAJE PRINCIPAL: El problema no es la calidad del anuncio; es la ausencia de arquitectura detrás de la inversión.
QUÉ EXPLICAR: Contrastar cómo opera hoy la cuenta (táctico, disperso) frente a cómo debería operar (sistema, secuencial). Esta es la idea que sostiene toda la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la metodología completa en una sola imagen antes de entrar en el detalle de cada etapa.
MENSAJE PRINCIPAL: Cada etapa cumple un rol distinto y prepara la siguiente; ninguna funciona aislada.
QUÉ EXPLICAR: Recorrer brevemente el journey completo: Presentación (descubrir), Evaluación (confiar), Conversión (reservar), Ascensión (volver). Anticipar que cada una se explicará en detalle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Lograr que miles de personas nuevas descubran El Palco Parrilla. Aquí no se vende, se despierta interés.
MENSAJE PRINCIPAL: En esta etapa no medimos reservas; medimos alcance calificado y frecuencia de exposición ante la audiencia correcta.
QUÉ EXPLICAR: Objetivos de Meta recomendados (reconocimiento de marca, interacción, reproducciones de video); formatos (video corto, reels, carrusel); territorio de targeting (Chía, Cajicá, norte de Bogotá); y que el éxito se mide en alcance y costo por reproducción, no en ventas inmediatas.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profundidad al contenido creativo de la etapa 1.
MENSAJE PRINCIPAL: No se trata de un solo anuncio genérico, sino de un sistema de piezas que cubren distintos ángulos emocionales de decisión.
QUÉ EXPLICAR: Recorrer cada pilar. El Chicharrón Espectacular es especialmente valioso porque trae autoridad de un tercero reconocido (Tulio Recomienda), lo cual genera más confianza que cualquier anuncio propio. Las emociones a generar: pertenencia, escape de la rutina, disfrute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Mover a quien ya conoce la marca hacia la intención de reserva, resolviendo la duda.
MENSAJE PRINCIPAL: Aquí no se busca alcance nuevo; se busca profundizar la confianza en quienes ya mostraron interés.
QUÉ EXPLICAR: Se activa remarketing sobre quienes vieron los videos de la etapa 1 o interactuaron en Instagram/Facebook. El contenido cambia: opiniones reales, celebraciones, proceso de preparación, comparativas frente a otros campestres.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una oportunidad concreta y medible que hoy no se aprovecha.
MENSAJE PRINCIPAL: El Palco ya tiene una audiencia caliente construida por años (21.000 seguidores, 2.483 reseñas con 4.8/5); hoy Meta Ads no la usa.
QUÉ EXPLICAR: Cómo se crean públicos personalizados a partir de quienes interactúan con Instagram/Facebook o ven los videos de la etapa 1, y cómo se les impacta con contenido de prueba social para moverlos hacia la etapa de conversión. Cifras según datos públicos de Google/Restaurant Guru e Instagram.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el interés calificado en reservas, cotizaciones y mensajes concretos.
MENSAJE PRINCIPAL: En conversión no buscamos alcance, buscamos precisión: solo se invierte en quien ya mostró interés real.
QUÉ EXPLICAR: Las audiencias se restringen a quienes vieron videos, interactuaron con la página o visitaron el sitio. El objetivo de Meta cambia a mensajes/conversiones. El CTA es directo: reservar, cotizar, escribir por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el detalle táctico de optimización dentro de la etapa de conversión.
MENSAJE PRINCIPAL: Pequeños ajustes de oferta, audiencia y llamado a la acción mueven directamente la tasa de conversión.
QUÉ EXPLICAR: Ejemplos concretos por ocasión: cumpleaños familiares, eventos empresariales, celebraciones especiales. Cada uno con su propio creativo, audiencia y oferta — no un anuncio único para todos los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un cliente que ya compró una vez en un cliente recurrente.
MENSAJE PRINCIPAL: La etapa más rentable del sistema es la que hoy no existe en la cuenta.
QUÉ EXPLICAR: Cómo construir públicos personalizados de clientes anteriores (compradores, visitantes del sitio, interacciones) segmentados por tiempo desde la última visita, y cómo cada fecha comercial se convierte en el gatillo de una campaña de reactivación.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concepto de Lifetime Value aplicado a un restaurante campestre.
MENSAJE PRINCIPAL: No buscamos vender una vez; buscamos construir frecuencia de visita durante todo el año.
QUÉ EXPLICAR: Cada fecha del calendario (cumpleaños, Día del Padre, Día de la Madre, Amor y Amistad, Navidad, empresas) es una campaña de reactivación dirigida a un público ya construido en las etapas anteriores. Esto multiplica el valor de cada cliente adquirido, sin necesidad de conseguir clientes nuevos cada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Consolidar la visión completa antes de pasar al cierre de negocio.
MENSAJE PRINCIPAL: El sistema es un ciclo, no una línea recta; el cliente que asciende vuelve a entrar al ciclo en su siguiente ocasión de compra.
QUÉ EXPLICAR: Cómo el dato de una etapa (quién vio el video, quién interactuó, quién compró) alimenta la audiencia de la siguiente. Reforzar que dos anuncios de eventos no pueden sostener esta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el razonamiento económico del sistema sin prometer cifras específicas.
MENSAJE PRINCIPAL: El sistema reduce la dependencia de adquisición constante de clientes nuevos y aumenta el valor de los clientes ya conseguidos.
QUÉ EXPLICAR: Por qué reimpactar cuesta menos que adquirir (el público ya existe, ya conoce la marca); por qué la frecuencia de reactivación sube la facturación sin subir el presupuesto de adquisición; por qué vender eventos y bonos a la base existente sube el ticket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el diagnóstico con impacto, mostrando la brecha concreta entre el potencial de la marca y la ejecución publicitaria actual.
MENSAJE PRINCIPAL: Cada oportunidad está fundamentada en información pública real de El Palco Parrilla (Instagram, Google, Restaurant Guru, Tulio Recomienda), no en suposiciones.
QUÉ EXPLICAR: Recorrer brevemente cada oportunidad conectándola con la etapa del sistema a la que pertenece (descubrimiento, evaluación, conversión o ascensión). Cerrar señalando que ninguna de estas 10 oportunidades requiere más presupuesto: requieren estructura.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una propuesta de acción clara, sin sonar comercial.
MENSAJE PRINCIPAL: El crecimiento no depende de invertir más; depende de darle estructura a lo que ya se invierte.
QUÉ EXPLICAR: Los tres pasos siguientes son concretos y secuenciales. La siguiente reunión debe definir el alcance y el cronograma de implementación de las cuatro campañas.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1B18"/>
          </a:solidFill>
          <a:ln/>
        </p:spPr>
      </p:sp>
      <p:sp>
        <p:nvSpPr>
          <p:cNvPr id="3" name="Shape 1"/>
          <p:cNvSpPr/>
          <p:nvPr/>
        </p:nvSpPr>
        <p:spPr>
          <a:xfrm>
            <a:off x="9692640" y="-2103120"/>
            <a:ext cx="5486400" cy="5486400"/>
          </a:xfrm>
          <a:prstGeom prst="ellipse">
            <a:avLst/>
          </a:prstGeom>
          <a:solidFill>
            <a:srgbClr val="8F3A20">
              <a:alpha val="40000"/>
            </a:srgbClr>
          </a:solidFill>
          <a:ln/>
        </p:spPr>
      </p:sp>
      <p:sp>
        <p:nvSpPr>
          <p:cNvPr id="4" name="Shape 2"/>
          <p:cNvSpPr/>
          <p:nvPr/>
        </p:nvSpPr>
        <p:spPr>
          <a:xfrm>
            <a:off x="-2194560" y="4206240"/>
            <a:ext cx="5029200" cy="5029200"/>
          </a:xfrm>
          <a:prstGeom prst="ellipse">
            <a:avLst/>
          </a:prstGeom>
          <a:solidFill>
            <a:srgbClr val="5B6B4F">
              <a:alpha val="22000"/>
            </a:srgbClr>
          </a:solidFill>
          <a:ln/>
        </p:spPr>
      </p:sp>
      <p:sp>
        <p:nvSpPr>
          <p:cNvPr id="5" name="Text 3"/>
          <p:cNvSpPr/>
          <p:nvPr/>
        </p:nvSpPr>
        <p:spPr>
          <a:xfrm>
            <a:off x="822960" y="196596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ESTRATEGIA COMERCIAL · META ADS · 2026</a:t>
            </a:r>
            <a:endParaRPr lang="en-US" sz="1300" dirty="0"/>
          </a:p>
        </p:txBody>
      </p:sp>
      <p:sp>
        <p:nvSpPr>
          <p:cNvPr id="6" name="Text 4"/>
          <p:cNvSpPr/>
          <p:nvPr/>
        </p:nvSpPr>
        <p:spPr>
          <a:xfrm>
            <a:off x="777240" y="237744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El Palco Parrilla</a:t>
            </a:r>
            <a:endParaRPr lang="en-US" sz="5400" dirty="0"/>
          </a:p>
        </p:txBody>
      </p:sp>
      <p:sp>
        <p:nvSpPr>
          <p:cNvPr id="7" name="Text 5"/>
          <p:cNvSpPr/>
          <p:nvPr/>
        </p:nvSpPr>
        <p:spPr>
          <a:xfrm>
            <a:off x="822960" y="3520440"/>
            <a:ext cx="9601200" cy="640080"/>
          </a:xfrm>
          <a:prstGeom prst="rect">
            <a:avLst/>
          </a:prstGeom>
          <a:noFill/>
          <a:ln/>
        </p:spPr>
        <p:txBody>
          <a:bodyPr wrap="square" lIns="0" tIns="0" rIns="0" bIns="0" rtlCol="0" anchor="ctr"/>
          <a:lstStyle/>
          <a:p>
            <a:pPr indent="0" marL="0">
              <a:buNone/>
            </a:pPr>
            <a:r>
              <a:rPr lang="en-US" sz="2200" i="1" dirty="0">
                <a:solidFill>
                  <a:srgbClr val="D8D4CC"/>
                </a:solidFill>
                <a:latin typeface="Calibri" pitchFamily="34" charset="0"/>
                <a:ea typeface="Calibri" pitchFamily="34" charset="-122"/>
                <a:cs typeface="Calibri" pitchFamily="34" charset="-120"/>
              </a:rPr>
              <a:t>De la publicidad al sistema de crecimiento</a:t>
            </a:r>
            <a:endParaRPr lang="en-US" sz="2200" dirty="0"/>
          </a:p>
        </p:txBody>
      </p:sp>
      <p:sp>
        <p:nvSpPr>
          <p:cNvPr id="8" name="Shape 6"/>
          <p:cNvSpPr/>
          <p:nvPr/>
        </p:nvSpPr>
        <p:spPr>
          <a:xfrm>
            <a:off x="822960" y="4343400"/>
            <a:ext cx="2011680" cy="0"/>
          </a:xfrm>
          <a:prstGeom prst="line">
            <a:avLst/>
          </a:prstGeom>
          <a:noFill/>
          <a:ln w="25400">
            <a:solidFill>
              <a:srgbClr val="C1502E"/>
            </a:solidFill>
            <a:prstDash val="solid"/>
          </a:ln>
        </p:spPr>
      </p:sp>
      <p:sp>
        <p:nvSpPr>
          <p:cNvPr id="9" name="Text 7"/>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A9691"/>
                </a:solidFill>
                <a:latin typeface="Calibri" pitchFamily="34" charset="0"/>
                <a:ea typeface="Calibri" pitchFamily="34" charset="-122"/>
                <a:cs typeface="Calibri" pitchFamily="34" charset="-120"/>
              </a:rPr>
              <a:t>Presentado a los socios de El Palco Parrilla  ·  Chía, Cundinamarca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Hoy, Meta Ads promociona publicaciones.</a:t>
            </a:r>
            <a:endParaRPr lang="en-US" sz="3400" dirty="0"/>
          </a:p>
        </p:txBody>
      </p:sp>
      <p:sp>
        <p:nvSpPr>
          <p:cNvPr id="4" name="Text 2"/>
          <p:cNvSpPr/>
          <p:nvPr/>
        </p:nvSpPr>
        <p:spPr>
          <a:xfrm>
            <a:off x="640080" y="1481328"/>
            <a:ext cx="9144000" cy="457200"/>
          </a:xfrm>
          <a:prstGeom prst="rect">
            <a:avLst/>
          </a:prstGeom>
          <a:noFill/>
          <a:ln/>
        </p:spPr>
        <p:txBody>
          <a:bodyPr wrap="square" lIns="0" tIns="0" rIns="0" bIns="0" rtlCol="0" anchor="ctr"/>
          <a:lstStyle/>
          <a:p>
            <a:pPr indent="0" marL="0">
              <a:buNone/>
            </a:pPr>
            <a:r>
              <a:rPr lang="en-US" sz="2000" i="1" dirty="0">
                <a:solidFill>
                  <a:srgbClr val="5B6B4F"/>
                </a:solidFill>
                <a:latin typeface="Cambria" pitchFamily="34" charset="0"/>
                <a:ea typeface="Cambria" pitchFamily="34" charset="-122"/>
                <a:cs typeface="Cambria" pitchFamily="34" charset="-120"/>
              </a:rPr>
              <a:t>No dirige un negocio.</a:t>
            </a:r>
            <a:endParaRPr lang="en-US" sz="2000" dirty="0"/>
          </a:p>
        </p:txBody>
      </p:sp>
      <p:sp>
        <p:nvSpPr>
          <p:cNvPr id="5" name="Shape 3"/>
          <p:cNvSpPr/>
          <p:nvPr/>
        </p:nvSpPr>
        <p:spPr>
          <a:xfrm>
            <a:off x="640080" y="2468880"/>
            <a:ext cx="3246120" cy="3017520"/>
          </a:xfrm>
          <a:prstGeom prst="roundRect">
            <a:avLst>
              <a:gd name="adj" fmla="val 2424"/>
            </a:avLst>
          </a:prstGeom>
          <a:solidFill>
            <a:srgbClr val="F7F6F4"/>
          </a:solidFill>
          <a:ln w="12700">
            <a:solidFill>
              <a:srgbClr val="E4E1DB"/>
            </a:solidFill>
            <a:prstDash val="solid"/>
          </a:ln>
        </p:spPr>
      </p:sp>
      <p:sp>
        <p:nvSpPr>
          <p:cNvPr id="6" name="Shape 4"/>
          <p:cNvSpPr/>
          <p:nvPr/>
        </p:nvSpPr>
        <p:spPr>
          <a:xfrm>
            <a:off x="1897380" y="2880360"/>
            <a:ext cx="731520" cy="731520"/>
          </a:xfrm>
          <a:prstGeom prst="ellipse">
            <a:avLst/>
          </a:prstGeom>
          <a:solidFill>
            <a:srgbClr val="FFFFFF"/>
          </a:solidFill>
          <a:ln/>
        </p:spPr>
      </p:sp>
      <p:pic>
        <p:nvPicPr>
          <p:cNvPr id="7" name="Image 0" descr="/tmp/claude-0/-home-user-Presentaciones-y-varios/903c1196-30c4-57a8-b469-52313f1ce01c/scratchpad/palco/icons/target_C1502E.png">    </p:cNvPr>
          <p:cNvPicPr>
            <a:picLocks noChangeAspect="1"/>
          </p:cNvPicPr>
          <p:nvPr/>
        </p:nvPicPr>
        <p:blipFill>
          <a:blip r:embed="rId1"/>
          <a:stretch>
            <a:fillRect/>
          </a:stretch>
        </p:blipFill>
        <p:spPr>
          <a:xfrm>
            <a:off x="2061972" y="3044952"/>
            <a:ext cx="402336" cy="402336"/>
          </a:xfrm>
          <a:prstGeom prst="rect">
            <a:avLst/>
          </a:prstGeom>
        </p:spPr>
      </p:pic>
      <p:sp>
        <p:nvSpPr>
          <p:cNvPr id="8" name="Text 5"/>
          <p:cNvSpPr/>
          <p:nvPr/>
        </p:nvSpPr>
        <p:spPr>
          <a:xfrm>
            <a:off x="64008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2</a:t>
            </a:r>
            <a:endParaRPr lang="en-US" sz="5600" dirty="0"/>
          </a:p>
        </p:txBody>
      </p:sp>
      <p:sp>
        <p:nvSpPr>
          <p:cNvPr id="9" name="Text 6"/>
          <p:cNvSpPr/>
          <p:nvPr/>
        </p:nvSpPr>
        <p:spPr>
          <a:xfrm>
            <a:off x="96012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Anuncios activos en la cuenta</a:t>
            </a:r>
            <a:endParaRPr lang="en-US" sz="1300" dirty="0"/>
          </a:p>
        </p:txBody>
      </p:sp>
      <p:sp>
        <p:nvSpPr>
          <p:cNvPr id="10" name="Shape 7"/>
          <p:cNvSpPr/>
          <p:nvPr/>
        </p:nvSpPr>
        <p:spPr>
          <a:xfrm>
            <a:off x="4206240" y="2468880"/>
            <a:ext cx="3246120" cy="3017520"/>
          </a:xfrm>
          <a:prstGeom prst="roundRect">
            <a:avLst>
              <a:gd name="adj" fmla="val 2424"/>
            </a:avLst>
          </a:prstGeom>
          <a:solidFill>
            <a:srgbClr val="F7F6F4"/>
          </a:solidFill>
          <a:ln w="12700">
            <a:solidFill>
              <a:srgbClr val="E4E1DB"/>
            </a:solidFill>
            <a:prstDash val="solid"/>
          </a:ln>
        </p:spPr>
      </p:sp>
      <p:sp>
        <p:nvSpPr>
          <p:cNvPr id="11" name="Shape 8"/>
          <p:cNvSpPr/>
          <p:nvPr/>
        </p:nvSpPr>
        <p:spPr>
          <a:xfrm>
            <a:off x="5463540" y="2880360"/>
            <a:ext cx="731520" cy="731520"/>
          </a:xfrm>
          <a:prstGeom prst="ellipse">
            <a:avLst/>
          </a:prstGeom>
          <a:solidFill>
            <a:srgbClr val="FFFFFF"/>
          </a:solidFill>
          <a:ln/>
        </p:spPr>
      </p:sp>
      <p:pic>
        <p:nvPicPr>
          <p:cNvPr id="12" name="Image 1" descr="/tmp/claude-0/-home-user-Presentaciones-y-varios/903c1196-30c4-57a8-b469-52313f1ce01c/scratchpad/palco/icons/calendar_C1502E.png">    </p:cNvPr>
          <p:cNvPicPr>
            <a:picLocks noChangeAspect="1"/>
          </p:cNvPicPr>
          <p:nvPr/>
        </p:nvPicPr>
        <p:blipFill>
          <a:blip r:embed="rId2"/>
          <a:stretch>
            <a:fillRect/>
          </a:stretch>
        </p:blipFill>
        <p:spPr>
          <a:xfrm>
            <a:off x="5628132" y="3044952"/>
            <a:ext cx="402336" cy="402336"/>
          </a:xfrm>
          <a:prstGeom prst="rect">
            <a:avLst/>
          </a:prstGeom>
        </p:spPr>
      </p:pic>
      <p:sp>
        <p:nvSpPr>
          <p:cNvPr id="13" name="Text 9"/>
          <p:cNvSpPr/>
          <p:nvPr/>
        </p:nvSpPr>
        <p:spPr>
          <a:xfrm>
            <a:off x="420624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1</a:t>
            </a:r>
            <a:endParaRPr lang="en-US" sz="5600" dirty="0"/>
          </a:p>
        </p:txBody>
      </p:sp>
      <p:sp>
        <p:nvSpPr>
          <p:cNvPr id="14" name="Text 10"/>
          <p:cNvSpPr/>
          <p:nvPr/>
        </p:nvSpPr>
        <p:spPr>
          <a:xfrm>
            <a:off x="452628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Objetivo cubierto: promoción de eventos</a:t>
            </a:r>
            <a:endParaRPr lang="en-US" sz="1300" dirty="0"/>
          </a:p>
        </p:txBody>
      </p:sp>
      <p:sp>
        <p:nvSpPr>
          <p:cNvPr id="15" name="Shape 11"/>
          <p:cNvSpPr/>
          <p:nvPr/>
        </p:nvSpPr>
        <p:spPr>
          <a:xfrm>
            <a:off x="7772400" y="2468880"/>
            <a:ext cx="3246120" cy="3017520"/>
          </a:xfrm>
          <a:prstGeom prst="roundRect">
            <a:avLst>
              <a:gd name="adj" fmla="val 2424"/>
            </a:avLst>
          </a:prstGeom>
          <a:solidFill>
            <a:srgbClr val="F7F6F4"/>
          </a:solidFill>
          <a:ln w="12700">
            <a:solidFill>
              <a:srgbClr val="E4E1DB"/>
            </a:solidFill>
            <a:prstDash val="solid"/>
          </a:ln>
        </p:spPr>
      </p:sp>
      <p:sp>
        <p:nvSpPr>
          <p:cNvPr id="16" name="Shape 12"/>
          <p:cNvSpPr/>
          <p:nvPr/>
        </p:nvSpPr>
        <p:spPr>
          <a:xfrm>
            <a:off x="9029700" y="2880360"/>
            <a:ext cx="731520" cy="731520"/>
          </a:xfrm>
          <a:prstGeom prst="ellipse">
            <a:avLst/>
          </a:prstGeom>
          <a:solidFill>
            <a:srgbClr val="FFFFFF"/>
          </a:solidFill>
          <a:ln/>
        </p:spPr>
      </p:sp>
      <p:pic>
        <p:nvPicPr>
          <p:cNvPr id="17" name="Image 2" descr="/tmp/claude-0/-home-user-Presentaciones-y-varios/903c1196-30c4-57a8-b469-52313f1ce01c/scratchpad/palco/icons/route_C1502E.png">    </p:cNvPr>
          <p:cNvPicPr>
            <a:picLocks noChangeAspect="1"/>
          </p:cNvPicPr>
          <p:nvPr/>
        </p:nvPicPr>
        <p:blipFill>
          <a:blip r:embed="rId3"/>
          <a:stretch>
            <a:fillRect/>
          </a:stretch>
        </p:blipFill>
        <p:spPr>
          <a:xfrm>
            <a:off x="9194292" y="3044952"/>
            <a:ext cx="402336" cy="402336"/>
          </a:xfrm>
          <a:prstGeom prst="rect">
            <a:avLst/>
          </a:prstGeom>
        </p:spPr>
      </p:pic>
      <p:sp>
        <p:nvSpPr>
          <p:cNvPr id="18" name="Text 13"/>
          <p:cNvSpPr/>
          <p:nvPr/>
        </p:nvSpPr>
        <p:spPr>
          <a:xfrm>
            <a:off x="7772400" y="3703320"/>
            <a:ext cx="3246120" cy="914400"/>
          </a:xfrm>
          <a:prstGeom prst="rect">
            <a:avLst/>
          </a:prstGeom>
          <a:noFill/>
          <a:ln/>
        </p:spPr>
        <p:txBody>
          <a:bodyPr wrap="square" lIns="0" tIns="0" rIns="0" bIns="0" rtlCol="0" anchor="ctr"/>
          <a:lstStyle/>
          <a:p>
            <a:pPr algn="ctr" indent="0" marL="0">
              <a:buNone/>
            </a:pPr>
            <a:r>
              <a:rPr lang="en-US" sz="5600" b="1" dirty="0">
                <a:solidFill>
                  <a:srgbClr val="1E1B18"/>
                </a:solidFill>
                <a:latin typeface="Cambria" pitchFamily="34" charset="0"/>
                <a:ea typeface="Cambria" pitchFamily="34" charset="-122"/>
                <a:cs typeface="Cambria" pitchFamily="34" charset="-120"/>
              </a:rPr>
              <a:t>0</a:t>
            </a:r>
            <a:endParaRPr lang="en-US" sz="5600" dirty="0"/>
          </a:p>
        </p:txBody>
      </p:sp>
      <p:sp>
        <p:nvSpPr>
          <p:cNvPr id="19" name="Text 14"/>
          <p:cNvSpPr/>
          <p:nvPr/>
        </p:nvSpPr>
        <p:spPr>
          <a:xfrm>
            <a:off x="8092440" y="4617720"/>
            <a:ext cx="2606040" cy="731520"/>
          </a:xfrm>
          <a:prstGeom prst="rect">
            <a:avLst/>
          </a:prstGeom>
          <a:noFill/>
          <a:ln/>
        </p:spPr>
        <p:txBody>
          <a:bodyPr wrap="square" lIns="0" tIns="0" rIns="0" bIns="0" rtlCol="0" anchor="ctr"/>
          <a:lstStyle/>
          <a:p>
            <a:pPr algn="ctr" indent="0" marL="0">
              <a:buNone/>
            </a:pPr>
            <a:r>
              <a:rPr lang="en-US" sz="1300" dirty="0">
                <a:solidFill>
                  <a:srgbClr val="6B6B66"/>
                </a:solidFill>
                <a:latin typeface="Calibri" pitchFamily="34" charset="0"/>
                <a:ea typeface="Calibri" pitchFamily="34" charset="-122"/>
                <a:cs typeface="Calibri" pitchFamily="34" charset="-120"/>
              </a:rPr>
              <a:t>Etapas de decisión del cliente cubiertas</a:t>
            </a:r>
            <a:endParaRPr lang="en-US" sz="1300" dirty="0"/>
          </a:p>
        </p:txBody>
      </p:sp>
      <p:sp>
        <p:nvSpPr>
          <p:cNvPr id="20" name="Text 15"/>
          <p:cNvSpPr/>
          <p:nvPr/>
        </p:nvSpPr>
        <p:spPr>
          <a:xfrm>
            <a:off x="640080" y="5806440"/>
            <a:ext cx="10881360" cy="54864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La cuenta genera resultados puntuales. Pero no existe una arquitectura que convierta cada peso invertido en un cliente que vuelve.</a:t>
            </a:r>
            <a:endParaRPr lang="en-US" sz="1400" dirty="0"/>
          </a:p>
        </p:txBody>
      </p:sp>
      <p:sp>
        <p:nvSpPr>
          <p:cNvPr id="21"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DIAGNÓSTICO ESTRATÉGICO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Una campaña no es una estrategia.</a:t>
            </a:r>
            <a:endParaRPr lang="en-US" sz="3400" dirty="0"/>
          </a:p>
        </p:txBody>
      </p:sp>
      <p:sp>
        <p:nvSpPr>
          <p:cNvPr id="4" name="Shape 2"/>
          <p:cNvSpPr/>
          <p:nvPr/>
        </p:nvSpPr>
        <p:spPr>
          <a:xfrm>
            <a:off x="640080" y="1965960"/>
            <a:ext cx="5074920" cy="4114800"/>
          </a:xfrm>
          <a:prstGeom prst="roundRect">
            <a:avLst>
              <a:gd name="adj" fmla="val 1778"/>
            </a:avLst>
          </a:prstGeom>
          <a:solidFill>
            <a:srgbClr val="F7F6F4"/>
          </a:solidFill>
          <a:ln/>
        </p:spPr>
      </p:sp>
      <p:sp>
        <p:nvSpPr>
          <p:cNvPr id="5" name="Text 3"/>
          <p:cNvSpPr/>
          <p:nvPr/>
        </p:nvSpPr>
        <p:spPr>
          <a:xfrm>
            <a:off x="100584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B6B66"/>
                </a:solidFill>
                <a:latin typeface="Calibri" pitchFamily="34" charset="0"/>
                <a:ea typeface="Calibri" pitchFamily="34" charset="-122"/>
                <a:cs typeface="Calibri" pitchFamily="34" charset="-120"/>
              </a:rPr>
              <a:t>PUBLICIDAD TÁCTICA</a:t>
            </a:r>
            <a:endParaRPr lang="en-US" sz="1400" dirty="0"/>
          </a:p>
        </p:txBody>
      </p:sp>
      <p:sp>
        <p:nvSpPr>
          <p:cNvPr id="6" name="Text 4"/>
          <p:cNvSpPr/>
          <p:nvPr/>
        </p:nvSpPr>
        <p:spPr>
          <a:xfrm>
            <a:off x="100584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objetivo: promocionar</a:t>
            </a:r>
            <a:endParaRPr lang="en-US" sz="1500" dirty="0"/>
          </a:p>
        </p:txBody>
      </p:sp>
      <p:sp>
        <p:nvSpPr>
          <p:cNvPr id="7" name="Text 5"/>
          <p:cNvSpPr/>
          <p:nvPr/>
        </p:nvSpPr>
        <p:spPr>
          <a:xfrm>
            <a:off x="100584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Un solo público: todos a la vez</a:t>
            </a:r>
            <a:endParaRPr lang="en-US" sz="1500" dirty="0"/>
          </a:p>
        </p:txBody>
      </p:sp>
      <p:sp>
        <p:nvSpPr>
          <p:cNvPr id="8" name="Text 6"/>
          <p:cNvSpPr/>
          <p:nvPr/>
        </p:nvSpPr>
        <p:spPr>
          <a:xfrm>
            <a:off x="100584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Sin recorrido: se impacta una sola vez</a:t>
            </a:r>
            <a:endParaRPr lang="en-US" sz="1500" dirty="0"/>
          </a:p>
        </p:txBody>
      </p:sp>
      <p:sp>
        <p:nvSpPr>
          <p:cNvPr id="9" name="Text 7"/>
          <p:cNvSpPr/>
          <p:nvPr/>
        </p:nvSpPr>
        <p:spPr>
          <a:xfrm>
            <a:off x="100584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E1B18"/>
                </a:solidFill>
                <a:latin typeface="Calibri" pitchFamily="34" charset="0"/>
                <a:ea typeface="Calibri" pitchFamily="34" charset="-122"/>
                <a:cs typeface="Calibri" pitchFamily="34" charset="-120"/>
              </a:rPr>
              <a:t>El resultado depende de la suerte del anuncio</a:t>
            </a:r>
            <a:endParaRPr lang="en-US" sz="1500" dirty="0"/>
          </a:p>
        </p:txBody>
      </p:sp>
      <p:sp>
        <p:nvSpPr>
          <p:cNvPr id="10" name="Shape 8"/>
          <p:cNvSpPr/>
          <p:nvPr/>
        </p:nvSpPr>
        <p:spPr>
          <a:xfrm>
            <a:off x="6172200" y="1965960"/>
            <a:ext cx="5074920" cy="4114800"/>
          </a:xfrm>
          <a:prstGeom prst="roundRect">
            <a:avLst>
              <a:gd name="adj" fmla="val 1778"/>
            </a:avLst>
          </a:prstGeom>
          <a:solidFill>
            <a:srgbClr val="1E1B18"/>
          </a:solidFill>
          <a:ln/>
        </p:spPr>
      </p:sp>
      <p:sp>
        <p:nvSpPr>
          <p:cNvPr id="11" name="Text 9"/>
          <p:cNvSpPr/>
          <p:nvPr/>
        </p:nvSpPr>
        <p:spPr>
          <a:xfrm>
            <a:off x="6537960" y="2286000"/>
            <a:ext cx="4343400" cy="365760"/>
          </a:xfrm>
          <a:prstGeom prst="rect">
            <a:avLst/>
          </a:prstGeom>
          <a:noFill/>
          <a:ln/>
        </p:spPr>
        <p:txBody>
          <a:bodyPr wrap="square" lIns="0" tIns="0" rIns="0" bIns="0" rtlCol="0" anchor="ctr"/>
          <a:lstStyle/>
          <a:p>
            <a:pPr indent="0" marL="0">
              <a:buNone/>
            </a:pPr>
            <a:r>
              <a:rPr lang="en-US" sz="1400" b="1" spc="150" kern="0" dirty="0">
                <a:solidFill>
                  <a:srgbClr val="C1502E"/>
                </a:solidFill>
                <a:latin typeface="Calibri" pitchFamily="34" charset="0"/>
                <a:ea typeface="Calibri" pitchFamily="34" charset="-122"/>
                <a:cs typeface="Calibri" pitchFamily="34" charset="-120"/>
              </a:rPr>
              <a:t>SISTEMA COMERCIAL</a:t>
            </a:r>
            <a:endParaRPr lang="en-US" sz="1400" dirty="0"/>
          </a:p>
        </p:txBody>
      </p:sp>
      <p:sp>
        <p:nvSpPr>
          <p:cNvPr id="12" name="Text 10"/>
          <p:cNvSpPr/>
          <p:nvPr/>
        </p:nvSpPr>
        <p:spPr>
          <a:xfrm>
            <a:off x="653796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Cuatro objetivos, uno por etapa del cliente</a:t>
            </a:r>
            <a:endParaRPr lang="en-US" sz="1500" dirty="0"/>
          </a:p>
        </p:txBody>
      </p:sp>
      <p:sp>
        <p:nvSpPr>
          <p:cNvPr id="13" name="Text 11"/>
          <p:cNvSpPr/>
          <p:nvPr/>
        </p:nvSpPr>
        <p:spPr>
          <a:xfrm>
            <a:off x="653796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Audiencias que cambian según su comportamiento</a:t>
            </a:r>
            <a:endParaRPr lang="en-US" sz="1500" dirty="0"/>
          </a:p>
        </p:txBody>
      </p:sp>
      <p:sp>
        <p:nvSpPr>
          <p:cNvPr id="14" name="Text 12"/>
          <p:cNvSpPr/>
          <p:nvPr/>
        </p:nvSpPr>
        <p:spPr>
          <a:xfrm>
            <a:off x="653796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Recorrido continuo: se impacta en el momento correcto</a:t>
            </a:r>
            <a:endParaRPr lang="en-US" sz="1500" dirty="0"/>
          </a:p>
        </p:txBody>
      </p:sp>
      <p:sp>
        <p:nvSpPr>
          <p:cNvPr id="15" name="Text 13"/>
          <p:cNvSpPr/>
          <p:nvPr/>
        </p:nvSpPr>
        <p:spPr>
          <a:xfrm>
            <a:off x="653796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El resultado depende de la arquitectura, no del azar</a:t>
            </a:r>
            <a:endParaRPr lang="en-US" sz="15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PROPUESTA</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Meta Ads como ecosistema comercial</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Cuatro etapas. Cada una prepara la siguiente.</a:t>
            </a:r>
            <a:endParaRPr lang="en-US" sz="1500" dirty="0"/>
          </a:p>
        </p:txBody>
      </p:sp>
      <p:sp>
        <p:nvSpPr>
          <p:cNvPr id="5" name="Shape 3"/>
          <p:cNvSpPr/>
          <p:nvPr/>
        </p:nvSpPr>
        <p:spPr>
          <a:xfrm>
            <a:off x="777240" y="2743200"/>
            <a:ext cx="2331720" cy="2834640"/>
          </a:xfrm>
          <a:prstGeom prst="roundRect">
            <a:avLst>
              <a:gd name="adj" fmla="val 3137"/>
            </a:avLst>
          </a:prstGeom>
          <a:solidFill>
            <a:srgbClr val="F7F6F4"/>
          </a:solidFill>
          <a:ln/>
        </p:spPr>
      </p:sp>
      <p:sp>
        <p:nvSpPr>
          <p:cNvPr id="6" name="Shape 4"/>
          <p:cNvSpPr/>
          <p:nvPr/>
        </p:nvSpPr>
        <p:spPr>
          <a:xfrm>
            <a:off x="1577340" y="1993392"/>
            <a:ext cx="731520" cy="731520"/>
          </a:xfrm>
          <a:prstGeom prst="ellipse">
            <a:avLst/>
          </a:prstGeom>
          <a:solidFill>
            <a:srgbClr val="1E1B18"/>
          </a:solidFill>
          <a:ln/>
        </p:spPr>
      </p:sp>
      <p:sp>
        <p:nvSpPr>
          <p:cNvPr id="7" name="Text 5"/>
          <p:cNvSpPr/>
          <p:nvPr/>
        </p:nvSpPr>
        <p:spPr>
          <a:xfrm>
            <a:off x="157734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01</a:t>
            </a:r>
            <a:endParaRPr lang="en-US" sz="2720" dirty="0"/>
          </a:p>
        </p:txBody>
      </p:sp>
      <p:sp>
        <p:nvSpPr>
          <p:cNvPr id="8" name="Shape 6"/>
          <p:cNvSpPr/>
          <p:nvPr/>
        </p:nvSpPr>
        <p:spPr>
          <a:xfrm>
            <a:off x="1595628" y="3401568"/>
            <a:ext cx="694944" cy="694944"/>
          </a:xfrm>
          <a:prstGeom prst="ellipse">
            <a:avLst/>
          </a:prstGeom>
          <a:solidFill>
            <a:srgbClr val="FFFFFF"/>
          </a:solidFill>
          <a:ln/>
        </p:spPr>
      </p:sp>
      <p:pic>
        <p:nvPicPr>
          <p:cNvPr id="9" name="Image 0" descr="/tmp/claude-0/-home-user-Presentaciones-y-varios/903c1196-30c4-57a8-b469-52313f1ce01c/scratchpad/palco/icons/eye_C1502E.png">    </p:cNvPr>
          <p:cNvPicPr>
            <a:picLocks noChangeAspect="1"/>
          </p:cNvPicPr>
          <p:nvPr/>
        </p:nvPicPr>
        <p:blipFill>
          <a:blip r:embed="rId1"/>
          <a:stretch>
            <a:fillRect/>
          </a:stretch>
        </p:blipFill>
        <p:spPr>
          <a:xfrm>
            <a:off x="1751990" y="3557930"/>
            <a:ext cx="382219" cy="382219"/>
          </a:xfrm>
          <a:prstGeom prst="rect">
            <a:avLst/>
          </a:prstGeom>
        </p:spPr>
      </p:pic>
      <p:sp>
        <p:nvSpPr>
          <p:cNvPr id="10" name="Text 7"/>
          <p:cNvSpPr/>
          <p:nvPr/>
        </p:nvSpPr>
        <p:spPr>
          <a:xfrm>
            <a:off x="91440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Presentación</a:t>
            </a:r>
            <a:endParaRPr lang="en-US" sz="1700" dirty="0"/>
          </a:p>
        </p:txBody>
      </p:sp>
      <p:sp>
        <p:nvSpPr>
          <p:cNvPr id="11" name="Text 8"/>
          <p:cNvSpPr/>
          <p:nvPr/>
        </p:nvSpPr>
        <p:spPr>
          <a:xfrm>
            <a:off x="91440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Descubrir</a:t>
            </a:r>
            <a:endParaRPr lang="en-US" sz="1200" dirty="0"/>
          </a:p>
        </p:txBody>
      </p:sp>
      <p:pic>
        <p:nvPicPr>
          <p:cNvPr id="12"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977640"/>
            <a:ext cx="246888" cy="246888"/>
          </a:xfrm>
          <a:prstGeom prst="rect">
            <a:avLst/>
          </a:prstGeom>
        </p:spPr>
      </p:pic>
      <p:sp>
        <p:nvSpPr>
          <p:cNvPr id="13" name="Shape 9"/>
          <p:cNvSpPr/>
          <p:nvPr/>
        </p:nvSpPr>
        <p:spPr>
          <a:xfrm>
            <a:off x="3429000" y="2743200"/>
            <a:ext cx="2331720" cy="2834640"/>
          </a:xfrm>
          <a:prstGeom prst="roundRect">
            <a:avLst>
              <a:gd name="adj" fmla="val 3137"/>
            </a:avLst>
          </a:prstGeom>
          <a:solidFill>
            <a:srgbClr val="E7EBE2"/>
          </a:solidFill>
          <a:ln/>
        </p:spPr>
      </p:sp>
      <p:sp>
        <p:nvSpPr>
          <p:cNvPr id="14" name="Shape 10"/>
          <p:cNvSpPr/>
          <p:nvPr/>
        </p:nvSpPr>
        <p:spPr>
          <a:xfrm>
            <a:off x="4229100" y="1993392"/>
            <a:ext cx="731520" cy="731520"/>
          </a:xfrm>
          <a:prstGeom prst="ellipse">
            <a:avLst/>
          </a:prstGeom>
          <a:solidFill>
            <a:srgbClr val="1E1B18"/>
          </a:solidFill>
          <a:ln/>
        </p:spPr>
      </p:sp>
      <p:sp>
        <p:nvSpPr>
          <p:cNvPr id="15" name="Text 11"/>
          <p:cNvSpPr/>
          <p:nvPr/>
        </p:nvSpPr>
        <p:spPr>
          <a:xfrm>
            <a:off x="422910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02</a:t>
            </a:r>
            <a:endParaRPr lang="en-US" sz="2720" dirty="0"/>
          </a:p>
        </p:txBody>
      </p:sp>
      <p:sp>
        <p:nvSpPr>
          <p:cNvPr id="16" name="Shape 12"/>
          <p:cNvSpPr/>
          <p:nvPr/>
        </p:nvSpPr>
        <p:spPr>
          <a:xfrm>
            <a:off x="4247388" y="3401568"/>
            <a:ext cx="694944" cy="694944"/>
          </a:xfrm>
          <a:prstGeom prst="ellipse">
            <a:avLst/>
          </a:prstGeom>
          <a:solidFill>
            <a:srgbClr val="FFFFFF"/>
          </a:solidFill>
          <a:ln/>
        </p:spPr>
      </p:sp>
      <p:pic>
        <p:nvPicPr>
          <p:cNvPr id="17" name="Image 2" descr="/tmp/claude-0/-home-user-Presentaciones-y-varios/903c1196-30c4-57a8-b469-52313f1ce01c/scratchpad/palco/icons/star_C1502E.png">    </p:cNvPr>
          <p:cNvPicPr>
            <a:picLocks noChangeAspect="1"/>
          </p:cNvPicPr>
          <p:nvPr/>
        </p:nvPicPr>
        <p:blipFill>
          <a:blip r:embed="rId3"/>
          <a:stretch>
            <a:fillRect/>
          </a:stretch>
        </p:blipFill>
        <p:spPr>
          <a:xfrm>
            <a:off x="4403750" y="3557930"/>
            <a:ext cx="382219" cy="382219"/>
          </a:xfrm>
          <a:prstGeom prst="rect">
            <a:avLst/>
          </a:prstGeom>
        </p:spPr>
      </p:pic>
      <p:sp>
        <p:nvSpPr>
          <p:cNvPr id="18" name="Text 13"/>
          <p:cNvSpPr/>
          <p:nvPr/>
        </p:nvSpPr>
        <p:spPr>
          <a:xfrm>
            <a:off x="356616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Evaluación</a:t>
            </a:r>
            <a:endParaRPr lang="en-US" sz="1700" dirty="0"/>
          </a:p>
        </p:txBody>
      </p:sp>
      <p:sp>
        <p:nvSpPr>
          <p:cNvPr id="19" name="Text 14"/>
          <p:cNvSpPr/>
          <p:nvPr/>
        </p:nvSpPr>
        <p:spPr>
          <a:xfrm>
            <a:off x="356616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Confiar</a:t>
            </a:r>
            <a:endParaRPr lang="en-US" sz="1200" dirty="0"/>
          </a:p>
        </p:txBody>
      </p:sp>
      <p:pic>
        <p:nvPicPr>
          <p:cNvPr id="20"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977640"/>
            <a:ext cx="246888" cy="246888"/>
          </a:xfrm>
          <a:prstGeom prst="rect">
            <a:avLst/>
          </a:prstGeom>
        </p:spPr>
      </p:pic>
      <p:sp>
        <p:nvSpPr>
          <p:cNvPr id="21" name="Shape 15"/>
          <p:cNvSpPr/>
          <p:nvPr/>
        </p:nvSpPr>
        <p:spPr>
          <a:xfrm>
            <a:off x="6080760" y="2743200"/>
            <a:ext cx="2331720" cy="2834640"/>
          </a:xfrm>
          <a:prstGeom prst="roundRect">
            <a:avLst>
              <a:gd name="adj" fmla="val 3137"/>
            </a:avLst>
          </a:prstGeom>
          <a:solidFill>
            <a:srgbClr val="F7F6F4"/>
          </a:solidFill>
          <a:ln/>
        </p:spPr>
      </p:sp>
      <p:sp>
        <p:nvSpPr>
          <p:cNvPr id="22" name="Shape 16"/>
          <p:cNvSpPr/>
          <p:nvPr/>
        </p:nvSpPr>
        <p:spPr>
          <a:xfrm>
            <a:off x="6880860" y="1993392"/>
            <a:ext cx="731520" cy="731520"/>
          </a:xfrm>
          <a:prstGeom prst="ellipse">
            <a:avLst/>
          </a:prstGeom>
          <a:solidFill>
            <a:srgbClr val="1E1B18"/>
          </a:solidFill>
          <a:ln/>
        </p:spPr>
      </p:sp>
      <p:sp>
        <p:nvSpPr>
          <p:cNvPr id="23" name="Text 17"/>
          <p:cNvSpPr/>
          <p:nvPr/>
        </p:nvSpPr>
        <p:spPr>
          <a:xfrm>
            <a:off x="688086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03</a:t>
            </a:r>
            <a:endParaRPr lang="en-US" sz="2720" dirty="0"/>
          </a:p>
        </p:txBody>
      </p:sp>
      <p:sp>
        <p:nvSpPr>
          <p:cNvPr id="24" name="Shape 18"/>
          <p:cNvSpPr/>
          <p:nvPr/>
        </p:nvSpPr>
        <p:spPr>
          <a:xfrm>
            <a:off x="6899148" y="3401568"/>
            <a:ext cx="694944" cy="694944"/>
          </a:xfrm>
          <a:prstGeom prst="ellipse">
            <a:avLst/>
          </a:prstGeom>
          <a:solidFill>
            <a:srgbClr val="FFFFFF"/>
          </a:solidFill>
          <a:ln/>
        </p:spPr>
      </p:sp>
      <p:pic>
        <p:nvPicPr>
          <p:cNvPr id="25" name="Image 4" descr="/tmp/claude-0/-home-user-Presentaciones-y-varios/903c1196-30c4-57a8-b469-52313f1ce01c/scratchpad/palco/icons/whatsapp_C1502E.png">    </p:cNvPr>
          <p:cNvPicPr>
            <a:picLocks noChangeAspect="1"/>
          </p:cNvPicPr>
          <p:nvPr/>
        </p:nvPicPr>
        <p:blipFill>
          <a:blip r:embed="rId5"/>
          <a:stretch>
            <a:fillRect/>
          </a:stretch>
        </p:blipFill>
        <p:spPr>
          <a:xfrm>
            <a:off x="7055510" y="3557930"/>
            <a:ext cx="382219" cy="382219"/>
          </a:xfrm>
          <a:prstGeom prst="rect">
            <a:avLst/>
          </a:prstGeom>
        </p:spPr>
      </p:pic>
      <p:sp>
        <p:nvSpPr>
          <p:cNvPr id="26" name="Text 19"/>
          <p:cNvSpPr/>
          <p:nvPr/>
        </p:nvSpPr>
        <p:spPr>
          <a:xfrm>
            <a:off x="621792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Conversión</a:t>
            </a:r>
            <a:endParaRPr lang="en-US" sz="1700" dirty="0"/>
          </a:p>
        </p:txBody>
      </p:sp>
      <p:sp>
        <p:nvSpPr>
          <p:cNvPr id="27" name="Text 20"/>
          <p:cNvSpPr/>
          <p:nvPr/>
        </p:nvSpPr>
        <p:spPr>
          <a:xfrm>
            <a:off x="621792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Reservar</a:t>
            </a:r>
            <a:endParaRPr lang="en-US" sz="1200" dirty="0"/>
          </a:p>
        </p:txBody>
      </p:sp>
      <p:pic>
        <p:nvPicPr>
          <p:cNvPr id="28"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977640"/>
            <a:ext cx="246888" cy="246888"/>
          </a:xfrm>
          <a:prstGeom prst="rect">
            <a:avLst/>
          </a:prstGeom>
        </p:spPr>
      </p:pic>
      <p:sp>
        <p:nvSpPr>
          <p:cNvPr id="29" name="Shape 21"/>
          <p:cNvSpPr/>
          <p:nvPr/>
        </p:nvSpPr>
        <p:spPr>
          <a:xfrm>
            <a:off x="8732520" y="2743200"/>
            <a:ext cx="2331720" cy="2834640"/>
          </a:xfrm>
          <a:prstGeom prst="roundRect">
            <a:avLst>
              <a:gd name="adj" fmla="val 3137"/>
            </a:avLst>
          </a:prstGeom>
          <a:solidFill>
            <a:srgbClr val="E7EBE2"/>
          </a:solidFill>
          <a:ln/>
        </p:spPr>
      </p:sp>
      <p:sp>
        <p:nvSpPr>
          <p:cNvPr id="30" name="Shape 22"/>
          <p:cNvSpPr/>
          <p:nvPr/>
        </p:nvSpPr>
        <p:spPr>
          <a:xfrm>
            <a:off x="9532620" y="1993392"/>
            <a:ext cx="731520" cy="731520"/>
          </a:xfrm>
          <a:prstGeom prst="ellipse">
            <a:avLst/>
          </a:prstGeom>
          <a:solidFill>
            <a:srgbClr val="1E1B18"/>
          </a:solidFill>
          <a:ln/>
        </p:spPr>
      </p:sp>
      <p:sp>
        <p:nvSpPr>
          <p:cNvPr id="31" name="Text 23"/>
          <p:cNvSpPr/>
          <p:nvPr/>
        </p:nvSpPr>
        <p:spPr>
          <a:xfrm>
            <a:off x="9532620" y="1993392"/>
            <a:ext cx="731520" cy="731520"/>
          </a:xfrm>
          <a:prstGeom prst="rect">
            <a:avLst/>
          </a:prstGeom>
          <a:noFill/>
          <a:ln/>
        </p:spPr>
        <p:txBody>
          <a:bodyPr wrap="square" lIns="0" tIns="0" rIns="0" bIns="0" rtlCol="0" anchor="ctr"/>
          <a:lstStyle/>
          <a:p>
            <a:pPr algn="ctr" indent="0" marL="0">
              <a:buNone/>
            </a:pPr>
            <a:r>
              <a:rPr lang="en-US" sz="2720" b="1" dirty="0">
                <a:solidFill>
                  <a:srgbClr val="FFFFFF"/>
                </a:solidFill>
                <a:latin typeface="Cambria" pitchFamily="34" charset="0"/>
                <a:ea typeface="Cambria" pitchFamily="34" charset="-122"/>
                <a:cs typeface="Cambria" pitchFamily="34" charset="-120"/>
              </a:rPr>
              <a:t>04</a:t>
            </a:r>
            <a:endParaRPr lang="en-US" sz="2720" dirty="0"/>
          </a:p>
        </p:txBody>
      </p:sp>
      <p:sp>
        <p:nvSpPr>
          <p:cNvPr id="32" name="Shape 24"/>
          <p:cNvSpPr/>
          <p:nvPr/>
        </p:nvSpPr>
        <p:spPr>
          <a:xfrm>
            <a:off x="9550908" y="3401568"/>
            <a:ext cx="694944" cy="694944"/>
          </a:xfrm>
          <a:prstGeom prst="ellipse">
            <a:avLst/>
          </a:prstGeom>
          <a:solidFill>
            <a:srgbClr val="FFFFFF"/>
          </a:solidFill>
          <a:ln/>
        </p:spPr>
      </p:sp>
      <p:pic>
        <p:nvPicPr>
          <p:cNvPr id="33" name="Image 6" descr="/tmp/claude-0/-home-user-Presentaciones-y-varios/903c1196-30c4-57a8-b469-52313f1ce01c/scratchpad/palco/icons/sync_C1502E.png">    </p:cNvPr>
          <p:cNvPicPr>
            <a:picLocks noChangeAspect="1"/>
          </p:cNvPicPr>
          <p:nvPr/>
        </p:nvPicPr>
        <p:blipFill>
          <a:blip r:embed="rId7"/>
          <a:stretch>
            <a:fillRect/>
          </a:stretch>
        </p:blipFill>
        <p:spPr>
          <a:xfrm>
            <a:off x="9707270" y="3557930"/>
            <a:ext cx="382219" cy="382219"/>
          </a:xfrm>
          <a:prstGeom prst="rect">
            <a:avLst/>
          </a:prstGeom>
        </p:spPr>
      </p:pic>
      <p:sp>
        <p:nvSpPr>
          <p:cNvPr id="34" name="Text 25"/>
          <p:cNvSpPr/>
          <p:nvPr/>
        </p:nvSpPr>
        <p:spPr>
          <a:xfrm>
            <a:off x="8869680" y="4251960"/>
            <a:ext cx="2057400" cy="411480"/>
          </a:xfrm>
          <a:prstGeom prst="rect">
            <a:avLst/>
          </a:prstGeom>
          <a:noFill/>
          <a:ln/>
        </p:spPr>
        <p:txBody>
          <a:bodyPr wrap="square" lIns="0" tIns="0" rIns="0" bIns="0" rtlCol="0" anchor="ctr"/>
          <a:lstStyle/>
          <a:p>
            <a:pPr algn="ctr" indent="0" marL="0">
              <a:buNone/>
            </a:pPr>
            <a:r>
              <a:rPr lang="en-US" sz="1700" b="1" dirty="0">
                <a:solidFill>
                  <a:srgbClr val="1E1B18"/>
                </a:solidFill>
                <a:latin typeface="Cambria" pitchFamily="34" charset="0"/>
                <a:ea typeface="Cambria" pitchFamily="34" charset="-122"/>
                <a:cs typeface="Cambria" pitchFamily="34" charset="-120"/>
              </a:rPr>
              <a:t>Ascensión</a:t>
            </a:r>
            <a:endParaRPr lang="en-US" sz="1700" dirty="0"/>
          </a:p>
        </p:txBody>
      </p:sp>
      <p:sp>
        <p:nvSpPr>
          <p:cNvPr id="35" name="Text 26"/>
          <p:cNvSpPr/>
          <p:nvPr/>
        </p:nvSpPr>
        <p:spPr>
          <a:xfrm>
            <a:off x="886968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Volver</a:t>
            </a:r>
            <a:endParaRPr lang="en-US" sz="1200" dirty="0"/>
          </a:p>
        </p:txBody>
      </p:sp>
      <p:sp>
        <p:nvSpPr>
          <p:cNvPr id="36" name="Text 27"/>
          <p:cNvSpPr/>
          <p:nvPr/>
        </p:nvSpPr>
        <p:spPr>
          <a:xfrm>
            <a:off x="640080" y="5989320"/>
            <a:ext cx="10881360" cy="457200"/>
          </a:xfrm>
          <a:prstGeom prst="rect">
            <a:avLst/>
          </a:prstGeom>
          <a:noFill/>
          <a:ln/>
        </p:spPr>
        <p:txBody>
          <a:bodyPr wrap="square" lIns="0" tIns="0" rIns="0" bIns="0" rtlCol="0" anchor="ctr"/>
          <a:lstStyle/>
          <a:p>
            <a:pPr indent="0" marL="0">
              <a:buNone/>
            </a:pPr>
            <a:r>
              <a:rPr lang="en-US" sz="1400" i="1" dirty="0">
                <a:solidFill>
                  <a:srgbClr val="1E1B18"/>
                </a:solidFill>
                <a:latin typeface="Calibri" pitchFamily="34" charset="0"/>
                <a:ea typeface="Calibri" pitchFamily="34" charset="-122"/>
                <a:cs typeface="Calibri" pitchFamily="34" charset="-120"/>
              </a:rPr>
              <a:t>El resultado no es una tanda de anuncios: es un cliente que descubre, confía, reserva y regresa.</a:t>
            </a:r>
            <a:endParaRPr lang="en-US" sz="1400" dirty="0"/>
          </a:p>
        </p:txBody>
      </p:sp>
      <p:sp>
        <p:nvSpPr>
          <p:cNvPr id="37" name="Text 2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9966960" y="4480560"/>
            <a:ext cx="4572000" cy="4572000"/>
          </a:xfrm>
          <a:prstGeom prst="ellipse">
            <a:avLst/>
          </a:prstGeom>
          <a:solidFill>
            <a:srgbClr val="8F3A20">
              <a:alpha val="35000"/>
            </a:srgbClr>
          </a:solidFill>
          <a:ln/>
        </p:spPr>
      </p:sp>
      <p:sp>
        <p:nvSpPr>
          <p:cNvPr id="3" name="Text 1"/>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01</a:t>
            </a:r>
            <a:endParaRPr lang="en-US" sz="1400" dirty="0"/>
          </a:p>
        </p:txBody>
      </p:sp>
      <p:sp>
        <p:nvSpPr>
          <p:cNvPr id="4" name="Shape 2"/>
          <p:cNvSpPr/>
          <p:nvPr/>
        </p:nvSpPr>
        <p:spPr>
          <a:xfrm>
            <a:off x="777240" y="1440180"/>
            <a:ext cx="1051560" cy="1051560"/>
          </a:xfrm>
          <a:prstGeom prst="ellipse">
            <a:avLst/>
          </a:prstGeom>
          <a:solidFill>
            <a:srgbClr val="C1502E"/>
          </a:solidFill>
          <a:ln/>
        </p:spPr>
      </p:sp>
      <p:sp>
        <p:nvSpPr>
          <p:cNvPr id="5" name="Text 3"/>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01</a:t>
            </a:r>
            <a:endParaRPr lang="en-US" sz="3910" dirty="0"/>
          </a:p>
        </p:txBody>
      </p:sp>
      <p:sp>
        <p:nvSpPr>
          <p:cNvPr id="6" name="Text 4"/>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Presentación</a:t>
            </a:r>
            <a:endParaRPr lang="en-US" sz="4000" dirty="0"/>
          </a:p>
        </p:txBody>
      </p:sp>
      <p:sp>
        <p:nvSpPr>
          <p:cNvPr id="7" name="Text 5"/>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despertar interés, no vender.</a:t>
            </a:r>
            <a:endParaRPr lang="en-US" sz="1800" dirty="0"/>
          </a:p>
        </p:txBody>
      </p:sp>
      <p:sp>
        <p:nvSpPr>
          <p:cNvPr id="8" name="Shape 6"/>
          <p:cNvSpPr/>
          <p:nvPr/>
        </p:nvSpPr>
        <p:spPr>
          <a:xfrm>
            <a:off x="1714500" y="3840480"/>
            <a:ext cx="640080" cy="640080"/>
          </a:xfrm>
          <a:prstGeom prst="ellipse">
            <a:avLst/>
          </a:prstGeom>
          <a:solidFill>
            <a:srgbClr val="2B2622"/>
          </a:solidFill>
          <a:ln/>
        </p:spPr>
      </p:sp>
      <p:pic>
        <p:nvPicPr>
          <p:cNvPr id="9" name="Image 0" descr="/tmp/claude-0/-home-user-Presentaciones-y-varios/903c1196-30c4-57a8-b469-52313f1ce01c/scratchpad/palco/icons/eye_C1502E.png">    </p:cNvPr>
          <p:cNvPicPr>
            <a:picLocks noChangeAspect="1"/>
          </p:cNvPicPr>
          <p:nvPr/>
        </p:nvPicPr>
        <p:blipFill>
          <a:blip r:embed="rId1"/>
          <a:stretch>
            <a:fillRect/>
          </a:stretch>
        </p:blipFill>
        <p:spPr>
          <a:xfrm>
            <a:off x="1868119" y="3994099"/>
            <a:ext cx="332842" cy="332842"/>
          </a:xfrm>
          <a:prstGeom prst="rect">
            <a:avLst/>
          </a:prstGeom>
        </p:spPr>
      </p:pic>
      <p:sp>
        <p:nvSpPr>
          <p:cNvPr id="10" name="Text 7"/>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Alcance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masivo calificado</a:t>
            </a:r>
            <a:endParaRPr lang="en-US" sz="1300" dirty="0"/>
          </a:p>
        </p:txBody>
      </p:sp>
      <p:sp>
        <p:nvSpPr>
          <p:cNvPr id="11" name="Shape 8"/>
          <p:cNvSpPr/>
          <p:nvPr/>
        </p:nvSpPr>
        <p:spPr>
          <a:xfrm>
            <a:off x="4485132" y="3840480"/>
            <a:ext cx="640080" cy="640080"/>
          </a:xfrm>
          <a:prstGeom prst="ellipse">
            <a:avLst/>
          </a:prstGeom>
          <a:solidFill>
            <a:srgbClr val="2B2622"/>
          </a:solidFill>
          <a:ln/>
        </p:spPr>
      </p:sp>
      <p:pic>
        <p:nvPicPr>
          <p:cNvPr id="12"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3" name="Text 9"/>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Video 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interacción</a:t>
            </a:r>
            <a:endParaRPr lang="en-US" sz="1300" dirty="0"/>
          </a:p>
        </p:txBody>
      </p:sp>
      <p:sp>
        <p:nvSpPr>
          <p:cNvPr id="14" name="Shape 10"/>
          <p:cNvSpPr/>
          <p:nvPr/>
        </p:nvSpPr>
        <p:spPr>
          <a:xfrm>
            <a:off x="7255764" y="3840480"/>
            <a:ext cx="640080" cy="640080"/>
          </a:xfrm>
          <a:prstGeom prst="ellipse">
            <a:avLst/>
          </a:prstGeom>
          <a:solidFill>
            <a:srgbClr val="2B2622"/>
          </a:solidFill>
          <a:ln/>
        </p:spPr>
      </p:sp>
      <p:pic>
        <p:nvPicPr>
          <p:cNvPr id="15" name="Image 2" descr="/tmp/claude-0/-home-user-Presentaciones-y-varios/903c1196-30c4-57a8-b469-52313f1ce01c/scratchpad/palco/icons/heart_C1502E.png">    </p:cNvPr>
          <p:cNvPicPr>
            <a:picLocks noChangeAspect="1"/>
          </p:cNvPicPr>
          <p:nvPr/>
        </p:nvPicPr>
        <p:blipFill>
          <a:blip r:embed="rId3"/>
          <a:stretch>
            <a:fillRect/>
          </a:stretch>
        </p:blipFill>
        <p:spPr>
          <a:xfrm>
            <a:off x="7409383" y="3994099"/>
            <a:ext cx="332842" cy="332842"/>
          </a:xfrm>
          <a:prstGeom prst="rect">
            <a:avLst/>
          </a:prstGeom>
        </p:spPr>
      </p:pic>
      <p:sp>
        <p:nvSpPr>
          <p:cNvPr id="16" name="Text 11"/>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Conexión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emocional</a:t>
            </a:r>
            <a:endParaRPr lang="en-US" sz="1300" dirty="0"/>
          </a:p>
        </p:txBody>
      </p:sp>
      <p:sp>
        <p:nvSpPr>
          <p:cNvPr id="17" name="Shape 12"/>
          <p:cNvSpPr/>
          <p:nvPr/>
        </p:nvSpPr>
        <p:spPr>
          <a:xfrm>
            <a:off x="10026396" y="3840480"/>
            <a:ext cx="640080" cy="640080"/>
          </a:xfrm>
          <a:prstGeom prst="ellipse">
            <a:avLst/>
          </a:prstGeom>
          <a:solidFill>
            <a:srgbClr val="2B2622"/>
          </a:solidFill>
          <a:ln/>
        </p:spPr>
      </p:sp>
      <p:pic>
        <p:nvPicPr>
          <p:cNvPr id="18" name="Image 3" descr="/tmp/claude-0/-home-user-Presentaciones-y-varios/903c1196-30c4-57a8-b469-52313f1ce01c/scratchpad/palco/icons/tree_C1502E.png">    </p:cNvPr>
          <p:cNvPicPr>
            <a:picLocks noChangeAspect="1"/>
          </p:cNvPicPr>
          <p:nvPr/>
        </p:nvPicPr>
        <p:blipFill>
          <a:blip r:embed="rId4"/>
          <a:stretch>
            <a:fillRect/>
          </a:stretch>
        </p:blipFill>
        <p:spPr>
          <a:xfrm>
            <a:off x="10180015" y="3994099"/>
            <a:ext cx="332842" cy="332842"/>
          </a:xfrm>
          <a:prstGeom prst="rect">
            <a:avLst/>
          </a:prstGeom>
        </p:spPr>
      </p:pic>
      <p:sp>
        <p:nvSpPr>
          <p:cNvPr id="19" name="Text 13"/>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Territorio:</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Chía y Bogotá</a:t>
            </a:r>
            <a:endParaRPr lang="en-US" sz="1300" dirty="0"/>
          </a:p>
        </p:txBody>
      </p:sp>
      <p:sp>
        <p:nvSpPr>
          <p:cNvPr id="20"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1 · PRESENTACIÓN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Los cinco pilares del descubrimiento</a:t>
            </a:r>
            <a:endParaRPr lang="en-US" sz="34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Cada pilar ataca una razón distinta de decisión.</a:t>
            </a:r>
            <a:endParaRPr lang="en-US" sz="1500" dirty="0"/>
          </a:p>
        </p:txBody>
      </p:sp>
      <p:sp>
        <p:nvSpPr>
          <p:cNvPr id="5" name="Shape 3"/>
          <p:cNvSpPr/>
          <p:nvPr/>
        </p:nvSpPr>
        <p:spPr>
          <a:xfrm>
            <a:off x="640080" y="2331720"/>
            <a:ext cx="3429000" cy="1965960"/>
          </a:xfrm>
          <a:prstGeom prst="roundRect">
            <a:avLst>
              <a:gd name="adj" fmla="val 3721"/>
            </a:avLst>
          </a:prstGeom>
          <a:solidFill>
            <a:srgbClr val="F7F6F4"/>
          </a:solidFill>
          <a:ln/>
        </p:spPr>
      </p:sp>
      <p:sp>
        <p:nvSpPr>
          <p:cNvPr id="6" name="Shape 4"/>
          <p:cNvSpPr/>
          <p:nvPr/>
        </p:nvSpPr>
        <p:spPr>
          <a:xfrm>
            <a:off x="960120" y="2606040"/>
            <a:ext cx="640080" cy="640080"/>
          </a:xfrm>
          <a:prstGeom prst="ellipse">
            <a:avLst/>
          </a:prstGeom>
          <a:solidFill>
            <a:srgbClr val="FFFFFF"/>
          </a:solidFill>
          <a:ln/>
        </p:spPr>
      </p:sp>
      <p:pic>
        <p:nvPicPr>
          <p:cNvPr id="7" name="Image 0" descr="/tmp/claude-0/-home-user-Presentaciones-y-varios/903c1196-30c4-57a8-b469-52313f1ce01c/scratchpad/palco/icons/fire_C1502E.png">    </p:cNvPr>
          <p:cNvPicPr>
            <a:picLocks noChangeAspect="1"/>
          </p:cNvPicPr>
          <p:nvPr/>
        </p:nvPicPr>
        <p:blipFill>
          <a:blip r:embed="rId1"/>
          <a:stretch>
            <a:fillRect/>
          </a:stretch>
        </p:blipFill>
        <p:spPr>
          <a:xfrm>
            <a:off x="1104138" y="2750058"/>
            <a:ext cx="352044" cy="352044"/>
          </a:xfrm>
          <a:prstGeom prst="rect">
            <a:avLst/>
          </a:prstGeom>
        </p:spPr>
      </p:pic>
      <p:sp>
        <p:nvSpPr>
          <p:cNvPr id="8" name="Text 5"/>
          <p:cNvSpPr/>
          <p:nvPr/>
        </p:nvSpPr>
        <p:spPr>
          <a:xfrm>
            <a:off x="17373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Parrilla en vivo</a:t>
            </a:r>
            <a:endParaRPr lang="en-US" sz="1500" dirty="0"/>
          </a:p>
        </p:txBody>
      </p:sp>
      <p:sp>
        <p:nvSpPr>
          <p:cNvPr id="9" name="Text 6"/>
          <p:cNvSpPr/>
          <p:nvPr/>
        </p:nvSpPr>
        <p:spPr>
          <a:xfrm>
            <a:off x="17373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La cocción y el fuego como espectáculo</a:t>
            </a:r>
            <a:endParaRPr lang="en-US" sz="1200" dirty="0"/>
          </a:p>
        </p:txBody>
      </p:sp>
      <p:sp>
        <p:nvSpPr>
          <p:cNvPr id="10" name="Shape 7"/>
          <p:cNvSpPr/>
          <p:nvPr/>
        </p:nvSpPr>
        <p:spPr>
          <a:xfrm>
            <a:off x="4297680" y="2331720"/>
            <a:ext cx="3429000" cy="1965960"/>
          </a:xfrm>
          <a:prstGeom prst="roundRect">
            <a:avLst>
              <a:gd name="adj" fmla="val 3721"/>
            </a:avLst>
          </a:prstGeom>
          <a:solidFill>
            <a:srgbClr val="F7F6F4"/>
          </a:solidFill>
          <a:ln/>
        </p:spPr>
      </p:sp>
      <p:sp>
        <p:nvSpPr>
          <p:cNvPr id="11" name="Shape 8"/>
          <p:cNvSpPr/>
          <p:nvPr/>
        </p:nvSpPr>
        <p:spPr>
          <a:xfrm>
            <a:off x="4617720" y="2606040"/>
            <a:ext cx="640080" cy="640080"/>
          </a:xfrm>
          <a:prstGeom prst="ellipse">
            <a:avLst/>
          </a:prstGeom>
          <a:solidFill>
            <a:srgbClr val="FFFFFF"/>
          </a:solidFill>
          <a:ln/>
        </p:spPr>
      </p:sp>
      <p:pic>
        <p:nvPicPr>
          <p:cNvPr id="12" name="Image 1" descr="/tmp/claude-0/-home-user-Presentaciones-y-varios/903c1196-30c4-57a8-b469-52313f1ce01c/scratchpad/palco/icons/tree_C1502E.png">    </p:cNvPr>
          <p:cNvPicPr>
            <a:picLocks noChangeAspect="1"/>
          </p:cNvPicPr>
          <p:nvPr/>
        </p:nvPicPr>
        <p:blipFill>
          <a:blip r:embed="rId2"/>
          <a:stretch>
            <a:fillRect/>
          </a:stretch>
        </p:blipFill>
        <p:spPr>
          <a:xfrm>
            <a:off x="4761738" y="2750058"/>
            <a:ext cx="352044" cy="352044"/>
          </a:xfrm>
          <a:prstGeom prst="rect">
            <a:avLst/>
          </a:prstGeom>
        </p:spPr>
      </p:pic>
      <p:sp>
        <p:nvSpPr>
          <p:cNvPr id="13" name="Text 9"/>
          <p:cNvSpPr/>
          <p:nvPr/>
        </p:nvSpPr>
        <p:spPr>
          <a:xfrm>
            <a:off x="53949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Ambiente campestre</a:t>
            </a:r>
            <a:endParaRPr lang="en-US" sz="1500" dirty="0"/>
          </a:p>
        </p:txBody>
      </p:sp>
      <p:sp>
        <p:nvSpPr>
          <p:cNvPr id="14" name="Text 10"/>
          <p:cNvSpPr/>
          <p:nvPr/>
        </p:nvSpPr>
        <p:spPr>
          <a:xfrm>
            <a:off x="53949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Naturaleza a minutos de Bogotá</a:t>
            </a:r>
            <a:endParaRPr lang="en-US" sz="1200" dirty="0"/>
          </a:p>
        </p:txBody>
      </p:sp>
      <p:sp>
        <p:nvSpPr>
          <p:cNvPr id="15" name="Shape 11"/>
          <p:cNvSpPr/>
          <p:nvPr/>
        </p:nvSpPr>
        <p:spPr>
          <a:xfrm>
            <a:off x="7955280" y="2331720"/>
            <a:ext cx="3429000" cy="1965960"/>
          </a:xfrm>
          <a:prstGeom prst="roundRect">
            <a:avLst>
              <a:gd name="adj" fmla="val 3721"/>
            </a:avLst>
          </a:prstGeom>
          <a:solidFill>
            <a:srgbClr val="F7F6F4"/>
          </a:solidFill>
          <a:ln/>
        </p:spPr>
      </p:sp>
      <p:sp>
        <p:nvSpPr>
          <p:cNvPr id="16" name="Shape 12"/>
          <p:cNvSpPr/>
          <p:nvPr/>
        </p:nvSpPr>
        <p:spPr>
          <a:xfrm>
            <a:off x="8275320" y="2606040"/>
            <a:ext cx="640080" cy="640080"/>
          </a:xfrm>
          <a:prstGeom prst="ellipse">
            <a:avLst/>
          </a:prstGeom>
          <a:solidFill>
            <a:srgbClr val="FFFFFF"/>
          </a:solidFill>
          <a:ln/>
        </p:spPr>
      </p:sp>
      <p:pic>
        <p:nvPicPr>
          <p:cNvPr id="17" name="Image 2" descr="/tmp/claude-0/-home-user-Presentaciones-y-varios/903c1196-30c4-57a8-b469-52313f1ce01c/scratchpad/palco/icons/users_C1502E.png">    </p:cNvPr>
          <p:cNvPicPr>
            <a:picLocks noChangeAspect="1"/>
          </p:cNvPicPr>
          <p:nvPr/>
        </p:nvPicPr>
        <p:blipFill>
          <a:blip r:embed="rId3"/>
          <a:stretch>
            <a:fillRect/>
          </a:stretch>
        </p:blipFill>
        <p:spPr>
          <a:xfrm>
            <a:off x="8419338" y="2750058"/>
            <a:ext cx="352044" cy="352044"/>
          </a:xfrm>
          <a:prstGeom prst="rect">
            <a:avLst/>
          </a:prstGeom>
        </p:spPr>
      </p:pic>
      <p:sp>
        <p:nvSpPr>
          <p:cNvPr id="18" name="Text 13"/>
          <p:cNvSpPr/>
          <p:nvPr/>
        </p:nvSpPr>
        <p:spPr>
          <a:xfrm>
            <a:off x="9052560" y="256032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Familias y mascotas</a:t>
            </a:r>
            <a:endParaRPr lang="en-US" sz="1500" dirty="0"/>
          </a:p>
        </p:txBody>
      </p:sp>
      <p:sp>
        <p:nvSpPr>
          <p:cNvPr id="19" name="Text 14"/>
          <p:cNvSpPr/>
          <p:nvPr/>
        </p:nvSpPr>
        <p:spPr>
          <a:xfrm>
            <a:off x="90525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Espacios pensados para todos</a:t>
            </a:r>
            <a:endParaRPr lang="en-US" sz="1200" dirty="0"/>
          </a:p>
        </p:txBody>
      </p:sp>
      <p:sp>
        <p:nvSpPr>
          <p:cNvPr id="20" name="Shape 15"/>
          <p:cNvSpPr/>
          <p:nvPr/>
        </p:nvSpPr>
        <p:spPr>
          <a:xfrm>
            <a:off x="640080" y="4663440"/>
            <a:ext cx="3429000" cy="1965960"/>
          </a:xfrm>
          <a:prstGeom prst="roundRect">
            <a:avLst>
              <a:gd name="adj" fmla="val 3721"/>
            </a:avLst>
          </a:prstGeom>
          <a:solidFill>
            <a:srgbClr val="F7F6F4"/>
          </a:solidFill>
          <a:ln/>
        </p:spPr>
      </p:sp>
      <p:sp>
        <p:nvSpPr>
          <p:cNvPr id="21" name="Shape 16"/>
          <p:cNvSpPr/>
          <p:nvPr/>
        </p:nvSpPr>
        <p:spPr>
          <a:xfrm>
            <a:off x="960120" y="4937760"/>
            <a:ext cx="640080" cy="640080"/>
          </a:xfrm>
          <a:prstGeom prst="ellipse">
            <a:avLst/>
          </a:prstGeom>
          <a:solidFill>
            <a:srgbClr val="FFFFFF"/>
          </a:solidFill>
          <a:ln/>
        </p:spPr>
      </p:sp>
      <p:pic>
        <p:nvPicPr>
          <p:cNvPr id="22" name="Image 3" descr="/tmp/claude-0/-home-user-Presentaciones-y-varios/903c1196-30c4-57a8-b469-52313f1ce01c/scratchpad/palco/icons/music_C1502E.png">    </p:cNvPr>
          <p:cNvPicPr>
            <a:picLocks noChangeAspect="1"/>
          </p:cNvPicPr>
          <p:nvPr/>
        </p:nvPicPr>
        <p:blipFill>
          <a:blip r:embed="rId4"/>
          <a:stretch>
            <a:fillRect/>
          </a:stretch>
        </p:blipFill>
        <p:spPr>
          <a:xfrm>
            <a:off x="1104138" y="5081778"/>
            <a:ext cx="352044" cy="352044"/>
          </a:xfrm>
          <a:prstGeom prst="rect">
            <a:avLst/>
          </a:prstGeom>
        </p:spPr>
      </p:pic>
      <p:sp>
        <p:nvSpPr>
          <p:cNvPr id="23" name="Text 17"/>
          <p:cNvSpPr/>
          <p:nvPr/>
        </p:nvSpPr>
        <p:spPr>
          <a:xfrm>
            <a:off x="17373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Eventos y música</a:t>
            </a:r>
            <a:endParaRPr lang="en-US" sz="1500" dirty="0"/>
          </a:p>
        </p:txBody>
      </p:sp>
      <p:sp>
        <p:nvSpPr>
          <p:cNvPr id="24" name="Text 18"/>
          <p:cNvSpPr/>
          <p:nvPr/>
        </p:nvSpPr>
        <p:spPr>
          <a:xfrm>
            <a:off x="17373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Celebración en vivo, no solo comida</a:t>
            </a:r>
            <a:endParaRPr lang="en-US" sz="1200" dirty="0"/>
          </a:p>
        </p:txBody>
      </p:sp>
      <p:sp>
        <p:nvSpPr>
          <p:cNvPr id="25" name="Shape 19"/>
          <p:cNvSpPr/>
          <p:nvPr/>
        </p:nvSpPr>
        <p:spPr>
          <a:xfrm>
            <a:off x="4297680" y="4663440"/>
            <a:ext cx="3429000" cy="1965960"/>
          </a:xfrm>
          <a:prstGeom prst="roundRect">
            <a:avLst>
              <a:gd name="adj" fmla="val 3721"/>
            </a:avLst>
          </a:prstGeom>
          <a:solidFill>
            <a:srgbClr val="F7F6F4"/>
          </a:solidFill>
          <a:ln/>
        </p:spPr>
      </p:sp>
      <p:sp>
        <p:nvSpPr>
          <p:cNvPr id="26" name="Shape 20"/>
          <p:cNvSpPr/>
          <p:nvPr/>
        </p:nvSpPr>
        <p:spPr>
          <a:xfrm>
            <a:off x="4617720" y="4937760"/>
            <a:ext cx="640080" cy="640080"/>
          </a:xfrm>
          <a:prstGeom prst="ellipse">
            <a:avLst/>
          </a:prstGeom>
          <a:solidFill>
            <a:srgbClr val="FFFFFF"/>
          </a:solidFill>
          <a:ln/>
        </p:spPr>
      </p:sp>
      <p:pic>
        <p:nvPicPr>
          <p:cNvPr id="27" name="Image 4" descr="/tmp/claude-0/-home-user-Presentaciones-y-varios/903c1196-30c4-57a8-b469-52313f1ce01c/scratchpad/palco/icons/star_C1502E.png">    </p:cNvPr>
          <p:cNvPicPr>
            <a:picLocks noChangeAspect="1"/>
          </p:cNvPicPr>
          <p:nvPr/>
        </p:nvPicPr>
        <p:blipFill>
          <a:blip r:embed="rId5"/>
          <a:stretch>
            <a:fillRect/>
          </a:stretch>
        </p:blipFill>
        <p:spPr>
          <a:xfrm>
            <a:off x="4761738" y="5081778"/>
            <a:ext cx="352044" cy="352044"/>
          </a:xfrm>
          <a:prstGeom prst="rect">
            <a:avLst/>
          </a:prstGeom>
        </p:spPr>
      </p:pic>
      <p:sp>
        <p:nvSpPr>
          <p:cNvPr id="28" name="Text 21"/>
          <p:cNvSpPr/>
          <p:nvPr/>
        </p:nvSpPr>
        <p:spPr>
          <a:xfrm>
            <a:off x="5394960" y="4892040"/>
            <a:ext cx="2148840" cy="365760"/>
          </a:xfrm>
          <a:prstGeom prst="rect">
            <a:avLst/>
          </a:prstGeom>
          <a:noFill/>
          <a:ln/>
        </p:spPr>
        <p:txBody>
          <a:bodyPr wrap="square" lIns="0" tIns="0" rIns="0" bIns="0" rtlCol="0" anchor="ctr"/>
          <a:lstStyle/>
          <a:p>
            <a:pPr indent="0" marL="0">
              <a:buNone/>
            </a:pPr>
            <a:r>
              <a:rPr lang="en-US" sz="1500" b="1" dirty="0">
                <a:solidFill>
                  <a:srgbClr val="1E1B18"/>
                </a:solidFill>
                <a:latin typeface="Cambria" pitchFamily="34" charset="0"/>
                <a:ea typeface="Cambria" pitchFamily="34" charset="-122"/>
                <a:cs typeface="Cambria" pitchFamily="34" charset="-120"/>
              </a:rPr>
              <a:t>Chicharrón Espectacular</a:t>
            </a:r>
            <a:endParaRPr lang="en-US" sz="1500" dirty="0"/>
          </a:p>
        </p:txBody>
      </p:sp>
      <p:sp>
        <p:nvSpPr>
          <p:cNvPr id="29" name="Text 22"/>
          <p:cNvSpPr/>
          <p:nvPr/>
        </p:nvSpPr>
        <p:spPr>
          <a:xfrm>
            <a:off x="53949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Reconocido por Tulio Recomienda</a:t>
            </a:r>
            <a:endParaRPr lang="en-US" sz="1200" dirty="0"/>
          </a:p>
        </p:txBody>
      </p:sp>
      <p:sp>
        <p:nvSpPr>
          <p:cNvPr id="30"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9966960" y="4480560"/>
            <a:ext cx="4572000" cy="4572000"/>
          </a:xfrm>
          <a:prstGeom prst="ellipse">
            <a:avLst/>
          </a:prstGeom>
          <a:solidFill>
            <a:srgbClr val="8F3A20">
              <a:alpha val="35000"/>
            </a:srgbClr>
          </a:solidFill>
          <a:ln/>
        </p:spPr>
      </p:sp>
      <p:sp>
        <p:nvSpPr>
          <p:cNvPr id="3" name="Text 1"/>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02</a:t>
            </a:r>
            <a:endParaRPr lang="en-US" sz="1400" dirty="0"/>
          </a:p>
        </p:txBody>
      </p:sp>
      <p:sp>
        <p:nvSpPr>
          <p:cNvPr id="4" name="Shape 2"/>
          <p:cNvSpPr/>
          <p:nvPr/>
        </p:nvSpPr>
        <p:spPr>
          <a:xfrm>
            <a:off x="777240" y="1440180"/>
            <a:ext cx="1051560" cy="1051560"/>
          </a:xfrm>
          <a:prstGeom prst="ellipse">
            <a:avLst/>
          </a:prstGeom>
          <a:solidFill>
            <a:srgbClr val="C1502E"/>
          </a:solidFill>
          <a:ln/>
        </p:spPr>
      </p:sp>
      <p:sp>
        <p:nvSpPr>
          <p:cNvPr id="5" name="Text 3"/>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02</a:t>
            </a:r>
            <a:endParaRPr lang="en-US" sz="3910" dirty="0"/>
          </a:p>
        </p:txBody>
      </p:sp>
      <p:sp>
        <p:nvSpPr>
          <p:cNvPr id="6" name="Text 4"/>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Evaluación</a:t>
            </a:r>
            <a:endParaRPr lang="en-US" sz="4000" dirty="0"/>
          </a:p>
        </p:txBody>
      </p:sp>
      <p:sp>
        <p:nvSpPr>
          <p:cNvPr id="7" name="Text 5"/>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usuario ya conoce El Palco. Ahora necesita convencerse.</a:t>
            </a:r>
            <a:endParaRPr lang="en-US" sz="1800" dirty="0"/>
          </a:p>
        </p:txBody>
      </p:sp>
      <p:sp>
        <p:nvSpPr>
          <p:cNvPr id="8" name="Shape 6"/>
          <p:cNvSpPr/>
          <p:nvPr/>
        </p:nvSpPr>
        <p:spPr>
          <a:xfrm>
            <a:off x="1714500" y="3840480"/>
            <a:ext cx="640080" cy="640080"/>
          </a:xfrm>
          <a:prstGeom prst="ellipse">
            <a:avLst/>
          </a:prstGeom>
          <a:solidFill>
            <a:srgbClr val="2B2622"/>
          </a:solidFill>
          <a:ln/>
        </p:spPr>
      </p:sp>
      <p:pic>
        <p:nvPicPr>
          <p:cNvPr id="9" name="Image 0" descr="/tmp/claude-0/-home-user-Presentaciones-y-varios/903c1196-30c4-57a8-b469-52313f1ce01c/scratchpad/palco/icons/star_C1502E.png">    </p:cNvPr>
          <p:cNvPicPr>
            <a:picLocks noChangeAspect="1"/>
          </p:cNvPicPr>
          <p:nvPr/>
        </p:nvPicPr>
        <p:blipFill>
          <a:blip r:embed="rId1"/>
          <a:stretch>
            <a:fillRect/>
          </a:stretch>
        </p:blipFill>
        <p:spPr>
          <a:xfrm>
            <a:off x="1868119" y="3994099"/>
            <a:ext cx="332842" cy="332842"/>
          </a:xfrm>
          <a:prstGeom prst="rect">
            <a:avLst/>
          </a:prstGeom>
        </p:spPr>
      </p:pic>
      <p:sp>
        <p:nvSpPr>
          <p:cNvPr id="10" name="Text 7"/>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Prueba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social real</a:t>
            </a:r>
            <a:endParaRPr lang="en-US" sz="1300" dirty="0"/>
          </a:p>
        </p:txBody>
      </p:sp>
      <p:sp>
        <p:nvSpPr>
          <p:cNvPr id="11" name="Shape 8"/>
          <p:cNvSpPr/>
          <p:nvPr/>
        </p:nvSpPr>
        <p:spPr>
          <a:xfrm>
            <a:off x="4485132" y="3840480"/>
            <a:ext cx="640080" cy="640080"/>
          </a:xfrm>
          <a:prstGeom prst="ellipse">
            <a:avLst/>
          </a:prstGeom>
          <a:solidFill>
            <a:srgbClr val="2B2622"/>
          </a:solidFill>
          <a:ln/>
        </p:spPr>
      </p:sp>
      <p:pic>
        <p:nvPicPr>
          <p:cNvPr id="12" name="Image 1" descr="/tmp/claude-0/-home-user-Presentaciones-y-varios/903c1196-30c4-57a8-b469-52313f1ce01c/scratchpad/palco/icons/video_C1502E.png">    </p:cNvPr>
          <p:cNvPicPr>
            <a:picLocks noChangeAspect="1"/>
          </p:cNvPicPr>
          <p:nvPr/>
        </p:nvPicPr>
        <p:blipFill>
          <a:blip r:embed="rId2"/>
          <a:stretch>
            <a:fillRect/>
          </a:stretch>
        </p:blipFill>
        <p:spPr>
          <a:xfrm>
            <a:off x="4638751" y="3994099"/>
            <a:ext cx="332842" cy="332842"/>
          </a:xfrm>
          <a:prstGeom prst="rect">
            <a:avLst/>
          </a:prstGeom>
        </p:spPr>
      </p:pic>
      <p:sp>
        <p:nvSpPr>
          <p:cNvPr id="13" name="Text 9"/>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Historias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testimonios</a:t>
            </a:r>
            <a:endParaRPr lang="en-US" sz="1300" dirty="0"/>
          </a:p>
        </p:txBody>
      </p:sp>
      <p:sp>
        <p:nvSpPr>
          <p:cNvPr id="14" name="Shape 10"/>
          <p:cNvSpPr/>
          <p:nvPr/>
        </p:nvSpPr>
        <p:spPr>
          <a:xfrm>
            <a:off x="7255764" y="3840480"/>
            <a:ext cx="640080" cy="640080"/>
          </a:xfrm>
          <a:prstGeom prst="ellipse">
            <a:avLst/>
          </a:prstGeom>
          <a:solidFill>
            <a:srgbClr val="2B2622"/>
          </a:solidFill>
          <a:ln/>
        </p:spPr>
      </p:sp>
      <p:pic>
        <p:nvPicPr>
          <p:cNvPr id="15" name="Image 2" descr="/tmp/claude-0/-home-user-Presentaciones-y-varios/903c1196-30c4-57a8-b469-52313f1ce01c/scratchpad/palco/icons/sync_C1502E.png">    </p:cNvPr>
          <p:cNvPicPr>
            <a:picLocks noChangeAspect="1"/>
          </p:cNvPicPr>
          <p:nvPr/>
        </p:nvPicPr>
        <p:blipFill>
          <a:blip r:embed="rId3"/>
          <a:stretch>
            <a:fillRect/>
          </a:stretch>
        </p:blipFill>
        <p:spPr>
          <a:xfrm>
            <a:off x="7409383" y="3994099"/>
            <a:ext cx="332842" cy="332842"/>
          </a:xfrm>
          <a:prstGeom prst="rect">
            <a:avLst/>
          </a:prstGeom>
        </p:spPr>
      </p:pic>
      <p:sp>
        <p:nvSpPr>
          <p:cNvPr id="16" name="Text 11"/>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Remarketing</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interacción</a:t>
            </a:r>
            <a:endParaRPr lang="en-US" sz="1300" dirty="0"/>
          </a:p>
        </p:txBody>
      </p:sp>
      <p:sp>
        <p:nvSpPr>
          <p:cNvPr id="17" name="Shape 12"/>
          <p:cNvSpPr/>
          <p:nvPr/>
        </p:nvSpPr>
        <p:spPr>
          <a:xfrm>
            <a:off x="10026396" y="3840480"/>
            <a:ext cx="640080" cy="640080"/>
          </a:xfrm>
          <a:prstGeom prst="ellipse">
            <a:avLst/>
          </a:prstGeom>
          <a:solidFill>
            <a:srgbClr val="2B2622"/>
          </a:solidFill>
          <a:ln/>
        </p:spPr>
      </p:sp>
      <p:pic>
        <p:nvPicPr>
          <p:cNvPr id="18" name="Image 3" descr="/tmp/claude-0/-home-user-Presentaciones-y-varios/903c1196-30c4-57a8-b469-52313f1ce01c/scratchpad/palco/icons/che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9" name="Text 13"/>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Comparación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y confianza</a:t>
            </a:r>
            <a:endParaRPr lang="en-US" sz="1300" dirty="0"/>
          </a:p>
        </p:txBody>
      </p:sp>
      <p:sp>
        <p:nvSpPr>
          <p:cNvPr id="20"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2 · EVALUACIÓN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El activo que hoy no se está usando</a:t>
            </a:r>
            <a:endParaRPr lang="en-US" sz="3400" dirty="0"/>
          </a:p>
        </p:txBody>
      </p:sp>
      <p:sp>
        <p:nvSpPr>
          <p:cNvPr id="4" name="Shape 2"/>
          <p:cNvSpPr/>
          <p:nvPr/>
        </p:nvSpPr>
        <p:spPr>
          <a:xfrm>
            <a:off x="640080" y="1965960"/>
            <a:ext cx="3200400" cy="2103120"/>
          </a:xfrm>
          <a:prstGeom prst="roundRect">
            <a:avLst>
              <a:gd name="adj" fmla="val 3478"/>
            </a:avLst>
          </a:prstGeom>
          <a:solidFill>
            <a:srgbClr val="E7EBE2"/>
          </a:solidFill>
          <a:ln/>
        </p:spPr>
      </p:sp>
      <p:sp>
        <p:nvSpPr>
          <p:cNvPr id="5" name="Shape 3"/>
          <p:cNvSpPr/>
          <p:nvPr/>
        </p:nvSpPr>
        <p:spPr>
          <a:xfrm>
            <a:off x="1005840" y="2606040"/>
            <a:ext cx="822960" cy="822960"/>
          </a:xfrm>
          <a:prstGeom prst="ellipse">
            <a:avLst/>
          </a:prstGeom>
          <a:solidFill>
            <a:srgbClr val="FFFFFF"/>
          </a:solidFill>
          <a:ln/>
        </p:spPr>
      </p:sp>
      <p:pic>
        <p:nvPicPr>
          <p:cNvPr id="6" name="Image 0" descr="/tmp/claude-0/-home-user-Presentaciones-y-varios/903c1196-30c4-57a8-b469-52313f1ce01c/scratchpad/palco/icons/instagram_5B6B4F.png">    </p:cNvPr>
          <p:cNvPicPr>
            <a:picLocks noChangeAspect="1"/>
          </p:cNvPicPr>
          <p:nvPr/>
        </p:nvPicPr>
        <p:blipFill>
          <a:blip r:embed="rId1"/>
          <a:stretch>
            <a:fillRect/>
          </a:stretch>
        </p:blipFill>
        <p:spPr>
          <a:xfrm>
            <a:off x="1211580" y="2811780"/>
            <a:ext cx="411480" cy="411480"/>
          </a:xfrm>
          <a:prstGeom prst="rect">
            <a:avLst/>
          </a:prstGeom>
        </p:spPr>
      </p:pic>
      <p:sp>
        <p:nvSpPr>
          <p:cNvPr id="7" name="Text 4"/>
          <p:cNvSpPr/>
          <p:nvPr/>
        </p:nvSpPr>
        <p:spPr>
          <a:xfrm>
            <a:off x="201168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21K</a:t>
            </a:r>
            <a:endParaRPr lang="en-US" sz="3400" dirty="0"/>
          </a:p>
        </p:txBody>
      </p:sp>
      <p:sp>
        <p:nvSpPr>
          <p:cNvPr id="8" name="Text 5"/>
          <p:cNvSpPr/>
          <p:nvPr/>
        </p:nvSpPr>
        <p:spPr>
          <a:xfrm>
            <a:off x="201168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Seguidores en Instagram sin campaña de reimpacto</a:t>
            </a:r>
            <a:endParaRPr lang="en-US" sz="1250" dirty="0"/>
          </a:p>
        </p:txBody>
      </p:sp>
      <p:sp>
        <p:nvSpPr>
          <p:cNvPr id="9" name="Shape 6"/>
          <p:cNvSpPr/>
          <p:nvPr/>
        </p:nvSpPr>
        <p:spPr>
          <a:xfrm>
            <a:off x="4206240" y="1965960"/>
            <a:ext cx="3200400" cy="2103120"/>
          </a:xfrm>
          <a:prstGeom prst="roundRect">
            <a:avLst>
              <a:gd name="adj" fmla="val 3478"/>
            </a:avLst>
          </a:prstGeom>
          <a:solidFill>
            <a:srgbClr val="E7EBE2"/>
          </a:solidFill>
          <a:ln/>
        </p:spPr>
      </p:sp>
      <p:sp>
        <p:nvSpPr>
          <p:cNvPr id="10" name="Shape 7"/>
          <p:cNvSpPr/>
          <p:nvPr/>
        </p:nvSpPr>
        <p:spPr>
          <a:xfrm>
            <a:off x="4572000" y="2606040"/>
            <a:ext cx="822960" cy="822960"/>
          </a:xfrm>
          <a:prstGeom prst="ellipse">
            <a:avLst/>
          </a:prstGeom>
          <a:solidFill>
            <a:srgbClr val="FFFFFF"/>
          </a:solidFill>
          <a:ln/>
        </p:spPr>
      </p:sp>
      <p:pic>
        <p:nvPicPr>
          <p:cNvPr id="11" name="Image 1" descr="/tmp/claude-0/-home-user-Presentaciones-y-varios/903c1196-30c4-57a8-b469-52313f1ce01c/scratchpad/palco/icons/star_5B6B4F.png">    </p:cNvPr>
          <p:cNvPicPr>
            <a:picLocks noChangeAspect="1"/>
          </p:cNvPicPr>
          <p:nvPr/>
        </p:nvPicPr>
        <p:blipFill>
          <a:blip r:embed="rId2"/>
          <a:stretch>
            <a:fillRect/>
          </a:stretch>
        </p:blipFill>
        <p:spPr>
          <a:xfrm>
            <a:off x="4777740" y="2811780"/>
            <a:ext cx="411480" cy="411480"/>
          </a:xfrm>
          <a:prstGeom prst="rect">
            <a:avLst/>
          </a:prstGeom>
        </p:spPr>
      </p:pic>
      <p:sp>
        <p:nvSpPr>
          <p:cNvPr id="12" name="Text 8"/>
          <p:cNvSpPr/>
          <p:nvPr/>
        </p:nvSpPr>
        <p:spPr>
          <a:xfrm>
            <a:off x="5577840" y="2240280"/>
            <a:ext cx="1554480" cy="640080"/>
          </a:xfrm>
          <a:prstGeom prst="rect">
            <a:avLst/>
          </a:prstGeom>
          <a:noFill/>
          <a:ln/>
        </p:spPr>
        <p:txBody>
          <a:bodyPr wrap="square" lIns="0" tIns="0" rIns="0" bIns="0" rtlCol="0" anchor="ctr"/>
          <a:lstStyle/>
          <a:p>
            <a:pPr indent="0" marL="0">
              <a:buNone/>
            </a:pPr>
            <a:r>
              <a:rPr lang="en-US" sz="3400" b="1" dirty="0">
                <a:solidFill>
                  <a:srgbClr val="1E1B18"/>
                </a:solidFill>
                <a:latin typeface="Cambria" pitchFamily="34" charset="0"/>
                <a:ea typeface="Cambria" pitchFamily="34" charset="-122"/>
                <a:cs typeface="Cambria" pitchFamily="34" charset="-120"/>
              </a:rPr>
              <a:t>4.8/5</a:t>
            </a:r>
            <a:endParaRPr lang="en-US" sz="3400" dirty="0"/>
          </a:p>
        </p:txBody>
      </p:sp>
      <p:sp>
        <p:nvSpPr>
          <p:cNvPr id="13" name="Text 9"/>
          <p:cNvSpPr/>
          <p:nvPr/>
        </p:nvSpPr>
        <p:spPr>
          <a:xfrm>
            <a:off x="5577840" y="2880360"/>
            <a:ext cx="1554480" cy="1005840"/>
          </a:xfrm>
          <a:prstGeom prst="rect">
            <a:avLst/>
          </a:prstGeom>
          <a:noFill/>
          <a:ln/>
        </p:spPr>
        <p:txBody>
          <a:bodyPr wrap="square" lIns="0" tIns="0" rIns="0" bIns="0" rtlCol="0" anchor="ctr"/>
          <a:lstStyle/>
          <a:p>
            <a:pPr indent="0" marL="0">
              <a:buNone/>
            </a:pPr>
            <a:r>
              <a:rPr lang="en-US" sz="1250" dirty="0">
                <a:solidFill>
                  <a:srgbClr val="6B6B66"/>
                </a:solidFill>
                <a:latin typeface="Calibri" pitchFamily="34" charset="0"/>
                <a:ea typeface="Calibri" pitchFamily="34" charset="-122"/>
                <a:cs typeface="Calibri" pitchFamily="34" charset="-120"/>
              </a:rPr>
              <a:t>En 2.483 reseñas públicas no usadas como creativo</a:t>
            </a:r>
            <a:endParaRPr lang="en-US" sz="1250" dirty="0"/>
          </a:p>
        </p:txBody>
      </p:sp>
      <p:sp>
        <p:nvSpPr>
          <p:cNvPr id="14" name="Shape 10"/>
          <p:cNvSpPr/>
          <p:nvPr/>
        </p:nvSpPr>
        <p:spPr>
          <a:xfrm>
            <a:off x="1463040" y="4572000"/>
            <a:ext cx="2468880" cy="1234440"/>
          </a:xfrm>
          <a:prstGeom prst="roundRect">
            <a:avLst>
              <a:gd name="adj" fmla="val 5926"/>
            </a:avLst>
          </a:prstGeom>
          <a:solidFill>
            <a:srgbClr val="F7F6F4"/>
          </a:solidFill>
          <a:ln w="12700">
            <a:solidFill>
              <a:srgbClr val="E4E1DB"/>
            </a:solidFill>
            <a:prstDash val="solid"/>
          </a:ln>
        </p:spPr>
      </p:sp>
      <p:pic>
        <p:nvPicPr>
          <p:cNvPr id="15" name="Image 2" descr="/tmp/claude-0/-home-user-Presentaciones-y-varios/903c1196-30c4-57a8-b469-52313f1ce01c/scratchpad/palco/icons/eye_C1502E.png">    </p:cNvPr>
          <p:cNvPicPr>
            <a:picLocks noChangeAspect="1"/>
          </p:cNvPicPr>
          <p:nvPr/>
        </p:nvPicPr>
        <p:blipFill>
          <a:blip r:embed="rId3"/>
          <a:stretch>
            <a:fillRect/>
          </a:stretch>
        </p:blipFill>
        <p:spPr>
          <a:xfrm>
            <a:off x="1691640" y="4983480"/>
            <a:ext cx="411480" cy="411480"/>
          </a:xfrm>
          <a:prstGeom prst="rect">
            <a:avLst/>
          </a:prstGeom>
        </p:spPr>
      </p:pic>
      <p:sp>
        <p:nvSpPr>
          <p:cNvPr id="16" name="Text 11"/>
          <p:cNvSpPr/>
          <p:nvPr/>
        </p:nvSpPr>
        <p:spPr>
          <a:xfrm>
            <a:off x="219456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Interacción</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orgánica</a:t>
            </a:r>
            <a:endParaRPr lang="en-US" sz="1300" dirty="0"/>
          </a:p>
        </p:txBody>
      </p:sp>
      <p:pic>
        <p:nvPicPr>
          <p:cNvPr id="17"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4133088" y="5074920"/>
            <a:ext cx="274320" cy="274320"/>
          </a:xfrm>
          <a:prstGeom prst="rect">
            <a:avLst/>
          </a:prstGeom>
        </p:spPr>
      </p:pic>
      <p:sp>
        <p:nvSpPr>
          <p:cNvPr id="18" name="Shape 12"/>
          <p:cNvSpPr/>
          <p:nvPr/>
        </p:nvSpPr>
        <p:spPr>
          <a:xfrm>
            <a:off x="4617720" y="4572000"/>
            <a:ext cx="2468880" cy="1234440"/>
          </a:xfrm>
          <a:prstGeom prst="roundRect">
            <a:avLst>
              <a:gd name="adj" fmla="val 5926"/>
            </a:avLst>
          </a:prstGeom>
          <a:solidFill>
            <a:srgbClr val="F7F6F4"/>
          </a:solidFill>
          <a:ln w="12700">
            <a:solidFill>
              <a:srgbClr val="E4E1DB"/>
            </a:solidFill>
            <a:prstDash val="solid"/>
          </a:ln>
        </p:spPr>
      </p:sp>
      <p:pic>
        <p:nvPicPr>
          <p:cNvPr id="19" name="Image 4" descr="/tmp/claude-0/-home-user-Presentaciones-y-varios/903c1196-30c4-57a8-b469-52313f1ce01c/scratchpad/palco/icons/filter_C1502E.png">    </p:cNvPr>
          <p:cNvPicPr>
            <a:picLocks noChangeAspect="1"/>
          </p:cNvPicPr>
          <p:nvPr/>
        </p:nvPicPr>
        <p:blipFill>
          <a:blip r:embed="rId5"/>
          <a:stretch>
            <a:fillRect/>
          </a:stretch>
        </p:blipFill>
        <p:spPr>
          <a:xfrm>
            <a:off x="4846320" y="4983480"/>
            <a:ext cx="411480" cy="411480"/>
          </a:xfrm>
          <a:prstGeom prst="rect">
            <a:avLst/>
          </a:prstGeom>
        </p:spPr>
      </p:pic>
      <p:sp>
        <p:nvSpPr>
          <p:cNvPr id="20" name="Text 13"/>
          <p:cNvSpPr/>
          <p:nvPr/>
        </p:nvSpPr>
        <p:spPr>
          <a:xfrm>
            <a:off x="534924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Público</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personalizado</a:t>
            </a:r>
            <a:endParaRPr lang="en-US" sz="1300" dirty="0"/>
          </a:p>
        </p:txBody>
      </p:sp>
      <p:pic>
        <p:nvPicPr>
          <p:cNvPr id="21"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7287768" y="5074920"/>
            <a:ext cx="274320" cy="274320"/>
          </a:xfrm>
          <a:prstGeom prst="rect">
            <a:avLst/>
          </a:prstGeom>
        </p:spPr>
      </p:pic>
      <p:sp>
        <p:nvSpPr>
          <p:cNvPr id="22" name="Shape 14"/>
          <p:cNvSpPr/>
          <p:nvPr/>
        </p:nvSpPr>
        <p:spPr>
          <a:xfrm>
            <a:off x="7772400" y="4572000"/>
            <a:ext cx="2468880" cy="1234440"/>
          </a:xfrm>
          <a:prstGeom prst="roundRect">
            <a:avLst>
              <a:gd name="adj" fmla="val 5926"/>
            </a:avLst>
          </a:prstGeom>
          <a:solidFill>
            <a:srgbClr val="F7F6F4"/>
          </a:solidFill>
          <a:ln w="12700">
            <a:solidFill>
              <a:srgbClr val="E4E1DB"/>
            </a:solidFill>
            <a:prstDash val="solid"/>
          </a:ln>
        </p:spPr>
      </p:sp>
      <p:pic>
        <p:nvPicPr>
          <p:cNvPr id="23" name="Image 6" descr="/tmp/claude-0/-home-user-Presentaciones-y-varios/903c1196-30c4-57a8-b469-52313f1ce01c/scratchpad/palco/icons/target_C1502E.png">    </p:cNvPr>
          <p:cNvPicPr>
            <a:picLocks noChangeAspect="1"/>
          </p:cNvPicPr>
          <p:nvPr/>
        </p:nvPicPr>
        <p:blipFill>
          <a:blip r:embed="rId7"/>
          <a:stretch>
            <a:fillRect/>
          </a:stretch>
        </p:blipFill>
        <p:spPr>
          <a:xfrm>
            <a:off x="8001000" y="4983480"/>
            <a:ext cx="411480" cy="411480"/>
          </a:xfrm>
          <a:prstGeom prst="rect">
            <a:avLst/>
          </a:prstGeom>
        </p:spPr>
      </p:pic>
      <p:sp>
        <p:nvSpPr>
          <p:cNvPr id="24" name="Text 15"/>
          <p:cNvSpPr/>
          <p:nvPr/>
        </p:nvSpPr>
        <p:spPr>
          <a:xfrm>
            <a:off x="8503920" y="4572000"/>
            <a:ext cx="1600200" cy="1234440"/>
          </a:xfrm>
          <a:prstGeom prst="rect">
            <a:avLst/>
          </a:prstGeom>
          <a:noFill/>
          <a:ln/>
        </p:spPr>
        <p:txBody>
          <a:bodyPr wrap="square" lIns="0" tIns="0" rIns="0" bIns="0" rtlCol="0" anchor="ctr"/>
          <a:lstStyle/>
          <a:p>
            <a:pPr indent="0" marL="0">
              <a:buNone/>
            </a:pPr>
            <a:r>
              <a:rPr lang="en-US" sz="1300" b="1" dirty="0">
                <a:solidFill>
                  <a:srgbClr val="1E1B18"/>
                </a:solidFill>
                <a:latin typeface="Calibri" pitchFamily="34" charset="0"/>
                <a:ea typeface="Calibri" pitchFamily="34" charset="-122"/>
                <a:cs typeface="Calibri" pitchFamily="34" charset="-120"/>
              </a:rPr>
              <a:t>Anuncio de</a:t>
            </a:r>
            <a:endParaRPr lang="en-US" sz="1300" dirty="0"/>
          </a:p>
          <a:p>
            <a:pPr indent="0" marL="0">
              <a:buNone/>
            </a:pPr>
            <a:r>
              <a:rPr lang="en-US" sz="1300" b="1" dirty="0">
                <a:solidFill>
                  <a:srgbClr val="1E1B18"/>
                </a:solidFill>
                <a:latin typeface="Calibri" pitchFamily="34" charset="0"/>
                <a:ea typeface="Calibri" pitchFamily="34" charset="-122"/>
                <a:cs typeface="Calibri" pitchFamily="34" charset="-120"/>
              </a:rPr>
              <a:t>prueba social</a:t>
            </a:r>
            <a:endParaRPr lang="en-US" sz="1300" dirty="0"/>
          </a:p>
        </p:txBody>
      </p:sp>
      <p:sp>
        <p:nvSpPr>
          <p:cNvPr id="25"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9966960" y="4480560"/>
            <a:ext cx="4572000" cy="4572000"/>
          </a:xfrm>
          <a:prstGeom prst="ellipse">
            <a:avLst/>
          </a:prstGeom>
          <a:solidFill>
            <a:srgbClr val="8F3A20">
              <a:alpha val="35000"/>
            </a:srgbClr>
          </a:solidFill>
          <a:ln/>
        </p:spPr>
      </p:sp>
      <p:sp>
        <p:nvSpPr>
          <p:cNvPr id="3" name="Text 1"/>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03</a:t>
            </a:r>
            <a:endParaRPr lang="en-US" sz="1400" dirty="0"/>
          </a:p>
        </p:txBody>
      </p:sp>
      <p:sp>
        <p:nvSpPr>
          <p:cNvPr id="4" name="Shape 2"/>
          <p:cNvSpPr/>
          <p:nvPr/>
        </p:nvSpPr>
        <p:spPr>
          <a:xfrm>
            <a:off x="777240" y="1440180"/>
            <a:ext cx="1051560" cy="1051560"/>
          </a:xfrm>
          <a:prstGeom prst="ellipse">
            <a:avLst/>
          </a:prstGeom>
          <a:solidFill>
            <a:srgbClr val="C1502E"/>
          </a:solidFill>
          <a:ln/>
        </p:spPr>
      </p:sp>
      <p:sp>
        <p:nvSpPr>
          <p:cNvPr id="5" name="Text 3"/>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03</a:t>
            </a:r>
            <a:endParaRPr lang="en-US" sz="3910" dirty="0"/>
          </a:p>
        </p:txBody>
      </p:sp>
      <p:sp>
        <p:nvSpPr>
          <p:cNvPr id="6" name="Text 4"/>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Conversión</a:t>
            </a:r>
            <a:endParaRPr lang="en-US" sz="4000" dirty="0"/>
          </a:p>
        </p:txBody>
      </p:sp>
      <p:sp>
        <p:nvSpPr>
          <p:cNvPr id="7" name="Text 5"/>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convertir solo a quien ya demostró interés.</a:t>
            </a:r>
            <a:endParaRPr lang="en-US" sz="1800" dirty="0"/>
          </a:p>
        </p:txBody>
      </p:sp>
      <p:sp>
        <p:nvSpPr>
          <p:cNvPr id="8" name="Shape 6"/>
          <p:cNvSpPr/>
          <p:nvPr/>
        </p:nvSpPr>
        <p:spPr>
          <a:xfrm>
            <a:off x="1714500" y="3840480"/>
            <a:ext cx="640080" cy="640080"/>
          </a:xfrm>
          <a:prstGeom prst="ellipse">
            <a:avLst/>
          </a:prstGeom>
          <a:solidFill>
            <a:srgbClr val="2B2622"/>
          </a:solidFill>
          <a:ln/>
        </p:spPr>
      </p:sp>
      <p:pic>
        <p:nvPicPr>
          <p:cNvPr id="9" name="Image 0" descr="/tmp/claude-0/-home-user-Presentaciones-y-varios/903c1196-30c4-57a8-b469-52313f1ce01c/scratchpad/palco/icons/whatsapp_C1502E.png">    </p:cNvPr>
          <p:cNvPicPr>
            <a:picLocks noChangeAspect="1"/>
          </p:cNvPicPr>
          <p:nvPr/>
        </p:nvPicPr>
        <p:blipFill>
          <a:blip r:embed="rId1"/>
          <a:stretch>
            <a:fillRect/>
          </a:stretch>
        </p:blipFill>
        <p:spPr>
          <a:xfrm>
            <a:off x="1868119" y="3994099"/>
            <a:ext cx="332842" cy="332842"/>
          </a:xfrm>
          <a:prstGeom prst="rect">
            <a:avLst/>
          </a:prstGeom>
        </p:spPr>
      </p:pic>
      <p:sp>
        <p:nvSpPr>
          <p:cNvPr id="10" name="Text 7"/>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WhatsApp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cotizaciones</a:t>
            </a:r>
            <a:endParaRPr lang="en-US" sz="1300" dirty="0"/>
          </a:p>
        </p:txBody>
      </p:sp>
      <p:sp>
        <p:nvSpPr>
          <p:cNvPr id="11" name="Shape 8"/>
          <p:cNvSpPr/>
          <p:nvPr/>
        </p:nvSpPr>
        <p:spPr>
          <a:xfrm>
            <a:off x="4485132" y="3840480"/>
            <a:ext cx="640080" cy="640080"/>
          </a:xfrm>
          <a:prstGeom prst="ellipse">
            <a:avLst/>
          </a:prstGeom>
          <a:solidFill>
            <a:srgbClr val="2B2622"/>
          </a:solidFill>
          <a:ln/>
        </p:spPr>
      </p:sp>
      <p:pic>
        <p:nvPicPr>
          <p:cNvPr id="12" name="Image 1" descr="/tmp/claude-0/-home-user-Presentaciones-y-varios/903c1196-30c4-57a8-b469-52313f1ce01c/scratchpad/palco/icons/birthday_C1502E.png">    </p:cNvPr>
          <p:cNvPicPr>
            <a:picLocks noChangeAspect="1"/>
          </p:cNvPicPr>
          <p:nvPr/>
        </p:nvPicPr>
        <p:blipFill>
          <a:blip r:embed="rId2"/>
          <a:stretch>
            <a:fillRect/>
          </a:stretch>
        </p:blipFill>
        <p:spPr>
          <a:xfrm>
            <a:off x="4638751" y="3994099"/>
            <a:ext cx="332842" cy="332842"/>
          </a:xfrm>
          <a:prstGeom prst="rect">
            <a:avLst/>
          </a:prstGeom>
        </p:spPr>
      </p:pic>
      <p:sp>
        <p:nvSpPr>
          <p:cNvPr id="13" name="Text 9"/>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Cumpleaños y</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reservas familiares</a:t>
            </a:r>
            <a:endParaRPr lang="en-US" sz="1300" dirty="0"/>
          </a:p>
        </p:txBody>
      </p:sp>
      <p:sp>
        <p:nvSpPr>
          <p:cNvPr id="14" name="Shape 10"/>
          <p:cNvSpPr/>
          <p:nvPr/>
        </p:nvSpPr>
        <p:spPr>
          <a:xfrm>
            <a:off x="7255764" y="3840480"/>
            <a:ext cx="640080" cy="640080"/>
          </a:xfrm>
          <a:prstGeom prst="ellipse">
            <a:avLst/>
          </a:prstGeom>
          <a:solidFill>
            <a:srgbClr val="2B2622"/>
          </a:solidFill>
          <a:ln/>
        </p:spPr>
      </p:sp>
      <p:pic>
        <p:nvPicPr>
          <p:cNvPr id="15" name="Image 2" descr="/tmp/claude-0/-home-user-Presentaciones-y-varios/903c1196-30c4-57a8-b469-52313f1ce01c/scratchpad/palco/icons/briefcase_C1502E.png">    </p:cNvPr>
          <p:cNvPicPr>
            <a:picLocks noChangeAspect="1"/>
          </p:cNvPicPr>
          <p:nvPr/>
        </p:nvPicPr>
        <p:blipFill>
          <a:blip r:embed="rId3"/>
          <a:stretch>
            <a:fillRect/>
          </a:stretch>
        </p:blipFill>
        <p:spPr>
          <a:xfrm>
            <a:off x="7409383" y="3994099"/>
            <a:ext cx="332842" cy="332842"/>
          </a:xfrm>
          <a:prstGeom prst="rect">
            <a:avLst/>
          </a:prstGeom>
        </p:spPr>
      </p:pic>
      <p:sp>
        <p:nvSpPr>
          <p:cNvPr id="16" name="Text 11"/>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Eventos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empresariales</a:t>
            </a:r>
            <a:endParaRPr lang="en-US" sz="1300" dirty="0"/>
          </a:p>
        </p:txBody>
      </p:sp>
      <p:sp>
        <p:nvSpPr>
          <p:cNvPr id="17" name="Shape 12"/>
          <p:cNvSpPr/>
          <p:nvPr/>
        </p:nvSpPr>
        <p:spPr>
          <a:xfrm>
            <a:off x="10026396" y="3840480"/>
            <a:ext cx="640080" cy="640080"/>
          </a:xfrm>
          <a:prstGeom prst="ellipse">
            <a:avLst/>
          </a:prstGeom>
          <a:solidFill>
            <a:srgbClr val="2B2622"/>
          </a:solidFill>
          <a:ln/>
        </p:spPr>
      </p:sp>
      <p:pic>
        <p:nvPicPr>
          <p:cNvPr id="18" name="Image 3" descr="/tmp/claude-0/-home-user-Presentaciones-y-varios/903c1196-30c4-57a8-b469-52313f1ce01c/scratchpad/palco/icons/target_C1502E.png">    </p:cNvPr>
          <p:cNvPicPr>
            <a:picLocks noChangeAspect="1"/>
          </p:cNvPicPr>
          <p:nvPr/>
        </p:nvPicPr>
        <p:blipFill>
          <a:blip r:embed="rId4"/>
          <a:stretch>
            <a:fillRect/>
          </a:stretch>
        </p:blipFill>
        <p:spPr>
          <a:xfrm>
            <a:off x="10180015" y="3994099"/>
            <a:ext cx="332842" cy="332842"/>
          </a:xfrm>
          <a:prstGeom prst="rect">
            <a:avLst/>
          </a:prstGeom>
        </p:spPr>
      </p:pic>
      <p:sp>
        <p:nvSpPr>
          <p:cNvPr id="19" name="Text 13"/>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Audiencias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precisión</a:t>
            </a:r>
            <a:endParaRPr lang="en-US" sz="1300" dirty="0"/>
          </a:p>
        </p:txBody>
      </p:sp>
      <p:sp>
        <p:nvSpPr>
          <p:cNvPr id="20"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3 · CONVERSIÓN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De la intención a la reserva</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El mismo público, dos formas de pedirle que actúe.</a:t>
            </a:r>
            <a:endParaRPr lang="en-US" sz="1500" dirty="0"/>
          </a:p>
        </p:txBody>
      </p:sp>
      <p:sp>
        <p:nvSpPr>
          <p:cNvPr id="5" name="Shape 3"/>
          <p:cNvSpPr/>
          <p:nvPr/>
        </p:nvSpPr>
        <p:spPr>
          <a:xfrm>
            <a:off x="640080" y="2103120"/>
            <a:ext cx="5074920" cy="3840480"/>
          </a:xfrm>
          <a:prstGeom prst="roundRect">
            <a:avLst>
              <a:gd name="adj" fmla="val 1905"/>
            </a:avLst>
          </a:prstGeom>
          <a:solidFill>
            <a:srgbClr val="F7F6F4"/>
          </a:solidFill>
          <a:ln/>
        </p:spPr>
      </p:sp>
      <p:sp>
        <p:nvSpPr>
          <p:cNvPr id="6" name="Text 4"/>
          <p:cNvSpPr/>
          <p:nvPr/>
        </p:nvSpPr>
        <p:spPr>
          <a:xfrm>
            <a:off x="100584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CTA GENÉRICO</a:t>
            </a:r>
            <a:endParaRPr lang="en-US" sz="1300" dirty="0"/>
          </a:p>
        </p:txBody>
      </p:sp>
      <p:sp>
        <p:nvSpPr>
          <p:cNvPr id="7" name="Text 5"/>
          <p:cNvSpPr/>
          <p:nvPr/>
        </p:nvSpPr>
        <p:spPr>
          <a:xfrm>
            <a:off x="1005840" y="2788920"/>
            <a:ext cx="4343400" cy="548640"/>
          </a:xfrm>
          <a:prstGeom prst="rect">
            <a:avLst/>
          </a:prstGeom>
          <a:noFill/>
          <a:ln/>
        </p:spPr>
        <p:txBody>
          <a:bodyPr wrap="square" lIns="0" tIns="0" rIns="0" bIns="0" rtlCol="0" anchor="ctr"/>
          <a:lstStyle/>
          <a:p>
            <a:pPr indent="0" marL="0">
              <a:buNone/>
            </a:pPr>
            <a:r>
              <a:rPr lang="en-US" sz="1600" i="1" dirty="0">
                <a:solidFill>
                  <a:srgbClr val="1E1B18"/>
                </a:solidFill>
                <a:latin typeface="Cambria" pitchFamily="34" charset="0"/>
                <a:ea typeface="Cambria" pitchFamily="34" charset="-122"/>
                <a:cs typeface="Cambria" pitchFamily="34" charset="-120"/>
              </a:rPr>
              <a:t>“Visítanos este fin de semana”</a:t>
            </a:r>
            <a:endParaRPr lang="en-US" sz="1600" dirty="0"/>
          </a:p>
        </p:txBody>
      </p:sp>
      <p:sp>
        <p:nvSpPr>
          <p:cNvPr id="8" name="Text 6"/>
          <p:cNvSpPr/>
          <p:nvPr/>
        </p:nvSpPr>
        <p:spPr>
          <a:xfrm>
            <a:off x="100584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ocasión específica</a:t>
            </a:r>
            <a:endParaRPr lang="en-US" sz="1400" dirty="0"/>
          </a:p>
        </p:txBody>
      </p:sp>
      <p:sp>
        <p:nvSpPr>
          <p:cNvPr id="9" name="Text 7"/>
          <p:cNvSpPr/>
          <p:nvPr/>
        </p:nvSpPr>
        <p:spPr>
          <a:xfrm>
            <a:off x="100584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urgencia real</a:t>
            </a:r>
            <a:endParaRPr lang="en-US" sz="1400" dirty="0"/>
          </a:p>
        </p:txBody>
      </p:sp>
      <p:sp>
        <p:nvSpPr>
          <p:cNvPr id="10" name="Text 8"/>
          <p:cNvSpPr/>
          <p:nvPr/>
        </p:nvSpPr>
        <p:spPr>
          <a:xfrm>
            <a:off x="100584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Un solo público para todos</a:t>
            </a:r>
            <a:endParaRPr lang="en-US" sz="1400" dirty="0"/>
          </a:p>
        </p:txBody>
      </p:sp>
      <p:sp>
        <p:nvSpPr>
          <p:cNvPr id="11" name="Shape 9"/>
          <p:cNvSpPr/>
          <p:nvPr/>
        </p:nvSpPr>
        <p:spPr>
          <a:xfrm>
            <a:off x="6172200" y="2103120"/>
            <a:ext cx="5074920" cy="3840480"/>
          </a:xfrm>
          <a:prstGeom prst="roundRect">
            <a:avLst>
              <a:gd name="adj" fmla="val 1905"/>
            </a:avLst>
          </a:prstGeom>
          <a:solidFill>
            <a:srgbClr val="1E1B18"/>
          </a:solidFill>
          <a:ln/>
        </p:spPr>
      </p:sp>
      <p:sp>
        <p:nvSpPr>
          <p:cNvPr id="12" name="Text 10"/>
          <p:cNvSpPr/>
          <p:nvPr/>
        </p:nvSpPr>
        <p:spPr>
          <a:xfrm>
            <a:off x="6537960" y="2377440"/>
            <a:ext cx="4343400" cy="320040"/>
          </a:xfrm>
          <a:prstGeom prst="rect">
            <a:avLst/>
          </a:prstGeom>
          <a:noFill/>
          <a:ln/>
        </p:spPr>
        <p:txBody>
          <a:bodyPr wrap="square" lIns="0" tIns="0" rIns="0" bIns="0" rtlCol="0" anchor="ctr"/>
          <a:lstStyle/>
          <a:p>
            <a:pPr indent="0" marL="0">
              <a:buNone/>
            </a:pPr>
            <a:r>
              <a:rPr lang="en-US" sz="1300" b="1" spc="150" kern="0" dirty="0">
                <a:solidFill>
                  <a:srgbClr val="C1502E"/>
                </a:solidFill>
                <a:latin typeface="Calibri" pitchFamily="34" charset="0"/>
                <a:ea typeface="Calibri" pitchFamily="34" charset="-122"/>
                <a:cs typeface="Calibri" pitchFamily="34" charset="-120"/>
              </a:rPr>
              <a:t>CTA POR OCASIÓN</a:t>
            </a:r>
            <a:endParaRPr lang="en-US" sz="1300" dirty="0"/>
          </a:p>
        </p:txBody>
      </p:sp>
      <p:sp>
        <p:nvSpPr>
          <p:cNvPr id="13" name="Text 11"/>
          <p:cNvSpPr/>
          <p:nvPr/>
        </p:nvSpPr>
        <p:spPr>
          <a:xfrm>
            <a:off x="6537960" y="2788920"/>
            <a:ext cx="4343400" cy="54864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“Reserva la mesa del cumpleaños de tu papá”</a:t>
            </a:r>
            <a:endParaRPr lang="en-US" sz="1600" dirty="0"/>
          </a:p>
        </p:txBody>
      </p:sp>
      <p:sp>
        <p:nvSpPr>
          <p:cNvPr id="14" name="Text 12"/>
          <p:cNvSpPr/>
          <p:nvPr/>
        </p:nvSpPr>
        <p:spPr>
          <a:xfrm>
            <a:off x="653796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Ocasión y audiencia específicas</a:t>
            </a:r>
            <a:endParaRPr lang="en-US" sz="1400" dirty="0"/>
          </a:p>
        </p:txBody>
      </p:sp>
      <p:sp>
        <p:nvSpPr>
          <p:cNvPr id="15" name="Text 13"/>
          <p:cNvSpPr/>
          <p:nvPr/>
        </p:nvSpPr>
        <p:spPr>
          <a:xfrm>
            <a:off x="653796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Oferta y cupo con urgencia</a:t>
            </a:r>
            <a:endParaRPr lang="en-US" sz="1400" dirty="0"/>
          </a:p>
        </p:txBody>
      </p:sp>
      <p:sp>
        <p:nvSpPr>
          <p:cNvPr id="16" name="Text 14"/>
          <p:cNvSpPr/>
          <p:nvPr/>
        </p:nvSpPr>
        <p:spPr>
          <a:xfrm>
            <a:off x="653796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Un anuncio por tipo de evento</a:t>
            </a:r>
            <a:endParaRPr lang="en-US" sz="14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9966960" y="4480560"/>
            <a:ext cx="4572000" cy="4572000"/>
          </a:xfrm>
          <a:prstGeom prst="ellipse">
            <a:avLst/>
          </a:prstGeom>
          <a:solidFill>
            <a:srgbClr val="8F3A20">
              <a:alpha val="35000"/>
            </a:srgbClr>
          </a:solidFill>
          <a:ln/>
        </p:spPr>
      </p:sp>
      <p:sp>
        <p:nvSpPr>
          <p:cNvPr id="3" name="Text 1"/>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C1502E"/>
                </a:solidFill>
                <a:latin typeface="Calibri" pitchFamily="34" charset="0"/>
                <a:ea typeface="Calibri" pitchFamily="34" charset="-122"/>
                <a:cs typeface="Calibri" pitchFamily="34" charset="-120"/>
              </a:rPr>
              <a:t>ETAPA 04</a:t>
            </a:r>
            <a:endParaRPr lang="en-US" sz="1400" dirty="0"/>
          </a:p>
        </p:txBody>
      </p:sp>
      <p:sp>
        <p:nvSpPr>
          <p:cNvPr id="4" name="Shape 2"/>
          <p:cNvSpPr/>
          <p:nvPr/>
        </p:nvSpPr>
        <p:spPr>
          <a:xfrm>
            <a:off x="777240" y="1440180"/>
            <a:ext cx="1051560" cy="1051560"/>
          </a:xfrm>
          <a:prstGeom prst="ellipse">
            <a:avLst/>
          </a:prstGeom>
          <a:solidFill>
            <a:srgbClr val="C1502E"/>
          </a:solidFill>
          <a:ln/>
        </p:spPr>
      </p:sp>
      <p:sp>
        <p:nvSpPr>
          <p:cNvPr id="5" name="Text 3"/>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910" b="1" dirty="0">
                <a:solidFill>
                  <a:srgbClr val="FFFFFF"/>
                </a:solidFill>
                <a:latin typeface="Cambria" pitchFamily="34" charset="0"/>
                <a:ea typeface="Cambria" pitchFamily="34" charset="-122"/>
                <a:cs typeface="Cambria" pitchFamily="34" charset="-120"/>
              </a:rPr>
              <a:t>04</a:t>
            </a:r>
            <a:endParaRPr lang="en-US" sz="3910" dirty="0"/>
          </a:p>
        </p:txBody>
      </p:sp>
      <p:sp>
        <p:nvSpPr>
          <p:cNvPr id="6" name="Text 4"/>
          <p:cNvSpPr/>
          <p:nvPr/>
        </p:nvSpPr>
        <p:spPr>
          <a:xfrm>
            <a:off x="2148840" y="1417320"/>
            <a:ext cx="8686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Ascensión</a:t>
            </a:r>
            <a:endParaRPr lang="en-US" sz="4000" dirty="0"/>
          </a:p>
        </p:txBody>
      </p:sp>
      <p:sp>
        <p:nvSpPr>
          <p:cNvPr id="7" name="Text 5"/>
          <p:cNvSpPr/>
          <p:nvPr/>
        </p:nvSpPr>
        <p:spPr>
          <a:xfrm>
            <a:off x="2167128" y="2148840"/>
            <a:ext cx="8686800" cy="457200"/>
          </a:xfrm>
          <a:prstGeom prst="rect">
            <a:avLst/>
          </a:prstGeom>
          <a:noFill/>
          <a:ln/>
        </p:spPr>
        <p:txBody>
          <a:bodyPr wrap="square" lIns="0" tIns="0" rIns="0" bIns="0" rtlCol="0" anchor="ctr"/>
          <a:lstStyle/>
          <a:p>
            <a:pPr indent="0" marL="0">
              <a:buNone/>
            </a:pPr>
            <a:r>
              <a:rPr lang="en-US" sz="1800" i="1" dirty="0">
                <a:solidFill>
                  <a:srgbClr val="D8D4CC"/>
                </a:solidFill>
                <a:latin typeface="Calibri" pitchFamily="34" charset="0"/>
                <a:ea typeface="Calibri" pitchFamily="34" charset="-122"/>
                <a:cs typeface="Calibri" pitchFamily="34" charset="-120"/>
              </a:rPr>
              <a:t>Objetivo: el mayor potencial de crecimiento sin explotar.</a:t>
            </a:r>
            <a:endParaRPr lang="en-US" sz="1800" dirty="0"/>
          </a:p>
        </p:txBody>
      </p:sp>
      <p:sp>
        <p:nvSpPr>
          <p:cNvPr id="8" name="Shape 6"/>
          <p:cNvSpPr/>
          <p:nvPr/>
        </p:nvSpPr>
        <p:spPr>
          <a:xfrm>
            <a:off x="1714500" y="3840480"/>
            <a:ext cx="640080" cy="640080"/>
          </a:xfrm>
          <a:prstGeom prst="ellipse">
            <a:avLst/>
          </a:prstGeom>
          <a:solidFill>
            <a:srgbClr val="2B2622"/>
          </a:solidFill>
          <a:ln/>
        </p:spPr>
      </p:sp>
      <p:pic>
        <p:nvPicPr>
          <p:cNvPr id="9" name="Image 0" descr="/tmp/claude-0/-home-user-Presentaciones-y-varios/903c1196-30c4-57a8-b469-52313f1ce01c/scratchpad/palco/icons/sync_C1502E.png">    </p:cNvPr>
          <p:cNvPicPr>
            <a:picLocks noChangeAspect="1"/>
          </p:cNvPicPr>
          <p:nvPr/>
        </p:nvPicPr>
        <p:blipFill>
          <a:blip r:embed="rId1"/>
          <a:stretch>
            <a:fillRect/>
          </a:stretch>
        </p:blipFill>
        <p:spPr>
          <a:xfrm>
            <a:off x="1868119" y="3994099"/>
            <a:ext cx="332842" cy="332842"/>
          </a:xfrm>
          <a:prstGeom prst="rect">
            <a:avLst/>
          </a:prstGeom>
        </p:spPr>
      </p:pic>
      <p:sp>
        <p:nvSpPr>
          <p:cNvPr id="10" name="Text 7"/>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Reimpactar</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clientes anteriores</a:t>
            </a:r>
            <a:endParaRPr lang="en-US" sz="1300" dirty="0"/>
          </a:p>
        </p:txBody>
      </p:sp>
      <p:sp>
        <p:nvSpPr>
          <p:cNvPr id="11" name="Shape 8"/>
          <p:cNvSpPr/>
          <p:nvPr/>
        </p:nvSpPr>
        <p:spPr>
          <a:xfrm>
            <a:off x="4485132" y="3840480"/>
            <a:ext cx="640080" cy="640080"/>
          </a:xfrm>
          <a:prstGeom prst="ellipse">
            <a:avLst/>
          </a:prstGeom>
          <a:solidFill>
            <a:srgbClr val="2B2622"/>
          </a:solidFill>
          <a:ln/>
        </p:spPr>
      </p:sp>
      <p:pic>
        <p:nvPicPr>
          <p:cNvPr id="12" name="Image 1" descr="/tmp/claude-0/-home-user-Presentaciones-y-varios/903c1196-30c4-57a8-b469-52313f1ce01c/scratchpad/palco/icons/gift_C1502E.png">    </p:cNvPr>
          <p:cNvPicPr>
            <a:picLocks noChangeAspect="1"/>
          </p:cNvPicPr>
          <p:nvPr/>
        </p:nvPicPr>
        <p:blipFill>
          <a:blip r:embed="rId2"/>
          <a:stretch>
            <a:fillRect/>
          </a:stretch>
        </p:blipFill>
        <p:spPr>
          <a:xfrm>
            <a:off x="4638751" y="3994099"/>
            <a:ext cx="332842" cy="332842"/>
          </a:xfrm>
          <a:prstGeom prst="rect">
            <a:avLst/>
          </a:prstGeom>
        </p:spPr>
      </p:pic>
      <p:sp>
        <p:nvSpPr>
          <p:cNvPr id="13" name="Text 9"/>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Bonos de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regalo</a:t>
            </a:r>
            <a:endParaRPr lang="en-US" sz="1300" dirty="0"/>
          </a:p>
        </p:txBody>
      </p:sp>
      <p:sp>
        <p:nvSpPr>
          <p:cNvPr id="14" name="Shape 10"/>
          <p:cNvSpPr/>
          <p:nvPr/>
        </p:nvSpPr>
        <p:spPr>
          <a:xfrm>
            <a:off x="7255764" y="3840480"/>
            <a:ext cx="640080" cy="640080"/>
          </a:xfrm>
          <a:prstGeom prst="ellipse">
            <a:avLst/>
          </a:prstGeom>
          <a:solidFill>
            <a:srgbClr val="2B2622"/>
          </a:solidFill>
          <a:ln/>
        </p:spPr>
      </p:sp>
      <p:pic>
        <p:nvPicPr>
          <p:cNvPr id="15" name="Image 2" descr="/tmp/claude-0/-home-user-Presentaciones-y-varios/903c1196-30c4-57a8-b469-52313f1ce01c/scratchpad/palco/icons/calendar_C1502E.png">    </p:cNvPr>
          <p:cNvPicPr>
            <a:picLocks noChangeAspect="1"/>
          </p:cNvPicPr>
          <p:nvPr/>
        </p:nvPicPr>
        <p:blipFill>
          <a:blip r:embed="rId3"/>
          <a:stretch>
            <a:fillRect/>
          </a:stretch>
        </p:blipFill>
        <p:spPr>
          <a:xfrm>
            <a:off x="7409383" y="3994099"/>
            <a:ext cx="332842" cy="332842"/>
          </a:xfrm>
          <a:prstGeom prst="rect">
            <a:avLst/>
          </a:prstGeom>
        </p:spPr>
      </p:pic>
      <p:sp>
        <p:nvSpPr>
          <p:cNvPr id="16" name="Text 11"/>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Fechas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comerciales</a:t>
            </a:r>
            <a:endParaRPr lang="en-US" sz="1300" dirty="0"/>
          </a:p>
        </p:txBody>
      </p:sp>
      <p:sp>
        <p:nvSpPr>
          <p:cNvPr id="17" name="Shape 12"/>
          <p:cNvSpPr/>
          <p:nvPr/>
        </p:nvSpPr>
        <p:spPr>
          <a:xfrm>
            <a:off x="10026396" y="3840480"/>
            <a:ext cx="640080" cy="640080"/>
          </a:xfrm>
          <a:prstGeom prst="ellipse">
            <a:avLst/>
          </a:prstGeom>
          <a:solidFill>
            <a:srgbClr val="2B2622"/>
          </a:solidFill>
          <a:ln/>
        </p:spPr>
      </p:sp>
      <p:pic>
        <p:nvPicPr>
          <p:cNvPr id="18" name="Image 3" descr="/tmp/claude-0/-home-user-Presentaciones-y-varios/903c1196-30c4-57a8-b469-52313f1ce01c/scratchpad/palco/icons/clock_C1502E.png">    </p:cNvPr>
          <p:cNvPicPr>
            <a:picLocks noChangeAspect="1"/>
          </p:cNvPicPr>
          <p:nvPr/>
        </p:nvPicPr>
        <p:blipFill>
          <a:blip r:embed="rId4"/>
          <a:stretch>
            <a:fillRect/>
          </a:stretch>
        </p:blipFill>
        <p:spPr>
          <a:xfrm>
            <a:off x="10180015" y="3994099"/>
            <a:ext cx="332842" cy="332842"/>
          </a:xfrm>
          <a:prstGeom prst="rect">
            <a:avLst/>
          </a:prstGeom>
        </p:spPr>
      </p:pic>
      <p:sp>
        <p:nvSpPr>
          <p:cNvPr id="19" name="Text 13"/>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Clientes +90 días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sin visitar</a:t>
            </a:r>
            <a:endParaRPr lang="en-US" sz="1300" dirty="0"/>
          </a:p>
        </p:txBody>
      </p:sp>
      <p:sp>
        <p:nvSpPr>
          <p:cNvPr id="20"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ETAPA 4 · ASCENSIÓN</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Cada fecha, una razón para volver</a:t>
            </a:r>
            <a:endParaRPr lang="en-US" sz="3400" dirty="0"/>
          </a:p>
        </p:txBody>
      </p:sp>
      <p:sp>
        <p:nvSpPr>
          <p:cNvPr id="4" name="Shape 2"/>
          <p:cNvSpPr/>
          <p:nvPr/>
        </p:nvSpPr>
        <p:spPr>
          <a:xfrm>
            <a:off x="676656" y="2148840"/>
            <a:ext cx="1691640" cy="1417320"/>
          </a:xfrm>
          <a:prstGeom prst="roundRect">
            <a:avLst>
              <a:gd name="adj" fmla="val 5161"/>
            </a:avLst>
          </a:prstGeom>
          <a:solidFill>
            <a:srgbClr val="F7F6F4"/>
          </a:solidFill>
          <a:ln/>
        </p:spPr>
      </p:sp>
      <p:sp>
        <p:nvSpPr>
          <p:cNvPr id="5" name="Shape 3"/>
          <p:cNvSpPr/>
          <p:nvPr/>
        </p:nvSpPr>
        <p:spPr>
          <a:xfrm>
            <a:off x="1248156" y="2331720"/>
            <a:ext cx="548640" cy="548640"/>
          </a:xfrm>
          <a:prstGeom prst="ellipse">
            <a:avLst/>
          </a:prstGeom>
          <a:solidFill>
            <a:srgbClr val="FFFFFF"/>
          </a:solidFill>
          <a:ln/>
        </p:spPr>
      </p:sp>
      <p:pic>
        <p:nvPicPr>
          <p:cNvPr id="6" name="Image 0" descr="/tmp/claude-0/-home-user-Presentaciones-y-varios/903c1196-30c4-57a8-b469-52313f1ce01c/scratchpad/palco/icons/birthday_C1502E.png">    </p:cNvPr>
          <p:cNvPicPr>
            <a:picLocks noChangeAspect="1"/>
          </p:cNvPicPr>
          <p:nvPr/>
        </p:nvPicPr>
        <p:blipFill>
          <a:blip r:embed="rId1"/>
          <a:stretch>
            <a:fillRect/>
          </a:stretch>
        </p:blipFill>
        <p:spPr>
          <a:xfrm>
            <a:off x="1371600" y="2455164"/>
            <a:ext cx="301752" cy="301752"/>
          </a:xfrm>
          <a:prstGeom prst="rect">
            <a:avLst/>
          </a:prstGeom>
        </p:spPr>
      </p:pic>
      <p:sp>
        <p:nvSpPr>
          <p:cNvPr id="7" name="Text 4"/>
          <p:cNvSpPr/>
          <p:nvPr/>
        </p:nvSpPr>
        <p:spPr>
          <a:xfrm>
            <a:off x="722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Cumpleaños</a:t>
            </a:r>
            <a:endParaRPr lang="en-US" sz="1100" dirty="0"/>
          </a:p>
        </p:txBody>
      </p:sp>
      <p:sp>
        <p:nvSpPr>
          <p:cNvPr id="8" name="Shape 5"/>
          <p:cNvSpPr/>
          <p:nvPr/>
        </p:nvSpPr>
        <p:spPr>
          <a:xfrm>
            <a:off x="2505456" y="2148840"/>
            <a:ext cx="1691640" cy="1417320"/>
          </a:xfrm>
          <a:prstGeom prst="roundRect">
            <a:avLst>
              <a:gd name="adj" fmla="val 5161"/>
            </a:avLst>
          </a:prstGeom>
          <a:solidFill>
            <a:srgbClr val="E7EBE2"/>
          </a:solidFill>
          <a:ln/>
        </p:spPr>
      </p:sp>
      <p:sp>
        <p:nvSpPr>
          <p:cNvPr id="9" name="Shape 6"/>
          <p:cNvSpPr/>
          <p:nvPr/>
        </p:nvSpPr>
        <p:spPr>
          <a:xfrm>
            <a:off x="3076956" y="2331720"/>
            <a:ext cx="548640" cy="548640"/>
          </a:xfrm>
          <a:prstGeom prst="ellipse">
            <a:avLst/>
          </a:prstGeom>
          <a:solidFill>
            <a:srgbClr val="FFFFFF"/>
          </a:solidFill>
          <a:ln/>
        </p:spPr>
      </p:sp>
      <p:pic>
        <p:nvPicPr>
          <p:cNvPr id="10" name="Image 1" descr="/tmp/claude-0/-home-user-Presentaciones-y-varios/903c1196-30c4-57a8-b469-52313f1ce01c/scratchpad/palco/icons/gift_C1502E.png">    </p:cNvPr>
          <p:cNvPicPr>
            <a:picLocks noChangeAspect="1"/>
          </p:cNvPicPr>
          <p:nvPr/>
        </p:nvPicPr>
        <p:blipFill>
          <a:blip r:embed="rId2"/>
          <a:stretch>
            <a:fillRect/>
          </a:stretch>
        </p:blipFill>
        <p:spPr>
          <a:xfrm>
            <a:off x="3200400" y="2455164"/>
            <a:ext cx="301752" cy="301752"/>
          </a:xfrm>
          <a:prstGeom prst="rect">
            <a:avLst/>
          </a:prstGeom>
        </p:spPr>
      </p:pic>
      <p:sp>
        <p:nvSpPr>
          <p:cNvPr id="11" name="Text 7"/>
          <p:cNvSpPr/>
          <p:nvPr/>
        </p:nvSpPr>
        <p:spPr>
          <a:xfrm>
            <a:off x="25511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del Padre</a:t>
            </a:r>
            <a:endParaRPr lang="en-US" sz="1100" dirty="0"/>
          </a:p>
        </p:txBody>
      </p:sp>
      <p:sp>
        <p:nvSpPr>
          <p:cNvPr id="12" name="Shape 8"/>
          <p:cNvSpPr/>
          <p:nvPr/>
        </p:nvSpPr>
        <p:spPr>
          <a:xfrm>
            <a:off x="4334256" y="2148840"/>
            <a:ext cx="1691640" cy="1417320"/>
          </a:xfrm>
          <a:prstGeom prst="roundRect">
            <a:avLst>
              <a:gd name="adj" fmla="val 5161"/>
            </a:avLst>
          </a:prstGeom>
          <a:solidFill>
            <a:srgbClr val="F7F6F4"/>
          </a:solidFill>
          <a:ln/>
        </p:spPr>
      </p:sp>
      <p:sp>
        <p:nvSpPr>
          <p:cNvPr id="13" name="Shape 9"/>
          <p:cNvSpPr/>
          <p:nvPr/>
        </p:nvSpPr>
        <p:spPr>
          <a:xfrm>
            <a:off x="4905756" y="2331720"/>
            <a:ext cx="548640" cy="548640"/>
          </a:xfrm>
          <a:prstGeom prst="ellipse">
            <a:avLst/>
          </a:prstGeom>
          <a:solidFill>
            <a:srgbClr val="FFFFFF"/>
          </a:solidFill>
          <a:ln/>
        </p:spPr>
      </p:sp>
      <p:pic>
        <p:nvPicPr>
          <p:cNvPr id="14" name="Image 2" descr="/tmp/claude-0/-home-user-Presentaciones-y-varios/903c1196-30c4-57a8-b469-52313f1ce01c/scratchpad/palco/icons/heart_C1502E.png">    </p:cNvPr>
          <p:cNvPicPr>
            <a:picLocks noChangeAspect="1"/>
          </p:cNvPicPr>
          <p:nvPr/>
        </p:nvPicPr>
        <p:blipFill>
          <a:blip r:embed="rId3"/>
          <a:stretch>
            <a:fillRect/>
          </a:stretch>
        </p:blipFill>
        <p:spPr>
          <a:xfrm>
            <a:off x="5029200" y="2455164"/>
            <a:ext cx="301752" cy="301752"/>
          </a:xfrm>
          <a:prstGeom prst="rect">
            <a:avLst/>
          </a:prstGeom>
        </p:spPr>
      </p:pic>
      <p:sp>
        <p:nvSpPr>
          <p:cNvPr id="15" name="Text 10"/>
          <p:cNvSpPr/>
          <p:nvPr/>
        </p:nvSpPr>
        <p:spPr>
          <a:xfrm>
            <a:off x="43799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Día de la Madre</a:t>
            </a:r>
            <a:endParaRPr lang="en-US" sz="1100" dirty="0"/>
          </a:p>
        </p:txBody>
      </p:sp>
      <p:sp>
        <p:nvSpPr>
          <p:cNvPr id="16" name="Shape 11"/>
          <p:cNvSpPr/>
          <p:nvPr/>
        </p:nvSpPr>
        <p:spPr>
          <a:xfrm>
            <a:off x="6163056" y="2148840"/>
            <a:ext cx="1691640" cy="1417320"/>
          </a:xfrm>
          <a:prstGeom prst="roundRect">
            <a:avLst>
              <a:gd name="adj" fmla="val 5161"/>
            </a:avLst>
          </a:prstGeom>
          <a:solidFill>
            <a:srgbClr val="E7EBE2"/>
          </a:solidFill>
          <a:ln/>
        </p:spPr>
      </p:sp>
      <p:sp>
        <p:nvSpPr>
          <p:cNvPr id="17" name="Shape 12"/>
          <p:cNvSpPr/>
          <p:nvPr/>
        </p:nvSpPr>
        <p:spPr>
          <a:xfrm>
            <a:off x="6734556" y="2331720"/>
            <a:ext cx="548640" cy="548640"/>
          </a:xfrm>
          <a:prstGeom prst="ellipse">
            <a:avLst/>
          </a:prstGeom>
          <a:solidFill>
            <a:srgbClr val="FFFFFF"/>
          </a:solidFill>
          <a:ln/>
        </p:spPr>
      </p:sp>
      <p:pic>
        <p:nvPicPr>
          <p:cNvPr id="18" name="Image 3" descr="/tmp/claude-0/-home-user-Presentaciones-y-varios/903c1196-30c4-57a8-b469-52313f1ce01c/scratchpad/palco/icons/ring_C1502E.png">    </p:cNvPr>
          <p:cNvPicPr>
            <a:picLocks noChangeAspect="1"/>
          </p:cNvPicPr>
          <p:nvPr/>
        </p:nvPicPr>
        <p:blipFill>
          <a:blip r:embed="rId4"/>
          <a:stretch>
            <a:fillRect/>
          </a:stretch>
        </p:blipFill>
        <p:spPr>
          <a:xfrm>
            <a:off x="6858000" y="2455164"/>
            <a:ext cx="301752" cy="301752"/>
          </a:xfrm>
          <a:prstGeom prst="rect">
            <a:avLst/>
          </a:prstGeom>
        </p:spPr>
      </p:pic>
      <p:sp>
        <p:nvSpPr>
          <p:cNvPr id="19" name="Text 13"/>
          <p:cNvSpPr/>
          <p:nvPr/>
        </p:nvSpPr>
        <p:spPr>
          <a:xfrm>
            <a:off x="62087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Amor y Amistad</a:t>
            </a:r>
            <a:endParaRPr lang="en-US" sz="1100" dirty="0"/>
          </a:p>
        </p:txBody>
      </p:sp>
      <p:sp>
        <p:nvSpPr>
          <p:cNvPr id="20" name="Shape 14"/>
          <p:cNvSpPr/>
          <p:nvPr/>
        </p:nvSpPr>
        <p:spPr>
          <a:xfrm>
            <a:off x="7991856" y="2148840"/>
            <a:ext cx="1691640" cy="1417320"/>
          </a:xfrm>
          <a:prstGeom prst="roundRect">
            <a:avLst>
              <a:gd name="adj" fmla="val 5161"/>
            </a:avLst>
          </a:prstGeom>
          <a:solidFill>
            <a:srgbClr val="F7F6F4"/>
          </a:solidFill>
          <a:ln/>
        </p:spPr>
      </p:sp>
      <p:sp>
        <p:nvSpPr>
          <p:cNvPr id="21" name="Shape 15"/>
          <p:cNvSpPr/>
          <p:nvPr/>
        </p:nvSpPr>
        <p:spPr>
          <a:xfrm>
            <a:off x="8563356" y="2331720"/>
            <a:ext cx="548640" cy="548640"/>
          </a:xfrm>
          <a:prstGeom prst="ellipse">
            <a:avLst/>
          </a:prstGeom>
          <a:solidFill>
            <a:srgbClr val="FFFFFF"/>
          </a:solidFill>
          <a:ln/>
        </p:spPr>
      </p:sp>
      <p:pic>
        <p:nvPicPr>
          <p:cNvPr id="22" name="Image 4" descr="/tmp/claude-0/-home-user-Presentaciones-y-varios/903c1196-30c4-57a8-b469-52313f1ce01c/scratchpad/palco/icons/snowflake_C1502E.png">    </p:cNvPr>
          <p:cNvPicPr>
            <a:picLocks noChangeAspect="1"/>
          </p:cNvPicPr>
          <p:nvPr/>
        </p:nvPicPr>
        <p:blipFill>
          <a:blip r:embed="rId5"/>
          <a:stretch>
            <a:fillRect/>
          </a:stretch>
        </p:blipFill>
        <p:spPr>
          <a:xfrm>
            <a:off x="8686800" y="2455164"/>
            <a:ext cx="301752" cy="301752"/>
          </a:xfrm>
          <a:prstGeom prst="rect">
            <a:avLst/>
          </a:prstGeom>
        </p:spPr>
      </p:pic>
      <p:sp>
        <p:nvSpPr>
          <p:cNvPr id="23" name="Text 16"/>
          <p:cNvSpPr/>
          <p:nvPr/>
        </p:nvSpPr>
        <p:spPr>
          <a:xfrm>
            <a:off x="80375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Navidad</a:t>
            </a:r>
            <a:endParaRPr lang="en-US" sz="1100" dirty="0"/>
          </a:p>
        </p:txBody>
      </p:sp>
      <p:sp>
        <p:nvSpPr>
          <p:cNvPr id="24" name="Shape 17"/>
          <p:cNvSpPr/>
          <p:nvPr/>
        </p:nvSpPr>
        <p:spPr>
          <a:xfrm>
            <a:off x="9820656" y="2148840"/>
            <a:ext cx="1691640" cy="1417320"/>
          </a:xfrm>
          <a:prstGeom prst="roundRect">
            <a:avLst>
              <a:gd name="adj" fmla="val 5161"/>
            </a:avLst>
          </a:prstGeom>
          <a:solidFill>
            <a:srgbClr val="E7EBE2"/>
          </a:solidFill>
          <a:ln/>
        </p:spPr>
      </p:sp>
      <p:sp>
        <p:nvSpPr>
          <p:cNvPr id="25" name="Shape 18"/>
          <p:cNvSpPr/>
          <p:nvPr/>
        </p:nvSpPr>
        <p:spPr>
          <a:xfrm>
            <a:off x="10392156" y="2331720"/>
            <a:ext cx="548640" cy="548640"/>
          </a:xfrm>
          <a:prstGeom prst="ellipse">
            <a:avLst/>
          </a:prstGeom>
          <a:solidFill>
            <a:srgbClr val="FFFFFF"/>
          </a:solidFill>
          <a:ln/>
        </p:spPr>
      </p:sp>
      <p:pic>
        <p:nvPicPr>
          <p:cNvPr id="26" name="Image 5" descr="/tmp/claude-0/-home-user-Presentaciones-y-varios/903c1196-30c4-57a8-b469-52313f1ce01c/scratchpad/palco/icons/building_C1502E.png">    </p:cNvPr>
          <p:cNvPicPr>
            <a:picLocks noChangeAspect="1"/>
          </p:cNvPicPr>
          <p:nvPr/>
        </p:nvPicPr>
        <p:blipFill>
          <a:blip r:embed="rId6"/>
          <a:stretch>
            <a:fillRect/>
          </a:stretch>
        </p:blipFill>
        <p:spPr>
          <a:xfrm>
            <a:off x="10515600" y="2455164"/>
            <a:ext cx="301752" cy="301752"/>
          </a:xfrm>
          <a:prstGeom prst="rect">
            <a:avLst/>
          </a:prstGeom>
        </p:spPr>
      </p:pic>
      <p:sp>
        <p:nvSpPr>
          <p:cNvPr id="27" name="Text 19"/>
          <p:cNvSpPr/>
          <p:nvPr/>
        </p:nvSpPr>
        <p:spPr>
          <a:xfrm>
            <a:off x="9866376" y="3017520"/>
            <a:ext cx="1600200" cy="457200"/>
          </a:xfrm>
          <a:prstGeom prst="rect">
            <a:avLst/>
          </a:prstGeom>
          <a:noFill/>
          <a:ln/>
        </p:spPr>
        <p:txBody>
          <a:bodyPr wrap="square" lIns="0" tIns="0" rIns="0" bIns="0" rtlCol="0" anchor="ctr"/>
          <a:lstStyle/>
          <a:p>
            <a:pPr algn="ctr" indent="0" marL="0">
              <a:buNone/>
            </a:pPr>
            <a:r>
              <a:rPr lang="en-US" sz="1100" b="1" dirty="0">
                <a:solidFill>
                  <a:srgbClr val="1E1B18"/>
                </a:solidFill>
                <a:latin typeface="Calibri" pitchFamily="34" charset="0"/>
                <a:ea typeface="Calibri" pitchFamily="34" charset="-122"/>
                <a:cs typeface="Calibri" pitchFamily="34" charset="-120"/>
              </a:rPr>
              <a:t>Empresas</a:t>
            </a:r>
            <a:endParaRPr lang="en-US" sz="1100" dirty="0"/>
          </a:p>
        </p:txBody>
      </p:sp>
      <p:sp>
        <p:nvSpPr>
          <p:cNvPr id="28" name="Text 20"/>
          <p:cNvSpPr/>
          <p:nvPr/>
        </p:nvSpPr>
        <p:spPr>
          <a:xfrm>
            <a:off x="640080" y="4160520"/>
            <a:ext cx="73152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EL PRINCIPIO: LIFETIME VALUE</a:t>
            </a:r>
            <a:endParaRPr lang="en-US" sz="1300" dirty="0"/>
          </a:p>
        </p:txBody>
      </p:sp>
      <p:sp>
        <p:nvSpPr>
          <p:cNvPr id="29" name="Shape 21"/>
          <p:cNvSpPr/>
          <p:nvPr/>
        </p:nvSpPr>
        <p:spPr>
          <a:xfrm>
            <a:off x="640080" y="4572000"/>
            <a:ext cx="4937760" cy="1554480"/>
          </a:xfrm>
          <a:prstGeom prst="roundRect">
            <a:avLst>
              <a:gd name="adj" fmla="val 4706"/>
            </a:avLst>
          </a:prstGeom>
          <a:solidFill>
            <a:srgbClr val="F7F6F4"/>
          </a:solidFill>
          <a:ln/>
        </p:spPr>
      </p:sp>
      <p:sp>
        <p:nvSpPr>
          <p:cNvPr id="30" name="Text 22"/>
          <p:cNvSpPr/>
          <p:nvPr/>
        </p:nvSpPr>
        <p:spPr>
          <a:xfrm>
            <a:off x="868680" y="4800600"/>
            <a:ext cx="2011680" cy="548640"/>
          </a:xfrm>
          <a:prstGeom prst="rect">
            <a:avLst/>
          </a:prstGeom>
          <a:noFill/>
          <a:ln/>
        </p:spPr>
        <p:txBody>
          <a:bodyPr wrap="square" lIns="0" tIns="0" rIns="0" bIns="0" rtlCol="0" anchor="ctr"/>
          <a:lstStyle/>
          <a:p>
            <a:pPr indent="0" marL="0">
              <a:buNone/>
            </a:pPr>
            <a:r>
              <a:rPr lang="en-US" sz="2400" b="1" dirty="0">
                <a:solidFill>
                  <a:srgbClr val="1E1B18"/>
                </a:solidFill>
                <a:latin typeface="Cambria" pitchFamily="34" charset="0"/>
                <a:ea typeface="Cambria" pitchFamily="34" charset="-122"/>
                <a:cs typeface="Cambria" pitchFamily="34" charset="-120"/>
              </a:rPr>
              <a:t>1 visita</a:t>
            </a:r>
            <a:endParaRPr lang="en-US" sz="2400" dirty="0"/>
          </a:p>
        </p:txBody>
      </p:sp>
      <p:sp>
        <p:nvSpPr>
          <p:cNvPr id="31" name="Text 23"/>
          <p:cNvSpPr/>
          <p:nvPr/>
        </p:nvSpPr>
        <p:spPr>
          <a:xfrm>
            <a:off x="868680" y="5303520"/>
            <a:ext cx="4480560" cy="640080"/>
          </a:xfrm>
          <a:prstGeom prst="rect">
            <a:avLst/>
          </a:prstGeom>
          <a:noFill/>
          <a:ln/>
        </p:spPr>
        <p:txBody>
          <a:bodyPr wrap="square" lIns="0" tIns="0" rIns="0" bIns="0" rtlCol="0" anchor="ctr"/>
          <a:lstStyle/>
          <a:p>
            <a:pPr indent="0" marL="0">
              <a:buNone/>
            </a:pPr>
            <a:r>
              <a:rPr lang="en-US" sz="1150" dirty="0">
                <a:solidFill>
                  <a:srgbClr val="6B6B66"/>
                </a:solidFill>
                <a:latin typeface="Calibri" pitchFamily="34" charset="0"/>
                <a:ea typeface="Calibri" pitchFamily="34" charset="-122"/>
                <a:cs typeface="Calibri" pitchFamily="34" charset="-120"/>
              </a:rPr>
              <a:t>Cliente que llega</a:t>
            </a:r>
            <a:endParaRPr lang="en-US" sz="1150" dirty="0"/>
          </a:p>
          <a:p>
            <a:pPr indent="0" marL="0">
              <a:buNone/>
            </a:pPr>
            <a:r>
              <a:rPr lang="en-US" sz="1150" dirty="0">
                <a:solidFill>
                  <a:srgbClr val="6B6B66"/>
                </a:solidFill>
                <a:latin typeface="Calibri" pitchFamily="34" charset="0"/>
                <a:ea typeface="Calibri" pitchFamily="34" charset="-122"/>
                <a:cs typeface="Calibri" pitchFamily="34" charset="-120"/>
              </a:rPr>
              <a:t>por una campaña puntual</a:t>
            </a:r>
            <a:endParaRPr lang="en-US" sz="1150" dirty="0"/>
          </a:p>
        </p:txBody>
      </p:sp>
      <p:pic>
        <p:nvPicPr>
          <p:cNvPr id="32" name="Image 6" descr="/tmp/claude-0/-home-user-Presentaciones-y-varios/903c1196-30c4-57a8-b469-52313f1ce01c/scratchpad/palco/icons/arrowRight_C1502E.png">    </p:cNvPr>
          <p:cNvPicPr>
            <a:picLocks noChangeAspect="1"/>
          </p:cNvPicPr>
          <p:nvPr/>
        </p:nvPicPr>
        <p:blipFill>
          <a:blip r:embed="rId7"/>
          <a:stretch>
            <a:fillRect/>
          </a:stretch>
        </p:blipFill>
        <p:spPr>
          <a:xfrm>
            <a:off x="5760720" y="5212080"/>
            <a:ext cx="365760" cy="365760"/>
          </a:xfrm>
          <a:prstGeom prst="rect">
            <a:avLst/>
          </a:prstGeom>
        </p:spPr>
      </p:pic>
      <p:sp>
        <p:nvSpPr>
          <p:cNvPr id="33" name="Shape 24"/>
          <p:cNvSpPr/>
          <p:nvPr/>
        </p:nvSpPr>
        <p:spPr>
          <a:xfrm>
            <a:off x="6309360" y="4572000"/>
            <a:ext cx="5212080" cy="1554480"/>
          </a:xfrm>
          <a:prstGeom prst="roundRect">
            <a:avLst>
              <a:gd name="adj" fmla="val 4706"/>
            </a:avLst>
          </a:prstGeom>
          <a:solidFill>
            <a:srgbClr val="1E1B18"/>
          </a:solidFill>
          <a:ln/>
        </p:spPr>
      </p:sp>
      <p:sp>
        <p:nvSpPr>
          <p:cNvPr id="34" name="Text 25"/>
          <p:cNvSpPr/>
          <p:nvPr/>
        </p:nvSpPr>
        <p:spPr>
          <a:xfrm>
            <a:off x="6537960" y="480060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Cliente recurrente</a:t>
            </a:r>
            <a:endParaRPr lang="en-US" sz="2200" dirty="0"/>
          </a:p>
        </p:txBody>
      </p:sp>
      <p:sp>
        <p:nvSpPr>
          <p:cNvPr id="35" name="Text 26"/>
          <p:cNvSpPr/>
          <p:nvPr/>
        </p:nvSpPr>
        <p:spPr>
          <a:xfrm>
            <a:off x="6537960" y="5303520"/>
            <a:ext cx="4754880" cy="640080"/>
          </a:xfrm>
          <a:prstGeom prst="rect">
            <a:avLst/>
          </a:prstGeom>
          <a:noFill/>
          <a:ln/>
        </p:spPr>
        <p:txBody>
          <a:bodyPr wrap="square" lIns="0" tIns="0" rIns="0" bIns="0" rtlCol="0" anchor="ctr"/>
          <a:lstStyle/>
          <a:p>
            <a:pPr indent="0" marL="0">
              <a:buNone/>
            </a:pPr>
            <a:r>
              <a:rPr lang="en-US" sz="1150" dirty="0">
                <a:solidFill>
                  <a:srgbClr val="D8D4CC"/>
                </a:solidFill>
                <a:latin typeface="Calibri" pitchFamily="34" charset="0"/>
                <a:ea typeface="Calibri" pitchFamily="34" charset="-122"/>
                <a:cs typeface="Calibri" pitchFamily="34" charset="-120"/>
              </a:rPr>
              <a:t>Vuelve por cumpleaños, fechas especiales,</a:t>
            </a:r>
            <a:endParaRPr lang="en-US" sz="1150" dirty="0"/>
          </a:p>
          <a:p>
            <a:pPr indent="0" marL="0">
              <a:buNone/>
            </a:pPr>
            <a:r>
              <a:rPr lang="en-US" sz="1150" dirty="0">
                <a:solidFill>
                  <a:srgbClr val="D8D4CC"/>
                </a:solidFill>
                <a:latin typeface="Calibri" pitchFamily="34" charset="0"/>
                <a:ea typeface="Calibri" pitchFamily="34" charset="-122"/>
                <a:cs typeface="Calibri" pitchFamily="34" charset="-120"/>
              </a:rPr>
              <a:t>eventos y bonos de regalo durante el año</a:t>
            </a:r>
            <a:endParaRPr lang="en-US" sz="1150" dirty="0"/>
          </a:p>
        </p:txBody>
      </p:sp>
      <p:sp>
        <p:nvSpPr>
          <p:cNvPr id="36" name="Text 27"/>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LA CONSOLIDACIÓN</a:t>
            </a:r>
            <a:endParaRPr lang="en-US" sz="1200" dirty="0"/>
          </a:p>
        </p:txBody>
      </p:sp>
      <p:sp>
        <p:nvSpPr>
          <p:cNvPr id="3" name="Text 1"/>
          <p:cNvSpPr/>
          <p:nvPr/>
        </p:nvSpPr>
        <p:spPr>
          <a:xfrm>
            <a:off x="640080" y="841248"/>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sistema completo</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D8D4CC"/>
                </a:solidFill>
                <a:latin typeface="Calibri" pitchFamily="34" charset="0"/>
                <a:ea typeface="Calibri" pitchFamily="34" charset="-122"/>
                <a:cs typeface="Calibri" pitchFamily="34" charset="-120"/>
              </a:rPr>
              <a:t>Ninguna etapa funciona sola. El valor está en la conexión.</a:t>
            </a:r>
            <a:endParaRPr lang="en-US" sz="1500" dirty="0"/>
          </a:p>
        </p:txBody>
      </p:sp>
      <p:sp>
        <p:nvSpPr>
          <p:cNvPr id="5" name="Shape 3"/>
          <p:cNvSpPr/>
          <p:nvPr/>
        </p:nvSpPr>
        <p:spPr>
          <a:xfrm>
            <a:off x="1325880" y="2606040"/>
            <a:ext cx="1234440" cy="1234440"/>
          </a:xfrm>
          <a:prstGeom prst="ellipse">
            <a:avLst/>
          </a:prstGeom>
          <a:solidFill>
            <a:srgbClr val="2B2622"/>
          </a:solidFill>
          <a:ln w="19050">
            <a:solidFill>
              <a:srgbClr val="C1502E"/>
            </a:solidFill>
            <a:prstDash val="solid"/>
          </a:ln>
        </p:spPr>
      </p:sp>
      <p:pic>
        <p:nvPicPr>
          <p:cNvPr id="6" name="Image 0" descr="/tmp/claude-0/-home-user-Presentaciones-y-varios/903c1196-30c4-57a8-b469-52313f1ce01c/scratchpad/palco/icons/eye_C1502E.png">    </p:cNvPr>
          <p:cNvPicPr>
            <a:picLocks noChangeAspect="1"/>
          </p:cNvPicPr>
          <p:nvPr/>
        </p:nvPicPr>
        <p:blipFill>
          <a:blip r:embed="rId1"/>
          <a:stretch>
            <a:fillRect/>
          </a:stretch>
        </p:blipFill>
        <p:spPr>
          <a:xfrm>
            <a:off x="1696212" y="2976372"/>
            <a:ext cx="493776" cy="493776"/>
          </a:xfrm>
          <a:prstGeom prst="rect">
            <a:avLst/>
          </a:prstGeom>
        </p:spPr>
      </p:pic>
      <p:sp>
        <p:nvSpPr>
          <p:cNvPr id="7" name="Text 4"/>
          <p:cNvSpPr/>
          <p:nvPr/>
        </p:nvSpPr>
        <p:spPr>
          <a:xfrm>
            <a:off x="77724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77724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Presentación</a:t>
            </a:r>
            <a:endParaRPr lang="en-US" sz="1500" dirty="0"/>
          </a:p>
        </p:txBody>
      </p:sp>
      <p:pic>
        <p:nvPicPr>
          <p:cNvPr id="9" name="Image 1" descr="/tmp/claude-0/-home-user-Presentaciones-y-varios/903c1196-30c4-57a8-b469-52313f1ce01c/scratchpad/palco/icons/arrowRight_C1502E.png">    </p:cNvPr>
          <p:cNvPicPr>
            <a:picLocks noChangeAspect="1"/>
          </p:cNvPicPr>
          <p:nvPr/>
        </p:nvPicPr>
        <p:blipFill>
          <a:blip r:embed="rId2"/>
          <a:stretch>
            <a:fillRect/>
          </a:stretch>
        </p:blipFill>
        <p:spPr>
          <a:xfrm>
            <a:off x="3145536" y="3095244"/>
            <a:ext cx="246888" cy="246888"/>
          </a:xfrm>
          <a:prstGeom prst="rect">
            <a:avLst/>
          </a:prstGeom>
        </p:spPr>
      </p:pic>
      <p:sp>
        <p:nvSpPr>
          <p:cNvPr id="10" name="Shape 6"/>
          <p:cNvSpPr/>
          <p:nvPr/>
        </p:nvSpPr>
        <p:spPr>
          <a:xfrm>
            <a:off x="3977640" y="2606040"/>
            <a:ext cx="1234440" cy="1234440"/>
          </a:xfrm>
          <a:prstGeom prst="ellipse">
            <a:avLst/>
          </a:prstGeom>
          <a:solidFill>
            <a:srgbClr val="2B2622"/>
          </a:solidFill>
          <a:ln w="19050">
            <a:solidFill>
              <a:srgbClr val="C1502E"/>
            </a:solidFill>
            <a:prstDash val="solid"/>
          </a:ln>
        </p:spPr>
      </p:sp>
      <p:pic>
        <p:nvPicPr>
          <p:cNvPr id="11" name="Image 2" descr="/tmp/claude-0/-home-user-Presentaciones-y-varios/903c1196-30c4-57a8-b469-52313f1ce01c/scratchpad/palco/icons/star_C1502E.png">    </p:cNvPr>
          <p:cNvPicPr>
            <a:picLocks noChangeAspect="1"/>
          </p:cNvPicPr>
          <p:nvPr/>
        </p:nvPicPr>
        <p:blipFill>
          <a:blip r:embed="rId3"/>
          <a:stretch>
            <a:fillRect/>
          </a:stretch>
        </p:blipFill>
        <p:spPr>
          <a:xfrm>
            <a:off x="4347972" y="2976372"/>
            <a:ext cx="493776" cy="493776"/>
          </a:xfrm>
          <a:prstGeom prst="rect">
            <a:avLst/>
          </a:prstGeom>
        </p:spPr>
      </p:pic>
      <p:sp>
        <p:nvSpPr>
          <p:cNvPr id="12" name="Text 7"/>
          <p:cNvSpPr/>
          <p:nvPr/>
        </p:nvSpPr>
        <p:spPr>
          <a:xfrm>
            <a:off x="342900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02</a:t>
            </a:r>
            <a:endParaRPr lang="en-US" sz="1100" dirty="0"/>
          </a:p>
        </p:txBody>
      </p:sp>
      <p:sp>
        <p:nvSpPr>
          <p:cNvPr id="13" name="Text 8"/>
          <p:cNvSpPr/>
          <p:nvPr/>
        </p:nvSpPr>
        <p:spPr>
          <a:xfrm>
            <a:off x="342900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Evaluación</a:t>
            </a:r>
            <a:endParaRPr lang="en-US" sz="1500" dirty="0"/>
          </a:p>
        </p:txBody>
      </p:sp>
      <p:pic>
        <p:nvPicPr>
          <p:cNvPr id="14" name="Image 3" descr="/tmp/claude-0/-home-user-Presentaciones-y-varios/903c1196-30c4-57a8-b469-52313f1ce01c/scratchpad/palco/icons/arrowRight_C1502E.png">    </p:cNvPr>
          <p:cNvPicPr>
            <a:picLocks noChangeAspect="1"/>
          </p:cNvPicPr>
          <p:nvPr/>
        </p:nvPicPr>
        <p:blipFill>
          <a:blip r:embed="rId4"/>
          <a:stretch>
            <a:fillRect/>
          </a:stretch>
        </p:blipFill>
        <p:spPr>
          <a:xfrm>
            <a:off x="5797296" y="3095244"/>
            <a:ext cx="246888" cy="246888"/>
          </a:xfrm>
          <a:prstGeom prst="rect">
            <a:avLst/>
          </a:prstGeom>
        </p:spPr>
      </p:pic>
      <p:sp>
        <p:nvSpPr>
          <p:cNvPr id="15" name="Shape 9"/>
          <p:cNvSpPr/>
          <p:nvPr/>
        </p:nvSpPr>
        <p:spPr>
          <a:xfrm>
            <a:off x="6629400" y="2606040"/>
            <a:ext cx="1234440" cy="1234440"/>
          </a:xfrm>
          <a:prstGeom prst="ellipse">
            <a:avLst/>
          </a:prstGeom>
          <a:solidFill>
            <a:srgbClr val="2B2622"/>
          </a:solidFill>
          <a:ln w="19050">
            <a:solidFill>
              <a:srgbClr val="C1502E"/>
            </a:solidFill>
            <a:prstDash val="solid"/>
          </a:ln>
        </p:spPr>
      </p:sp>
      <p:pic>
        <p:nvPicPr>
          <p:cNvPr id="16" name="Image 4" descr="/tmp/claude-0/-home-user-Presentaciones-y-varios/903c1196-30c4-57a8-b469-52313f1ce01c/scratchpad/palco/icons/whatsapp_C1502E.png">    </p:cNvPr>
          <p:cNvPicPr>
            <a:picLocks noChangeAspect="1"/>
          </p:cNvPicPr>
          <p:nvPr/>
        </p:nvPicPr>
        <p:blipFill>
          <a:blip r:embed="rId5"/>
          <a:stretch>
            <a:fillRect/>
          </a:stretch>
        </p:blipFill>
        <p:spPr>
          <a:xfrm>
            <a:off x="6999732" y="2976372"/>
            <a:ext cx="493776" cy="493776"/>
          </a:xfrm>
          <a:prstGeom prst="rect">
            <a:avLst/>
          </a:prstGeom>
        </p:spPr>
      </p:pic>
      <p:sp>
        <p:nvSpPr>
          <p:cNvPr id="17" name="Text 10"/>
          <p:cNvSpPr/>
          <p:nvPr/>
        </p:nvSpPr>
        <p:spPr>
          <a:xfrm>
            <a:off x="608076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03</a:t>
            </a:r>
            <a:endParaRPr lang="en-US" sz="1100" dirty="0"/>
          </a:p>
        </p:txBody>
      </p:sp>
      <p:sp>
        <p:nvSpPr>
          <p:cNvPr id="18" name="Text 11"/>
          <p:cNvSpPr/>
          <p:nvPr/>
        </p:nvSpPr>
        <p:spPr>
          <a:xfrm>
            <a:off x="608076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Conversión</a:t>
            </a:r>
            <a:endParaRPr lang="en-US" sz="1500" dirty="0"/>
          </a:p>
        </p:txBody>
      </p:sp>
      <p:pic>
        <p:nvPicPr>
          <p:cNvPr id="19" name="Image 5" descr="/tmp/claude-0/-home-user-Presentaciones-y-varios/903c1196-30c4-57a8-b469-52313f1ce01c/scratchpad/palco/icons/arrowRight_C1502E.png">    </p:cNvPr>
          <p:cNvPicPr>
            <a:picLocks noChangeAspect="1"/>
          </p:cNvPicPr>
          <p:nvPr/>
        </p:nvPicPr>
        <p:blipFill>
          <a:blip r:embed="rId6"/>
          <a:stretch>
            <a:fillRect/>
          </a:stretch>
        </p:blipFill>
        <p:spPr>
          <a:xfrm>
            <a:off x="8449056" y="3095244"/>
            <a:ext cx="246888" cy="246888"/>
          </a:xfrm>
          <a:prstGeom prst="rect">
            <a:avLst/>
          </a:prstGeom>
        </p:spPr>
      </p:pic>
      <p:sp>
        <p:nvSpPr>
          <p:cNvPr id="20" name="Shape 12"/>
          <p:cNvSpPr/>
          <p:nvPr/>
        </p:nvSpPr>
        <p:spPr>
          <a:xfrm>
            <a:off x="9281160" y="2606040"/>
            <a:ext cx="1234440" cy="1234440"/>
          </a:xfrm>
          <a:prstGeom prst="ellipse">
            <a:avLst/>
          </a:prstGeom>
          <a:solidFill>
            <a:srgbClr val="2B2622"/>
          </a:solidFill>
          <a:ln w="19050">
            <a:solidFill>
              <a:srgbClr val="C1502E"/>
            </a:solidFill>
            <a:prstDash val="solid"/>
          </a:ln>
        </p:spPr>
      </p:sp>
      <p:pic>
        <p:nvPicPr>
          <p:cNvPr id="21" name="Image 6" descr="/tmp/claude-0/-home-user-Presentaciones-y-varios/903c1196-30c4-57a8-b469-52313f1ce01c/scratchpad/palco/icons/sync_C1502E.png">    </p:cNvPr>
          <p:cNvPicPr>
            <a:picLocks noChangeAspect="1"/>
          </p:cNvPicPr>
          <p:nvPr/>
        </p:nvPicPr>
        <p:blipFill>
          <a:blip r:embed="rId7"/>
          <a:stretch>
            <a:fillRect/>
          </a:stretch>
        </p:blipFill>
        <p:spPr>
          <a:xfrm>
            <a:off x="9651492" y="2976372"/>
            <a:ext cx="493776" cy="493776"/>
          </a:xfrm>
          <a:prstGeom prst="rect">
            <a:avLst/>
          </a:prstGeom>
        </p:spPr>
      </p:pic>
      <p:sp>
        <p:nvSpPr>
          <p:cNvPr id="22" name="Text 13"/>
          <p:cNvSpPr/>
          <p:nvPr/>
        </p:nvSpPr>
        <p:spPr>
          <a:xfrm>
            <a:off x="8732520" y="3950208"/>
            <a:ext cx="2331720" cy="274320"/>
          </a:xfrm>
          <a:prstGeom prst="rect">
            <a:avLst/>
          </a:prstGeom>
          <a:noFill/>
          <a:ln/>
        </p:spPr>
        <p:txBody>
          <a:bodyPr wrap="square" lIns="0" tIns="0" rIns="0" bIns="0" rtlCol="0" anchor="ctr"/>
          <a:lstStyle/>
          <a:p>
            <a:pPr algn="ctr" indent="0" marL="0">
              <a:buNone/>
            </a:pPr>
            <a:r>
              <a:rPr lang="en-US" sz="1100" b="1" dirty="0">
                <a:solidFill>
                  <a:srgbClr val="C1502E"/>
                </a:solidFill>
                <a:latin typeface="Calibri" pitchFamily="34" charset="0"/>
                <a:ea typeface="Calibri" pitchFamily="34" charset="-122"/>
                <a:cs typeface="Calibri" pitchFamily="34" charset="-120"/>
              </a:rPr>
              <a:t>04</a:t>
            </a:r>
            <a:endParaRPr lang="en-US" sz="1100" dirty="0"/>
          </a:p>
        </p:txBody>
      </p:sp>
      <p:sp>
        <p:nvSpPr>
          <p:cNvPr id="23" name="Text 14"/>
          <p:cNvSpPr/>
          <p:nvPr/>
        </p:nvSpPr>
        <p:spPr>
          <a:xfrm>
            <a:off x="873252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Ascensión</a:t>
            </a:r>
            <a:endParaRPr lang="en-US" sz="1500" dirty="0"/>
          </a:p>
        </p:txBody>
      </p:sp>
      <p:sp>
        <p:nvSpPr>
          <p:cNvPr id="24" name="Shape 15"/>
          <p:cNvSpPr/>
          <p:nvPr/>
        </p:nvSpPr>
        <p:spPr>
          <a:xfrm>
            <a:off x="2103120" y="4800600"/>
            <a:ext cx="7955280" cy="868680"/>
          </a:xfrm>
          <a:prstGeom prst="roundRect">
            <a:avLst>
              <a:gd name="adj" fmla="val 10526"/>
            </a:avLst>
          </a:prstGeom>
          <a:solidFill>
            <a:srgbClr val="2B2622"/>
          </a:solidFill>
          <a:ln/>
        </p:spPr>
      </p:sp>
      <p:sp>
        <p:nvSpPr>
          <p:cNvPr id="25" name="Shape 16"/>
          <p:cNvSpPr/>
          <p:nvPr/>
        </p:nvSpPr>
        <p:spPr>
          <a:xfrm>
            <a:off x="2377440" y="4960620"/>
            <a:ext cx="548640" cy="548640"/>
          </a:xfrm>
          <a:prstGeom prst="ellipse">
            <a:avLst/>
          </a:prstGeom>
          <a:solidFill>
            <a:srgbClr val="3A342E"/>
          </a:solidFill>
          <a:ln/>
        </p:spPr>
      </p:sp>
      <p:pic>
        <p:nvPicPr>
          <p:cNvPr id="26" name="Image 7" descr="/tmp/claude-0/-home-user-Presentaciones-y-varios/903c1196-30c4-57a8-b469-52313f1ce01c/scratchpad/palco/icons/sync_C1502E.png">    </p:cNvPr>
          <p:cNvPicPr>
            <a:picLocks noChangeAspect="1"/>
          </p:cNvPicPr>
          <p:nvPr/>
        </p:nvPicPr>
        <p:blipFill>
          <a:blip r:embed="rId8"/>
          <a:stretch>
            <a:fillRect/>
          </a:stretch>
        </p:blipFill>
        <p:spPr>
          <a:xfrm>
            <a:off x="2500884" y="5084064"/>
            <a:ext cx="301752" cy="301752"/>
          </a:xfrm>
          <a:prstGeom prst="rect">
            <a:avLst/>
          </a:prstGeom>
        </p:spPr>
      </p:pic>
      <p:sp>
        <p:nvSpPr>
          <p:cNvPr id="27" name="Text 17"/>
          <p:cNvSpPr/>
          <p:nvPr/>
        </p:nvSpPr>
        <p:spPr>
          <a:xfrm>
            <a:off x="3154680" y="4800600"/>
            <a:ext cx="6720840" cy="868680"/>
          </a:xfrm>
          <a:prstGeom prst="rect">
            <a:avLst/>
          </a:prstGeom>
          <a:noFill/>
          <a:ln/>
        </p:spPr>
        <p:txBody>
          <a:bodyPr wrap="square" lIns="0" tIns="0" rIns="0" bIns="0" rtlCol="0" anchor="ctr"/>
          <a:lstStyle/>
          <a:p>
            <a:pPr indent="0" marL="0">
              <a:buNone/>
            </a:pPr>
            <a:r>
              <a:rPr lang="en-US" sz="1350" i="1" dirty="0">
                <a:solidFill>
                  <a:srgbClr val="D8D4CC"/>
                </a:solidFill>
                <a:latin typeface="Calibri" pitchFamily="34" charset="0"/>
                <a:ea typeface="Calibri" pitchFamily="34" charset="-122"/>
                <a:cs typeface="Calibri" pitchFamily="34" charset="-120"/>
              </a:rPr>
              <a:t>El ciclo se repite: quien asciende vuelve a entrar por evaluación en su próxima ocasión de compra.</a:t>
            </a:r>
            <a:endParaRPr lang="en-US" sz="1350" dirty="0"/>
          </a:p>
        </p:txBody>
      </p:sp>
      <p:sp>
        <p:nvSpPr>
          <p:cNvPr id="28"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RAZONAMIENTO ECONÓMICO</a:t>
            </a:r>
            <a:endParaRPr lang="en-US" sz="1200" dirty="0"/>
          </a:p>
        </p:txBody>
      </p:sp>
      <p:sp>
        <p:nvSpPr>
          <p:cNvPr id="3" name="Text 1"/>
          <p:cNvSpPr/>
          <p:nvPr/>
        </p:nvSpPr>
        <p:spPr>
          <a:xfrm>
            <a:off x="640080" y="841248"/>
            <a:ext cx="10515600" cy="822960"/>
          </a:xfrm>
          <a:prstGeom prst="rect">
            <a:avLst/>
          </a:prstGeom>
          <a:noFill/>
          <a:ln/>
        </p:spPr>
        <p:txBody>
          <a:bodyPr wrap="square" lIns="0" tIns="0" rIns="0" bIns="0" rtlCol="0" anchor="ctr"/>
          <a:lstStyle/>
          <a:p>
            <a:pPr algn="l" indent="0" marL="0">
              <a:buNone/>
            </a:pPr>
            <a:r>
              <a:rPr lang="en-US" sz="3400" b="1" dirty="0">
                <a:solidFill>
                  <a:srgbClr val="1E1B18"/>
                </a:solidFill>
                <a:latin typeface="Cambria" pitchFamily="34" charset="0"/>
                <a:ea typeface="Cambria" pitchFamily="34" charset="-122"/>
                <a:cs typeface="Cambria" pitchFamily="34" charset="-120"/>
              </a:rPr>
              <a:t>La lógica de negocio detrás del sistema</a:t>
            </a:r>
            <a:endParaRPr lang="en-US" sz="3400" dirty="0"/>
          </a:p>
        </p:txBody>
      </p:sp>
      <p:sp>
        <p:nvSpPr>
          <p:cNvPr id="4" name="Shape 2"/>
          <p:cNvSpPr/>
          <p:nvPr/>
        </p:nvSpPr>
        <p:spPr>
          <a:xfrm>
            <a:off x="640080" y="2148840"/>
            <a:ext cx="3520440" cy="3291840"/>
          </a:xfrm>
          <a:prstGeom prst="roundRect">
            <a:avLst>
              <a:gd name="adj" fmla="val 2222"/>
            </a:avLst>
          </a:prstGeom>
          <a:solidFill>
            <a:srgbClr val="F7F6F4"/>
          </a:solidFill>
          <a:ln/>
        </p:spPr>
      </p:sp>
      <p:sp>
        <p:nvSpPr>
          <p:cNvPr id="5" name="Shape 3"/>
          <p:cNvSpPr/>
          <p:nvPr/>
        </p:nvSpPr>
        <p:spPr>
          <a:xfrm>
            <a:off x="2034540" y="2468880"/>
            <a:ext cx="731520" cy="731520"/>
          </a:xfrm>
          <a:prstGeom prst="ellipse">
            <a:avLst/>
          </a:prstGeom>
          <a:solidFill>
            <a:srgbClr val="FFFFFF"/>
          </a:solidFill>
          <a:ln/>
        </p:spPr>
      </p:sp>
      <p:pic>
        <p:nvPicPr>
          <p:cNvPr id="6" name="Image 0" descr="/tmp/claude-0/-home-user-Presentaciones-y-varios/903c1196-30c4-57a8-b469-52313f1ce01c/scratchpad/palco/icons/dollar_C1502E.png">    </p:cNvPr>
          <p:cNvPicPr>
            <a:picLocks noChangeAspect="1"/>
          </p:cNvPicPr>
          <p:nvPr/>
        </p:nvPicPr>
        <p:blipFill>
          <a:blip r:embed="rId1"/>
          <a:stretch>
            <a:fillRect/>
          </a:stretch>
        </p:blipFill>
        <p:spPr>
          <a:xfrm>
            <a:off x="2217420" y="2651760"/>
            <a:ext cx="365760" cy="365760"/>
          </a:xfrm>
          <a:prstGeom prst="rect">
            <a:avLst/>
          </a:prstGeom>
        </p:spPr>
      </p:pic>
      <p:sp>
        <p:nvSpPr>
          <p:cNvPr id="7" name="Text 4"/>
          <p:cNvSpPr/>
          <p:nvPr/>
        </p:nvSpPr>
        <p:spPr>
          <a:xfrm>
            <a:off x="91440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Menor costo por cliente en el tiempo</a:t>
            </a:r>
            <a:endParaRPr lang="en-US" sz="1550" dirty="0"/>
          </a:p>
        </p:txBody>
      </p:sp>
      <p:sp>
        <p:nvSpPr>
          <p:cNvPr id="8" name="Text 5"/>
          <p:cNvSpPr/>
          <p:nvPr/>
        </p:nvSpPr>
        <p:spPr>
          <a:xfrm>
            <a:off x="96012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Reimpactar a quien ya conoce la marca cuesta menos que conseguir un desconocido.</a:t>
            </a:r>
            <a:endParaRPr lang="en-US" sz="1250" dirty="0"/>
          </a:p>
        </p:txBody>
      </p:sp>
      <p:sp>
        <p:nvSpPr>
          <p:cNvPr id="9" name="Shape 6"/>
          <p:cNvSpPr/>
          <p:nvPr/>
        </p:nvSpPr>
        <p:spPr>
          <a:xfrm>
            <a:off x="4480560" y="2148840"/>
            <a:ext cx="3520440" cy="3291840"/>
          </a:xfrm>
          <a:prstGeom prst="roundRect">
            <a:avLst>
              <a:gd name="adj" fmla="val 2222"/>
            </a:avLst>
          </a:prstGeom>
          <a:solidFill>
            <a:srgbClr val="F7F6F4"/>
          </a:solidFill>
          <a:ln/>
        </p:spPr>
      </p:sp>
      <p:sp>
        <p:nvSpPr>
          <p:cNvPr id="10" name="Shape 7"/>
          <p:cNvSpPr/>
          <p:nvPr/>
        </p:nvSpPr>
        <p:spPr>
          <a:xfrm>
            <a:off x="5875020" y="2468880"/>
            <a:ext cx="731520" cy="731520"/>
          </a:xfrm>
          <a:prstGeom prst="ellipse">
            <a:avLst/>
          </a:prstGeom>
          <a:solidFill>
            <a:srgbClr val="FFFFFF"/>
          </a:solidFill>
          <a:ln/>
        </p:spPr>
      </p:sp>
      <p:pic>
        <p:nvPicPr>
          <p:cNvPr id="11" name="Image 1" descr="/tmp/claude-0/-home-user-Presentaciones-y-varios/903c1196-30c4-57a8-b469-52313f1ce01c/scratchpad/palco/icons/repeat2_C1502E.png">    </p:cNvPr>
          <p:cNvPicPr>
            <a:picLocks noChangeAspect="1"/>
          </p:cNvPicPr>
          <p:nvPr/>
        </p:nvPicPr>
        <p:blipFill>
          <a:blip r:embed="rId2"/>
          <a:stretch>
            <a:fillRect/>
          </a:stretch>
        </p:blipFill>
        <p:spPr>
          <a:xfrm>
            <a:off x="6057900" y="2651760"/>
            <a:ext cx="365760" cy="365760"/>
          </a:xfrm>
          <a:prstGeom prst="rect">
            <a:avLst/>
          </a:prstGeom>
        </p:spPr>
      </p:pic>
      <p:sp>
        <p:nvSpPr>
          <p:cNvPr id="12" name="Text 8"/>
          <p:cNvSpPr/>
          <p:nvPr/>
        </p:nvSpPr>
        <p:spPr>
          <a:xfrm>
            <a:off x="475488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frecuencia de visita</a:t>
            </a:r>
            <a:endParaRPr lang="en-US" sz="1550" dirty="0"/>
          </a:p>
        </p:txBody>
      </p:sp>
      <p:sp>
        <p:nvSpPr>
          <p:cNvPr id="13" name="Text 9"/>
          <p:cNvSpPr/>
          <p:nvPr/>
        </p:nvSpPr>
        <p:spPr>
          <a:xfrm>
            <a:off x="480060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Cada fecha comercial reactiva a clientes existentes en lugar de dejarlos en silencio.</a:t>
            </a:r>
            <a:endParaRPr lang="en-US" sz="1250" dirty="0"/>
          </a:p>
        </p:txBody>
      </p:sp>
      <p:sp>
        <p:nvSpPr>
          <p:cNvPr id="14" name="Shape 10"/>
          <p:cNvSpPr/>
          <p:nvPr/>
        </p:nvSpPr>
        <p:spPr>
          <a:xfrm>
            <a:off x="8321040" y="2148840"/>
            <a:ext cx="3520440" cy="3291840"/>
          </a:xfrm>
          <a:prstGeom prst="roundRect">
            <a:avLst>
              <a:gd name="adj" fmla="val 2222"/>
            </a:avLst>
          </a:prstGeom>
          <a:solidFill>
            <a:srgbClr val="F7F6F4"/>
          </a:solidFill>
          <a:ln/>
        </p:spPr>
      </p:sp>
      <p:sp>
        <p:nvSpPr>
          <p:cNvPr id="15" name="Shape 11"/>
          <p:cNvSpPr/>
          <p:nvPr/>
        </p:nvSpPr>
        <p:spPr>
          <a:xfrm>
            <a:off x="9715500" y="2468880"/>
            <a:ext cx="731520" cy="731520"/>
          </a:xfrm>
          <a:prstGeom prst="ellipse">
            <a:avLst/>
          </a:prstGeom>
          <a:solidFill>
            <a:srgbClr val="FFFFFF"/>
          </a:solidFill>
          <a:ln/>
        </p:spPr>
      </p:sp>
      <p:pic>
        <p:nvPicPr>
          <p:cNvPr id="16" name="Image 2" descr="/tmp/claude-0/-home-user-Presentaciones-y-varios/903c1196-30c4-57a8-b469-52313f1ce01c/scratchpad/palco/icons/ticket_C1502E.png">    </p:cNvPr>
          <p:cNvPicPr>
            <a:picLocks noChangeAspect="1"/>
          </p:cNvPicPr>
          <p:nvPr/>
        </p:nvPicPr>
        <p:blipFill>
          <a:blip r:embed="rId3"/>
          <a:stretch>
            <a:fillRect/>
          </a:stretch>
        </p:blipFill>
        <p:spPr>
          <a:xfrm>
            <a:off x="9898380" y="2651760"/>
            <a:ext cx="365760" cy="365760"/>
          </a:xfrm>
          <a:prstGeom prst="rect">
            <a:avLst/>
          </a:prstGeom>
        </p:spPr>
      </p:pic>
      <p:sp>
        <p:nvSpPr>
          <p:cNvPr id="17" name="Text 12"/>
          <p:cNvSpPr/>
          <p:nvPr/>
        </p:nvSpPr>
        <p:spPr>
          <a:xfrm>
            <a:off x="8595360" y="3383280"/>
            <a:ext cx="2971800" cy="731520"/>
          </a:xfrm>
          <a:prstGeom prst="rect">
            <a:avLst/>
          </a:prstGeom>
          <a:noFill/>
          <a:ln/>
        </p:spPr>
        <p:txBody>
          <a:bodyPr wrap="square" lIns="0" tIns="0" rIns="0" bIns="0" rtlCol="0" anchor="ctr"/>
          <a:lstStyle/>
          <a:p>
            <a:pPr algn="ctr" indent="0" marL="0">
              <a:buNone/>
            </a:pPr>
            <a:r>
              <a:rPr lang="en-US" sz="1550" b="1" dirty="0">
                <a:solidFill>
                  <a:srgbClr val="1E1B18"/>
                </a:solidFill>
                <a:latin typeface="Cambria" pitchFamily="34" charset="0"/>
                <a:ea typeface="Cambria" pitchFamily="34" charset="-122"/>
                <a:cs typeface="Cambria" pitchFamily="34" charset="-120"/>
              </a:rPr>
              <a:t>Mayor ticket promedio</a:t>
            </a:r>
            <a:endParaRPr lang="en-US" sz="1550" dirty="0"/>
          </a:p>
        </p:txBody>
      </p:sp>
      <p:sp>
        <p:nvSpPr>
          <p:cNvPr id="18" name="Text 13"/>
          <p:cNvSpPr/>
          <p:nvPr/>
        </p:nvSpPr>
        <p:spPr>
          <a:xfrm>
            <a:off x="864108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Eventos, bonos de regalo y cotizaciones se ofrecen a quien ya confía en El Palco.</a:t>
            </a:r>
            <a:endParaRPr lang="en-US" sz="1250" dirty="0"/>
          </a:p>
        </p:txBody>
      </p:sp>
      <p:sp>
        <p:nvSpPr>
          <p:cNvPr id="19" name="Text 14"/>
          <p:cNvSpPr/>
          <p:nvPr/>
        </p:nvSpPr>
        <p:spPr>
          <a:xfrm>
            <a:off x="640080" y="5760720"/>
            <a:ext cx="10881360" cy="548640"/>
          </a:xfrm>
          <a:prstGeom prst="rect">
            <a:avLst/>
          </a:prstGeom>
          <a:noFill/>
          <a:ln/>
        </p:spPr>
        <p:txBody>
          <a:bodyPr wrap="square" lIns="0" tIns="0" rIns="0" bIns="0" rtlCol="0" anchor="ctr"/>
          <a:lstStyle/>
          <a:p>
            <a:pPr indent="0" marL="0">
              <a:buNone/>
            </a:pPr>
            <a:r>
              <a:rPr lang="en-US" sz="1300" i="1" dirty="0">
                <a:solidFill>
                  <a:srgbClr val="1E1B18"/>
                </a:solidFill>
                <a:latin typeface="Calibri" pitchFamily="34" charset="0"/>
                <a:ea typeface="Calibri" pitchFamily="34" charset="-122"/>
                <a:cs typeface="Calibri" pitchFamily="34" charset="-120"/>
              </a:rPr>
              <a:t>El sistema no promete resultados garantizados. Reduce la dependencia de conseguir clientes nuevos cada vez y aumenta el valor de los que ya se ganaron.</a:t>
            </a:r>
            <a:endParaRPr lang="en-US" sz="13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1B18"/>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lIns="0" tIns="0" rIns="0" bIns="0" rtlCol="0" anchor="ctr"/>
          <a:lstStyle/>
          <a:p>
            <a:pPr indent="0" marL="0">
              <a:buNone/>
            </a:pPr>
            <a:r>
              <a:rPr lang="en-US" sz="1200" b="1" spc="200" kern="0" dirty="0">
                <a:solidFill>
                  <a:srgbClr val="C1502E"/>
                </a:solidFill>
                <a:latin typeface="Calibri" pitchFamily="34" charset="0"/>
                <a:ea typeface="Calibri" pitchFamily="34" charset="-122"/>
                <a:cs typeface="Calibri" pitchFamily="34" charset="-120"/>
              </a:rPr>
              <a:t>EL CIERRE DEL DIAGNÓSTICO</a:t>
            </a:r>
            <a:endParaRPr lang="en-US" sz="1200" dirty="0"/>
          </a:p>
        </p:txBody>
      </p:sp>
      <p:sp>
        <p:nvSpPr>
          <p:cNvPr id="3" name="Text 1"/>
          <p:cNvSpPr/>
          <p:nvPr/>
        </p:nvSpPr>
        <p:spPr>
          <a:xfrm>
            <a:off x="640080" y="685800"/>
            <a:ext cx="10881360" cy="1005840"/>
          </a:xfrm>
          <a:prstGeom prst="rect">
            <a:avLst/>
          </a:prstGeom>
          <a:noFill/>
          <a:ln/>
        </p:spPr>
        <p:txBody>
          <a:bodyPr wrap="square" lIns="0" tIns="0" rIns="0" bIns="0" rtlCol="0" anchor="ctr"/>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Las oportunidades que hoy El Palco Parrilla</a:t>
            </a:r>
            <a:endParaRPr lang="en-US" sz="2600" dirty="0"/>
          </a:p>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está dejando sobre la mesa</a:t>
            </a:r>
            <a:endParaRPr lang="en-US" sz="2600" dirty="0"/>
          </a:p>
        </p:txBody>
      </p:sp>
      <p:sp>
        <p:nvSpPr>
          <p:cNvPr id="4" name="Shape 2"/>
          <p:cNvSpPr/>
          <p:nvPr/>
        </p:nvSpPr>
        <p:spPr>
          <a:xfrm>
            <a:off x="640080" y="1783080"/>
            <a:ext cx="5257800" cy="749808"/>
          </a:xfrm>
          <a:prstGeom prst="roundRect">
            <a:avLst>
              <a:gd name="adj" fmla="val 8537"/>
            </a:avLst>
          </a:prstGeom>
          <a:solidFill>
            <a:srgbClr val="2B2622"/>
          </a:solidFill>
          <a:ln/>
        </p:spPr>
      </p:sp>
      <p:sp>
        <p:nvSpPr>
          <p:cNvPr id="5" name="Shape 3"/>
          <p:cNvSpPr/>
          <p:nvPr/>
        </p:nvSpPr>
        <p:spPr>
          <a:xfrm>
            <a:off x="1078992" y="1929384"/>
            <a:ext cx="457200" cy="457200"/>
          </a:xfrm>
          <a:prstGeom prst="ellipse">
            <a:avLst/>
          </a:prstGeom>
          <a:solidFill>
            <a:srgbClr val="3A342E"/>
          </a:solidFill>
          <a:ln/>
        </p:spPr>
      </p:sp>
      <p:pic>
        <p:nvPicPr>
          <p:cNvPr id="6" name="Image 0" descr="/tmp/claude-0/-home-user-Presentaciones-y-varios/903c1196-30c4-57a8-b469-52313f1ce01c/scratchpad/palco/icons/instagram_C1502E.png">    </p:cNvPr>
          <p:cNvPicPr>
            <a:picLocks noChangeAspect="1"/>
          </p:cNvPicPr>
          <p:nvPr/>
        </p:nvPicPr>
        <p:blipFill>
          <a:blip r:embed="rId1"/>
          <a:stretch>
            <a:fillRect/>
          </a:stretch>
        </p:blipFill>
        <p:spPr>
          <a:xfrm>
            <a:off x="1181862" y="2032254"/>
            <a:ext cx="251460" cy="251460"/>
          </a:xfrm>
          <a:prstGeom prst="rect">
            <a:avLst/>
          </a:prstGeom>
        </p:spPr>
      </p:pic>
      <p:sp>
        <p:nvSpPr>
          <p:cNvPr id="7" name="Text 4"/>
          <p:cNvSpPr/>
          <p:nvPr/>
        </p:nvSpPr>
        <p:spPr>
          <a:xfrm>
            <a:off x="150876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Activar remarketing sobre los 21.000 seguidores de Instagram, hoy sin ninguna campaña de reimpacto.</a:t>
            </a:r>
            <a:endParaRPr lang="en-US" sz="1020" dirty="0"/>
          </a:p>
        </p:txBody>
      </p:sp>
      <p:sp>
        <p:nvSpPr>
          <p:cNvPr id="8" name="Shape 5"/>
          <p:cNvSpPr/>
          <p:nvPr/>
        </p:nvSpPr>
        <p:spPr>
          <a:xfrm>
            <a:off x="6217920" y="1783080"/>
            <a:ext cx="5257800" cy="749808"/>
          </a:xfrm>
          <a:prstGeom prst="roundRect">
            <a:avLst>
              <a:gd name="adj" fmla="val 8537"/>
            </a:avLst>
          </a:prstGeom>
          <a:solidFill>
            <a:srgbClr val="2B2622"/>
          </a:solidFill>
          <a:ln/>
        </p:spPr>
      </p:sp>
      <p:sp>
        <p:nvSpPr>
          <p:cNvPr id="9" name="Shape 6"/>
          <p:cNvSpPr/>
          <p:nvPr/>
        </p:nvSpPr>
        <p:spPr>
          <a:xfrm>
            <a:off x="6656832" y="1929384"/>
            <a:ext cx="457200" cy="457200"/>
          </a:xfrm>
          <a:prstGeom prst="ellipse">
            <a:avLst/>
          </a:prstGeom>
          <a:solidFill>
            <a:srgbClr val="3A342E"/>
          </a:solidFill>
          <a:ln/>
        </p:spPr>
      </p:sp>
      <p:pic>
        <p:nvPicPr>
          <p:cNvPr id="10" name="Image 1" descr="/tmp/claude-0/-home-user-Presentaciones-y-varios/903c1196-30c4-57a8-b469-52313f1ce01c/scratchpad/palco/icons/star_C1502E.png">    </p:cNvPr>
          <p:cNvPicPr>
            <a:picLocks noChangeAspect="1"/>
          </p:cNvPicPr>
          <p:nvPr/>
        </p:nvPicPr>
        <p:blipFill>
          <a:blip r:embed="rId2"/>
          <a:stretch>
            <a:fillRect/>
          </a:stretch>
        </p:blipFill>
        <p:spPr>
          <a:xfrm>
            <a:off x="6759702" y="2032254"/>
            <a:ext cx="251460" cy="251460"/>
          </a:xfrm>
          <a:prstGeom prst="rect">
            <a:avLst/>
          </a:prstGeom>
        </p:spPr>
      </p:pic>
      <p:sp>
        <p:nvSpPr>
          <p:cNvPr id="11" name="Text 7"/>
          <p:cNvSpPr/>
          <p:nvPr/>
        </p:nvSpPr>
        <p:spPr>
          <a:xfrm>
            <a:off x="708660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Convertir las 2.483 reseñas (4.8/5) en creativos de prueba social para la etapa de conversión.</a:t>
            </a:r>
            <a:endParaRPr lang="en-US" sz="1020" dirty="0"/>
          </a:p>
        </p:txBody>
      </p:sp>
      <p:sp>
        <p:nvSpPr>
          <p:cNvPr id="12" name="Shape 8"/>
          <p:cNvSpPr/>
          <p:nvPr/>
        </p:nvSpPr>
        <p:spPr>
          <a:xfrm>
            <a:off x="640080" y="2679192"/>
            <a:ext cx="5257800" cy="749808"/>
          </a:xfrm>
          <a:prstGeom prst="roundRect">
            <a:avLst>
              <a:gd name="adj" fmla="val 8537"/>
            </a:avLst>
          </a:prstGeom>
          <a:solidFill>
            <a:srgbClr val="2B2622"/>
          </a:solidFill>
          <a:ln/>
        </p:spPr>
      </p:sp>
      <p:sp>
        <p:nvSpPr>
          <p:cNvPr id="13" name="Shape 9"/>
          <p:cNvSpPr/>
          <p:nvPr/>
        </p:nvSpPr>
        <p:spPr>
          <a:xfrm>
            <a:off x="1078992" y="2825496"/>
            <a:ext cx="457200" cy="457200"/>
          </a:xfrm>
          <a:prstGeom prst="ellipse">
            <a:avLst/>
          </a:prstGeom>
          <a:solidFill>
            <a:srgbClr val="3A342E"/>
          </a:solidFill>
          <a:ln/>
        </p:spPr>
      </p:sp>
      <p:pic>
        <p:nvPicPr>
          <p:cNvPr id="14" name="Image 2" descr="/tmp/claude-0/-home-user-Presentaciones-y-varios/903c1196-30c4-57a8-b469-52313f1ce01c/scratchpad/palco/icons/target_C1502E.png">    </p:cNvPr>
          <p:cNvPicPr>
            <a:picLocks noChangeAspect="1"/>
          </p:cNvPicPr>
          <p:nvPr/>
        </p:nvPicPr>
        <p:blipFill>
          <a:blip r:embed="rId3"/>
          <a:stretch>
            <a:fillRect/>
          </a:stretch>
        </p:blipFill>
        <p:spPr>
          <a:xfrm>
            <a:off x="1181862" y="2928366"/>
            <a:ext cx="251460" cy="251460"/>
          </a:xfrm>
          <a:prstGeom prst="rect">
            <a:avLst/>
          </a:prstGeom>
        </p:spPr>
      </p:pic>
      <p:sp>
        <p:nvSpPr>
          <p:cNvPr id="15" name="Text 10"/>
          <p:cNvSpPr/>
          <p:nvPr/>
        </p:nvSpPr>
        <p:spPr>
          <a:xfrm>
            <a:off x="150876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el reconocimiento de Tulio Recomienda como ancla de autoridad en la campaña de descubrimiento.</a:t>
            </a:r>
            <a:endParaRPr lang="en-US" sz="1020" dirty="0"/>
          </a:p>
        </p:txBody>
      </p:sp>
      <p:sp>
        <p:nvSpPr>
          <p:cNvPr id="16" name="Shape 11"/>
          <p:cNvSpPr/>
          <p:nvPr/>
        </p:nvSpPr>
        <p:spPr>
          <a:xfrm>
            <a:off x="6217920" y="2679192"/>
            <a:ext cx="5257800" cy="749808"/>
          </a:xfrm>
          <a:prstGeom prst="roundRect">
            <a:avLst>
              <a:gd name="adj" fmla="val 8537"/>
            </a:avLst>
          </a:prstGeom>
          <a:solidFill>
            <a:srgbClr val="2B2622"/>
          </a:solidFill>
          <a:ln/>
        </p:spPr>
      </p:sp>
      <p:sp>
        <p:nvSpPr>
          <p:cNvPr id="17" name="Shape 12"/>
          <p:cNvSpPr/>
          <p:nvPr/>
        </p:nvSpPr>
        <p:spPr>
          <a:xfrm>
            <a:off x="6656832" y="2825496"/>
            <a:ext cx="457200" cy="457200"/>
          </a:xfrm>
          <a:prstGeom prst="ellipse">
            <a:avLst/>
          </a:prstGeom>
          <a:solidFill>
            <a:srgbClr val="3A342E"/>
          </a:solidFill>
          <a:ln/>
        </p:spPr>
      </p:sp>
      <p:pic>
        <p:nvPicPr>
          <p:cNvPr id="18" name="Image 3" descr="/tmp/claude-0/-home-user-Presentaciones-y-varios/903c1196-30c4-57a8-b469-52313f1ce01c/scratchpad/palco/icons/clock_C1502E.png">    </p:cNvPr>
          <p:cNvPicPr>
            <a:picLocks noChangeAspect="1"/>
          </p:cNvPicPr>
          <p:nvPr/>
        </p:nvPicPr>
        <p:blipFill>
          <a:blip r:embed="rId4"/>
          <a:stretch>
            <a:fillRect/>
          </a:stretch>
        </p:blipFill>
        <p:spPr>
          <a:xfrm>
            <a:off x="6759702" y="2928366"/>
            <a:ext cx="251460" cy="251460"/>
          </a:xfrm>
          <a:prstGeom prst="rect">
            <a:avLst/>
          </a:prstGeom>
        </p:spPr>
      </p:pic>
      <p:sp>
        <p:nvSpPr>
          <p:cNvPr id="19" name="Text 13"/>
          <p:cNvSpPr/>
          <p:nvPr/>
        </p:nvSpPr>
        <p:spPr>
          <a:xfrm>
            <a:off x="708660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Crear un público de clientes con más de 90 días sin visitar para campañas de reactivación.</a:t>
            </a:r>
            <a:endParaRPr lang="en-US" sz="1020" dirty="0"/>
          </a:p>
        </p:txBody>
      </p:sp>
      <p:sp>
        <p:nvSpPr>
          <p:cNvPr id="20" name="Shape 14"/>
          <p:cNvSpPr/>
          <p:nvPr/>
        </p:nvSpPr>
        <p:spPr>
          <a:xfrm>
            <a:off x="640080" y="3575304"/>
            <a:ext cx="5257800" cy="749808"/>
          </a:xfrm>
          <a:prstGeom prst="roundRect">
            <a:avLst>
              <a:gd name="adj" fmla="val 8537"/>
            </a:avLst>
          </a:prstGeom>
          <a:solidFill>
            <a:srgbClr val="2B2622"/>
          </a:solidFill>
          <a:ln/>
        </p:spPr>
      </p:sp>
      <p:sp>
        <p:nvSpPr>
          <p:cNvPr id="21" name="Shape 15"/>
          <p:cNvSpPr/>
          <p:nvPr/>
        </p:nvSpPr>
        <p:spPr>
          <a:xfrm>
            <a:off x="1078992" y="3721608"/>
            <a:ext cx="457200" cy="457200"/>
          </a:xfrm>
          <a:prstGeom prst="ellipse">
            <a:avLst/>
          </a:prstGeom>
          <a:solidFill>
            <a:srgbClr val="3A342E"/>
          </a:solidFill>
          <a:ln/>
        </p:spPr>
      </p:sp>
      <p:pic>
        <p:nvPicPr>
          <p:cNvPr id="22" name="Image 4" descr="/tmp/claude-0/-home-user-Presentaciones-y-varios/903c1196-30c4-57a8-b469-52313f1ce01c/scratchpad/palco/icons/gift_C1502E.png">    </p:cNvPr>
          <p:cNvPicPr>
            <a:picLocks noChangeAspect="1"/>
          </p:cNvPicPr>
          <p:nvPr/>
        </p:nvPicPr>
        <p:blipFill>
          <a:blip r:embed="rId5"/>
          <a:stretch>
            <a:fillRect/>
          </a:stretch>
        </p:blipFill>
        <p:spPr>
          <a:xfrm>
            <a:off x="1181862" y="3824478"/>
            <a:ext cx="251460" cy="251460"/>
          </a:xfrm>
          <a:prstGeom prst="rect">
            <a:avLst/>
          </a:prstGeom>
        </p:spPr>
      </p:pic>
      <p:sp>
        <p:nvSpPr>
          <p:cNvPr id="23" name="Text 16"/>
          <p:cNvSpPr/>
          <p:nvPr/>
        </p:nvSpPr>
        <p:spPr>
          <a:xfrm>
            <a:off x="150876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Lanzar campaña de bonos de regalo en fechas clave: Navidad, Amor y Amistad, Día del Padre y de la Madre.</a:t>
            </a:r>
            <a:endParaRPr lang="en-US" sz="1020" dirty="0"/>
          </a:p>
        </p:txBody>
      </p:sp>
      <p:sp>
        <p:nvSpPr>
          <p:cNvPr id="24" name="Shape 17"/>
          <p:cNvSpPr/>
          <p:nvPr/>
        </p:nvSpPr>
        <p:spPr>
          <a:xfrm>
            <a:off x="6217920" y="3575304"/>
            <a:ext cx="5257800" cy="749808"/>
          </a:xfrm>
          <a:prstGeom prst="roundRect">
            <a:avLst>
              <a:gd name="adj" fmla="val 8537"/>
            </a:avLst>
          </a:prstGeom>
          <a:solidFill>
            <a:srgbClr val="2B2622"/>
          </a:solidFill>
          <a:ln/>
        </p:spPr>
      </p:sp>
      <p:sp>
        <p:nvSpPr>
          <p:cNvPr id="25" name="Shape 18"/>
          <p:cNvSpPr/>
          <p:nvPr/>
        </p:nvSpPr>
        <p:spPr>
          <a:xfrm>
            <a:off x="6656832" y="3721608"/>
            <a:ext cx="457200" cy="457200"/>
          </a:xfrm>
          <a:prstGeom prst="ellipse">
            <a:avLst/>
          </a:prstGeom>
          <a:solidFill>
            <a:srgbClr val="3A342E"/>
          </a:solidFill>
          <a:ln/>
        </p:spPr>
      </p:sp>
      <p:pic>
        <p:nvPicPr>
          <p:cNvPr id="26" name="Image 5" descr="/tmp/claude-0/-home-user-Presentaciones-y-varios/903c1196-30c4-57a8-b469-52313f1ce01c/scratchpad/palco/icons/paw_C1502E.png">    </p:cNvPr>
          <p:cNvPicPr>
            <a:picLocks noChangeAspect="1"/>
          </p:cNvPicPr>
          <p:nvPr/>
        </p:nvPicPr>
        <p:blipFill>
          <a:blip r:embed="rId6"/>
          <a:stretch>
            <a:fillRect/>
          </a:stretch>
        </p:blipFill>
        <p:spPr>
          <a:xfrm>
            <a:off x="6759702" y="3824478"/>
            <a:ext cx="251460" cy="251460"/>
          </a:xfrm>
          <a:prstGeom prst="rect">
            <a:avLst/>
          </a:prstGeom>
        </p:spPr>
      </p:pic>
      <p:sp>
        <p:nvSpPr>
          <p:cNvPr id="27" name="Text 19"/>
          <p:cNvSpPr/>
          <p:nvPr/>
        </p:nvSpPr>
        <p:spPr>
          <a:xfrm>
            <a:off x="708660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Segmentar la audiencia pet friendly como nicho diferenciador frente a otros restaurantes campestres.</a:t>
            </a:r>
            <a:endParaRPr lang="en-US" sz="1020" dirty="0"/>
          </a:p>
        </p:txBody>
      </p:sp>
      <p:sp>
        <p:nvSpPr>
          <p:cNvPr id="28" name="Shape 20"/>
          <p:cNvSpPr/>
          <p:nvPr/>
        </p:nvSpPr>
        <p:spPr>
          <a:xfrm>
            <a:off x="640080" y="4471416"/>
            <a:ext cx="5257800" cy="749808"/>
          </a:xfrm>
          <a:prstGeom prst="roundRect">
            <a:avLst>
              <a:gd name="adj" fmla="val 8537"/>
            </a:avLst>
          </a:prstGeom>
          <a:solidFill>
            <a:srgbClr val="2B2622"/>
          </a:solidFill>
          <a:ln/>
        </p:spPr>
      </p:sp>
      <p:sp>
        <p:nvSpPr>
          <p:cNvPr id="29" name="Shape 21"/>
          <p:cNvSpPr/>
          <p:nvPr/>
        </p:nvSpPr>
        <p:spPr>
          <a:xfrm>
            <a:off x="1078992" y="4617720"/>
            <a:ext cx="457200" cy="457200"/>
          </a:xfrm>
          <a:prstGeom prst="ellipse">
            <a:avLst/>
          </a:prstGeom>
          <a:solidFill>
            <a:srgbClr val="3A342E"/>
          </a:solidFill>
          <a:ln/>
        </p:spPr>
      </p:sp>
      <p:pic>
        <p:nvPicPr>
          <p:cNvPr id="30" name="Image 6" descr="/tmp/claude-0/-home-user-Presentaciones-y-varios/903c1196-30c4-57a8-b469-52313f1ce01c/scratchpad/palco/icons/briefcase_C1502E.png">    </p:cNvPr>
          <p:cNvPicPr>
            <a:picLocks noChangeAspect="1"/>
          </p:cNvPicPr>
          <p:nvPr/>
        </p:nvPicPr>
        <p:blipFill>
          <a:blip r:embed="rId7"/>
          <a:stretch>
            <a:fillRect/>
          </a:stretch>
        </p:blipFill>
        <p:spPr>
          <a:xfrm>
            <a:off x="1181862" y="4720590"/>
            <a:ext cx="251460" cy="251460"/>
          </a:xfrm>
          <a:prstGeom prst="rect">
            <a:avLst/>
          </a:prstGeom>
        </p:spPr>
      </p:pic>
      <p:sp>
        <p:nvSpPr>
          <p:cNvPr id="31" name="Text 22"/>
          <p:cNvSpPr/>
          <p:nvPr/>
        </p:nvSpPr>
        <p:spPr>
          <a:xfrm>
            <a:off x="150876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Construir un embudo independiente para eventos empresariales, separado del tráfico familiar.</a:t>
            </a:r>
            <a:endParaRPr lang="en-US" sz="1020" dirty="0"/>
          </a:p>
        </p:txBody>
      </p:sp>
      <p:sp>
        <p:nvSpPr>
          <p:cNvPr id="32" name="Shape 23"/>
          <p:cNvSpPr/>
          <p:nvPr/>
        </p:nvSpPr>
        <p:spPr>
          <a:xfrm>
            <a:off x="6217920" y="4471416"/>
            <a:ext cx="5257800" cy="749808"/>
          </a:xfrm>
          <a:prstGeom prst="roundRect">
            <a:avLst>
              <a:gd name="adj" fmla="val 8537"/>
            </a:avLst>
          </a:prstGeom>
          <a:solidFill>
            <a:srgbClr val="2B2622"/>
          </a:solidFill>
          <a:ln/>
        </p:spPr>
      </p:sp>
      <p:sp>
        <p:nvSpPr>
          <p:cNvPr id="33" name="Shape 24"/>
          <p:cNvSpPr/>
          <p:nvPr/>
        </p:nvSpPr>
        <p:spPr>
          <a:xfrm>
            <a:off x="6656832" y="4617720"/>
            <a:ext cx="457200" cy="457200"/>
          </a:xfrm>
          <a:prstGeom prst="ellipse">
            <a:avLst/>
          </a:prstGeom>
          <a:solidFill>
            <a:srgbClr val="3A342E"/>
          </a:solidFill>
          <a:ln/>
        </p:spPr>
      </p:sp>
      <p:pic>
        <p:nvPicPr>
          <p:cNvPr id="34" name="Image 7" descr="/tmp/claude-0/-home-user-Presentaciones-y-varios/903c1196-30c4-57a8-b469-52313f1ce01c/scratchpad/palco/icons/child_C1502E.png">    </p:cNvPr>
          <p:cNvPicPr>
            <a:picLocks noChangeAspect="1"/>
          </p:cNvPicPr>
          <p:nvPr/>
        </p:nvPicPr>
        <p:blipFill>
          <a:blip r:embed="rId8"/>
          <a:stretch>
            <a:fillRect/>
          </a:stretch>
        </p:blipFill>
        <p:spPr>
          <a:xfrm>
            <a:off x="6759702" y="4720590"/>
            <a:ext cx="251460" cy="251460"/>
          </a:xfrm>
          <a:prstGeom prst="rect">
            <a:avLst/>
          </a:prstGeom>
        </p:spPr>
      </p:pic>
      <p:sp>
        <p:nvSpPr>
          <p:cNvPr id="35" name="Text 25"/>
          <p:cNvSpPr/>
          <p:nvPr/>
        </p:nvSpPr>
        <p:spPr>
          <a:xfrm>
            <a:off x="708660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Anunciar el menú infantil y las opciones vegetarianas, hoy ausentes en la pauta activa.</a:t>
            </a:r>
            <a:endParaRPr lang="en-US" sz="1020" dirty="0"/>
          </a:p>
        </p:txBody>
      </p:sp>
      <p:sp>
        <p:nvSpPr>
          <p:cNvPr id="36" name="Shape 26"/>
          <p:cNvSpPr/>
          <p:nvPr/>
        </p:nvSpPr>
        <p:spPr>
          <a:xfrm>
            <a:off x="640080" y="5367528"/>
            <a:ext cx="5257800" cy="749808"/>
          </a:xfrm>
          <a:prstGeom prst="roundRect">
            <a:avLst>
              <a:gd name="adj" fmla="val 8537"/>
            </a:avLst>
          </a:prstGeom>
          <a:solidFill>
            <a:srgbClr val="2B2622"/>
          </a:solidFill>
          <a:ln/>
        </p:spPr>
      </p:sp>
      <p:sp>
        <p:nvSpPr>
          <p:cNvPr id="37" name="Shape 27"/>
          <p:cNvSpPr/>
          <p:nvPr/>
        </p:nvSpPr>
        <p:spPr>
          <a:xfrm>
            <a:off x="1078992" y="5513832"/>
            <a:ext cx="457200" cy="457200"/>
          </a:xfrm>
          <a:prstGeom prst="ellipse">
            <a:avLst/>
          </a:prstGeom>
          <a:solidFill>
            <a:srgbClr val="3A342E"/>
          </a:solidFill>
          <a:ln/>
        </p:spPr>
      </p:sp>
      <p:pic>
        <p:nvPicPr>
          <p:cNvPr id="38" name="Image 8" descr="/tmp/claude-0/-home-user-Presentaciones-y-varios/903c1196-30c4-57a8-b469-52313f1ce01c/scratchpad/palco/icons/mountain_C1502E.png">    </p:cNvPr>
          <p:cNvPicPr>
            <a:picLocks noChangeAspect="1"/>
          </p:cNvPicPr>
          <p:nvPr/>
        </p:nvPicPr>
        <p:blipFill>
          <a:blip r:embed="rId9"/>
          <a:stretch>
            <a:fillRect/>
          </a:stretch>
        </p:blipFill>
        <p:spPr>
          <a:xfrm>
            <a:off x="1181862" y="5616702"/>
            <a:ext cx="251460" cy="251460"/>
          </a:xfrm>
          <a:prstGeom prst="rect">
            <a:avLst/>
          </a:prstGeom>
        </p:spPr>
      </p:pic>
      <p:sp>
        <p:nvSpPr>
          <p:cNvPr id="39" name="Text 28"/>
          <p:cNvSpPr/>
          <p:nvPr/>
        </p:nvSpPr>
        <p:spPr>
          <a:xfrm>
            <a:off x="150876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bungee, muro de escalada y tirolínea para atraer familias con niños por interés de aventura.</a:t>
            </a:r>
            <a:endParaRPr lang="en-US" sz="1020" dirty="0"/>
          </a:p>
        </p:txBody>
      </p:sp>
      <p:sp>
        <p:nvSpPr>
          <p:cNvPr id="40" name="Shape 29"/>
          <p:cNvSpPr/>
          <p:nvPr/>
        </p:nvSpPr>
        <p:spPr>
          <a:xfrm>
            <a:off x="6217920" y="5367528"/>
            <a:ext cx="5257800" cy="749808"/>
          </a:xfrm>
          <a:prstGeom prst="roundRect">
            <a:avLst>
              <a:gd name="adj" fmla="val 8537"/>
            </a:avLst>
          </a:prstGeom>
          <a:solidFill>
            <a:srgbClr val="2B2622"/>
          </a:solidFill>
          <a:ln/>
        </p:spPr>
      </p:sp>
      <p:sp>
        <p:nvSpPr>
          <p:cNvPr id="41" name="Shape 30"/>
          <p:cNvSpPr/>
          <p:nvPr/>
        </p:nvSpPr>
        <p:spPr>
          <a:xfrm>
            <a:off x="6656832" y="5513832"/>
            <a:ext cx="457200" cy="457200"/>
          </a:xfrm>
          <a:prstGeom prst="ellipse">
            <a:avLst/>
          </a:prstGeom>
          <a:solidFill>
            <a:srgbClr val="3A342E"/>
          </a:solidFill>
          <a:ln/>
        </p:spPr>
      </p:sp>
      <p:pic>
        <p:nvPicPr>
          <p:cNvPr id="42" name="Image 9" descr="/tmp/claude-0/-home-user-Presentaciones-y-varios/903c1196-30c4-57a8-b469-52313f1ce01c/scratchpad/palco/icons/pin_C1502E.png">    </p:cNvPr>
          <p:cNvPicPr>
            <a:picLocks noChangeAspect="1"/>
          </p:cNvPicPr>
          <p:nvPr/>
        </p:nvPicPr>
        <p:blipFill>
          <a:blip r:embed="rId10"/>
          <a:stretch>
            <a:fillRect/>
          </a:stretch>
        </p:blipFill>
        <p:spPr>
          <a:xfrm>
            <a:off x="6759702" y="5616702"/>
            <a:ext cx="251460" cy="251460"/>
          </a:xfrm>
          <a:prstGeom prst="rect">
            <a:avLst/>
          </a:prstGeom>
        </p:spPr>
      </p:pic>
      <p:sp>
        <p:nvSpPr>
          <p:cNvPr id="43" name="Text 31"/>
          <p:cNvSpPr/>
          <p:nvPr/>
        </p:nvSpPr>
        <p:spPr>
          <a:xfrm>
            <a:off x="708660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Posicionar la cercanía a Bogotá como “escapada cercana” frente a competidores más lejanos.</a:t>
            </a:r>
            <a:endParaRPr lang="en-US" sz="1020" dirty="0"/>
          </a:p>
        </p:txBody>
      </p:sp>
      <p:sp>
        <p:nvSpPr>
          <p:cNvPr id="4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1B18"/>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5B6B4F">
              <a:alpha val="25000"/>
            </a:srgbClr>
          </a:solidFill>
          <a:ln/>
        </p:spPr>
      </p:sp>
      <p:sp>
        <p:nvSpPr>
          <p:cNvPr id="3" name="Text 1"/>
          <p:cNvSpPr/>
          <p:nvPr/>
        </p:nvSpPr>
        <p:spPr>
          <a:xfrm>
            <a:off x="777240" y="1188720"/>
            <a:ext cx="7315200" cy="365760"/>
          </a:xfrm>
          <a:prstGeom prst="rect">
            <a:avLst/>
          </a:prstGeom>
          <a:noFill/>
          <a:ln/>
        </p:spPr>
        <p:txBody>
          <a:bodyPr wrap="square" lIns="0" tIns="0" rIns="0" bIns="0" rtlCol="0" anchor="ctr"/>
          <a:lstStyle/>
          <a:p>
            <a:pPr indent="0" marL="0">
              <a:buNone/>
            </a:pPr>
            <a:r>
              <a:rPr lang="en-US" sz="1300" b="1" spc="300" kern="0" dirty="0">
                <a:solidFill>
                  <a:srgbClr val="C1502E"/>
                </a:solidFill>
                <a:latin typeface="Calibri" pitchFamily="34" charset="0"/>
                <a:ea typeface="Calibri" pitchFamily="34" charset="-122"/>
                <a:cs typeface="Calibri" pitchFamily="34" charset="-120"/>
              </a:rPr>
              <a:t>EL SIGUIENTE PASO</a:t>
            </a:r>
            <a:endParaRPr lang="en-US" sz="1300" dirty="0"/>
          </a:p>
        </p:txBody>
      </p:sp>
      <p:sp>
        <p:nvSpPr>
          <p:cNvPr id="4" name="Text 2"/>
          <p:cNvSpPr/>
          <p:nvPr/>
        </p:nvSpPr>
        <p:spPr>
          <a:xfrm>
            <a:off x="731520" y="1600200"/>
            <a:ext cx="10058400" cy="15544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No es más presupuesto.</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Es arquitectura.</a:t>
            </a:r>
            <a:endParaRPr lang="en-US" sz="3800" dirty="0"/>
          </a:p>
        </p:txBody>
      </p:sp>
      <p:sp>
        <p:nvSpPr>
          <p:cNvPr id="5" name="Shape 3"/>
          <p:cNvSpPr/>
          <p:nvPr/>
        </p:nvSpPr>
        <p:spPr>
          <a:xfrm>
            <a:off x="777240" y="3520440"/>
            <a:ext cx="548640" cy="548640"/>
          </a:xfrm>
          <a:prstGeom prst="ellipse">
            <a:avLst/>
          </a:prstGeom>
          <a:solidFill>
            <a:srgbClr val="C1502E"/>
          </a:solidFill>
          <a:ln/>
        </p:spPr>
      </p:sp>
      <p:sp>
        <p:nvSpPr>
          <p:cNvPr id="6" name="Text 4"/>
          <p:cNvSpPr/>
          <p:nvPr/>
        </p:nvSpPr>
        <p:spPr>
          <a:xfrm>
            <a:off x="77724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1</a:t>
            </a:r>
            <a:endParaRPr lang="en-US" sz="2040" dirty="0"/>
          </a:p>
        </p:txBody>
      </p:sp>
      <p:sp>
        <p:nvSpPr>
          <p:cNvPr id="7" name="Text 5"/>
          <p:cNvSpPr/>
          <p:nvPr/>
        </p:nvSpPr>
        <p:spPr>
          <a:xfrm>
            <a:off x="77724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Auditoría de cuenta y píxel</a:t>
            </a:r>
            <a:endParaRPr lang="en-US" sz="1500" dirty="0"/>
          </a:p>
        </p:txBody>
      </p:sp>
      <p:sp>
        <p:nvSpPr>
          <p:cNvPr id="8" name="Text 6"/>
          <p:cNvSpPr/>
          <p:nvPr/>
        </p:nvSpPr>
        <p:spPr>
          <a:xfrm>
            <a:off x="77724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Revisión técnica de la configuración actual</a:t>
            </a:r>
            <a:endParaRPr lang="en-US" sz="1200" dirty="0"/>
          </a:p>
        </p:txBody>
      </p:sp>
      <p:sp>
        <p:nvSpPr>
          <p:cNvPr id="9" name="Shape 7"/>
          <p:cNvSpPr/>
          <p:nvPr/>
        </p:nvSpPr>
        <p:spPr>
          <a:xfrm>
            <a:off x="4480560" y="3520440"/>
            <a:ext cx="548640" cy="548640"/>
          </a:xfrm>
          <a:prstGeom prst="ellipse">
            <a:avLst/>
          </a:prstGeom>
          <a:solidFill>
            <a:srgbClr val="C1502E"/>
          </a:solidFill>
          <a:ln/>
        </p:spPr>
      </p:sp>
      <p:sp>
        <p:nvSpPr>
          <p:cNvPr id="10" name="Text 8"/>
          <p:cNvSpPr/>
          <p:nvPr/>
        </p:nvSpPr>
        <p:spPr>
          <a:xfrm>
            <a:off x="448056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2</a:t>
            </a:r>
            <a:endParaRPr lang="en-US" sz="2040" dirty="0"/>
          </a:p>
        </p:txBody>
      </p:sp>
      <p:sp>
        <p:nvSpPr>
          <p:cNvPr id="11" name="Text 9"/>
          <p:cNvSpPr/>
          <p:nvPr/>
        </p:nvSpPr>
        <p:spPr>
          <a:xfrm>
            <a:off x="448056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Diseño de las 4 campañas</a:t>
            </a:r>
            <a:endParaRPr lang="en-US" sz="1500" dirty="0"/>
          </a:p>
        </p:txBody>
      </p:sp>
      <p:sp>
        <p:nvSpPr>
          <p:cNvPr id="12" name="Text 10"/>
          <p:cNvSpPr/>
          <p:nvPr/>
        </p:nvSpPr>
        <p:spPr>
          <a:xfrm>
            <a:off x="448056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Presentación, Evaluación, Conversión, Ascensión</a:t>
            </a:r>
            <a:endParaRPr lang="en-US" sz="1200" dirty="0"/>
          </a:p>
        </p:txBody>
      </p:sp>
      <p:sp>
        <p:nvSpPr>
          <p:cNvPr id="13" name="Shape 11"/>
          <p:cNvSpPr/>
          <p:nvPr/>
        </p:nvSpPr>
        <p:spPr>
          <a:xfrm>
            <a:off x="8183880" y="3520440"/>
            <a:ext cx="548640" cy="548640"/>
          </a:xfrm>
          <a:prstGeom prst="ellipse">
            <a:avLst/>
          </a:prstGeom>
          <a:solidFill>
            <a:srgbClr val="C1502E"/>
          </a:solidFill>
          <a:ln/>
        </p:spPr>
      </p:sp>
      <p:sp>
        <p:nvSpPr>
          <p:cNvPr id="14" name="Text 12"/>
          <p:cNvSpPr/>
          <p:nvPr/>
        </p:nvSpPr>
        <p:spPr>
          <a:xfrm>
            <a:off x="8183880" y="3520440"/>
            <a:ext cx="548640" cy="548640"/>
          </a:xfrm>
          <a:prstGeom prst="rect">
            <a:avLst/>
          </a:prstGeom>
          <a:noFill/>
          <a:ln/>
        </p:spPr>
        <p:txBody>
          <a:bodyPr wrap="square" lIns="0" tIns="0" rIns="0" bIns="0" rtlCol="0" anchor="ctr"/>
          <a:lstStyle/>
          <a:p>
            <a:pPr algn="ctr" indent="0" marL="0">
              <a:buNone/>
            </a:pPr>
            <a:r>
              <a:rPr lang="en-US" sz="2040" b="1" dirty="0">
                <a:solidFill>
                  <a:srgbClr val="FFFFFF"/>
                </a:solidFill>
                <a:latin typeface="Cambria" pitchFamily="34" charset="0"/>
                <a:ea typeface="Cambria" pitchFamily="34" charset="-122"/>
                <a:cs typeface="Cambria" pitchFamily="34" charset="-120"/>
              </a:rPr>
              <a:t>3</a:t>
            </a:r>
            <a:endParaRPr lang="en-US" sz="2040" dirty="0"/>
          </a:p>
        </p:txBody>
      </p:sp>
      <p:sp>
        <p:nvSpPr>
          <p:cNvPr id="15" name="Text 13"/>
          <p:cNvSpPr/>
          <p:nvPr/>
        </p:nvSpPr>
        <p:spPr>
          <a:xfrm>
            <a:off x="818388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Activación por etapas</a:t>
            </a:r>
            <a:endParaRPr lang="en-US" sz="1500" dirty="0"/>
          </a:p>
        </p:txBody>
      </p:sp>
      <p:sp>
        <p:nvSpPr>
          <p:cNvPr id="16" name="Text 14"/>
          <p:cNvSpPr/>
          <p:nvPr/>
        </p:nvSpPr>
        <p:spPr>
          <a:xfrm>
            <a:off x="8183880" y="4937760"/>
            <a:ext cx="3383280" cy="548640"/>
          </a:xfrm>
          <a:prstGeom prst="rect">
            <a:avLst/>
          </a:prstGeom>
          <a:noFill/>
          <a:ln/>
        </p:spPr>
        <p:txBody>
          <a:bodyPr wrap="square" lIns="0" tIns="0" rIns="0" bIns="0" rtlCol="0" anchor="ctr"/>
          <a:lstStyle/>
          <a:p>
            <a:pPr indent="0" marL="0">
              <a:buNone/>
            </a:pPr>
            <a:r>
              <a:rPr lang="en-US" sz="1200" dirty="0">
                <a:solidFill>
                  <a:srgbClr val="B8B4AC"/>
                </a:solidFill>
                <a:latin typeface="Calibri" pitchFamily="34" charset="0"/>
                <a:ea typeface="Calibri" pitchFamily="34" charset="-122"/>
                <a:cs typeface="Calibri" pitchFamily="34" charset="-120"/>
              </a:rPr>
              <a:t>Implementación progresiva y medible</a:t>
            </a:r>
            <a:endParaRPr lang="en-US" sz="12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96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2026-07-21T19:12:41Z</dcterms:created>
  <dcterms:modified xsi:type="dcterms:W3CDTF">2026-07-21T19:12:41Z</dcterms:modified>
</cp:coreProperties>
</file>