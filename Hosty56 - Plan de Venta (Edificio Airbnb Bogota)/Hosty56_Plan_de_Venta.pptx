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marco general.
MENSAJE PRINCIPAL: Esto es un sistema de adquisición y calificación de inversionistas, no una campaña de anuncios.
QUÉ EXPLICAR: Portada de apertura.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el marco conceptual antes de entrar en detalle.
MENSAJE PRINCIPAL: Sistema de adquisición y calificación, no campaña de anuncios.
QUÉ EXPLICAR: El horizonte es de 90 días; el propósito es validar el sistema, no garantizar una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los datos confirmados del activo.
MENSAJE PRINCIPAL: Hosty56 ya es un activo productivo, no un proyecto especulativo.
QUÉ EXPLICAR: Toda cifra es bruta; los datos no confirmados se marcan como 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Alinear expectativas desde el inicio.
MENSAJE PRINCIPAL: El objetivo de 90 días es validar el sistema, no garantizar una venta.
QUÉ EXPLICAR: El resultado esperado es deal flow, no un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embudo completo y dónde termina mi responsabilidad.
MENSAJE PRINCIPAL: Mi gestión cubre de Atención a Prospecto Calificado; de Reunión en adelante es responsabilidad del propietario.
QUÉ EXPLICAR: El embudo completo da contexto de negocio, aunque mi alcance sea solo la primera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amplitud de perfiles objetivo antes de segmentar.
MENSAJE PRINCIPAL: Son hipótesis, no certezas; los datos del primer mes dirán cuáles priorizar.
QUÉ EXPLICAR: Ningún perfil se descarta de entrada; el filtro real ocurre en la calificación, no en la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flexibilidad de comunicación según la modalidad de venta.
MENSAJE PRINCIPAL: Cada tesis es una plataforma de comunicación, no una promesa de rentabilidad.
QUÉ EXPLICAR: Se probarán varias tesis en paralelo para identificar cuál genera mejor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la limitación estructural de Meta Ads para este tipo de activo.
MENSAJE PRINCIPAL: No se depende solo de segmentación por intereses; se combina con creativos, landing, formularios y remarketing.
QUÉ EXPLICAR: Ángulos: inversión, activo, operación turística, oportunidad inmobiliaria, alto patrimonio. Formatos: video, imagen, carrusel.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formulario de calificación como filtro central del sistema.
MENSAJE PRINCIPAL: Preguntas profesionales, no invasivas, suficientes para inferir capacidad e intención.
QUÉ EXPLICAR: Quien no califica permanece en remarketing informativo, pero no se entrega como oportunidad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la landing como un entregable propio, con valor y costo independientes.
MENSAJE PRINCIPAL: No es una plantilla genérica; tiene diseño, copy y lógica de calificación a la medida, con un costo único de $450.000, aparte de los honorarios mensuales y de la pauta.
QUÉ EXPLICAR: Este pago cubre el desarrollo inicial; no se repite mensualmente salvo que se rediseñe.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cómo se profundiza el mensaje con quienes ya interactuaron.
MENSAJE PRINCIPAL: El remarketing revela más información a medida que el prospecto demuestra interés real.
QUÉ EXPLICAR: Las audiencias se ordenan de menor a mayor calidez de interacción.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la progresión lógica de los 90 días.
MENSAJE PRINCIPAL: Investigación y validación, luego adquisición y optimización, y finalmente escalamiento y consolidación.
QUÉ EXPLICAR: Al cierre del mes 3 se entregan recomendaciones para continuar, sin prometer un cierre de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seguridad mostrando un cronograma detallado.
MENSAJE PRINCIPAL: Cada quincena tiene un entregable concreto.
QUÉ EXPLICAR: El documento de plan de trabajo detalla semana a semana con KPI específico por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cómo se mide el éxito del proyecto.
MENSAJE PRINCIPAL: La calidad del prospecto pesa más que el volumen o el CPL.
QUÉ EXPLICAR: Ambos grupos de métricas se revisan juntos cada dos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Delimitar con claridad el alcance de mi gestión frente al del propietario.
MENSAJE PRINCIPAL: No actúo como corredor inmobiliario ni cierro la venta; entrego oportunidades comerciales calificadas.
QUÉ EXPLICAR: Mi gestión no garantiza una venta dentro de un periodo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Dejar por escrito las limitaciones del proyecto.
MENSAJE PRINCIPAL: Transparencia total sobre lo que el marketing puede y no puede garantizar.
QUÉ EXPLICAR: Esta diapositiva protege la relación con el cliente al alinear expectativas desde el día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con claridad los tres componentes de inversión.
MENSAJE PRINCIPAL: Gestión digital y landing se pagan siempre; la comisión de éxito solo si el comprador final proviene directamente de esta gestión.
QUÉ EXPLICAR: El presupuesto de pauta en Meta Ads es adicional y lo administra el propietario.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propuesta de acción clara.
MENSAJE PRINCIPAL: El lanzamiento depende de tener la información y los materiales listos.
QUÉ EXPLICAR: Los pasos son secuenciales; no se lanza campaña sin landing y formulario listos.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Dejar claro qué falta antes de poder lanzar campañas.
MENSAJE PRINCIPAL: Ningún dato no confirmado se usa en campaña; todo se solicita primero.
QUÉ EXPLICAR: El detalle completo de cada categoría está en el documento de plan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2.png"/><Relationship Id="rId5" Type="http://schemas.openxmlformats.org/officeDocument/2006/relationships/image" Target="../media/image-11-1.png"/><Relationship Id="rId6" Type="http://schemas.openxmlformats.org/officeDocument/2006/relationships/image" Target="../media/image-11-2.png"/><Relationship Id="rId7" Type="http://schemas.openxmlformats.org/officeDocument/2006/relationships/image" Target="../media/image-11-1.png"/><Relationship Id="rId8" Type="http://schemas.openxmlformats.org/officeDocument/2006/relationships/image" Target="../media/image-11-2.png"/><Relationship Id="rId9" Type="http://schemas.openxmlformats.org/officeDocument/2006/relationships/image" Target="../media/image-11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1188720" cy="1188720"/>
          </a:xfrm>
          <a:prstGeom prst="ellipse">
            <a:avLst/>
          </a:prstGeom>
          <a:solidFill>
            <a:srgbClr val="2A2E38"/>
          </a:solidFill>
          <a:ln/>
        </p:spPr>
      </p:sp>
      <p:pic>
        <p:nvPicPr>
          <p:cNvPr id="3" name="Image 0" descr="/tmp/hosty56_build/icons/build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40" y="8458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ADQUISICIÓN Y CALIFICACIÓN DE INVERSIONISTAS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de 90 Días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3520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Hosty56 · Activo inmobiliario de alto valor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adquisición digital: Meta Ads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 los propietarios de Hosty56  ·  Bogotá, Colombia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de adquisición, no una campaña de anuncios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5" name="Image 0" descr="/tmp/hosty56_build/icons/filte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2264054"/>
            <a:ext cx="318211" cy="318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30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buscamos volumen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49631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activo de $4.000 millones, el objetivo no es acumular contactos, sino identificar un número reducido de oportunidades reales.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9" name="Image 1" descr="/tmp/hosty56_build/icons/bullhor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3589934"/>
            <a:ext cx="318211" cy="3182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4564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como canal único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82219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canal digital principal y único que gestiono directamente en esta fase.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3" name="Image 2" descr="/tmp/hosty56_build/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4915814"/>
            <a:ext cx="318211" cy="3182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782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deal flow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514807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comerciales calificadas que pasan al proceso de venta del propietario — no una venta garantizada en 90 días.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ACTIVO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Hosty56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6" name="Image 0" descr="/tmp/hosty56_build/icons/building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293" y="2665933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vende el edificio completo (no propiedad horizontal)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1" name="Image 1" descr="/tmp/hosty56_build/icons/be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053" y="266593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7472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operación como alojamiento turístico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6" name="Image 2" descr="/tmp/hosty56_build/icons/char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813" y="2665933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$40M /mes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12648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brutos aproximados (~$480M/año)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59536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23960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1" name="Image 3" descr="/tmp/hosty56_build/icons/dolla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573" y="2665933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$4.000M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778240" y="3703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venta aproximado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brutas, antes de gastos operativos e impuestos. Ubicación exacta, área, ocupación y estados financieros: por validar con el propietario.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y validar un sistema de generación de demanda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captar y calificar compradores e inversionistas potenciales para el edificio completo, en un horizonte de 90 días.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607040" cy="2651760"/>
          </a:xfrm>
          <a:prstGeom prst="roundRect">
            <a:avLst>
              <a:gd name="adj" fmla="val 2759"/>
            </a:avLst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108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PLAN NO PROMETE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 del edificio dentro de los 90 días.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depende de factores externos al marketing: capacidad financiera real del comprador, negociación, due diligence, documentación, financiación, condiciones de mercado y decisión del propietario.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ESPERADO ES DEAL FLOW: oportunidades comerciales calificadas que pasan al proceso de venta.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ESTRATÉGICO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embudo de adquisición completo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gestión cubre hasta “Prospecto calificado”; de ahí en adelante, el propietario toma el relevo.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200" dirty="0"/>
          </a:p>
        </p:txBody>
      </p:sp>
      <p:pic>
        <p:nvPicPr>
          <p:cNvPr id="7" name="Image 0" descr="/tmp/hosty56_build/icons/arrowRight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3031236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97480" y="27432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1F26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</a:t>
            </a:r>
            <a:endParaRPr lang="en-US" sz="1200" dirty="0"/>
          </a:p>
        </p:txBody>
      </p:sp>
      <p:pic>
        <p:nvPicPr>
          <p:cNvPr id="10" name="Image 1" descr="/tmp/hosty56_build/icons/arrowRight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303123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27432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1F26"/>
          </a:solidFill>
          <a:ln/>
        </p:spPr>
      </p:sp>
      <p:sp>
        <p:nvSpPr>
          <p:cNvPr id="12" name="Text 8"/>
          <p:cNvSpPr/>
          <p:nvPr/>
        </p:nvSpPr>
        <p:spPr>
          <a:xfrm>
            <a:off x="48006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CONSIDERACIÓN</a:t>
            </a:r>
            <a:endParaRPr lang="en-US" sz="1200" dirty="0"/>
          </a:p>
        </p:txBody>
      </p:sp>
      <p:pic>
        <p:nvPicPr>
          <p:cNvPr id="13" name="Image 2" descr="/tmp/hosty56_build/icons/arrowRight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031236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812280" y="27432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1F26"/>
          </a:solidFill>
          <a:ln/>
        </p:spPr>
      </p:sp>
      <p:sp>
        <p:nvSpPr>
          <p:cNvPr id="15" name="Text 10"/>
          <p:cNvSpPr/>
          <p:nvPr/>
        </p:nvSpPr>
        <p:spPr>
          <a:xfrm>
            <a:off x="68580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200" dirty="0"/>
          </a:p>
        </p:txBody>
      </p:sp>
      <p:pic>
        <p:nvPicPr>
          <p:cNvPr id="16" name="Image 3" descr="/tmp/hosty56_build/icons/arrowRight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3031236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869680" y="27432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C1F26"/>
          </a:solidFill>
          <a:ln/>
        </p:spPr>
      </p:sp>
      <p:sp>
        <p:nvSpPr>
          <p:cNvPr id="18" name="Text 12"/>
          <p:cNvSpPr/>
          <p:nvPr/>
        </p:nvSpPr>
        <p:spPr>
          <a:xfrm>
            <a:off x="89154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CALIFICADO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3794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2F1EE"/>
          </a:solidFill>
          <a:ln/>
        </p:spPr>
      </p:sp>
      <p:sp>
        <p:nvSpPr>
          <p:cNvPr id="20" name="Text 14"/>
          <p:cNvSpPr/>
          <p:nvPr/>
        </p:nvSpPr>
        <p:spPr>
          <a:xfrm>
            <a:off x="68580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</a:t>
            </a:r>
            <a:endParaRPr lang="en-US" sz="1200" dirty="0"/>
          </a:p>
        </p:txBody>
      </p:sp>
      <p:pic>
        <p:nvPicPr>
          <p:cNvPr id="21" name="Image 4" descr="/tmp/hosty56_build/icons/arrowRight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4082796"/>
            <a:ext cx="201168" cy="20116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2697480" y="3794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2F1EE"/>
          </a:solidFill>
          <a:ln/>
        </p:spPr>
      </p:sp>
      <p:sp>
        <p:nvSpPr>
          <p:cNvPr id="23" name="Text 16"/>
          <p:cNvSpPr/>
          <p:nvPr/>
        </p:nvSpPr>
        <p:spPr>
          <a:xfrm>
            <a:off x="274320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ACTIVO</a:t>
            </a:r>
            <a:endParaRPr lang="en-US" sz="1200" dirty="0"/>
          </a:p>
        </p:txBody>
      </p:sp>
      <p:pic>
        <p:nvPicPr>
          <p:cNvPr id="24" name="Image 5" descr="/tmp/hosty56_build/icons/arrowRight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408279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754880" y="3794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2F1EE"/>
          </a:solidFill>
          <a:ln/>
        </p:spPr>
      </p:sp>
      <p:sp>
        <p:nvSpPr>
          <p:cNvPr id="26" name="Text 18"/>
          <p:cNvSpPr/>
          <p:nvPr/>
        </p:nvSpPr>
        <p:spPr>
          <a:xfrm>
            <a:off x="480060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200" dirty="0"/>
          </a:p>
        </p:txBody>
      </p:sp>
      <p:pic>
        <p:nvPicPr>
          <p:cNvPr id="27" name="Image 6" descr="/tmp/hosty56_build/icons/arrowRight_charco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4082796"/>
            <a:ext cx="201168" cy="201168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812280" y="3794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2F1EE"/>
          </a:solidFill>
          <a:ln/>
        </p:spPr>
      </p:sp>
      <p:sp>
        <p:nvSpPr>
          <p:cNvPr id="29" name="Text 20"/>
          <p:cNvSpPr/>
          <p:nvPr/>
        </p:nvSpPr>
        <p:spPr>
          <a:xfrm>
            <a:off x="685800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200" dirty="0"/>
          </a:p>
        </p:txBody>
      </p:sp>
      <p:pic>
        <p:nvPicPr>
          <p:cNvPr id="30" name="Image 7" descr="/tmp/hosty56_build/icons/arrowRight_charco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1664" y="4082796"/>
            <a:ext cx="201168" cy="201168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869680" y="37947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2F1EE"/>
          </a:solidFill>
          <a:ln/>
        </p:spPr>
      </p:sp>
      <p:sp>
        <p:nvSpPr>
          <p:cNvPr id="32" name="Text 22"/>
          <p:cNvSpPr/>
          <p:nvPr/>
        </p:nvSpPr>
        <p:spPr>
          <a:xfrm>
            <a:off x="891540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6400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GESTIÓN (META ADS)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PROPIETARIO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64008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el valor del activo, no se busca volumen de leads económicos, sino oportunidades de alta calidad.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COMPRADOR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Diez hipótesis iniciales, a validar con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mes 1 se valida cuáles perfiles responden mejor; la inversión se concentra progresivamente en ellos.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12748" y="248716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7" name="Image 0" descr="/tmp/hosty56_build/icons/ch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281" y="2594701"/>
            <a:ext cx="296997" cy="296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 inmobiliario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228600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543300" y="248716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1" name="Image 1" descr="/tmp/hosty56_build/icons/dolla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833" y="2594701"/>
            <a:ext cx="296997" cy="296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3154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 de alto patrimonio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946904" y="228600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673852" y="248716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5" name="Image 2" descr="/tmp/hosty56_build/icons/briefcas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385" y="259470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38344" y="3154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Empresario diversificando patrimonio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077456" y="228600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804404" y="248716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9" name="Image 3" descr="/tmp/hosty56_build/icons/plan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1937" y="2594701"/>
            <a:ext cx="296997" cy="29699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68896" y="3154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turístico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208008" y="228600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9934956" y="248716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3" name="Image 4" descr="/tmp/hosty56_build/icons/hotel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2489" y="2594701"/>
            <a:ext cx="296997" cy="29699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99448" y="3154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hotelero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85800" y="425196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1412748" y="445312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7" name="Image 5" descr="/tmp/hosty56_build/icons/coins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281" y="4560661"/>
            <a:ext cx="296997" cy="29699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77240" y="5120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 en activos productivos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2816352" y="425196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30" name="Shape 22"/>
          <p:cNvSpPr/>
          <p:nvPr/>
        </p:nvSpPr>
        <p:spPr>
          <a:xfrm>
            <a:off x="3543300" y="445312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31" name="Image 6" descr="/tmp/hosty56_build/icons/key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0833" y="4560661"/>
            <a:ext cx="296997" cy="29699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907792" y="5120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 de inmueble para renta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4946904" y="425196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34" name="Shape 25"/>
          <p:cNvSpPr/>
          <p:nvPr/>
        </p:nvSpPr>
        <p:spPr>
          <a:xfrm>
            <a:off x="5673852" y="445312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35" name="Image 7" descr="/tmp/hosty56_build/icons/building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1385" y="4560661"/>
            <a:ext cx="296997" cy="296997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38344" y="5120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o desarrollador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7077456" y="425196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38" name="Shape 28"/>
          <p:cNvSpPr/>
          <p:nvPr/>
        </p:nvSpPr>
        <p:spPr>
          <a:xfrm>
            <a:off x="7804404" y="445312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39" name="Image 8" descr="/tmp/hosty56_build/icons/tools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1937" y="4560661"/>
            <a:ext cx="296997" cy="29699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68896" y="5120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 en remodelar o reconvertir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9208008" y="4251960"/>
            <a:ext cx="1965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</p:spPr>
      </p:sp>
      <p:sp>
        <p:nvSpPr>
          <p:cNvPr id="42" name="Shape 31"/>
          <p:cNvSpPr/>
          <p:nvPr/>
        </p:nvSpPr>
        <p:spPr>
          <a:xfrm>
            <a:off x="9934956" y="4453128"/>
            <a:ext cx="512064" cy="51206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43" name="Image 9" descr="/tmp/hosty56_build/icons/users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2489" y="4560661"/>
            <a:ext cx="296997" cy="296997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299448" y="5120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u organizaciones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 ADQUISICIÓN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formas de presentar la oportunidad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tesis afirma rentabilidad neta ni usos no confirmados.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2128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actualmente productivo — ingresos brutos ~$40M/mes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1272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 la operación turística actual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0416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inmobiliario para renta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9560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bajo otro modelo turístico u hotelero (sujeto a viabilidad)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2128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sin muebles ni equipamiento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31272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con mobiliario, equipamiento y operación existente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0416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Remodelación, reconversión o desarrollo (sujeto a estudio normativo)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 o combinación de tesis a priorizar en la comunicación se define con el propietario antes del lanzamiento.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META ADS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no identifica quién tiene $4.000 millones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se apoya en señales combinadas, no solo en segmentación por intereses.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7" name="Image 0" descr="/tmp/hosty56_build/icons/bullhor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861" y="266593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Creativos y mensajes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Diseñados para autoseleccionar al público correcto.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3317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493008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2" name="Image 1" descr="/tmp/hosty56_build/icons/char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21" y="2665933"/>
            <a:ext cx="291694" cy="291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comportamiento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7472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con contenido de inversión, patrimonio y bienes raíces de alto valor.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23317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144768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7" name="Image 2" descr="/tmp/hosty56_build/icons/fileSignatur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81" y="2665933"/>
            <a:ext cx="291694" cy="291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formularios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2648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Filtran por respuestas, no solo por clic.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595360" y="23317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8796528" y="256032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2" name="Image 3" descr="/tmp/hosty56_build/icons/filter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2141" y="2665933"/>
            <a:ext cx="291694" cy="291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7824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progresivo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77824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más información a quien demuestra interés real.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prospección (públicos nuevos) y de remarketing (quienes ya interactuaron) trabajan en conjunto.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CALIFICACIÓN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formulario profesional, no invasivo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5" name="Image 0" descr="/tmp/hosty56_build/icons/checkCircle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049" y="2267529"/>
            <a:ext cx="238110" cy="238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21284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aproximada de inversión disponible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8" name="Image 1" descr="/tmp/hosty56_build/icons/checkCircle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49" y="3044769"/>
            <a:ext cx="238110" cy="238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principal (inversión, operación, desarrollo, otro)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11" name="Image 2" descr="/tmp/hosty56_build/icons/checkCircle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49" y="3822009"/>
            <a:ext cx="238110" cy="238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7673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que le daría al activo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14" name="Image 3" descr="/tmp/hosty56_build/icons/checkCircle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49" y="4599249"/>
            <a:ext cx="238110" cy="2381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5445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inversión esperado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172200" y="219456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17" name="Image 4" descr="/tmp/hosty56_build/icons/checkCircle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169" y="2267529"/>
            <a:ext cx="238110" cy="2381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75120" y="221284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requiere financiación o cuenta con capital propio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20" name="Image 5" descr="/tmp/hosty56_build/icons/checkCircle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169" y="3044769"/>
            <a:ext cx="238110" cy="23811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7512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previa invirtiendo en bienes raíces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172200" y="3749040"/>
            <a:ext cx="384048" cy="384048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23" name="Image 6" descr="/tmp/hosty56_build/icons/checkCircle_charco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169" y="3822009"/>
            <a:ext cx="238110" cy="23811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675120" y="37673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contacto completos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640080" y="539496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/>
        </p:spPr>
      </p:sp>
      <p:sp>
        <p:nvSpPr>
          <p:cNvPr id="26" name="Text 17"/>
          <p:cNvSpPr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considera prospecto calificado quien indica capacidad de inversión compatible con el activo, expresa una intención clara y deja datos de contacto verificables.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EXPERIENCIA DEL PROSPECTO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activo digital propio, no una plantilla genérica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5" name="Image 0" descr="/tmp/hosty56_build/icons/check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" y="2211385"/>
            <a:ext cx="204094" cy="2040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1214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activo y precio de venta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60904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8" name="Image 1" descr="/tmp/hosty56_build/icons/check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25" y="2723449"/>
            <a:ext cx="204094" cy="2040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6334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 confirmadas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3172968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1" name="Image 2" descr="/tmp/hosty56_build/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25" y="3235513"/>
            <a:ext cx="204094" cy="2040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1455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actual de operación e ingresos brutos (con disclaimer)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3685032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4" name="Image 3" descr="/tmp/hosty56_build/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25" y="3747577"/>
            <a:ext cx="204094" cy="2040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 adquisición posibles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197096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7" name="Image 4" descr="/tmp/hosty56_build/icons/check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25" y="4259641"/>
            <a:ext cx="204094" cy="2040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1696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y video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40080" y="4709160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0" name="Image 5" descr="/tmp/hosty56_build/icons/checkCircl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625" y="4771705"/>
            <a:ext cx="204094" cy="20409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46817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general y beneficios del activo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40080" y="5221224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3" name="Image 6" descr="/tmp/hosty56_build/icons/checkCircl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625" y="5283769"/>
            <a:ext cx="204094" cy="20409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97280" y="5193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y formulario de calificación integrado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40080" y="5733288"/>
            <a:ext cx="329184" cy="329184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6" name="Image 7" descr="/tmp/hosty56_build/icons/checkCircle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625" y="5795833"/>
            <a:ext cx="204094" cy="20409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97280" y="57058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cifras sujetas a validación y documentación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6583680" y="214884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1C1F26"/>
          </a:solidFill>
          <a:ln/>
        </p:spPr>
      </p:sp>
      <p:sp>
        <p:nvSpPr>
          <p:cNvPr id="29" name="Text 19"/>
          <p:cNvSpPr/>
          <p:nvPr/>
        </p:nvSpPr>
        <p:spPr>
          <a:xfrm>
            <a:off x="690372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ESTE ENTREGABLE</a:t>
            </a:r>
            <a:endParaRPr lang="en-US" sz="1250" dirty="0"/>
          </a:p>
        </p:txBody>
      </p:sp>
      <p:sp>
        <p:nvSpPr>
          <p:cNvPr id="30" name="Text 20"/>
          <p:cNvSpPr/>
          <p:nvPr/>
        </p:nvSpPr>
        <p:spPr>
          <a:xfrm>
            <a:off x="6903720" y="2880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$450.000</a:t>
            </a:r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pago único</a:t>
            </a:r>
            <a:endParaRPr lang="en-US" sz="3200" dirty="0"/>
          </a:p>
        </p:txBody>
      </p:sp>
      <p:sp>
        <p:nvSpPr>
          <p:cNvPr id="31" name="Text 21"/>
          <p:cNvSpPr/>
          <p:nvPr/>
        </p:nvSpPr>
        <p:spPr>
          <a:xfrm>
            <a:off x="6903720" y="356616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redacción y lógica de calificación construidos específicamente para este activo de $4.000 millones. Independiente de los honorarios mensuales de gestión y del presupuesto de pauta.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mensaje evoluciona con la cercanía del prospecto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94460" y="2377440"/>
            <a:ext cx="640080" cy="64008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5" name="Image 0" descr="/tmp/hosty56_build/icons/ey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5374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004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200" dirty="0"/>
          </a:p>
        </p:txBody>
      </p:sp>
      <p:pic>
        <p:nvPicPr>
          <p:cNvPr id="7" name="Image 1" descr="/tmp/hosty56_build/icons/arrowRight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2606040"/>
            <a:ext cx="201168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25012" y="2377440"/>
            <a:ext cx="640080" cy="64008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9" name="Image 2" descr="/tmp/hosty56_build/icons/ey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25374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07792" y="32004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activo</a:t>
            </a:r>
            <a:endParaRPr lang="en-US" sz="1200" dirty="0"/>
          </a:p>
        </p:txBody>
      </p:sp>
      <p:pic>
        <p:nvPicPr>
          <p:cNvPr id="11" name="Image 3" descr="/tmp/hosty56_build/icons/arrowRight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606040"/>
            <a:ext cx="201168" cy="20116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655564" y="2377440"/>
            <a:ext cx="640080" cy="64008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3" name="Image 4" descr="/tmp/hosty56_build/icons/ey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53746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38344" y="32004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económico</a:t>
            </a:r>
            <a:endParaRPr lang="en-US" sz="1200" dirty="0"/>
          </a:p>
        </p:txBody>
      </p:sp>
      <p:pic>
        <p:nvPicPr>
          <p:cNvPr id="15" name="Image 5" descr="/tmp/hosty56_build/icons/arrowRight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2606040"/>
            <a:ext cx="201168" cy="20116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786116" y="2377440"/>
            <a:ext cx="640080" cy="64008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7" name="Image 6" descr="/tmp/hosty56_build/icons/ey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6136" y="2537460"/>
            <a:ext cx="320040" cy="320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168896" y="32004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200" dirty="0"/>
          </a:p>
        </p:txBody>
      </p:sp>
      <p:pic>
        <p:nvPicPr>
          <p:cNvPr id="19" name="Image 7" descr="/tmp/hosty56_build/icons/arrowRight_charco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2606040"/>
            <a:ext cx="201168" cy="20116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9916668" y="2377440"/>
            <a:ext cx="640080" cy="64008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1" name="Image 8" descr="/tmp/hosty56_build/icons/eye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6688" y="2537460"/>
            <a:ext cx="320040" cy="3200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299448" y="32004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de remarketing (calidez creciente):</a:t>
            </a:r>
            <a:endParaRPr lang="en-US" sz="1400" dirty="0"/>
          </a:p>
        </p:txBody>
      </p:sp>
      <p:sp>
        <p:nvSpPr>
          <p:cNvPr id="24" name="Text 13"/>
          <p:cNvSpPr/>
          <p:nvPr/>
        </p:nvSpPr>
        <p:spPr>
          <a:xfrm>
            <a:off x="640080" y="46177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Vieron video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Interactuaron con anuncios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Visitaron la landing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Iniciaron el formulario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Enviaron el formulario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contactados</a:t>
            </a:r>
            <a:endParaRPr lang="en-US" sz="1300" dirty="0"/>
          </a:p>
        </p:txBody>
      </p:sp>
      <p:sp>
        <p:nvSpPr>
          <p:cNvPr id="25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90 días, mes a 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5" name="Image 0" descr="/tmp/hosty56_build/icons/filte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693" y="2391613"/>
            <a:ext cx="291694" cy="291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304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25603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Investigación, estructuración y validación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 y tesis de inversión definidas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formulario y medición listos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inicial y primeras pruebas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28600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0" name="Image 1" descr="/tmp/hosty56_build/icons/char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733" y="2391613"/>
            <a:ext cx="291694" cy="291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2304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0" y="25603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Adquisición, calificación y optimización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89120" y="32461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 campañas ganadoras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por calidad de prospecto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activo; segmentos de mayor calidad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28600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5" name="Image 2" descr="/tmp/hosty56_build/icons/handshak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73" y="2391613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2304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778240" y="25603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Escalamiento, conversión y consolidación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38160" y="32461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inversión en segmentos ganadores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reuniones para el propietario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final y recomendaciones a 90+ días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 12 semanas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2F1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724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 de información, briefing y definición de perfiles y tesis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2F1E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724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formulario, tracking y lanzamiento inicial en Meta 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2F1EE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359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27249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pruebas de audiencias y ajuste del formulario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2F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87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7-8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5537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de campañas ganadoras y activación de remarketing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40233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2F1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187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9-10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5537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pruebas creativas y ajuste de segmentación por calidad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2F1EE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187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11-12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455371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final, generación de reuniones y balance de resultados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semana a semana (actividad, objetivo, entregable y KPI) está en el documento de plan de trabajo.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calidad del prospecto, no el volumen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prospecto calificado, con capacidad real, vale más que cientos de leads baratos sin intención genuina.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172200" y="269748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C1F2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CAMPAÑA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RESULTADO COMERCIAL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publicitaria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y CPC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y CPL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33832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leads calificados y costo por lead calificado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Prospectos calificados y reuniones solicitadas/realizadas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Prospectos en negociación y ofertas recibidas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comerciales generadas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LA GESTIÓN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hago yo y qué gestiona el propietario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2F1EE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21031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GESTIÓN (META ADS)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/ EQUIPO COMERCIAL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adquisición digital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compradores y ángulos de comunicación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Campañas, segmentación y remarketing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formularios y calificación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oportunidades comerciales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y reportes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 y dar seguimiento a los prospectos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(Zoom, presenciales u otro medio)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activo y resolución de dudas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financiera, jurídica y técnica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y due diligence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Negociación, proceso legal y cierre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IMPORTANTES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que deben quedar claras desde el inicio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432304"/>
            <a:ext cx="45720" cy="54864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774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garantiza la venta dentro de los 90 días; el objetivo es validar el sistema de generación de demanda.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273552"/>
            <a:ext cx="45720" cy="54864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186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no identifica directamente la capacidad financiera de una persona; se infiere por creativos, formularios y comportamiento.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45720" cy="54864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5993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financiera comunicada es bruta y aproximada; no se afirman rentabilidades netas.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956048"/>
            <a:ext cx="45720" cy="54864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90118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uso alternativo del inmueble (reconversión, desarrollo, otro modelo) está sujeto a estudio jurídico, urbanístico y normativo independiente.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5797296"/>
            <a:ext cx="45720" cy="54864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7424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situación jurídica y societaria del inmueble debe estar clara y documentada por el propietario, en paralelo a la campaña.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componentes, condiciones distintas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2F1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DIGITAL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$950.000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campañas, segmentación, calificación y optimización continua en Meta 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2F1E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$450.000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redacción y lógica de calificación a la medida de este activo.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2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DE ÉXITO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3429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valor de venta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37947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solo si el comprador que cierra es entregado directamente por esta gestión.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de pauta publicitaria en Meta Ads lo asume el propietario, aparte de estos tres componentes.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validación al lanzamiento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3500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Recopilar la información pendiente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checklist de información requerida (siguiente diapositiva)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2186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modalidad de venta a comunicar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566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 sin muebles, con o sin operación turística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0873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landing, formulario y creativos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4348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digital lista para medir desde el día uno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9560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la campaña inicial en Meta Ads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303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pruebas de audiencias, ángulos y tesis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LANZAR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requerida para iniciar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542032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6" name="Image 0" descr="/tmp/hosty56_build/icons/hom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674" y="2657246"/>
            <a:ext cx="318211" cy="318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Inmueble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Dirección, área, habitaciones, estado, inventario de muebles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228600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525012" y="2542032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1" name="Image 1" descr="/tmp/hosty56_build/icons/char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226" y="2657246"/>
            <a:ext cx="318211" cy="3182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53512" y="370332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financieros, ocupación, gastos, licencias de operación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46904" y="228600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5655564" y="2542032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6" name="Image 2" descr="/tmp/hosty56_build/icons/gave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778" y="2657246"/>
            <a:ext cx="318211" cy="3182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 y societaria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84064" y="370332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Tradición y libertad, composición societaria, gravámenes, uso de suelo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77456" y="228600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86116" y="2542032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1" name="Image 3" descr="/tmp/hosty56_build/icons/handshak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330" y="2657246"/>
            <a:ext cx="318211" cy="3182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4616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214616" y="370332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definitivo, modalidades de venta, condiciones de pago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208008" y="2286000"/>
            <a:ext cx="1965960" cy="329184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9916668" y="2542032"/>
            <a:ext cx="548640" cy="54864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6" name="Image 4" descr="/tmp/hosty56_build/icons/check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1882" y="2657246"/>
            <a:ext cx="318211" cy="3182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45168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y audiovisual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345168" y="370332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profesionales, video institucional o dron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62910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checklist completo, punto por punto, está en el documento de plan de trabajo de 90 días.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2026-08-22T22:47:08Z</dcterms:created>
  <dcterms:modified xsi:type="dcterms:W3CDTF">2026-08-22T22:47:08Z</dcterms:modified>
</cp:coreProperties>
</file>