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el marco general antes de entrar al plan.
MENSAJE PRINCIPAL: Este es un plan de venta discreto de un activo único, no una campaña de anuncios masiva.
QUÉ EXPLICAR: Portada de apertura.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Establecer el punto de partida real.
MENSAJE PRINCIPAL: El activo y su operación ya son sólidos (valor, facturación); lo que falta es un proceso comercial discreto para encontrar al comprador.
QUÉ EXPLICAR: Hoy no hay ningún comprador calificado en proceso; se parte de cero en la búsqueda estructurada.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Explicar por qué este proceso es distinto a una venta inmobiliaria tradicional.
MENSAJE PRINCIPAL: Hosty56 no es propiedad horizontal, así que debe venderse completo, a un único comprador con capacidad real.
QUÉ EXPLICAR: Esta restricción define todo el enfoque: audiencia reducida, mensaje filtrado, información confidencial.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el activo con cifras concretas.
MENSAJE PRINCIPAL: Hosty56 es un edificio ya en operación y generando ingresos, no un proyecto especulativo.
QUÉ EXPLICAR: El yield bruto (~12% anual) es un buen ancla para el interés del comprador, pero debe presentarse siempre como cifra bruta, no como rentabilidad neta.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la metodología completa en una sola imagen.
MENSAJE PRINCIPAL: Cada etapa filtra al público y prepara la siguiente; el objetivo no es alcance, es precisión.
QUÉ EXPLICAR: Difusión discreta (teaser sin datos sensibles), Calificación (NDA + dossier), Llamada de interés (screening), Visita y negociación (solo calificados).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Generar interés real sin exponer información sensible del activo.
MENSAJE PRINCIPAL: El anuncio vende la oportunidad, no el edificio; los datos exactos se entregan después del filtro.
QUÉ EXPLICAR: El teaser nunca incluye dirección exacta, fotos identificables ni estados financieros detallados.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Separar interesados reales de curiosos antes de invertir tiempo en ellos.
MENSAJE PRINCIPAL: Nadie ve la dirección ni las cifras completas sin antes calificar y firmar NDA.
QUÉ EXPLICAR: Esta etapa es el filtro más importante contra 'preguntones'.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Evitar visitas de curiosos protegiendo el tiempo de los propietarios.
MENSAJE PRINCIPAL: La llamada confirma que quien visita el edificio tiene capacidad real de cerrar.
QUÉ EXPLICAR: El guion de la llamada debe estar documentado en el plan operativo detallado.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Cerrar con el comprador correcto, con acompañamiento legal desde el inicio.
MENSAJE PRINCIPAL: La visita es un privilegio reservado a quien ya demostró capacidad e interés real.
QUÉ EXPLICAR: En esta etapa se coordina con el abogado de los propietarios la estructura final de venta.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Mostrar que la audiencia objetivo es amplia en tipo, pero estrecha en capacidad.
MENSAJE PRINCIPAL: No se descarta ningún perfil; se descarta a quien no tenga capacidad de compra total.
QUÉ EXPLICAR: La segmentación de Meta Ads debe cubrir estos cinco perfiles simultáneamente.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con transparencia los dos frentes legales que pueden afectar el cierre.
MENSAJE PRINCIPAL: Ni la hipoteca ni la sucesión son motivo para detener la campaña, pero deben resolverse o clarificarse en paralelo para no comprometer el plazo de 3 meses.
QUÉ EXPLICAR: Recomendar a los propietarios confirmar con su abogado un cronograma estimado del proceso de sucesión; si no hay fecha clara, ajustar expectativas de cierre con el comprador antes de firmar cualquier compromiso.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Mostrar un plan de trabajo concreto para los primeros 3 meses.
MENSAJE PRINCIPAL: El proceso avanza progresivamente: primero difusión, luego calificación y visitas, y finalmente negociación de cierre.
QUÉ EXPLICAR: Si al final del mes 3 no hay cierre, el plan continúa (el cliente está abierto a extender el plazo), enfocándose en los interesados más avanzados.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Dar seguridad mostrando un cronograma detallado.
MENSAJE PRINCIPAL: Cada quincena tiene un entregable concreto.
QUÉ EXPLICAR: Las dos primeras semanas son de preparación técnica y legal, no de campaña activa todavía.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con claridad los dos componentes de honorarios y su condición de pago.
MENSAJE PRINCIPAL: El fijo se paga siempre por la gestión; la comisión de éxito (3%, $120.000.000) solo aplica si el comprador final llega directamente por esta gestión.
QUÉ EXPLICAR: Si el cierre ocurre por un contacto ajeno a esta campaña, solo se cobra el honorario fijo mensual.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Cerrar con una propuesta de acción clara.
MENSAJE PRINCIPAL: El siguiente paso no depende de más presupuesto; depende de tener los materiales y el frente legal listos para lanzar con discreción.
QUÉ EXPLICAR: Los tres pasos son secuenciales; el lanzamiento de la difusión debe esperar a que el teaser, la landing y el NDA estén listos.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2.png"/><Relationship Id="rId5" Type="http://schemas.openxmlformats.org/officeDocument/2006/relationships/image" Target="../media/image-5-5.png"/><Relationship Id="rId6" Type="http://schemas.openxmlformats.org/officeDocument/2006/relationships/image" Target="../media/image-5-2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548640"/>
            <a:ext cx="1188720" cy="1188720"/>
          </a:xfrm>
          <a:prstGeom prst="ellipse">
            <a:avLst/>
          </a:prstGeom>
          <a:solidFill>
            <a:srgbClr val="2A2E38"/>
          </a:solidFill>
          <a:ln/>
        </p:spPr>
      </p:sp>
      <p:pic>
        <p:nvPicPr>
          <p:cNvPr id="3" name="Image 0" descr="/tmp/hosty56_build/icons/building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1340" y="845820"/>
            <a:ext cx="594360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331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VENTA · ACTIVO INMOBILIARIO · 2026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Hosty56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822960" y="37947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edificio en operación a un comprador único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Presentado a los propietarios de Hosty56  ·  Bogotá, Colombia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Hoy, Hosty56 es un activo sólido sin comprador todavía.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66928" cy="566928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5" name="Image 0" descr="/tmp/hosty56_build/icons/dollar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135" y="2405055"/>
            <a:ext cx="328818" cy="3288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9718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$4.000M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61188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venta del edificio completo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89120" y="2286000"/>
            <a:ext cx="566928" cy="566928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9" name="Image 1" descr="/tmp/hosty56_build/icons/chart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8175" y="2405055"/>
            <a:ext cx="328818" cy="3288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89120" y="29718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$40M /mes</a:t>
            </a:r>
            <a:endParaRPr lang="en-US" sz="3400" dirty="0"/>
          </a:p>
        </p:txBody>
      </p:sp>
      <p:sp>
        <p:nvSpPr>
          <p:cNvPr id="11" name="Text 7"/>
          <p:cNvSpPr/>
          <p:nvPr/>
        </p:nvSpPr>
        <p:spPr>
          <a:xfrm>
            <a:off x="4389120" y="361188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bruta actual, edificio en operación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138160" y="2286000"/>
            <a:ext cx="566928" cy="566928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3" name="Image 2" descr="/tmp/hosty56_build/icons/users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215" y="2405055"/>
            <a:ext cx="328818" cy="32881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38160" y="29718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0"/>
          <p:cNvSpPr/>
          <p:nvPr/>
        </p:nvSpPr>
        <p:spPr>
          <a:xfrm>
            <a:off x="8138160" y="361188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Compradores calificados en proceso hoy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640080" y="48463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edificio, la operación de renta corta y la facturación ya existen. Falta un proceso que encuentre, filtre y cierre con el comprador correcto.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Vender un edificio completo no es vender un apartamento.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CONVENCIONAL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172200" y="2286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DE ACTIVO ÚNICO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vende por apartamentos individuales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172200" y="278892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vende el edificio completo, como sociedad o activo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comprador califica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72200" y="36576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compradores con capacidad de compra total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45262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Mercadeo abierto y masivo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45262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Difusión discreta, filtrada y confidencial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3949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comprador ve todo desde el primer anuncio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172200" y="53949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información sensible se entrega solo bajo NDA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629107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Hosty56 no está constituido en propiedad horizontal: no puede fraccionarse ni venderse por unidades.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ACTIVO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Hosty56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Edificio de 4 plantas y 10 apartamentos, en operación como renta corta (Airbnb), en Bogotá.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697480"/>
            <a:ext cx="502920" cy="5029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7" name="Image 0" descr="/tmp/hosty56_build/icons/building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293" y="2803093"/>
            <a:ext cx="291694" cy="29169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22960" y="38404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91840" y="24688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20440" y="2697480"/>
            <a:ext cx="502920" cy="5029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2" name="Image 1" descr="/tmp/hosty56_build/icons/bed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6053" y="2803093"/>
            <a:ext cx="291694" cy="29169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74720" y="33375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3474720" y="38404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Apartamentos en operación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943600" y="24688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72200" y="2697480"/>
            <a:ext cx="502920" cy="5029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7" name="Image 2" descr="/tmp/hosty56_build/icons/chart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7813" y="2803093"/>
            <a:ext cx="291694" cy="29169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26480" y="33375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$480M</a:t>
            </a:r>
            <a:endParaRPr lang="en-US" sz="2600" dirty="0"/>
          </a:p>
        </p:txBody>
      </p:sp>
      <p:sp>
        <p:nvSpPr>
          <p:cNvPr id="19" name="Text 14"/>
          <p:cNvSpPr/>
          <p:nvPr/>
        </p:nvSpPr>
        <p:spPr>
          <a:xfrm>
            <a:off x="6126480" y="38404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bruta anual (aprox.)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8595360" y="24688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823960" y="2697480"/>
            <a:ext cx="502920" cy="5029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22" name="Image 3" descr="/tmp/hosty56_build/icons/dollar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9573" y="2803093"/>
            <a:ext cx="291694" cy="29169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778240" y="33375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12%</a:t>
            </a:r>
            <a:endParaRPr lang="en-US" sz="2600" dirty="0"/>
          </a:p>
        </p:txBody>
      </p:sp>
      <p:sp>
        <p:nvSpPr>
          <p:cNvPr id="24" name="Text 18"/>
          <p:cNvSpPr/>
          <p:nvPr/>
        </p:nvSpPr>
        <p:spPr>
          <a:xfrm>
            <a:off x="8778240" y="38404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bruto anual sobre el valor de venta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40080" y="629107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 bruta: antes de gastos operativos, servicio de hipoteca e impuestos.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proceso discreto de cuatro etapas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filtra y avanza hacia el comprador correcto.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600200" y="2743200"/>
            <a:ext cx="731520" cy="7315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7" name="Image 0" descr="/tmp/hosty56_build/icons/ey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3819" y="2896819"/>
            <a:ext cx="424282" cy="4242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Difusión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4251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Descubrir</a:t>
            </a:r>
            <a:endParaRPr lang="en-US" sz="1250" dirty="0"/>
          </a:p>
        </p:txBody>
      </p:sp>
      <p:pic>
        <p:nvPicPr>
          <p:cNvPr id="10" name="Image 1" descr="/tmp/hosty56_build/icons/arrowRight_charco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544" y="29260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61188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434840" y="2743200"/>
            <a:ext cx="731520" cy="7315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3" name="Image 2" descr="/tmp/hosty56_build/icons/fileSignature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459" y="2896819"/>
            <a:ext cx="424282" cy="42428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1188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NDA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3611880" y="4251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</a:t>
            </a:r>
            <a:endParaRPr lang="en-US" sz="1250" dirty="0"/>
          </a:p>
        </p:txBody>
      </p:sp>
      <p:pic>
        <p:nvPicPr>
          <p:cNvPr id="16" name="Image 3" descr="/tmp/hosty56_build/icons/arrowRight_charco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4184" y="29260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44652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7269480" y="2743200"/>
            <a:ext cx="731520" cy="7315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9" name="Image 4" descr="/tmp/hosty56_build/icons/phone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099" y="2896819"/>
            <a:ext cx="424282" cy="42428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44652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 de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interés</a:t>
            </a:r>
            <a:endParaRPr lang="en-US" sz="1500" dirty="0"/>
          </a:p>
        </p:txBody>
      </p:sp>
      <p:sp>
        <p:nvSpPr>
          <p:cNvPr id="21" name="Text 14"/>
          <p:cNvSpPr/>
          <p:nvPr/>
        </p:nvSpPr>
        <p:spPr>
          <a:xfrm>
            <a:off x="6446520" y="4251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</a:t>
            </a:r>
            <a:endParaRPr lang="en-US" sz="1250" dirty="0"/>
          </a:p>
        </p:txBody>
      </p:sp>
      <p:pic>
        <p:nvPicPr>
          <p:cNvPr id="22" name="Image 5" descr="/tmp/hosty56_build/icons/arrowRight_charcoa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8824" y="2926080"/>
            <a:ext cx="320040" cy="32004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928116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Shape 16"/>
          <p:cNvSpPr/>
          <p:nvPr/>
        </p:nvSpPr>
        <p:spPr>
          <a:xfrm>
            <a:off x="10104120" y="2743200"/>
            <a:ext cx="731520" cy="7315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25" name="Image 6" descr="/tmp/hosty56_build/icons/handshake_go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57739" y="2896819"/>
            <a:ext cx="424282" cy="42428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2811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negociación</a:t>
            </a:r>
            <a:endParaRPr lang="en-US" sz="1500" dirty="0"/>
          </a:p>
        </p:txBody>
      </p:sp>
      <p:sp>
        <p:nvSpPr>
          <p:cNvPr id="27" name="Text 18"/>
          <p:cNvSpPr/>
          <p:nvPr/>
        </p:nvSpPr>
        <p:spPr>
          <a:xfrm>
            <a:off x="9281160" y="4251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</a:t>
            </a:r>
            <a:endParaRPr lang="en-US" sz="1250" dirty="0"/>
          </a:p>
        </p:txBody>
      </p:sp>
      <p:sp>
        <p:nvSpPr>
          <p:cNvPr id="28" name="Text 19"/>
          <p:cNvSpPr/>
          <p:nvPr/>
        </p:nvSpPr>
        <p:spPr>
          <a:xfrm>
            <a:off x="640080" y="5486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no es una tanda de anuncios: es un comprador único, calificado, que llega hasta la mesa de negociación.</a:t>
            </a:r>
            <a:endParaRPr lang="en-US" sz="1450" dirty="0"/>
          </a:p>
        </p:txBody>
      </p:sp>
      <p:sp>
        <p:nvSpPr>
          <p:cNvPr id="29" name="Text 20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Difusión discreta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generar interés calificado, sin exponer datos sensibles.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332720" y="548640"/>
            <a:ext cx="914400" cy="91440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6" name="Image 0" descr="/tmp/hosty56_build/icons/ey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8460" y="75438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233172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8" name="Image 1" descr="/tmp/hosty56_build/icons/bullhorn_charco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693" y="2437333"/>
            <a:ext cx="291694" cy="291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28600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tipo teaser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371600" y="267919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Edificio de renta corta en operación en Bogotá, facturación de 8 cifras mensuales — sin dirección ni cifras exactas.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12" name="Image 2" descr="/tmp/hosty56_build/icons/globe_charco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693" y="3671773"/>
            <a:ext cx="291694" cy="29169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5204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Segmentación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371600" y="391363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Interés en inversión inmobiliaria, alto patrimonio, hospitality y renta corta, fondos de inversión.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640080" y="480060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16" name="Image 3" descr="/tmp/hosty56_build/icons/filter_charco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93" y="4906213"/>
            <a:ext cx="291694" cy="29169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475488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de éxito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1371600" y="514807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calificados que dejan datos de contacto, no likes ni alcance masivo.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Calificación con NDA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filtrar curiosos antes de compartir información confidencial.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332720" y="548640"/>
            <a:ext cx="914400" cy="91440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6" name="Image 0" descr="/tmp/hosty56_build/icons/fileSignatur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8460" y="75438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233172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8" name="Image 1" descr="/tmp/hosty56_build/icons/lock_charco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693" y="2437333"/>
            <a:ext cx="291694" cy="291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28600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de calificación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371600" y="267919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interesado responde preguntas de capacidad financiera y tipo de comprador antes de continuar.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12" name="Image 2" descr="/tmp/hosty56_build/icons/fileSignature_charco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693" y="3671773"/>
            <a:ext cx="291694" cy="29169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5204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 digital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371600" y="391363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quien firma el acuerdo de confidencialidad recibe el dossier completo.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640080" y="480060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16" name="Image 3" descr="/tmp/hosty56_build/icons/checkCircle_charco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93" y="4906213"/>
            <a:ext cx="291694" cy="29169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475488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confidencial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1371600" y="514807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Dirección, fotos, estado financiero y situación legal — entregado únicamente a calificados.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Llamada de interés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confirmar capacidad e interés real antes de agendar una visita.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332720" y="548640"/>
            <a:ext cx="914400" cy="91440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6" name="Image 0" descr="/tmp/hosty56_build/icons/phon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8460" y="75438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233172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8" name="Image 1" descr="/tmp/hosty56_build/icons/phone_charco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693" y="2437333"/>
            <a:ext cx="291694" cy="291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28600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call breve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371600" y="267919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llamada corta para verificar seriedad, capacidad financiera y expectativas del interesado.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12" name="Image 2" descr="/tmp/hosty56_build/icons/checkCircle_charco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693" y="3671773"/>
            <a:ext cx="291694" cy="29169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5204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clave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371600" y="391363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¿Compra individual, en sociedad o a través de un fondo? ¿Con qué plazo y forma de pago cuenta?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640080" y="480060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16" name="Image 3" descr="/tmp/hosty56_build/icons/filter_charco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93" y="4906213"/>
            <a:ext cx="291694" cy="29169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475488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1371600" y="514807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quien pasa esta llamada avanza a la visita presencial del edificio.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Visita y negociación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convertir el interés calificado en una negociación de cierre.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332720" y="548640"/>
            <a:ext cx="914400" cy="91440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6" name="Image 0" descr="/tmp/hosty56_build/icons/handshak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8460" y="75438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233172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8" name="Image 1" descr="/tmp/hosty56_build/icons/building_charco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693" y="2437333"/>
            <a:ext cx="291694" cy="291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28600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presencial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371600" y="267919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compradores que pasaron la llamada de interés conocen Hosty56 en persona.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12" name="Image 2" descr="/tmp/hosty56_build/icons/gavel_charco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693" y="3671773"/>
            <a:ext cx="291694" cy="29169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5204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Negociación directa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371600" y="391363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involucra a los propietarios y sus abogados para estructurar la oferta.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640080" y="480060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16" name="Image 3" descr="/tmp/hosty56_build/icons/key_charco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93" y="4906213"/>
            <a:ext cx="291694" cy="29169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475488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1371600" y="514807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final: un único comprador, en sociedad o directamente, adquiere el edificio completo.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 COMPRADOR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Cualquier perfil con capacidad de compra total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es un único comprador; el filtro es la capacidad, no el tipo.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7432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376172" y="3063240"/>
            <a:ext cx="585216" cy="585216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7" name="Image 0" descr="/tmp/hosty56_build/icons/briefcas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9067" y="3186135"/>
            <a:ext cx="339425" cy="3394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95528" y="3840480"/>
            <a:ext cx="1746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Fondos inmobiliarios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816352" y="27432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3506724" y="3063240"/>
            <a:ext cx="585216" cy="585216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1" name="Image 1" descr="/tmp/hosty56_build/icons/hotel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619" y="3186135"/>
            <a:ext cx="339425" cy="3394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26080" y="3840480"/>
            <a:ext cx="1746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 hoteleros o de renta corta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946904" y="27432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5637276" y="3063240"/>
            <a:ext cx="585216" cy="585216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5" name="Image 2" descr="/tmp/hosty56_build/icons/users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171" y="3186135"/>
            <a:ext cx="339425" cy="33942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056632" y="3840480"/>
            <a:ext cx="1746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offices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7077456" y="27432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</p:spPr>
      </p:sp>
      <p:sp>
        <p:nvSpPr>
          <p:cNvPr id="18" name="Shape 13"/>
          <p:cNvSpPr/>
          <p:nvPr/>
        </p:nvSpPr>
        <p:spPr>
          <a:xfrm>
            <a:off x="7767828" y="3063240"/>
            <a:ext cx="585216" cy="585216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9" name="Image 3" descr="/tmp/hosty56_build/icons/plane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0723" y="3186135"/>
            <a:ext cx="339425" cy="33942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87184" y="3840480"/>
            <a:ext cx="1746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 extranjeros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9208008" y="27432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</p:spPr>
      </p:sp>
      <p:sp>
        <p:nvSpPr>
          <p:cNvPr id="22" name="Shape 16"/>
          <p:cNvSpPr/>
          <p:nvPr/>
        </p:nvSpPr>
        <p:spPr>
          <a:xfrm>
            <a:off x="9898380" y="3063240"/>
            <a:ext cx="585216" cy="585216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23" name="Image 4" descr="/tmp/hosty56_build/icons/home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275" y="3186135"/>
            <a:ext cx="339425" cy="339425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317736" y="3840480"/>
            <a:ext cx="1746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Interesados en convertir a propiedad horizontal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685800" cy="685800"/>
          </a:xfrm>
          <a:prstGeom prst="ellipse">
            <a:avLst/>
          </a:prstGeom>
          <a:solidFill>
            <a:srgbClr val="2A2E38"/>
          </a:solidFill>
          <a:ln/>
        </p:spPr>
      </p:sp>
      <p:pic>
        <p:nvPicPr>
          <p:cNvPr id="3" name="Image 0" descr="/tmp/hosty56_build/icons/gavel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385" y="702945"/>
            <a:ext cx="377190" cy="3771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6217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CONSIDERACIÓN LEGAL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508760" y="98755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frentes que deben avanzar en paralelo a la campaña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03120"/>
            <a:ext cx="45720" cy="137160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7" name="Text 4"/>
          <p:cNvSpPr/>
          <p:nvPr/>
        </p:nvSpPr>
        <p:spPr>
          <a:xfrm>
            <a:off x="1051560" y="20574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Hipoteca vigente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51560" y="24688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inmueble tiene una hipoteca activa a nombre de la sociedad. Debe definirse con el comprador si se cancela antes del cierre o se asume como parte de la estructura de pago.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22960" y="3794760"/>
            <a:ext cx="45720" cy="137160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10" name="Text 7"/>
          <p:cNvSpPr/>
          <p:nvPr/>
        </p:nvSpPr>
        <p:spPr>
          <a:xfrm>
            <a:off x="1051560" y="3749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de sucesión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515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porcentaje de la participación societaria (no la totalidad) está sujeto a un proceso de sucesión en curso. Su avance debe confirmarse con el abogado de los propietarios.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Recomendación: avanzar la claridad legal en paralelo a la difusión comercial. Esta información se comparte solo bajo NDA — nunca en el teaser público.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TRABAJO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primeros 3 meses, mes a mes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02920" cy="5029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5" name="Image 0" descr="/tmp/hosty56_build/icons/ey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693" y="2391613"/>
            <a:ext cx="291694" cy="29169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230428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280160" y="2560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y difusión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640080" y="3063240"/>
            <a:ext cx="3429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Teaser, landing, NDA y dossier confidencial listos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Lanzamiento de la campaña de difusión discreta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llamadas de calificación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89120" y="2286000"/>
            <a:ext cx="502920" cy="5029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0" name="Image 1" descr="/tmp/hosty56_build/icons/fileSignature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733" y="2391613"/>
            <a:ext cx="291694" cy="29169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029200" y="230428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2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029200" y="2560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activa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389120" y="3063240"/>
            <a:ext cx="3429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de segmentación según quién califica mejor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visitas con interesados serios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 conversaciones de estructura de negociación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38160" y="2286000"/>
            <a:ext cx="502920" cy="5029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5" name="Image 2" descr="/tmp/hosty56_build/icons/handshake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3773" y="2391613"/>
            <a:ext cx="291694" cy="29169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778240" y="230428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3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8778240" y="2560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Negociación y cierre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138160" y="3063240"/>
            <a:ext cx="3429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Remarketing sobre quienes ya vieron el dossier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Acompañamiento a la negociación más avanzada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legal (hipoteca/sucesión) como respaldo de cierre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TRABAJO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Cronograma semana a semana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3591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1-2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72491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de materiales (teaser, landing, NDA, dossier) y auditoría legal en paralelo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219456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23591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3-4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0" y="272491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Lanzamiento de la campaña de difusión discreta en Meta Ads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219456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8275320" y="23591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5-6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75320" y="272491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calificaciones y llamadas de interés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02336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1879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7-8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455371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visitas presenciales al edificio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43400" y="402336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41879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9-10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0" y="455371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Negociaciones iniciales y remarketing sobre calificados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46720" y="402336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8275320" y="41879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11-12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55371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con el interesado más avanzado o evaluación de extender el plazo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INVERSIÓN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componentes de honorarios, condiciones distintas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120640" cy="3108960"/>
          </a:xfrm>
          <a:prstGeom prst="roundRect">
            <a:avLst>
              <a:gd name="adj" fmla="val 2353"/>
            </a:avLst>
          </a:prstGeom>
          <a:solidFill>
            <a:srgbClr val="F2F1EE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5603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HONORARIOS DE GESTIÓN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9718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$950.000</a:t>
            </a:r>
            <a:pPr indent="0" marL="0">
              <a:buNone/>
            </a:pPr>
            <a:r>
              <a:rPr lang="en-US" sz="13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/mes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960120" y="374904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 la estrategia, la difusión, la calificación de interesados y la gestión operativa del proceso. Los propietarios asumen aparte el presupuesto de pauta en Meta Ads.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2286000"/>
            <a:ext cx="5120640" cy="3108960"/>
          </a:xfrm>
          <a:prstGeom prst="roundRect">
            <a:avLst>
              <a:gd name="adj" fmla="val 2353"/>
            </a:avLst>
          </a:prstGeom>
          <a:solidFill>
            <a:srgbClr val="F2F1EE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25603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COMISIÓN DE ÉXITO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29718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3%</a:t>
            </a:r>
            <a:pPr indent="0" marL="0">
              <a:buNone/>
            </a:pPr>
            <a:r>
              <a:rPr lang="en-US" sz="13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sobre el valor de venta ($120.000.000)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492240" y="374904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únicamente si el comprador que cierra la compra es entregado directamente por esta gestión. Si el cierre se da por otro medio ajeno a esta campaña, no aplica.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29107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honorarios cubren estrategia y gestión; la comisión de éxito reconoce específicamente la entrega directa del comprador que cierra la operación.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SIGUIENTE PASO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más anuncios.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un proceso de venta discreto y filtrado.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3291840"/>
            <a:ext cx="502920" cy="502920"/>
          </a:xfrm>
          <a:prstGeom prst="ellipse">
            <a:avLst/>
          </a:prstGeom>
          <a:solidFill>
            <a:srgbClr val="B08D5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08760" y="3246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 materiales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3611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Teaser, landing, NDA y dossier confidencial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502920" cy="502920"/>
          </a:xfrm>
          <a:prstGeom prst="ellipse">
            <a:avLst/>
          </a:prstGeom>
          <a:solidFill>
            <a:srgbClr val="B08D57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08760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Avanzar el frente legal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08760" y="4480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Claridad sobre hipoteca y proceso de sucesión, en paralelo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5029200"/>
            <a:ext cx="502920" cy="502920"/>
          </a:xfrm>
          <a:prstGeom prst="ellipse">
            <a:avLst/>
          </a:prstGeom>
          <a:solidFill>
            <a:srgbClr val="B08D57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08760" y="4983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Lanzar la difusión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08760" y="5349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 discreta en Meta Ads, en Bogotá, con miras a un comprador único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2026-08-22T21:05:23Z</dcterms:created>
  <dcterms:modified xsi:type="dcterms:W3CDTF">2026-08-22T21:05:23Z</dcterms:modified>
</cp:coreProperties>
</file>