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el marco general antes de entrar al plan.
MENSAJE PRINCIPAL: Este es el plan de mi gestión digital — generar y filtrar interesados calificados vía Meta Ads. No cubre el proceso de negociación, visitas o cierre, que gestionan directamente los propietarios.
QUÉ EXPLICAR: Portada de apertura.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Establecer el punto de partida real.
MENSAJE PRINCIPAL: El activo y su operación ya son sólidos; lo que falta es un canal digital que genere y filtre interesados.
QUÉ EXPLICAR: Hoy no hay ningún interesado calificado en proceso; se parte de cero en la generación de leads.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Explicar por qué la campaña digital debe ser discreta y muy filtrada.
MENSAJE PRINCIPAL: Como Hosty56 solo puede venderse completo, el público útil es reducido; el resto son curiosos que hay que filtrar antes de que le quiten tiempo a los propietarios.
QUÉ EXPLICAR: Esta restricción define todo el enfoque de la pauta: mensaje tipo teaser, filtro por formulario, sin exposición de datos sensibles.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el activo con cifras concretas, base de todo el mensaje de la campaña.
MENSAJE PRINCIPAL: Hosty56 es un edificio ya en operación y generando ingresos, no un proyecto especulativo.
QUÉ EXPLICAR: El yield bruto (~12% anual) es un buen ancla para el interés, pero debe presentarse siempre como cifra bruta.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Delimitar con total claridad el alcance de mi gestión frente al de los propietarios.
MENSAJE PRINCIPAL: Yo genero, califico y entrego interesados reales vía Meta Ads. A partir de ahí, los propietarios manejan NDA, llamadas, visitas, negociación y cierre directamente.
QUÉ EXPLICAR: Esta diapositiva evita cualquier expectativa de que yo participo en la negociación o el cierre — mi responsabilidad termina en la entrega del contacto calificado.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la metodología digital completa en una sola imagen.
MENSAJE PRINCIPAL: Difusión discreta, calificación digital, y entrega — mi gestión termina en la tercera etapa.
QUÉ EXPLICAR: Cada etapa se detalla en las siguientes diapositivas.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Generar interés real sin exponer información sensible del activo.
MENSAJE PRINCIPAL: El anuncio vende la oportunidad, no el edificio; los datos exactos nunca aparecen en el anuncio.
QUÉ EXPLICAR: El teaser nunca incluye dirección exacta, fotos identificables ni estados financieros detallados.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Separar interesados reales de curiosos por medios digitales, sin intervención manual.
MENSAJE PRINCIPAL: El formulario hace el trabajo pesado de filtrar antes de que un contacto llegue a los propietarios.
QUÉ EXPLICAR: Las preguntas exactas del formulario están documentadas en el plan operativo detallado.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Formalizar el punto de traspaso entre mi gestión digital y la gestión directa de los propietarios.
MENSAJE PRINCIPAL: Aquí termina mi responsabilidad operativa; el proceso de negociación y cierre es autónomo de los propietarios.
QUÉ EXPLICAR: Se recomienda un formato simple y consistente de entrega (planilla o mensaje directo) para que el traspaso sea ordenado.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que la audiencia objetivo es amplia en tipo, pero estrecha en capacidad.
MENSAJE PRINCIPAL: No se descarta ningún perfil; el formulario de calificación descarta a quien no tenga capacidad de compra total.
QUÉ EXPLICAR: La segmentación de Meta Ads debe cubrir estos cinco perfiles simultáneamente en la difusión discreta.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Dejar explícito qué NO hago yo, para evitar expectativas fuera de lo acordado.
MENSAJE PRINCIPAL: Mi gestión termina en la entrega de interesados calificados; todo lo demás (NDA, llamadas, visitas, negociación, legal, cierre) lo manejan directamente los propietarios.
QUÉ EXPLICAR: Mencionar la hipoteca y la sucesión con transparencia, mostrando que es un tema conocido, pero aclarando que su resolución no depende de la campaña digital ni de mi gestión.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un plan de campaña concreto para los primeros 3 meses.
MENSAJE PRINCIPAL: El proceso avanza progresivamente: lanzamiento, optimización, y escalamiento del volumen de interesados calificados entregados.
QUÉ EXPLICAR: Si al final del mes 3 no hay un comprador cerrado, mi gestión digital puede continuar (el cliente está abierto a extender el plazo), mientras los propietarios avanzan en paralelo con los interesados ya entregados.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Dar seguridad mostrando un cronograma detallado de la gestión digital.
MENSAJE PRINCIPAL: Cada quincena tiene un entregable concreto, siempre dentro del alcance de Meta Ads.
QUÉ EXPLICAR: Las dos primeras semanas son de preparación de materiales digitales, no de campaña activa todavía.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con claridad los dos componentes de honorarios y su condición de pago.
MENSAJE PRINCIPAL: El fijo se paga siempre por la gestión digital; la comisión de éxito (3%, $120.000.000) solo aplica si el comprador final llega directamente por esta gestión de Meta Ads.
QUÉ EXPLICAR: Si el cierre ocurre por un contacto ajeno a esta campaña, solo se cobra el honorario fijo mensual.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Cerrar con una propuesta de acción clara sobre mi gestión digital.
MENSAJE PRINCIPAL: El siguiente paso depende de tener listos los materiales digitales para lanzar con discreción.
QUÉ EXPLICAR: Los tres pasos son secuenciales y están dentro del alcance de Meta Ads; el resto del proceso queda en manos de los propietarios.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48640"/>
            <a:ext cx="1188720" cy="1188720"/>
          </a:xfrm>
          <a:prstGeom prst="ellipse">
            <a:avLst/>
          </a:prstGeom>
          <a:solidFill>
            <a:srgbClr val="2A2E38"/>
          </a:solidFill>
          <a:ln/>
        </p:spPr>
      </p:sp>
      <p:pic>
        <p:nvPicPr>
          <p:cNvPr id="3" name="Image 0" descr="/tmp/hosty56_build/icons/building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1340" y="84582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331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GESTIÓN DIGITAL · META ADS · 2026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Hosty56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822960" y="37947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y filtrar interesados calificados para un edificio en venta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Presentado a los propietarios de Hosty56  ·  Bogotá, Colombia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Hoy, Hosty56 es un activo sólido sin interesados calificados.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66928" cy="566928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5" name="Image 0" descr="/tmp/hosty56_build/icons/dollar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135" y="2405055"/>
            <a:ext cx="328818" cy="3288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9718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$4.000M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61188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venta del edificio completo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89120" y="2286000"/>
            <a:ext cx="566928" cy="566928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9" name="Image 1" descr="/tmp/hosty56_build/icons/chart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175" y="2405055"/>
            <a:ext cx="328818" cy="3288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89120" y="29718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$40M /mes</a:t>
            </a:r>
            <a:endParaRPr lang="en-US" sz="3400" dirty="0"/>
          </a:p>
        </p:txBody>
      </p:sp>
      <p:sp>
        <p:nvSpPr>
          <p:cNvPr id="11" name="Text 7"/>
          <p:cNvSpPr/>
          <p:nvPr/>
        </p:nvSpPr>
        <p:spPr>
          <a:xfrm>
            <a:off x="4389120" y="361188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bruta actual, edificio en operación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3" name="Image 2" descr="/tmp/hosty56_build/icons/users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215" y="2405055"/>
            <a:ext cx="328818" cy="32881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38160" y="29718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0"/>
          <p:cNvSpPr/>
          <p:nvPr/>
        </p:nvSpPr>
        <p:spPr>
          <a:xfrm>
            <a:off x="8138160" y="361188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Interesados calificados en proceso hoy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40080" y="48463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edificio, la operación de renta corta y la facturación ya existen. Falta un canal digital que genere y filtre interesados reales, antes de que lleguen a los propietarios.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Vender un edificio completo no es vender un apartamento.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MERCADEO CONVENCIONAL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172200" y="2286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DIFUSIÓN DE ACTIVO ÚNICO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persona puede interesarse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172200" y="278892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interesados con capacidad de compra total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Mercadeo abierto y masivo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72200" y="36576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Difusión discreta, filtrada digitalmente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5262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anuncio muestra todo de entrada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0" y="45262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anuncio es un teaser, sin datos sensibles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3949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generan miles de curiosos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72200" y="53949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filtran curiosos antes de generar el contacto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629107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Hosty56 no está constituido en propiedad horizontal: no puede fraccionarse ni venderse por unidades, solo completo.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ACTIVO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Hosty56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Edificio de 4 plantas y 10 apartamentos, en operación como renta corta (Airbnb), en Bogotá.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697480"/>
            <a:ext cx="502920" cy="5029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7" name="Image 0" descr="/tmp/hosty56_build/icons/building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293" y="2803093"/>
            <a:ext cx="291694" cy="29169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3375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3840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24688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20440" y="2697480"/>
            <a:ext cx="502920" cy="5029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2" name="Image 1" descr="/tmp/hosty56_build/icons/bed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6053" y="2803093"/>
            <a:ext cx="291694" cy="29169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74720" y="33375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3474720" y="3840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Apartamentos en operación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943600" y="24688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72200" y="2697480"/>
            <a:ext cx="502920" cy="5029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7" name="Image 2" descr="/tmp/hosty56_build/icons/chart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7813" y="2803093"/>
            <a:ext cx="291694" cy="29169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26480" y="33375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$480M</a:t>
            </a:r>
            <a:endParaRPr lang="en-US" sz="2600" dirty="0"/>
          </a:p>
        </p:txBody>
      </p:sp>
      <p:sp>
        <p:nvSpPr>
          <p:cNvPr id="19" name="Text 14"/>
          <p:cNvSpPr/>
          <p:nvPr/>
        </p:nvSpPr>
        <p:spPr>
          <a:xfrm>
            <a:off x="6126480" y="3840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bruta anual (aprox.)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8595360" y="24688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823960" y="2697480"/>
            <a:ext cx="502920" cy="5029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22" name="Image 3" descr="/tmp/hosty56_build/icons/dollar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9573" y="2803093"/>
            <a:ext cx="291694" cy="29169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778240" y="33375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12%</a:t>
            </a:r>
            <a:endParaRPr lang="en-US" sz="2600" dirty="0"/>
          </a:p>
        </p:txBody>
      </p:sp>
      <p:sp>
        <p:nvSpPr>
          <p:cNvPr id="24" name="Text 18"/>
          <p:cNvSpPr/>
          <p:nvPr/>
        </p:nvSpPr>
        <p:spPr>
          <a:xfrm>
            <a:off x="8778240" y="3840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bruto anual sobre el valor de venta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40080" y="629107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 bruta: antes de gastos operativos, servicio de hipoteca e impuestos. Base para la comunicación de la campaña.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GESTIÓN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Genero y filtro interesados. Ustedes gestionan el resto.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plan cubre únicamente la parte digital del proceso.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120640" cy="3566160"/>
          </a:xfrm>
          <a:prstGeom prst="roundRect">
            <a:avLst>
              <a:gd name="adj" fmla="val 2051"/>
            </a:avLst>
          </a:prstGeom>
          <a:solidFill>
            <a:srgbClr val="F2F1EE"/>
          </a:solidFill>
          <a:ln/>
        </p:spPr>
      </p:sp>
      <p:sp>
        <p:nvSpPr>
          <p:cNvPr id="6" name="Shape 4"/>
          <p:cNvSpPr/>
          <p:nvPr/>
        </p:nvSpPr>
        <p:spPr>
          <a:xfrm>
            <a:off x="6172200" y="2331720"/>
            <a:ext cx="5120640" cy="3566160"/>
          </a:xfrm>
          <a:prstGeom prst="roundRect">
            <a:avLst>
              <a:gd name="adj" fmla="val 2051"/>
            </a:avLst>
          </a:prstGeom>
          <a:solidFill>
            <a:srgbClr val="1C1F2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560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GESTIÓN (META ADS)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560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LOS PROPIETARIOS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063240"/>
            <a:ext cx="4480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Difusión discreta del teaser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y formulario de calificación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automático de curiosos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de interesados calificados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92240" y="3063240"/>
            <a:ext cx="4480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 y entrega del dossier confidencial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de verificación y visitas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Negociación y estructura legal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la venta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ESTRATEGIA DIGITAL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etapas para llegar al interesado correcto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filtra: el objetivo no es alcance, es precisión.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63040" y="2240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423160" y="2743200"/>
            <a:ext cx="731520" cy="7315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7" name="Image 0" descr="/tmp/hosty56_build/icons/ey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6779" y="2896819"/>
            <a:ext cx="424282" cy="4242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Difusión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63040" y="42519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Descubrir</a:t>
            </a:r>
            <a:endParaRPr lang="en-US" sz="1250" dirty="0"/>
          </a:p>
        </p:txBody>
      </p:sp>
      <p:pic>
        <p:nvPicPr>
          <p:cNvPr id="10" name="Image 1" descr="/tmp/hosty56_build/icons/arrowRight_charco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29260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54880" y="2240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5715000" y="2743200"/>
            <a:ext cx="731520" cy="7315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3" name="Image 2" descr="/tmp/hosty56_build/icons/filter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619" y="2896819"/>
            <a:ext cx="424282" cy="42428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5488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4754880" y="42519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</a:t>
            </a:r>
            <a:endParaRPr lang="en-US" sz="1250" dirty="0"/>
          </a:p>
        </p:txBody>
      </p:sp>
      <p:pic>
        <p:nvPicPr>
          <p:cNvPr id="16" name="Image 3" descr="/tmp/hosty56_build/icons/arrowRight_charco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2944" y="29260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46720" y="2240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9006840" y="2743200"/>
            <a:ext cx="731520" cy="7315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9" name="Image 4" descr="/tmp/hosty56_build/icons/arrowRight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0459" y="2896819"/>
            <a:ext cx="424282" cy="42428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04672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de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interesados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8046720" y="42519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Traspasar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640080" y="54864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no es una lista de curiosos: son contactos reales, calificados, listos para que ustedes avancen con ellos.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Difusión discreta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generar interés calificado en Meta Ads, sin exponer datos sensibles.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332720" y="548640"/>
            <a:ext cx="914400" cy="91440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6" name="Image 0" descr="/tmp/hosty56_build/icons/ey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8460" y="75438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233172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8" name="Image 1" descr="/tmp/hosty56_build/icons/bullhorn_charco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693" y="2437333"/>
            <a:ext cx="291694" cy="291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28600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tipo teaser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371600" y="267919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Edificio de renta corta en operación en Bogotá, facturación de 8 cifras mensuales — sin dirección ni cifras exactas.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12" name="Image 2" descr="/tmp/hosty56_build/icons/globe_charco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93" y="3671773"/>
            <a:ext cx="291694" cy="29169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5204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Segmentación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371600" y="391363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Interés en inversión inmobiliaria, alto patrimonio, hospitality y renta corta, fondos de inversión.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640080" y="480060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16" name="Image 3" descr="/tmp/hosty56_build/icons/chart_charco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93" y="4906213"/>
            <a:ext cx="291694" cy="29169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475488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de éxito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1371600" y="514807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Interesados que completan el formulario de calificación, no likes ni alcance masivo.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Calificación digital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filtrar curiosos automáticamente, antes de que lleguen a los propietarios.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332720" y="548640"/>
            <a:ext cx="914400" cy="91440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6" name="Image 0" descr="/tmp/hosty56_build/icons/filter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8460" y="75438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233172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8" name="Image 1" descr="/tmp/hosty56_build/icons/fileSignature_charco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693" y="2437333"/>
            <a:ext cx="291694" cy="291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28600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de calificación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371600" y="267919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interesado responde preguntas de capacidad financiera, tipo de comprador e interés real antes de dejar sus datos.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12" name="Image 2" descr="/tmp/hosty56_build/icons/filter_charco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93" y="3671773"/>
            <a:ext cx="291694" cy="29169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5204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automático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371600" y="391363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quien responde con señales reales de capacidad e interés se registra como interesado calificado.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640080" y="480060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16" name="Image 3" descr="/tmp/hosty56_build/icons/lock_charco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93" y="4906213"/>
            <a:ext cx="291694" cy="29169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475488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datos sensibles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1371600" y="514807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dirección exacta y las cifras completas no se entregan en esta etapa — eso lo gestionan directamente los propietarios.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 de interesados calificados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traspasar a los propietarios contactos reales, listos para que ellos avancen.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332720" y="548640"/>
            <a:ext cx="914400" cy="91440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6" name="Image 0" descr="/tmp/hosty56_build/icons/arrowRight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8460" y="75438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233172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8" name="Image 1" descr="/tmp/hosty56_build/icons/checkCircle_charco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693" y="2437333"/>
            <a:ext cx="291694" cy="291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28600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contacto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371600" y="267919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datos de contacto, respuestas del formulario y nivel de interés observado.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12" name="Image 2" descr="/tmp/hosty56_build/icons/handshake_charco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93" y="3671773"/>
            <a:ext cx="291694" cy="29169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5204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Traspaso directo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371600" y="391363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propietarios continúan con el NDA, el dossier, la llamada de verificación y la visita, por su cuenta.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640080" y="4800600"/>
            <a:ext cx="502920" cy="502920"/>
          </a:xfrm>
          <a:prstGeom prst="ellipse">
            <a:avLst/>
          </a:prstGeom>
          <a:solidFill>
            <a:srgbClr val="F2F1EE"/>
          </a:solidFill>
          <a:ln/>
        </p:spPr>
      </p:sp>
      <p:pic>
        <p:nvPicPr>
          <p:cNvPr id="16" name="Image 3" descr="/tmp/hosty56_build/icons/key_charco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93" y="4906213"/>
            <a:ext cx="291694" cy="29169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475488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mi alcance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1371600" y="514807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responsabilidad es la generación y calificación digital; el proceso de cierre lo gestionan ustedes.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SEGMENTACIÓN DE CAMPAÑA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Cualquier perfil con capacidad de compra total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pauta se dirige a estos cinco perfiles simultáneamente.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7432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376172" y="3063240"/>
            <a:ext cx="585216" cy="585216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7" name="Image 0" descr="/tmp/hosty56_build/icons/briefcas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9067" y="3186135"/>
            <a:ext cx="339425" cy="3394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95528" y="3840480"/>
            <a:ext cx="1746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Fondos inmobiliarios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816352" y="27432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3506724" y="3063240"/>
            <a:ext cx="585216" cy="585216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1" name="Image 1" descr="/tmp/hosty56_build/icons/hotel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619" y="3186135"/>
            <a:ext cx="339425" cy="3394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26080" y="3840480"/>
            <a:ext cx="1746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 hoteleros o de renta corta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946904" y="27432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5637276" y="3063240"/>
            <a:ext cx="585216" cy="585216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5" name="Image 2" descr="/tmp/hosty56_build/icons/users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171" y="3186135"/>
            <a:ext cx="339425" cy="33942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056632" y="3840480"/>
            <a:ext cx="1746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offices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7077456" y="27432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</p:spPr>
      </p:sp>
      <p:sp>
        <p:nvSpPr>
          <p:cNvPr id="18" name="Shape 13"/>
          <p:cNvSpPr/>
          <p:nvPr/>
        </p:nvSpPr>
        <p:spPr>
          <a:xfrm>
            <a:off x="7767828" y="3063240"/>
            <a:ext cx="585216" cy="585216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9" name="Image 3" descr="/tmp/hosty56_build/icons/plane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723" y="3186135"/>
            <a:ext cx="339425" cy="33942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87184" y="3840480"/>
            <a:ext cx="1746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 extranjeros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9208008" y="27432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</p:spPr>
      </p:sp>
      <p:sp>
        <p:nvSpPr>
          <p:cNvPr id="22" name="Shape 16"/>
          <p:cNvSpPr/>
          <p:nvPr/>
        </p:nvSpPr>
        <p:spPr>
          <a:xfrm>
            <a:off x="9898380" y="3063240"/>
            <a:ext cx="585216" cy="585216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23" name="Image 4" descr="/tmp/hosty56_build/icons/home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275" y="3186135"/>
            <a:ext cx="339425" cy="339425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317736" y="3840480"/>
            <a:ext cx="1746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Interesados en convertir a propiedad horizontal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85800" cy="685800"/>
          </a:xfrm>
          <a:prstGeom prst="ellipse">
            <a:avLst/>
          </a:prstGeom>
          <a:solidFill>
            <a:srgbClr val="2A2E38"/>
          </a:solidFill>
          <a:ln/>
        </p:spPr>
      </p:sp>
      <p:pic>
        <p:nvPicPr>
          <p:cNvPr id="3" name="Image 0" descr="/tmp/hosty56_build/icons/gavel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385" y="702945"/>
            <a:ext cx="377190" cy="3771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6217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MI ALCANCE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508760" y="98755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los propietarios gestionan directamente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203704"/>
            <a:ext cx="45720" cy="50292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7" name="Text 4"/>
          <p:cNvSpPr/>
          <p:nvPr/>
        </p:nvSpPr>
        <p:spPr>
          <a:xfrm>
            <a:off x="1051560" y="21488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 y entrega del dossier confidencial (dirección, fotos, estados financieros)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3118104"/>
            <a:ext cx="45720" cy="50292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9" name="Text 6"/>
          <p:cNvSpPr/>
          <p:nvPr/>
        </p:nvSpPr>
        <p:spPr>
          <a:xfrm>
            <a:off x="1051560" y="3063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de verificación y visitas presenciales al edificio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22960" y="4032504"/>
            <a:ext cx="45720" cy="50292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11" name="Text 8"/>
          <p:cNvSpPr/>
          <p:nvPr/>
        </p:nvSpPr>
        <p:spPr>
          <a:xfrm>
            <a:off x="1051560" y="39776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Negociación, estructura de la oferta y cierre de la venta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22960" y="4946904"/>
            <a:ext cx="45720" cy="502920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13" name="Text 10"/>
          <p:cNvSpPr/>
          <p:nvPr/>
        </p:nvSpPr>
        <p:spPr>
          <a:xfrm>
            <a:off x="1051560" y="48920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Aspectos legales de la sociedad: existe una hipoteca vigente y un porcentaje de la participación societaria está en proceso de sucesión — se recomienda resolver esto con su abogado, en paralelo a la campaña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59436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información nunca se menciona en el teaser público de Meta Ads; solo la comparten los propietarios en su propio proceso.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TRABAJO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primeros 3 meses de campaña, mes a mes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02920" cy="5029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5" name="Image 0" descr="/tmp/hosty56_build/icons/ey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693" y="2391613"/>
            <a:ext cx="291694" cy="29169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230428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280160" y="2560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y lanzamiento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640080" y="3063240"/>
            <a:ext cx="3429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Teaser, landing y formulario de calificación listos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 de la campaña de difusión discreta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entregas de interesados calificados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9120" y="2286000"/>
            <a:ext cx="502920" cy="5029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0" name="Image 1" descr="/tmp/hosty56_build/icons/filter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733" y="2391613"/>
            <a:ext cx="291694" cy="29169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29200" y="230428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2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029200" y="2560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389120" y="3063240"/>
            <a:ext cx="3429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de audiencias y creativos según quién califica mejor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descartan los segmentos que solo generan curiosos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gradual del volumen de interesados calificados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38160" y="2286000"/>
            <a:ext cx="502920" cy="502920"/>
          </a:xfrm>
          <a:prstGeom prst="ellipse">
            <a:avLst/>
          </a:prstGeom>
          <a:solidFill>
            <a:srgbClr val="1C1F26"/>
          </a:solidFill>
          <a:ln/>
        </p:spPr>
      </p:sp>
      <p:pic>
        <p:nvPicPr>
          <p:cNvPr id="15" name="Image 2" descr="/tmp/hosty56_build/icons/arrowRight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3773" y="2391613"/>
            <a:ext cx="291694" cy="29169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778240" y="230428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3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8778240" y="2560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Escalamiento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138160" y="3063240"/>
            <a:ext cx="3429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Escalamiento de presupuesto en las audiencias de mejor desempeño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 sobre quienes interactuaron sin calificar aún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continua de interesados a los propietarios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TRABAJO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 semana a semana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3591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1-2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72491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 teaser, landing y formulario de calificación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219456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23591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3-4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0" y="272491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 de la campaña de difusión discreta en Meta Ads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219456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8275320" y="23591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5-6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72491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entregas de interesados calificados a los propietarios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1879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7-8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455371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de segmentación y creativos según resultados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402336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41879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9-10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0" y="455371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Escalamiento de presupuesto en las audiencias de mejor desempeño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46720" y="402336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8275320" y="41879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11-12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55371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 continuo y balance de resultados con los propietarios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INVERSIÓN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componentes de honorarios, condiciones distintas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120640" cy="3108960"/>
          </a:xfrm>
          <a:prstGeom prst="roundRect">
            <a:avLst>
              <a:gd name="adj" fmla="val 2353"/>
            </a:avLst>
          </a:prstGeom>
          <a:solidFill>
            <a:srgbClr val="F2F1EE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560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HONORARIOS DE GESTIÓN DIGITAL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971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$950.000</a:t>
            </a:r>
            <a:pPr indent="0" marL="0">
              <a:buNone/>
            </a:pPr>
            <a:r>
              <a:rPr lang="en-US" sz="13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/mes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60120" y="374904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 la estrategia, creación y optimización de campañas en Meta Ads para generar y filtrar interesados calificados. Los propietarios asumen aparte el presupuesto de pauta.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2286000"/>
            <a:ext cx="5120640" cy="3108960"/>
          </a:xfrm>
          <a:prstGeom prst="roundRect">
            <a:avLst>
              <a:gd name="adj" fmla="val 2353"/>
            </a:avLst>
          </a:prstGeom>
          <a:solidFill>
            <a:srgbClr val="F2F1EE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2560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 DE ÉXITO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971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3%</a:t>
            </a:r>
            <a:pPr indent="0" marL="0">
              <a:buNone/>
            </a:pPr>
            <a:r>
              <a:rPr lang="en-US" sz="13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sobre el valor de venta ($120.000.000)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492240" y="374904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únicamente si el comprador que cierra la compra es entregado directamente por esta gestión de Meta Ads. Si el cierre se da por otro medio, no aplica.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29107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fijo remunera la gestión digital; la comisión de éxito reconoce específicamente la entrega directa del comprador que cierra.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08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SIGUIENTE PASO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más anuncios.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un canal digital que filtra antes de entregar.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3291840"/>
            <a:ext cx="502920" cy="502920"/>
          </a:xfrm>
          <a:prstGeom prst="ellipse">
            <a:avLst/>
          </a:prstGeom>
          <a:solidFill>
            <a:srgbClr val="B08D5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08760" y="32461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 materiales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36118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Teaser, landing y formulario de calificación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502920" cy="502920"/>
          </a:xfrm>
          <a:prstGeom prst="ellipse">
            <a:avLst/>
          </a:prstGeom>
          <a:solidFill>
            <a:srgbClr val="B08D57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08760" y="411480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Lanzar la difusión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08760" y="4480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 discreta en Meta Ads, en Bogotá, dirigida a los cinco perfiles de comprador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5029200"/>
            <a:ext cx="502920" cy="502920"/>
          </a:xfrm>
          <a:prstGeom prst="ellipse">
            <a:avLst/>
          </a:prstGeom>
          <a:solidFill>
            <a:srgbClr val="B08D57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0876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interesados calificados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08760" y="53492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Traspaso ordenado a los propietarios, quienes continúan el proceso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2026-08-22T21:24:07Z</dcterms:created>
  <dcterms:modified xsi:type="dcterms:W3CDTF">2026-08-22T21:24:07Z</dcterms:modified>
</cp:coreProperties>
</file>