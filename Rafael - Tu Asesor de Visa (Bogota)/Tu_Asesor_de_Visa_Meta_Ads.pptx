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Establecer el punto de partida real, reconociendo lo que ya existe antes de hablar de lo que falta.
MENSAJE PRINCIPAL: Rafael ya tiene más de 10 años de trayectoria y la confianza de sus clientes; lo que no tiene todavía es un sistema de Meta Ads que convierta esa confianza en un flujo constante de clientes calificados en Bogotá y, luego, en Cali y Medellín.
QUÉ EXPLICAR: El crecimiento actual depende del referido y del círculo social. Ese modelo tiene techo; Meta Ads es el mecanismo para romper ese techo sin perder la exclusividad ni la confidencialidad que caracterizan el servicio.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Cambiar el modelo mental de 'esperar el referido' a 'sistema de adquisición'.
MENSAJE PRINCIPAL: El problema no es la calidad del servicio; es la ausencia de una arquitectura que lo dé a conocer de forma constante.
QUÉ EXPLICAR: Contrastar cómo funciona hoy la captación (dependiente de terceros) frente a cómo debería operar un sistema de Meta Ads (segmentado, medible, con seguimiento confidencial en cada etapa).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Presentar la metodología completa en una sola imagen antes de entrar en el detalle de cada etapa.
MENSAJE PRINCIPAL: Cada etapa de Meta Ads cumple un rol distinto y prepara la siguiente; ninguna funciona aislada.
QUÉ EXPLICAR: Recorrer el journey completo: Presentación (descubrir el servicio), Evaluación (confiar antes de compartir datos personales), Conversión (agendar una consulta), Ascensión (volver a confiar y recomendar). Esta estructura reemplaza la dependencia del referido puntual.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DE LA ETAPA: Lograr que personas del segmento correcto en Bogotá descubran a Tu Asesor de Visa. Aquí no se vende, se despierta interés y se genera reconocimiento.
MENSAJE PRINCIPAL: El objetivo se mide en alcance calificado dentro del segmento correcto, no en mensajes o clics genéricos.
QUÉ EXPLICAR: Objetivos de Meta recomendados (reconocimiento, interacción); segmentación geográfica por zonas exclusivas de Bogotá; y por qué los 10+ años de trayectoria de Rafael son el ángulo de autoridad principal, incluso sin casos documentados todavía.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Dar profundidad al contenido creativo de la etapa 1.
MENSAJE PRINCIPAL: No se trata de un anuncio genérico de servicios de visa, sino de piezas que atacan distintas razones de decisión de un cliente exigente.
QUÉ EXPLICAR: Recorrer cada pilar. Los 10 años de trayectoria son el activo más valioso hoy sin explotar digitalmente. La discreción no es solo un mensaje: debe sentirse desde el primer anuncio que ve el prospecto.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DE LA ETAPA: Mover a quien ya conoce el servicio hacia la intención de agendar, resolviendo el temor natural a compartir información personal y financiera.
MENSAJE PRINCIPAL: En un trámite de visa, la confianza en el manejo de los datos personales pesa tanto como la experiencia del asesor.
QUÉ EXPLICAR: Se activa remarketing sobre quienes vieron los anuncios de la etapa 1. El contenido cambia hacia transparencia del proceso y confidencialidad explícita, ya que hoy no existen testimonios documentados que usar como prueba social.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Mostrar con honestidad qué activo de confianza ya existe y cuál todavía no se ha construido.
MENSAJE PRINCIPAL: Rafael tiene más de 10 años de trayectoria y un compromiso real de confidencialidad; hoy ninguno de los dos se comunica de forma activa en ningún canal digital.
QUÉ EXPLICAR: Cómo se crean públicos personalizados a partir de quienes interactúan con los anuncios de la etapa 1, y cómo se les impacta con contenido de transparencia y confidencialidad para moverlos hacia la etapa de conversión. Ser claro con Rafael: no existen aún testimonios documentados, y construirlos es parte del sistema, no un punto de partida.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DE LA ETAPA: Convertir el interés calificado en una consulta agendada por WhatsApp.
MENSAJE PRINCIPAL: Aquí no se busca una venta; se busca que la persona correcta agende un espacio confidencial para conversar su caso.
QUÉ EXPLICAR: Las audiencias se restringen a quienes vieron los videos o interactuaron con los anuncios de confianza. El objetivo de Meta cambia a mensajes o clientes potenciales. El CTA es directo: agendar una consulta, nunca prometer un resultado.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Mostrar el detalle táctico de optimización dentro de la etapa de conversión.
MENSAJE PRINCIPAL: Pequeños ajustes de segmentación y llamado a la acción mueven directamente la tasa de agendamiento.
QUÉ EXPLICAR: Ejemplo concreto: pasar de un anuncio genérico de contacto a uno que nombra la confidencialidad, el segmento y la facilidad de agendar. Nunca prometer un resultado de la visa; el CTA siempre es agendar una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DE LA ETAPA: Convertir un cliente que ya confió una vez en una fuente constante de nuevos clientes.
MENSAJE PRINCIPAL: La etapa más rentable del sistema es la que hoy no existe en ningún canal digital.
QUÉ EXPLICAR: Cómo construir públicos personalizados de clientes anteriores para renovaciones y visas de familiares, y cómo el mismo perfil validado en Bogotá se puede usar para preparar la expansión a Cali y Medellín antes de invertir en esas ciudades.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Explicar el concepto de Lifetime Value aplicado a un servicio de asesoría personal.
MENSAJE PRINCIPAL: No buscamos una consulta única; buscamos una relación de confianza que se extienda a la familia y al círculo social del cliente.
QUÉ EXPLICAR: Cada gatillo (renovación, visa de un familiar, un referido, la expansión geográfica) es una campaña de reactivación dirigida a un público ya construido en las etapas anteriores. Esto multiplica el valor de cada cliente adquirido, sin depender solo de nuevas consultas.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Consolidar la visión completa antes de pasar al cierre.
MENSAJE PRINCIPAL: El sistema es un ciclo, no una línea recta; el cliente que vuelve a confiar reingresa al ciclo en su siguiente trámite o al traer a un familiar.
QUÉ EXPLICAR: Cómo el dato de una etapa (quién vio el anuncio, quién interactuó, quién agendó) alimenta la audiencia de la siguiente. Reforzar que un referido puntual no puede sostener esta arquitectura.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Presentar el razonamiento económico del sistema sin prometer resultados de visa.
MENSAJE PRINCIPAL: El sistema reduce la dependencia de esperar el próximo referido y aumenta el valor de cada cliente ya conseguido.
QUÉ EXPLICAR: Por qué reimpactar cuesta menos que adquirir; por qué un cliente satisfecho en un segmento de alto poder adquisitivo trae referidos de alto valor; por qué validar el sistema en Bogotá reduce el riesgo antes de invertir en Cali y Medellín. Nunca usar lenguaje de garantía de aprobación.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Cerrar el diagnóstico con impacto, mostrando la brecha concreta entre el potencial del servicio y la ejecución publicitaria actual.
MENSAJE PRINCIPAL: Cada oportunidad está fundamentada en lo que ya sabemos de Tu Asesor de Visa (10+ años de trayectoria, segmento premium, plan de expansión), no en suposiciones ni casos inventados.
QUÉ EXPLICAR: Recorrer brevemente cada oportunidad conectándola con la etapa del sistema a la que pertenece. Ser honesto: algunas de estas oportunidades (como los casos documentados) son cosas que el sistema debe construir desde cero, no activos que ya existan.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Presentar con claridad las dos líneas de inversión necesarias para poner en marcha el sistema, sin mezclar honorarios de gestión con presupuesto publicitario.
MENSAJE PRINCIPAL: Son dos inversiones independientes: unos honorarios de gestión estratégica y un presupuesto de pauta que pertenece siempre a Rafael.
QUÉ EXPLICAR: Los honorarios de gestión inician en $950.000 mensuales durante los primeros 3 meses como precio de lanzamiento, y pasan a la tarifa full de $1.300.000 mensuales desde el mes 4. Aparte, el presupuesto mínimo recomendado de pauta en Meta Ads es de $1.500.000 mensuales, que se invierte directamente en la plataforma y no hace parte de los honorarios.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Cerrar con una propuesta de acción clara, sin sonar comercial.
MENSAJE PRINCIPAL: El crecimiento no depende de más publicidad genérica; depende de darle estructura a la confianza que Rafael ya construyó en 10 años.
QUÉ EXPLICAR: Los tres pasos siguientes son concretos y secuenciales. La siguiente conversación debe definir el alcance y el cronograma de implementación, comenzando en Bogotá.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2.png"/><Relationship Id="rId5" Type="http://schemas.openxmlformats.org/officeDocument/2006/relationships/image" Target="../media/image-4-5.png"/><Relationship Id="rId6" Type="http://schemas.openxmlformats.org/officeDocument/2006/relationships/image" Target="../media/image-4-2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4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2.png"/><Relationship Id="rId5" Type="http://schemas.openxmlformats.org/officeDocument/2006/relationships/image" Target="../media/image-13-5.png"/><Relationship Id="rId6" Type="http://schemas.openxmlformats.org/officeDocument/2006/relationships/image" Target="../media/image-13-2.png"/><Relationship Id="rId7" Type="http://schemas.openxmlformats.org/officeDocument/2006/relationships/image" Target="../media/image-13-7.png"/><Relationship Id="rId8" Type="http://schemas.openxmlformats.org/officeDocument/2006/relationships/image" Target="../media/image-13-7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74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 DE CAPTACIÓN DE CLIENTES · META ADS · BOGOTÁ ·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 Asesor de Visa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822960" y="3364992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D3D2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confianza construida en 10 años a un sistema de captación de clientes premium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22960" y="4114800"/>
            <a:ext cx="2011680" cy="0"/>
          </a:xfrm>
          <a:prstGeom prst="line">
            <a:avLst/>
          </a:prstGeom>
          <a:noFill/>
          <a:ln w="25400">
            <a:solidFill>
              <a:srgbClr val="C9A86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99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Preparado para Rafael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PARTIDA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Hoy, la confianza se construye uno a uno.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9C7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un sistema que la multiplique.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3246120" cy="2880360"/>
          </a:xfrm>
          <a:prstGeom prst="roundRect">
            <a:avLst>
              <a:gd name="adj" fmla="val 2540"/>
            </a:avLst>
          </a:prstGeom>
          <a:solidFill>
            <a:srgbClr val="F5F5F3"/>
          </a:solidFill>
          <a:ln w="12700">
            <a:solidFill>
              <a:srgbClr val="E4E3D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97380" y="301752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/tmp/claude-0/-home-user-Presentaciones-y-varios/903c1196-30c4-57a8-b469-52313f1ce01c/scratchpad/rafael/icons/passport_9C7A3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0260" y="32004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10+ años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914400" y="452628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trayectoria y experiencia, sin un sistema digital que la respalde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206240" y="2606040"/>
            <a:ext cx="3246120" cy="2880360"/>
          </a:xfrm>
          <a:prstGeom prst="roundRect">
            <a:avLst>
              <a:gd name="adj" fmla="val 2540"/>
            </a:avLst>
          </a:prstGeom>
          <a:solidFill>
            <a:srgbClr val="F5F5F3"/>
          </a:solidFill>
          <a:ln w="12700">
            <a:solidFill>
              <a:srgbClr val="E4E3D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63540" y="301752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/tmp/claude-0/-home-user-Presentaciones-y-varios/903c1196-30c4-57a8-b469-52313f1ce01c/scratchpad/rafael/icons/mapPin_9C7A3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6420" y="32004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206240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ciudad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4480560" y="452628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Presencia hoy en Bogotá, frente al plan de expansión a Cali y Medellín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772400" y="2606040"/>
            <a:ext cx="3246120" cy="2880360"/>
          </a:xfrm>
          <a:prstGeom prst="roundRect">
            <a:avLst>
              <a:gd name="adj" fmla="val 2540"/>
            </a:avLst>
          </a:prstGeom>
          <a:solidFill>
            <a:srgbClr val="F5F5F3"/>
          </a:solidFill>
          <a:ln w="12700">
            <a:solidFill>
              <a:srgbClr val="E4E3D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9029700" y="301752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/tmp/claude-0/-home-user-Presentaciones-y-varios/903c1196-30c4-57a8-b469-52313f1ce01c/scratchpad/rafael/icons/target_9C7A3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2580" y="32004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772400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400" dirty="0"/>
          </a:p>
        </p:txBody>
      </p:sp>
      <p:sp>
        <p:nvSpPr>
          <p:cNvPr id="19" name="Text 14"/>
          <p:cNvSpPr/>
          <p:nvPr/>
        </p:nvSpPr>
        <p:spPr>
          <a:xfrm>
            <a:off x="8046720" y="452628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Campañas de Meta Ads estructuradas para atraer clientes de forma constante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2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experiencia y la confianza ya existen. Falta el sistema que las convierta en un flujo constante de clientes calificados.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DIAGNÓSTICO ESTRATÉGICO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referido no es un sistema de captación.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074920" cy="4114800"/>
          </a:xfrm>
          <a:prstGeom prst="roundRect">
            <a:avLst>
              <a:gd name="adj" fmla="val 1778"/>
            </a:avLst>
          </a:prstGeom>
          <a:solidFill>
            <a:srgbClr val="F5F5F3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28600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PUBLICIDAD TÁCTICA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05840" y="28803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500" dirty="0">
                <a:solidFill>
                  <a:srgbClr val="12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del voz a voz y del círculo social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35661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500" dirty="0">
                <a:solidFill>
                  <a:srgbClr val="12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público: todos por igual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42519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500" dirty="0">
                <a:solidFill>
                  <a:srgbClr val="12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seguimiento después del primer contacto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05840" y="49377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500" dirty="0">
                <a:solidFill>
                  <a:srgbClr val="12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 depende de quién lo recomiende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72200" y="1965960"/>
            <a:ext cx="5074920" cy="4114800"/>
          </a:xfrm>
          <a:prstGeom prst="roundRect">
            <a:avLst>
              <a:gd name="adj" fmla="val 1778"/>
            </a:avLst>
          </a:prstGeom>
          <a:solidFill>
            <a:srgbClr val="121A2B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28600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C9A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ADQUISICIÓN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37960" y="28803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objetivos de Meta Ads, uno por etapa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35661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Audiencias exclusivas por zona y perfil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37960" y="42519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confidencial durante todo el proceso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37960" y="49377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 depende de la arquitectura, no del azar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PROPUESTA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 Ads como motor de captación premium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etapas. Cada una prepara la siguiente.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743200"/>
            <a:ext cx="2331720" cy="2834640"/>
          </a:xfrm>
          <a:prstGeom prst="roundRect">
            <a:avLst>
              <a:gd name="adj" fmla="val 3137"/>
            </a:avLst>
          </a:prstGeom>
          <a:solidFill>
            <a:srgbClr val="F5F5F3"/>
          </a:solidFill>
          <a:ln/>
        </p:spPr>
      </p:sp>
      <p:sp>
        <p:nvSpPr>
          <p:cNvPr id="6" name="Shape 4"/>
          <p:cNvSpPr/>
          <p:nvPr/>
        </p:nvSpPr>
        <p:spPr>
          <a:xfrm>
            <a:off x="1577340" y="1993392"/>
            <a:ext cx="731520" cy="731520"/>
          </a:xfrm>
          <a:prstGeom prst="ellipse">
            <a:avLst/>
          </a:prstGeom>
          <a:solidFill>
            <a:srgbClr val="121A2B"/>
          </a:solidFill>
          <a:ln/>
        </p:spPr>
      </p:sp>
      <p:sp>
        <p:nvSpPr>
          <p:cNvPr id="7" name="Text 5"/>
          <p:cNvSpPr/>
          <p:nvPr/>
        </p:nvSpPr>
        <p:spPr>
          <a:xfrm>
            <a:off x="1577340" y="1993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560" dirty="0"/>
          </a:p>
        </p:txBody>
      </p:sp>
      <p:sp>
        <p:nvSpPr>
          <p:cNvPr id="8" name="Shape 6"/>
          <p:cNvSpPr/>
          <p:nvPr/>
        </p:nvSpPr>
        <p:spPr>
          <a:xfrm>
            <a:off x="1595628" y="3401568"/>
            <a:ext cx="694944" cy="69494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" name="Image 0" descr="/tmp/claude-0/-home-user-Presentaciones-y-varios/903c1196-30c4-57a8-b469-52313f1ce01c/scratchpad/rafael/icons/eye_9C7A3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9364" y="3575304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14400" y="42519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Presentación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14400" y="47091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Descubrir</a:t>
            </a:r>
            <a:endParaRPr lang="en-US" sz="1200" dirty="0"/>
          </a:p>
        </p:txBody>
      </p:sp>
      <p:pic>
        <p:nvPicPr>
          <p:cNvPr id="12" name="Image 1" descr="/tmp/claude-0/-home-user-Presentaciones-y-varios/903c1196-30c4-57a8-b469-52313f1ce01c/scratchpad/rafael/icons/arrowRight_9C7A3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5536" y="3977640"/>
            <a:ext cx="246888" cy="24688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429000" y="2743200"/>
            <a:ext cx="2331720" cy="2834640"/>
          </a:xfrm>
          <a:prstGeom prst="roundRect">
            <a:avLst>
              <a:gd name="adj" fmla="val 3137"/>
            </a:avLst>
          </a:prstGeom>
          <a:solidFill>
            <a:srgbClr val="EFEAE0"/>
          </a:solidFill>
          <a:ln/>
        </p:spPr>
      </p:sp>
      <p:sp>
        <p:nvSpPr>
          <p:cNvPr id="14" name="Shape 10"/>
          <p:cNvSpPr/>
          <p:nvPr/>
        </p:nvSpPr>
        <p:spPr>
          <a:xfrm>
            <a:off x="4229100" y="1993392"/>
            <a:ext cx="731520" cy="731520"/>
          </a:xfrm>
          <a:prstGeom prst="ellipse">
            <a:avLst/>
          </a:prstGeom>
          <a:solidFill>
            <a:srgbClr val="121A2B"/>
          </a:solidFill>
          <a:ln/>
        </p:spPr>
      </p:sp>
      <p:sp>
        <p:nvSpPr>
          <p:cNvPr id="15" name="Text 11"/>
          <p:cNvSpPr/>
          <p:nvPr/>
        </p:nvSpPr>
        <p:spPr>
          <a:xfrm>
            <a:off x="4229100" y="1993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560" dirty="0"/>
          </a:p>
        </p:txBody>
      </p:sp>
      <p:sp>
        <p:nvSpPr>
          <p:cNvPr id="16" name="Shape 12"/>
          <p:cNvSpPr/>
          <p:nvPr/>
        </p:nvSpPr>
        <p:spPr>
          <a:xfrm>
            <a:off x="4247388" y="3401568"/>
            <a:ext cx="694944" cy="69494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/tmp/claude-0/-home-user-Presentaciones-y-varios/903c1196-30c4-57a8-b469-52313f1ce01c/scratchpad/rafael/icons/shield_9C7A3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1124" y="3575304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566160" y="42519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Evaluación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3566160" y="47091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Confiar</a:t>
            </a:r>
            <a:endParaRPr lang="en-US" sz="1200" dirty="0"/>
          </a:p>
        </p:txBody>
      </p:sp>
      <p:pic>
        <p:nvPicPr>
          <p:cNvPr id="20" name="Image 3" descr="/tmp/claude-0/-home-user-Presentaciones-y-varios/903c1196-30c4-57a8-b469-52313f1ce01c/scratchpad/rafael/icons/arrowRight_9C7A3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7296" y="3977640"/>
            <a:ext cx="246888" cy="246888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6080760" y="2743200"/>
            <a:ext cx="2331720" cy="2834640"/>
          </a:xfrm>
          <a:prstGeom prst="roundRect">
            <a:avLst>
              <a:gd name="adj" fmla="val 3137"/>
            </a:avLst>
          </a:prstGeom>
          <a:solidFill>
            <a:srgbClr val="F5F5F3"/>
          </a:solidFill>
          <a:ln/>
        </p:spPr>
      </p:sp>
      <p:sp>
        <p:nvSpPr>
          <p:cNvPr id="22" name="Shape 16"/>
          <p:cNvSpPr/>
          <p:nvPr/>
        </p:nvSpPr>
        <p:spPr>
          <a:xfrm>
            <a:off x="6880860" y="1993392"/>
            <a:ext cx="731520" cy="731520"/>
          </a:xfrm>
          <a:prstGeom prst="ellipse">
            <a:avLst/>
          </a:prstGeom>
          <a:solidFill>
            <a:srgbClr val="121A2B"/>
          </a:solidFill>
          <a:ln/>
        </p:spPr>
      </p:sp>
      <p:sp>
        <p:nvSpPr>
          <p:cNvPr id="23" name="Text 17"/>
          <p:cNvSpPr/>
          <p:nvPr/>
        </p:nvSpPr>
        <p:spPr>
          <a:xfrm>
            <a:off x="6880860" y="1993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560" dirty="0"/>
          </a:p>
        </p:txBody>
      </p:sp>
      <p:sp>
        <p:nvSpPr>
          <p:cNvPr id="24" name="Shape 18"/>
          <p:cNvSpPr/>
          <p:nvPr/>
        </p:nvSpPr>
        <p:spPr>
          <a:xfrm>
            <a:off x="6899148" y="3401568"/>
            <a:ext cx="694944" cy="69494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5" name="Image 4" descr="/tmp/claude-0/-home-user-Presentaciones-y-varios/903c1196-30c4-57a8-b469-52313f1ce01c/scratchpad/rafael/icons/calendar_9C7A3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2884" y="3575304"/>
            <a:ext cx="347472" cy="34747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6217920" y="42519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Conversión</a:t>
            </a:r>
            <a:endParaRPr lang="en-US" sz="1700" dirty="0"/>
          </a:p>
        </p:txBody>
      </p:sp>
      <p:sp>
        <p:nvSpPr>
          <p:cNvPr id="27" name="Text 20"/>
          <p:cNvSpPr/>
          <p:nvPr/>
        </p:nvSpPr>
        <p:spPr>
          <a:xfrm>
            <a:off x="6217920" y="47091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Agendar</a:t>
            </a:r>
            <a:endParaRPr lang="en-US" sz="1200" dirty="0"/>
          </a:p>
        </p:txBody>
      </p:sp>
      <p:pic>
        <p:nvPicPr>
          <p:cNvPr id="28" name="Image 5" descr="/tmp/claude-0/-home-user-Presentaciones-y-varios/903c1196-30c4-57a8-b469-52313f1ce01c/scratchpad/rafael/icons/arrowRight_9C7A3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9056" y="3977640"/>
            <a:ext cx="246888" cy="246888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8732520" y="2743200"/>
            <a:ext cx="2331720" cy="2834640"/>
          </a:xfrm>
          <a:prstGeom prst="roundRect">
            <a:avLst>
              <a:gd name="adj" fmla="val 3137"/>
            </a:avLst>
          </a:prstGeom>
          <a:solidFill>
            <a:srgbClr val="EFEAE0"/>
          </a:solidFill>
          <a:ln/>
        </p:spPr>
      </p:sp>
      <p:sp>
        <p:nvSpPr>
          <p:cNvPr id="30" name="Shape 22"/>
          <p:cNvSpPr/>
          <p:nvPr/>
        </p:nvSpPr>
        <p:spPr>
          <a:xfrm>
            <a:off x="9532620" y="1993392"/>
            <a:ext cx="731520" cy="731520"/>
          </a:xfrm>
          <a:prstGeom prst="ellipse">
            <a:avLst/>
          </a:prstGeom>
          <a:solidFill>
            <a:srgbClr val="121A2B"/>
          </a:solidFill>
          <a:ln/>
        </p:spPr>
      </p:sp>
      <p:sp>
        <p:nvSpPr>
          <p:cNvPr id="31" name="Text 23"/>
          <p:cNvSpPr/>
          <p:nvPr/>
        </p:nvSpPr>
        <p:spPr>
          <a:xfrm>
            <a:off x="9532620" y="1993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560" dirty="0"/>
          </a:p>
        </p:txBody>
      </p:sp>
      <p:sp>
        <p:nvSpPr>
          <p:cNvPr id="32" name="Shape 24"/>
          <p:cNvSpPr/>
          <p:nvPr/>
        </p:nvSpPr>
        <p:spPr>
          <a:xfrm>
            <a:off x="9550908" y="3401568"/>
            <a:ext cx="694944" cy="69494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3" name="Image 6" descr="/tmp/claude-0/-home-user-Presentaciones-y-varios/903c1196-30c4-57a8-b469-52313f1ce01c/scratchpad/rafael/icons/sync_9C7A3C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24644" y="3575304"/>
            <a:ext cx="347472" cy="34747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8869680" y="42519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Ascensión</a:t>
            </a:r>
            <a:endParaRPr lang="en-US" sz="1700" dirty="0"/>
          </a:p>
        </p:txBody>
      </p:sp>
      <p:sp>
        <p:nvSpPr>
          <p:cNvPr id="35" name="Text 26"/>
          <p:cNvSpPr/>
          <p:nvPr/>
        </p:nvSpPr>
        <p:spPr>
          <a:xfrm>
            <a:off x="8869680" y="47091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Volver</a:t>
            </a:r>
            <a:endParaRPr lang="en-US" sz="1200" dirty="0"/>
          </a:p>
        </p:txBody>
      </p:sp>
      <p:sp>
        <p:nvSpPr>
          <p:cNvPr id="36" name="Text 27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2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 no es más alcance: es un cliente calificado que agenda, confía y vuelve a confiar su proceso.</a:t>
            </a:r>
            <a:endParaRPr lang="en-US" sz="1350" dirty="0"/>
          </a:p>
        </p:txBody>
      </p:sp>
      <p:sp>
        <p:nvSpPr>
          <p:cNvPr id="37" name="Text 28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9A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01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777240" y="1440180"/>
            <a:ext cx="1051560" cy="1051560"/>
          </a:xfrm>
          <a:prstGeom prst="ellipse">
            <a:avLst/>
          </a:prstGeom>
          <a:solidFill>
            <a:srgbClr val="C9A868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44018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8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680" dirty="0"/>
          </a:p>
        </p:txBody>
      </p:sp>
      <p:sp>
        <p:nvSpPr>
          <p:cNvPr id="5" name="Text 3"/>
          <p:cNvSpPr/>
          <p:nvPr/>
        </p:nvSpPr>
        <p:spPr>
          <a:xfrm>
            <a:off x="2148840" y="141732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Presentación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2167128" y="2148840"/>
            <a:ext cx="8778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D3D2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dar a conocer a Tu Asesor de Visa entre personas de alto poder adquisitivo en Bogotá.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714500" y="3840480"/>
            <a:ext cx="640080" cy="640080"/>
          </a:xfrm>
          <a:prstGeom prst="ellipse">
            <a:avLst/>
          </a:prstGeom>
          <a:solidFill>
            <a:srgbClr val="1B2740"/>
          </a:solidFill>
          <a:ln/>
        </p:spPr>
      </p:sp>
      <p:pic>
        <p:nvPicPr>
          <p:cNvPr id="8" name="Image 0" descr="/tmp/claude-0/-home-user-Presentaciones-y-varios/903c1196-30c4-57a8-b469-52313f1ce01c/scratchpad/rafael/icons/mapPin_C9A86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8119" y="3994099"/>
            <a:ext cx="332842" cy="33284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77240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en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zonas exclusivas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485132" y="3840480"/>
            <a:ext cx="640080" cy="640080"/>
          </a:xfrm>
          <a:prstGeom prst="ellipse">
            <a:avLst/>
          </a:prstGeom>
          <a:solidFill>
            <a:srgbClr val="1B2740"/>
          </a:solidFill>
          <a:ln/>
        </p:spPr>
      </p:sp>
      <p:pic>
        <p:nvPicPr>
          <p:cNvPr id="11" name="Image 1" descr="/tmp/claude-0/-home-user-Presentaciones-y-varios/903c1196-30c4-57a8-b469-52313f1ce01c/scratchpad/rafael/icons/passport_C9A86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8751" y="399409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47872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Autoridad de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años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255764" y="3840480"/>
            <a:ext cx="640080" cy="640080"/>
          </a:xfrm>
          <a:prstGeom prst="ellipse">
            <a:avLst/>
          </a:prstGeom>
          <a:solidFill>
            <a:srgbClr val="1B2740"/>
          </a:solidFill>
          <a:ln/>
        </p:spPr>
      </p:sp>
      <p:pic>
        <p:nvPicPr>
          <p:cNvPr id="14" name="Image 2" descr="/tmp/claude-0/-home-user-Presentaciones-y-varios/903c1196-30c4-57a8-b469-52313f1ce01c/scratchpad/rafael/icons/flagUsa_C9A86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383" y="3994099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318504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de visa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americana claro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10026396" y="3840480"/>
            <a:ext cx="640080" cy="640080"/>
          </a:xfrm>
          <a:prstGeom prst="ellipse">
            <a:avLst/>
          </a:prstGeom>
          <a:solidFill>
            <a:srgbClr val="1B2740"/>
          </a:solidFill>
          <a:ln/>
        </p:spPr>
      </p:sp>
      <p:pic>
        <p:nvPicPr>
          <p:cNvPr id="17" name="Image 3" descr="/tmp/claude-0/-home-user-Presentaciones-y-varios/903c1196-30c4-57a8-b469-52313f1ce01c/scratchpad/rafael/icons/shield_C9A86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0015" y="399409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089136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Discreción desde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primer contacto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1 · PRESENTACIÓN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cinco pilares del descubrimiento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pilar ataca una razón distinta de decisión.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5F5F3"/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260604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/tmp/claude-0/-home-user-Presentaciones-y-varios/903c1196-30c4-57a8-b469-52313f1ce01c/scratchpad/rafael/icons/passport_9C7A3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76606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37360" y="2560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Trayectoria de 10+ años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737360" y="295351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 acumulada como ancla de autoridad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97680" y="233172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5F5F3"/>
          </a:solidFill>
          <a:ln/>
        </p:spPr>
      </p:sp>
      <p:sp>
        <p:nvSpPr>
          <p:cNvPr id="11" name="Shape 8"/>
          <p:cNvSpPr/>
          <p:nvPr/>
        </p:nvSpPr>
        <p:spPr>
          <a:xfrm>
            <a:off x="4617720" y="260604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/tmp/claude-0/-home-user-Presentaciones-y-varios/903c1196-30c4-57a8-b469-52313f1ce01c/scratchpad/rafael/icons/mapPin_9C7A3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740" y="276606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94960" y="2560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Zonas exclusivas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5394960" y="295351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Segmentación fina por sectores de alto poder adquisitivo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955280" y="233172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5F5F3"/>
          </a:solidFill>
          <a:ln/>
        </p:spPr>
      </p:sp>
      <p:sp>
        <p:nvSpPr>
          <p:cNvPr id="16" name="Shape 12"/>
          <p:cNvSpPr/>
          <p:nvPr/>
        </p:nvSpPr>
        <p:spPr>
          <a:xfrm>
            <a:off x="8275320" y="260604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/tmp/claude-0/-home-user-Presentaciones-y-varios/903c1196-30c4-57a8-b469-52313f1ce01c/scratchpad/rafael/icons/flagUsa_9C7A3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340" y="2766060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052560" y="2560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proceso, explicado con claridad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9052560" y="295351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Desmontar mitos sobre la visa americana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40080" y="466344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5F5F3"/>
          </a:solidFill>
          <a:ln/>
        </p:spPr>
      </p:sp>
      <p:sp>
        <p:nvSpPr>
          <p:cNvPr id="21" name="Shape 16"/>
          <p:cNvSpPr/>
          <p:nvPr/>
        </p:nvSpPr>
        <p:spPr>
          <a:xfrm>
            <a:off x="960120" y="493776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3" descr="/tmp/claude-0/-home-user-Presentaciones-y-varios/903c1196-30c4-57a8-b469-52313f1ce01c/scratchpad/rafael/icons/shield_9C7A3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0140" y="5097780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737360" y="4892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Discreción desde el inicio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1737360" y="528523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primer contacto ya transmite confidencialidad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4297680" y="466344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5F5F3"/>
          </a:solidFill>
          <a:ln/>
        </p:spPr>
      </p:sp>
      <p:sp>
        <p:nvSpPr>
          <p:cNvPr id="26" name="Shape 20"/>
          <p:cNvSpPr/>
          <p:nvPr/>
        </p:nvSpPr>
        <p:spPr>
          <a:xfrm>
            <a:off x="4617720" y="493776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7" name="Image 4" descr="/tmp/claude-0/-home-user-Presentaciones-y-varios/903c1196-30c4-57a8-b469-52313f1ce01c/scratchpad/rafael/icons/handshake_9C7A3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7740" y="5097780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394960" y="4892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Atención personalizada</a:t>
            </a:r>
            <a:endParaRPr lang="en-US" sz="1500" dirty="0"/>
          </a:p>
        </p:txBody>
      </p:sp>
      <p:sp>
        <p:nvSpPr>
          <p:cNvPr id="29" name="Text 22"/>
          <p:cNvSpPr/>
          <p:nvPr/>
        </p:nvSpPr>
        <p:spPr>
          <a:xfrm>
            <a:off x="5394960" y="528523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 trámite más, un acompañamiento cercano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9A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02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777240" y="1440180"/>
            <a:ext cx="1051560" cy="1051560"/>
          </a:xfrm>
          <a:prstGeom prst="ellipse">
            <a:avLst/>
          </a:prstGeom>
          <a:solidFill>
            <a:srgbClr val="C9A868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44018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8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680" dirty="0"/>
          </a:p>
        </p:txBody>
      </p:sp>
      <p:sp>
        <p:nvSpPr>
          <p:cNvPr id="5" name="Text 3"/>
          <p:cNvSpPr/>
          <p:nvPr/>
        </p:nvSpPr>
        <p:spPr>
          <a:xfrm>
            <a:off x="2148840" y="141732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Evaluación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2167128" y="2148840"/>
            <a:ext cx="8778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D3D2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quien ya conoce el servicio necesita confiar antes de compartir sus datos.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714500" y="3840480"/>
            <a:ext cx="640080" cy="640080"/>
          </a:xfrm>
          <a:prstGeom prst="ellipse">
            <a:avLst/>
          </a:prstGeom>
          <a:solidFill>
            <a:srgbClr val="1B2740"/>
          </a:solidFill>
          <a:ln/>
        </p:spPr>
      </p:sp>
      <p:pic>
        <p:nvPicPr>
          <p:cNvPr id="8" name="Image 0" descr="/tmp/claude-0/-home-user-Presentaciones-y-varios/903c1196-30c4-57a8-b469-52313f1ce01c/scratchpad/rafael/icons/shield_C9A86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8119" y="3994099"/>
            <a:ext cx="332842" cy="33284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77240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proceso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485132" y="3840480"/>
            <a:ext cx="640080" cy="640080"/>
          </a:xfrm>
          <a:prstGeom prst="ellipse">
            <a:avLst/>
          </a:prstGeom>
          <a:solidFill>
            <a:srgbClr val="1B2740"/>
          </a:solidFill>
          <a:ln/>
        </p:spPr>
      </p:sp>
      <p:pic>
        <p:nvPicPr>
          <p:cNvPr id="11" name="Image 1" descr="/tmp/claude-0/-home-user-Presentaciones-y-varios/903c1196-30c4-57a8-b469-52313f1ce01c/scratchpad/rafael/icons/lock_C9A86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8751" y="399409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47872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Confidencialidad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datos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255764" y="3840480"/>
            <a:ext cx="640080" cy="640080"/>
          </a:xfrm>
          <a:prstGeom prst="ellipse">
            <a:avLst/>
          </a:prstGeom>
          <a:solidFill>
            <a:srgbClr val="1B2740"/>
          </a:solidFill>
          <a:ln/>
        </p:spPr>
      </p:sp>
      <p:pic>
        <p:nvPicPr>
          <p:cNvPr id="14" name="Image 2" descr="/tmp/claude-0/-home-user-Presentaciones-y-varios/903c1196-30c4-57a8-b469-52313f1ce01c/scratchpad/rafael/icons/sync_C9A86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383" y="3994099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318504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Remarketing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interacción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10026396" y="3840480"/>
            <a:ext cx="640080" cy="640080"/>
          </a:xfrm>
          <a:prstGeom prst="ellipse">
            <a:avLst/>
          </a:prstGeom>
          <a:solidFill>
            <a:srgbClr val="1B2740"/>
          </a:solidFill>
          <a:ln/>
        </p:spPr>
      </p:sp>
      <p:pic>
        <p:nvPicPr>
          <p:cNvPr id="17" name="Image 3" descr="/tmp/claude-0/-home-user-Presentaciones-y-varios/903c1196-30c4-57a8-b469-52313f1ce01c/scratchpad/rafael/icons/handshake_C9A86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0015" y="399409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089136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personalizada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2 · EVALUACIÓN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confianza que hoy no se comunica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200400" cy="2103120"/>
          </a:xfrm>
          <a:prstGeom prst="roundRect">
            <a:avLst>
              <a:gd name="adj" fmla="val 3478"/>
            </a:avLst>
          </a:prstGeom>
          <a:solidFill>
            <a:srgbClr val="EFEAE0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260604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tmp/claude-0/-home-user-Presentaciones-y-varios/903c1196-30c4-57a8-b469-52313f1ce01c/scratchpad/rafael/icons/passport_9C7A3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281178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65960" y="2240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10+ años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965960" y="288036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trayectoria que hoy no se traducen en un activo digital de confianza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06240" y="1965960"/>
            <a:ext cx="3200400" cy="2103120"/>
          </a:xfrm>
          <a:prstGeom prst="roundRect">
            <a:avLst>
              <a:gd name="adj" fmla="val 3478"/>
            </a:avLst>
          </a:prstGeom>
          <a:solidFill>
            <a:srgbClr val="EFEAE0"/>
          </a:solidFill>
          <a:ln/>
        </p:spPr>
      </p:sp>
      <p:sp>
        <p:nvSpPr>
          <p:cNvPr id="10" name="Shape 7"/>
          <p:cNvSpPr/>
          <p:nvPr/>
        </p:nvSpPr>
        <p:spPr>
          <a:xfrm>
            <a:off x="4572000" y="260604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/tmp/claude-0/-home-user-Presentaciones-y-varios/903c1196-30c4-57a8-b469-52313f1ce01c/scratchpad/rafael/icons/lock_9C7A3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740" y="281178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32120" y="2240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5532120" y="288036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Confidencialidad en el manejo de datos personales, un diferenciador que hoy no se comunica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1463040" y="4572000"/>
            <a:ext cx="2468880" cy="1234440"/>
          </a:xfrm>
          <a:prstGeom prst="roundRect">
            <a:avLst>
              <a:gd name="adj" fmla="val 5926"/>
            </a:avLst>
          </a:prstGeom>
          <a:solidFill>
            <a:srgbClr val="F5F5F3"/>
          </a:solidFill>
          <a:ln w="12700">
            <a:solidFill>
              <a:srgbClr val="E4E3DF"/>
            </a:solidFill>
            <a:prstDash val="solid"/>
          </a:ln>
        </p:spPr>
      </p:sp>
      <p:pic>
        <p:nvPicPr>
          <p:cNvPr id="15" name="Image 2" descr="/tmp/claude-0/-home-user-Presentaciones-y-varios/903c1196-30c4-57a8-b469-52313f1ce01c/scratchpad/rafael/icons/eye_9C7A3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40" y="4983480"/>
            <a:ext cx="411480" cy="4114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194560" y="4572000"/>
            <a:ext cx="1600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Interacción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2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anuncio</a:t>
            </a:r>
            <a:endParaRPr lang="en-US" sz="1300" dirty="0"/>
          </a:p>
        </p:txBody>
      </p:sp>
      <p:pic>
        <p:nvPicPr>
          <p:cNvPr id="17" name="Image 3" descr="/tmp/claude-0/-home-user-Presentaciones-y-varios/903c1196-30c4-57a8-b469-52313f1ce01c/scratchpad/rafael/icons/arrowRight_9C7A3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3088" y="5074920"/>
            <a:ext cx="274320" cy="27432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4617720" y="4572000"/>
            <a:ext cx="2468880" cy="1234440"/>
          </a:xfrm>
          <a:prstGeom prst="roundRect">
            <a:avLst>
              <a:gd name="adj" fmla="val 5926"/>
            </a:avLst>
          </a:prstGeom>
          <a:solidFill>
            <a:srgbClr val="F5F5F3"/>
          </a:solidFill>
          <a:ln w="12700">
            <a:solidFill>
              <a:srgbClr val="E4E3DF"/>
            </a:solidFill>
            <a:prstDash val="solid"/>
          </a:ln>
        </p:spPr>
      </p:sp>
      <p:pic>
        <p:nvPicPr>
          <p:cNvPr id="19" name="Image 4" descr="/tmp/claude-0/-home-user-Presentaciones-y-varios/903c1196-30c4-57a8-b469-52313f1ce01c/scratchpad/rafael/icons/filter_9C7A3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4983480"/>
            <a:ext cx="411480" cy="41148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5349240" y="4572000"/>
            <a:ext cx="1600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2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personalizado</a:t>
            </a:r>
            <a:endParaRPr lang="en-US" sz="1300" dirty="0"/>
          </a:p>
        </p:txBody>
      </p:sp>
      <p:pic>
        <p:nvPicPr>
          <p:cNvPr id="21" name="Image 5" descr="/tmp/claude-0/-home-user-Presentaciones-y-varios/903c1196-30c4-57a8-b469-52313f1ce01c/scratchpad/rafael/icons/arrowRight_9C7A3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7768" y="5074920"/>
            <a:ext cx="274320" cy="2743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7772400" y="4572000"/>
            <a:ext cx="2468880" cy="1234440"/>
          </a:xfrm>
          <a:prstGeom prst="roundRect">
            <a:avLst>
              <a:gd name="adj" fmla="val 5926"/>
            </a:avLst>
          </a:prstGeom>
          <a:solidFill>
            <a:srgbClr val="F5F5F3"/>
          </a:solidFill>
          <a:ln w="12700">
            <a:solidFill>
              <a:srgbClr val="E4E3DF"/>
            </a:solidFill>
            <a:prstDash val="solid"/>
          </a:ln>
        </p:spPr>
      </p:sp>
      <p:pic>
        <p:nvPicPr>
          <p:cNvPr id="23" name="Image 6" descr="/tmp/claude-0/-home-user-Presentaciones-y-varios/903c1196-30c4-57a8-b469-52313f1ce01c/scratchpad/rafael/icons/shield_9C7A3C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4983480"/>
            <a:ext cx="411480" cy="41148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8503920" y="4572000"/>
            <a:ext cx="1600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Anuncio de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2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confianza y proceso</a:t>
            </a:r>
            <a:endParaRPr lang="en-US" sz="1300" dirty="0"/>
          </a:p>
        </p:txBody>
      </p:sp>
      <p:sp>
        <p:nvSpPr>
          <p:cNvPr id="25" name="Text 16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9A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03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777240" y="1440180"/>
            <a:ext cx="1051560" cy="1051560"/>
          </a:xfrm>
          <a:prstGeom prst="ellipse">
            <a:avLst/>
          </a:prstGeom>
          <a:solidFill>
            <a:srgbClr val="C9A868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44018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8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680" dirty="0"/>
          </a:p>
        </p:txBody>
      </p:sp>
      <p:sp>
        <p:nvSpPr>
          <p:cNvPr id="5" name="Text 3"/>
          <p:cNvSpPr/>
          <p:nvPr/>
        </p:nvSpPr>
        <p:spPr>
          <a:xfrm>
            <a:off x="2148840" y="141732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Conversión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2167128" y="2148840"/>
            <a:ext cx="8778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D3D2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convertir el interés en una consulta agendada, no en una venta.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714500" y="3840480"/>
            <a:ext cx="640080" cy="640080"/>
          </a:xfrm>
          <a:prstGeom prst="ellipse">
            <a:avLst/>
          </a:prstGeom>
          <a:solidFill>
            <a:srgbClr val="1B2740"/>
          </a:solidFill>
          <a:ln/>
        </p:spPr>
      </p:sp>
      <p:pic>
        <p:nvPicPr>
          <p:cNvPr id="8" name="Image 0" descr="/tmp/claude-0/-home-user-Presentaciones-y-varios/903c1196-30c4-57a8-b469-52313f1ce01c/scratchpad/rafael/icons/calendar_C9A86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8119" y="3994099"/>
            <a:ext cx="332842" cy="33284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77240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485132" y="3840480"/>
            <a:ext cx="640080" cy="640080"/>
          </a:xfrm>
          <a:prstGeom prst="ellipse">
            <a:avLst/>
          </a:prstGeom>
          <a:solidFill>
            <a:srgbClr val="1B2740"/>
          </a:solidFill>
          <a:ln/>
        </p:spPr>
      </p:sp>
      <p:pic>
        <p:nvPicPr>
          <p:cNvPr id="11" name="Image 1" descr="/tmp/claude-0/-home-user-Presentaciones-y-varios/903c1196-30c4-57a8-b469-52313f1ce01c/scratchpad/rafael/icons/comment_C9A86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8751" y="399409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47872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255764" y="3840480"/>
            <a:ext cx="640080" cy="640080"/>
          </a:xfrm>
          <a:prstGeom prst="ellipse">
            <a:avLst/>
          </a:prstGeom>
          <a:solidFill>
            <a:srgbClr val="1B2740"/>
          </a:solidFill>
          <a:ln/>
        </p:spPr>
      </p:sp>
      <p:pic>
        <p:nvPicPr>
          <p:cNvPr id="14" name="Image 2" descr="/tmp/claude-0/-home-user-Presentaciones-y-varios/903c1196-30c4-57a8-b469-52313f1ce01c/scratchpad/rafael/icons/target_C9A86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383" y="3994099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318504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Audiencias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exclusivas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10026396" y="3840480"/>
            <a:ext cx="640080" cy="640080"/>
          </a:xfrm>
          <a:prstGeom prst="ellipse">
            <a:avLst/>
          </a:prstGeom>
          <a:solidFill>
            <a:srgbClr val="1B2740"/>
          </a:solidFill>
          <a:ln/>
        </p:spPr>
      </p:sp>
      <p:pic>
        <p:nvPicPr>
          <p:cNvPr id="17" name="Image 3" descr="/tmp/claude-0/-home-user-Presentaciones-y-varios/903c1196-30c4-57a8-b469-52313f1ce01c/scratchpad/rafael/icons/route_C9A86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0015" y="399409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089136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fricción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contacto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3 · CONVERSIÓN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la intención a la consulta agendada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público, dos formas de pedirle que actúe.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074920" cy="3840480"/>
          </a:xfrm>
          <a:prstGeom prst="roundRect">
            <a:avLst>
              <a:gd name="adj" fmla="val 1905"/>
            </a:avLst>
          </a:prstGeom>
          <a:solidFill>
            <a:srgbClr val="F5F5F3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377440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CTA GENÉRICO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278892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“Contáctanos para más información”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356616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4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segmento específico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406908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4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llamado a la acción claro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457200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4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público para todos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72200" y="2103120"/>
            <a:ext cx="5074920" cy="3840480"/>
          </a:xfrm>
          <a:prstGeom prst="roundRect">
            <a:avLst>
              <a:gd name="adj" fmla="val 1905"/>
            </a:avLst>
          </a:prstGeom>
          <a:solidFill>
            <a:srgbClr val="121A2B"/>
          </a:solidFill>
          <a:ln/>
        </p:spPr>
      </p:sp>
      <p:sp>
        <p:nvSpPr>
          <p:cNvPr id="12" name="Text 10"/>
          <p:cNvSpPr/>
          <p:nvPr/>
        </p:nvSpPr>
        <p:spPr>
          <a:xfrm>
            <a:off x="6537960" y="2377440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C9A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CTA POR SEGMENTO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37960" y="278892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“Agenda tu consulta confidencial de visa americana”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37960" y="37033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Dirigido a zonas exclusivas de Bogotá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37960" y="42062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Confidencialidad explícita en el mensaje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37960" y="470916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 con fecha y disponibilidad clara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9A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04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777240" y="1440180"/>
            <a:ext cx="1051560" cy="1051560"/>
          </a:xfrm>
          <a:prstGeom prst="ellipse">
            <a:avLst/>
          </a:prstGeom>
          <a:solidFill>
            <a:srgbClr val="C9A868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44018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8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680" dirty="0"/>
          </a:p>
        </p:txBody>
      </p:sp>
      <p:sp>
        <p:nvSpPr>
          <p:cNvPr id="5" name="Text 3"/>
          <p:cNvSpPr/>
          <p:nvPr/>
        </p:nvSpPr>
        <p:spPr>
          <a:xfrm>
            <a:off x="2148840" y="141732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Ascensión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2167128" y="2148840"/>
            <a:ext cx="8778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D3D2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el cliente que ya confió, vuelve a confiar y lo recomienda.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714500" y="3840480"/>
            <a:ext cx="640080" cy="640080"/>
          </a:xfrm>
          <a:prstGeom prst="ellipse">
            <a:avLst/>
          </a:prstGeom>
          <a:solidFill>
            <a:srgbClr val="1B2740"/>
          </a:solidFill>
          <a:ln/>
        </p:spPr>
      </p:sp>
      <p:pic>
        <p:nvPicPr>
          <p:cNvPr id="8" name="Image 0" descr="/tmp/claude-0/-home-user-Presentaciones-y-varios/903c1196-30c4-57a8-b469-52313f1ce01c/scratchpad/rafael/icons/sync_C9A86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8119" y="3994099"/>
            <a:ext cx="332842" cy="33284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77240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Renovación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visa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485132" y="3840480"/>
            <a:ext cx="640080" cy="640080"/>
          </a:xfrm>
          <a:prstGeom prst="ellipse">
            <a:avLst/>
          </a:prstGeom>
          <a:solidFill>
            <a:srgbClr val="1B2740"/>
          </a:solidFill>
          <a:ln/>
        </p:spPr>
      </p:sp>
      <p:pic>
        <p:nvPicPr>
          <p:cNvPr id="11" name="Image 1" descr="/tmp/claude-0/-home-user-Presentaciones-y-varios/903c1196-30c4-57a8-b469-52313f1ce01c/scratchpad/rafael/icons/users_C9A86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8751" y="399409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47872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 para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familiares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255764" y="3840480"/>
            <a:ext cx="640080" cy="640080"/>
          </a:xfrm>
          <a:prstGeom prst="ellipse">
            <a:avLst/>
          </a:prstGeom>
          <a:solidFill>
            <a:srgbClr val="1B2740"/>
          </a:solidFill>
          <a:ln/>
        </p:spPr>
      </p:sp>
      <p:pic>
        <p:nvPicPr>
          <p:cNvPr id="14" name="Image 2" descr="/tmp/claude-0/-home-user-Presentaciones-y-varios/903c1196-30c4-57a8-b469-52313f1ce01c/scratchpad/rafael/icons/thumbsup_C9A86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383" y="3994099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318504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Referidos dentro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 círculo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10026396" y="3840480"/>
            <a:ext cx="640080" cy="640080"/>
          </a:xfrm>
          <a:prstGeom prst="ellipse">
            <a:avLst/>
          </a:prstGeom>
          <a:solidFill>
            <a:srgbClr val="1B2740"/>
          </a:solidFill>
          <a:ln/>
        </p:spPr>
      </p:sp>
      <p:pic>
        <p:nvPicPr>
          <p:cNvPr id="17" name="Image 3" descr="/tmp/claude-0/-home-user-Presentaciones-y-varios/903c1196-30c4-57a8-b469-52313f1ce01c/scratchpad/rafael/icons/building_C9A86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0015" y="399409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089136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Expansión 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 y Medellín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4 · ASCENSIÓN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un trámite a una relación de confianza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PRINCIPIO: LIFETIME VALUE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4937760" cy="1737360"/>
          </a:xfrm>
          <a:prstGeom prst="roundRect">
            <a:avLst>
              <a:gd name="adj" fmla="val 4211"/>
            </a:avLst>
          </a:prstGeom>
          <a:solidFill>
            <a:srgbClr val="F5F5F3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8346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consulta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33832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que llega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una campaña puntual</a:t>
            </a:r>
            <a:endParaRPr lang="en-US" sz="1150" dirty="0"/>
          </a:p>
        </p:txBody>
      </p:sp>
      <p:pic>
        <p:nvPicPr>
          <p:cNvPr id="8" name="Image 0" descr="/tmp/claude-0/-home-user-Presentaciones-y-varios/903c1196-30c4-57a8-b469-52313f1ce01c/scratchpad/rafael/icons/arrowRight_9C7A3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3383280"/>
            <a:ext cx="365760" cy="3657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309360" y="2606040"/>
            <a:ext cx="5212080" cy="1737360"/>
          </a:xfrm>
          <a:prstGeom prst="roundRect">
            <a:avLst>
              <a:gd name="adj" fmla="val 4211"/>
            </a:avLst>
          </a:prstGeom>
          <a:solidFill>
            <a:srgbClr val="121A2B"/>
          </a:solidFill>
          <a:ln/>
        </p:spPr>
      </p:sp>
      <p:sp>
        <p:nvSpPr>
          <p:cNvPr id="10" name="Text 7"/>
          <p:cNvSpPr/>
          <p:nvPr/>
        </p:nvSpPr>
        <p:spPr>
          <a:xfrm>
            <a:off x="6537960" y="28346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Relación de confianza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537960" y="33832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3D2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Vuelve por renovación, trae a su familia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3D2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lo recomienda dentro de su círculo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05256" y="4709160"/>
            <a:ext cx="2423160" cy="1051560"/>
          </a:xfrm>
          <a:prstGeom prst="roundRect">
            <a:avLst>
              <a:gd name="adj" fmla="val 6957"/>
            </a:avLst>
          </a:prstGeom>
          <a:solidFill>
            <a:srgbClr val="F5F5F3"/>
          </a:solidFill>
          <a:ln/>
        </p:spPr>
      </p:sp>
      <p:sp>
        <p:nvSpPr>
          <p:cNvPr id="13" name="Shape 10"/>
          <p:cNvSpPr/>
          <p:nvPr/>
        </p:nvSpPr>
        <p:spPr>
          <a:xfrm>
            <a:off x="1179576" y="4983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/tmp/claude-0/-home-user-Presentaciones-y-varios/903c1196-30c4-57a8-b469-52313f1ce01c/scratchpad/rafael/icons/sync_9C7A3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733" y="5096637"/>
            <a:ext cx="276606" cy="27660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865376" y="4709160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Renovación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2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visa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3557016" y="4709160"/>
            <a:ext cx="2423160" cy="1051560"/>
          </a:xfrm>
          <a:prstGeom prst="roundRect">
            <a:avLst>
              <a:gd name="adj" fmla="val 6957"/>
            </a:avLst>
          </a:prstGeom>
          <a:solidFill>
            <a:srgbClr val="EFEAE0"/>
          </a:solidFill>
          <a:ln/>
        </p:spPr>
      </p:sp>
      <p:sp>
        <p:nvSpPr>
          <p:cNvPr id="17" name="Shape 13"/>
          <p:cNvSpPr/>
          <p:nvPr/>
        </p:nvSpPr>
        <p:spPr>
          <a:xfrm>
            <a:off x="3831336" y="4983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/tmp/claude-0/-home-user-Presentaciones-y-varios/903c1196-30c4-57a8-b469-52313f1ce01c/scratchpad/rafael/icons/users_9C7A3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4493" y="5096637"/>
            <a:ext cx="276606" cy="27660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517136" y="4709160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 de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2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familiar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6208776" y="4709160"/>
            <a:ext cx="2423160" cy="1051560"/>
          </a:xfrm>
          <a:prstGeom prst="roundRect">
            <a:avLst>
              <a:gd name="adj" fmla="val 6957"/>
            </a:avLst>
          </a:prstGeom>
          <a:solidFill>
            <a:srgbClr val="F5F5F3"/>
          </a:solidFill>
          <a:ln/>
        </p:spPr>
      </p:sp>
      <p:sp>
        <p:nvSpPr>
          <p:cNvPr id="21" name="Shape 16"/>
          <p:cNvSpPr/>
          <p:nvPr/>
        </p:nvSpPr>
        <p:spPr>
          <a:xfrm>
            <a:off x="6483096" y="4983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3" descr="/tmp/claude-0/-home-user-Presentaciones-y-varios/903c1196-30c4-57a8-b469-52313f1ce01c/scratchpad/rafael/icons/thumbsup_9C7A3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6253" y="5096637"/>
            <a:ext cx="276606" cy="27660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168896" y="4709160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Referido de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2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confianza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8860536" y="4709160"/>
            <a:ext cx="2423160" cy="1051560"/>
          </a:xfrm>
          <a:prstGeom prst="roundRect">
            <a:avLst>
              <a:gd name="adj" fmla="val 6957"/>
            </a:avLst>
          </a:prstGeom>
          <a:solidFill>
            <a:srgbClr val="EFEAE0"/>
          </a:solidFill>
          <a:ln/>
        </p:spPr>
      </p:sp>
      <p:sp>
        <p:nvSpPr>
          <p:cNvPr id="25" name="Shape 19"/>
          <p:cNvSpPr/>
          <p:nvPr/>
        </p:nvSpPr>
        <p:spPr>
          <a:xfrm>
            <a:off x="9134856" y="4983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6" name="Image 4" descr="/tmp/claude-0/-home-user-Presentaciones-y-varios/903c1196-30c4-57a8-b469-52313f1ce01c/scratchpad/rafael/icons/building_9C7A3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8013" y="5096637"/>
            <a:ext cx="276606" cy="27660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9820656" y="4709160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Expansión a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2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nuevas ciudades</a:t>
            </a:r>
            <a:endParaRPr lang="en-US" sz="1150" dirty="0"/>
          </a:p>
        </p:txBody>
      </p:sp>
      <p:sp>
        <p:nvSpPr>
          <p:cNvPr id="28" name="Text 21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CONSOLIDACIÓN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sistema completo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3D2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etapa funciona sola. El valor está en la conexión.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325880" y="2606040"/>
            <a:ext cx="1234440" cy="1234440"/>
          </a:xfrm>
          <a:prstGeom prst="ellipse">
            <a:avLst/>
          </a:prstGeom>
          <a:solidFill>
            <a:srgbClr val="1B2740"/>
          </a:solidFill>
          <a:ln w="19050">
            <a:solidFill>
              <a:srgbClr val="C9A868"/>
            </a:solidFill>
            <a:prstDash val="solid"/>
          </a:ln>
        </p:spPr>
      </p:sp>
      <p:pic>
        <p:nvPicPr>
          <p:cNvPr id="6" name="Image 0" descr="/tmp/claude-0/-home-user-Presentaciones-y-varios/903c1196-30c4-57a8-b469-52313f1ce01c/scratchpad/rafael/icons/eye_C9A86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6212" y="297637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39502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77240" y="422452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Presentación</a:t>
            </a:r>
            <a:endParaRPr lang="en-US" sz="1500" dirty="0"/>
          </a:p>
        </p:txBody>
      </p:sp>
      <p:pic>
        <p:nvPicPr>
          <p:cNvPr id="9" name="Image 1" descr="/tmp/claude-0/-home-user-Presentaciones-y-varios/903c1196-30c4-57a8-b469-52313f1ce01c/scratchpad/rafael/icons/arrowRight_C9A86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5536" y="3095244"/>
            <a:ext cx="246888" cy="24688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977640" y="2606040"/>
            <a:ext cx="1234440" cy="1234440"/>
          </a:xfrm>
          <a:prstGeom prst="ellipse">
            <a:avLst/>
          </a:prstGeom>
          <a:solidFill>
            <a:srgbClr val="1B2740"/>
          </a:solidFill>
          <a:ln w="19050">
            <a:solidFill>
              <a:srgbClr val="C9A868"/>
            </a:solidFill>
            <a:prstDash val="solid"/>
          </a:ln>
        </p:spPr>
      </p:sp>
      <p:pic>
        <p:nvPicPr>
          <p:cNvPr id="11" name="Image 2" descr="/tmp/claude-0/-home-user-Presentaciones-y-varios/903c1196-30c4-57a8-b469-52313f1ce01c/scratchpad/rafael/icons/shield_C9A86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972" y="2976372"/>
            <a:ext cx="493776" cy="49377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429000" y="39502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3429000" y="422452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Evaluación</a:t>
            </a:r>
            <a:endParaRPr lang="en-US" sz="1500" dirty="0"/>
          </a:p>
        </p:txBody>
      </p:sp>
      <p:pic>
        <p:nvPicPr>
          <p:cNvPr id="14" name="Image 3" descr="/tmp/claude-0/-home-user-Presentaciones-y-varios/903c1196-30c4-57a8-b469-52313f1ce01c/scratchpad/rafael/icons/arrowRight_C9A86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7296" y="3095244"/>
            <a:ext cx="246888" cy="246888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6629400" y="2606040"/>
            <a:ext cx="1234440" cy="1234440"/>
          </a:xfrm>
          <a:prstGeom prst="ellipse">
            <a:avLst/>
          </a:prstGeom>
          <a:solidFill>
            <a:srgbClr val="1B2740"/>
          </a:solidFill>
          <a:ln w="19050">
            <a:solidFill>
              <a:srgbClr val="C9A868"/>
            </a:solidFill>
            <a:prstDash val="solid"/>
          </a:ln>
        </p:spPr>
      </p:sp>
      <p:pic>
        <p:nvPicPr>
          <p:cNvPr id="16" name="Image 4" descr="/tmp/claude-0/-home-user-Presentaciones-y-varios/903c1196-30c4-57a8-b469-52313f1ce01c/scratchpad/rafael/icons/calendar_C9A86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9732" y="2976372"/>
            <a:ext cx="493776" cy="493776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6080760" y="39502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1"/>
          <p:cNvSpPr/>
          <p:nvPr/>
        </p:nvSpPr>
        <p:spPr>
          <a:xfrm>
            <a:off x="6080760" y="422452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Conversión</a:t>
            </a:r>
            <a:endParaRPr lang="en-US" sz="1500" dirty="0"/>
          </a:p>
        </p:txBody>
      </p:sp>
      <p:pic>
        <p:nvPicPr>
          <p:cNvPr id="19" name="Image 5" descr="/tmp/claude-0/-home-user-Presentaciones-y-varios/903c1196-30c4-57a8-b469-52313f1ce01c/scratchpad/rafael/icons/arrowRight_C9A86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9056" y="3095244"/>
            <a:ext cx="246888" cy="246888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9281160" y="2606040"/>
            <a:ext cx="1234440" cy="1234440"/>
          </a:xfrm>
          <a:prstGeom prst="ellipse">
            <a:avLst/>
          </a:prstGeom>
          <a:solidFill>
            <a:srgbClr val="1B2740"/>
          </a:solidFill>
          <a:ln w="19050">
            <a:solidFill>
              <a:srgbClr val="C9A868"/>
            </a:solidFill>
            <a:prstDash val="solid"/>
          </a:ln>
        </p:spPr>
      </p:sp>
      <p:pic>
        <p:nvPicPr>
          <p:cNvPr id="21" name="Image 6" descr="/tmp/claude-0/-home-user-Presentaciones-y-varios/903c1196-30c4-57a8-b469-52313f1ce01c/scratchpad/rafael/icons/sync_C9A868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51492" y="2976372"/>
            <a:ext cx="493776" cy="493776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8732520" y="39502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14"/>
          <p:cNvSpPr/>
          <p:nvPr/>
        </p:nvSpPr>
        <p:spPr>
          <a:xfrm>
            <a:off x="8732520" y="422452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Ascensión</a:t>
            </a:r>
            <a:endParaRPr lang="en-US" sz="1500" dirty="0"/>
          </a:p>
        </p:txBody>
      </p:sp>
      <p:sp>
        <p:nvSpPr>
          <p:cNvPr id="24" name="Shape 15"/>
          <p:cNvSpPr/>
          <p:nvPr/>
        </p:nvSpPr>
        <p:spPr>
          <a:xfrm>
            <a:off x="2103120" y="4800600"/>
            <a:ext cx="7955280" cy="868680"/>
          </a:xfrm>
          <a:prstGeom prst="roundRect">
            <a:avLst>
              <a:gd name="adj" fmla="val 10526"/>
            </a:avLst>
          </a:prstGeom>
          <a:solidFill>
            <a:srgbClr val="1B2740"/>
          </a:solidFill>
          <a:ln/>
        </p:spPr>
      </p:sp>
      <p:sp>
        <p:nvSpPr>
          <p:cNvPr id="25" name="Shape 16"/>
          <p:cNvSpPr/>
          <p:nvPr/>
        </p:nvSpPr>
        <p:spPr>
          <a:xfrm>
            <a:off x="2377440" y="4960620"/>
            <a:ext cx="548640" cy="548640"/>
          </a:xfrm>
          <a:prstGeom prst="ellipse">
            <a:avLst/>
          </a:prstGeom>
          <a:solidFill>
            <a:srgbClr val="24314F"/>
          </a:solidFill>
          <a:ln/>
        </p:spPr>
      </p:sp>
      <p:pic>
        <p:nvPicPr>
          <p:cNvPr id="26" name="Image 7" descr="/tmp/claude-0/-home-user-Presentaciones-y-varios/903c1196-30c4-57a8-b469-52313f1ce01c/scratchpad/rafael/icons/sync_C9A868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00884" y="5084064"/>
            <a:ext cx="301752" cy="301752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3154680" y="4800600"/>
            <a:ext cx="6720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D3D2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ciclo se repite: quien vuelve a confiar entra de nuevo por evaluación en su siguiente trámite.</a:t>
            </a:r>
            <a:endParaRPr lang="en-US" sz="1350" dirty="0"/>
          </a:p>
        </p:txBody>
      </p:sp>
      <p:sp>
        <p:nvSpPr>
          <p:cNvPr id="28" name="Text 18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RAZONAMIENTO ECONÓMICO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lógica de negocio detrás del sistema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5F5F3"/>
          </a:solidFill>
          <a:ln/>
        </p:spPr>
      </p:sp>
      <p:sp>
        <p:nvSpPr>
          <p:cNvPr id="5" name="Shape 3"/>
          <p:cNvSpPr/>
          <p:nvPr/>
        </p:nvSpPr>
        <p:spPr>
          <a:xfrm>
            <a:off x="2034540" y="246888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tmp/claude-0/-home-user-Presentaciones-y-varios/903c1196-30c4-57a8-b469-52313f1ce01c/scratchpad/rafael/icons/dollar_9C7A3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17420" y="265176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38328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Menor costo por cliente en el tiempo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960120" y="416052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Reimpactar a quien ya confió cuesta menos que conseguir a alguien nuevo.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480560" y="214884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5F5F3"/>
          </a:solidFill>
          <a:ln/>
        </p:spPr>
      </p:sp>
      <p:sp>
        <p:nvSpPr>
          <p:cNvPr id="10" name="Shape 7"/>
          <p:cNvSpPr/>
          <p:nvPr/>
        </p:nvSpPr>
        <p:spPr>
          <a:xfrm>
            <a:off x="5875020" y="246888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/tmp/claude-0/-home-user-Presentaciones-y-varios/903c1196-30c4-57a8-b469-52313f1ce01c/scratchpad/rafael/icons/thumbsup_9C7A3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7900" y="265176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54880" y="338328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Más referidos calificados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4800600" y="416052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cliente que confía, refiere a su propio círculo social.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321040" y="214884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5F5F3"/>
          </a:solidFill>
          <a:ln/>
        </p:spPr>
      </p:sp>
      <p:sp>
        <p:nvSpPr>
          <p:cNvPr id="15" name="Shape 11"/>
          <p:cNvSpPr/>
          <p:nvPr/>
        </p:nvSpPr>
        <p:spPr>
          <a:xfrm>
            <a:off x="9715500" y="246888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/tmp/claude-0/-home-user-Presentaciones-y-varios/903c1196-30c4-57a8-b469-52313f1ce01c/scratchpad/rafael/icons/building_9C7A3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8380" y="265176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595360" y="338328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Expansión geográfica rentable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8641080" y="416052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sistema validado en Bogotá reduce el riesgo al llegar a Cali y Medellín.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640080" y="57607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2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no promete resultados de visa garantizados. Reduce la dependencia del referido y aumenta el valor de cada cliente ya ganado.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DEL DIAGNÓSTICO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oportunidades que hoy Tu Asesor de Visa</a:t>
            </a:r>
            <a:endParaRPr lang="en-US" sz="2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está dejando sobre la mesa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749808"/>
          </a:xfrm>
          <a:prstGeom prst="roundRect">
            <a:avLst>
              <a:gd name="adj" fmla="val 8537"/>
            </a:avLst>
          </a:prstGeom>
          <a:solidFill>
            <a:srgbClr val="1B2740"/>
          </a:solidFill>
          <a:ln/>
        </p:spPr>
      </p:sp>
      <p:sp>
        <p:nvSpPr>
          <p:cNvPr id="5" name="Shape 3"/>
          <p:cNvSpPr/>
          <p:nvPr/>
        </p:nvSpPr>
        <p:spPr>
          <a:xfrm>
            <a:off x="1078992" y="1929384"/>
            <a:ext cx="457200" cy="457200"/>
          </a:xfrm>
          <a:prstGeom prst="ellipse">
            <a:avLst/>
          </a:prstGeom>
          <a:solidFill>
            <a:srgbClr val="24314F"/>
          </a:solidFill>
          <a:ln/>
        </p:spPr>
      </p:sp>
      <p:pic>
        <p:nvPicPr>
          <p:cNvPr id="6" name="Image 0" descr="/tmp/claude-0/-home-user-Presentaciones-y-varios/903c1196-30c4-57a8-b469-52313f1ce01c/scratchpad/rafael/icons/mapPin_C9A86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1862" y="2032254"/>
            <a:ext cx="251460" cy="2514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837944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Segmentar campañas de reconocimiento específicamente por zonas exclusivas de Bogotá, hoy sin ninguna segmentación digital.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6217920" y="1783080"/>
            <a:ext cx="5257800" cy="749808"/>
          </a:xfrm>
          <a:prstGeom prst="roundRect">
            <a:avLst>
              <a:gd name="adj" fmla="val 8537"/>
            </a:avLst>
          </a:prstGeom>
          <a:solidFill>
            <a:srgbClr val="1B2740"/>
          </a:solidFill>
          <a:ln/>
        </p:spPr>
      </p:sp>
      <p:sp>
        <p:nvSpPr>
          <p:cNvPr id="9" name="Shape 6"/>
          <p:cNvSpPr/>
          <p:nvPr/>
        </p:nvSpPr>
        <p:spPr>
          <a:xfrm>
            <a:off x="6656832" y="1929384"/>
            <a:ext cx="457200" cy="457200"/>
          </a:xfrm>
          <a:prstGeom prst="ellipse">
            <a:avLst/>
          </a:prstGeom>
          <a:solidFill>
            <a:srgbClr val="24314F"/>
          </a:solidFill>
          <a:ln/>
        </p:spPr>
      </p:sp>
      <p:pic>
        <p:nvPicPr>
          <p:cNvPr id="10" name="Image 1" descr="/tmp/claude-0/-home-user-Presentaciones-y-varios/903c1196-30c4-57a8-b469-52313f1ce01c/scratchpad/rafael/icons/star_C9A86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9702" y="2032254"/>
            <a:ext cx="251460" cy="2514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086600" y="1837944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los primeros casos documentados como activo de prueba social para las campañas de evaluación.</a:t>
            </a:r>
            <a:endParaRPr lang="en-US" sz="1020" dirty="0"/>
          </a:p>
        </p:txBody>
      </p:sp>
      <p:sp>
        <p:nvSpPr>
          <p:cNvPr id="12" name="Shape 8"/>
          <p:cNvSpPr/>
          <p:nvPr/>
        </p:nvSpPr>
        <p:spPr>
          <a:xfrm>
            <a:off x="640080" y="2679192"/>
            <a:ext cx="5257800" cy="749808"/>
          </a:xfrm>
          <a:prstGeom prst="roundRect">
            <a:avLst>
              <a:gd name="adj" fmla="val 8537"/>
            </a:avLst>
          </a:prstGeom>
          <a:solidFill>
            <a:srgbClr val="1B2740"/>
          </a:solidFill>
          <a:ln/>
        </p:spPr>
      </p:sp>
      <p:sp>
        <p:nvSpPr>
          <p:cNvPr id="13" name="Shape 9"/>
          <p:cNvSpPr/>
          <p:nvPr/>
        </p:nvSpPr>
        <p:spPr>
          <a:xfrm>
            <a:off x="1078992" y="2825496"/>
            <a:ext cx="457200" cy="457200"/>
          </a:xfrm>
          <a:prstGeom prst="ellipse">
            <a:avLst/>
          </a:prstGeom>
          <a:solidFill>
            <a:srgbClr val="24314F"/>
          </a:solidFill>
          <a:ln/>
        </p:spPr>
      </p:sp>
      <p:pic>
        <p:nvPicPr>
          <p:cNvPr id="14" name="Image 2" descr="/tmp/claude-0/-home-user-Presentaciones-y-varios/903c1196-30c4-57a8-b469-52313f1ce01c/scratchpad/rafael/icons/lock_C9A86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1862" y="2928366"/>
            <a:ext cx="251460" cy="2514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08760" y="2734056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Comunicar activamente la confidencialidad en el manejo de datos personales, hoy invisible para el cliente potencial.</a:t>
            </a:r>
            <a:endParaRPr lang="en-US" sz="1020" dirty="0"/>
          </a:p>
        </p:txBody>
      </p:sp>
      <p:sp>
        <p:nvSpPr>
          <p:cNvPr id="16" name="Shape 11"/>
          <p:cNvSpPr/>
          <p:nvPr/>
        </p:nvSpPr>
        <p:spPr>
          <a:xfrm>
            <a:off x="6217920" y="2679192"/>
            <a:ext cx="5257800" cy="749808"/>
          </a:xfrm>
          <a:prstGeom prst="roundRect">
            <a:avLst>
              <a:gd name="adj" fmla="val 8537"/>
            </a:avLst>
          </a:prstGeom>
          <a:solidFill>
            <a:srgbClr val="1B2740"/>
          </a:solidFill>
          <a:ln/>
        </p:spPr>
      </p:sp>
      <p:sp>
        <p:nvSpPr>
          <p:cNvPr id="17" name="Shape 12"/>
          <p:cNvSpPr/>
          <p:nvPr/>
        </p:nvSpPr>
        <p:spPr>
          <a:xfrm>
            <a:off x="6656832" y="2825496"/>
            <a:ext cx="457200" cy="457200"/>
          </a:xfrm>
          <a:prstGeom prst="ellipse">
            <a:avLst/>
          </a:prstGeom>
          <a:solidFill>
            <a:srgbClr val="24314F"/>
          </a:solidFill>
          <a:ln/>
        </p:spPr>
      </p:sp>
      <p:pic>
        <p:nvPicPr>
          <p:cNvPr id="18" name="Image 3" descr="/tmp/claude-0/-home-user-Presentaciones-y-varios/903c1196-30c4-57a8-b469-52313f1ce01c/scratchpad/rafael/icons/comment_C9A86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9702" y="2928366"/>
            <a:ext cx="251460" cy="2514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086600" y="2734056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Instalar seguimiento de conversiones en WhatsApp para medir consultas agendadas, no solo mensajes recibidos.</a:t>
            </a:r>
            <a:endParaRPr lang="en-US" sz="1020" dirty="0"/>
          </a:p>
        </p:txBody>
      </p:sp>
      <p:sp>
        <p:nvSpPr>
          <p:cNvPr id="20" name="Shape 14"/>
          <p:cNvSpPr/>
          <p:nvPr/>
        </p:nvSpPr>
        <p:spPr>
          <a:xfrm>
            <a:off x="640080" y="3575304"/>
            <a:ext cx="5257800" cy="749808"/>
          </a:xfrm>
          <a:prstGeom prst="roundRect">
            <a:avLst>
              <a:gd name="adj" fmla="val 8537"/>
            </a:avLst>
          </a:prstGeom>
          <a:solidFill>
            <a:srgbClr val="1B2740"/>
          </a:solidFill>
          <a:ln/>
        </p:spPr>
      </p:sp>
      <p:sp>
        <p:nvSpPr>
          <p:cNvPr id="21" name="Shape 15"/>
          <p:cNvSpPr/>
          <p:nvPr/>
        </p:nvSpPr>
        <p:spPr>
          <a:xfrm>
            <a:off x="1078992" y="3721608"/>
            <a:ext cx="457200" cy="457200"/>
          </a:xfrm>
          <a:prstGeom prst="ellipse">
            <a:avLst/>
          </a:prstGeom>
          <a:solidFill>
            <a:srgbClr val="24314F"/>
          </a:solidFill>
          <a:ln/>
        </p:spPr>
      </p:sp>
      <p:pic>
        <p:nvPicPr>
          <p:cNvPr id="22" name="Image 4" descr="/tmp/claude-0/-home-user-Presentaciones-y-varios/903c1196-30c4-57a8-b469-52313f1ce01c/scratchpad/rafael/icons/sync_C9A86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1862" y="3824478"/>
            <a:ext cx="251460" cy="25146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508760" y="3630168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remarketing para quienes inician una conversación pero no llegan a agendar.</a:t>
            </a:r>
            <a:endParaRPr lang="en-US" sz="1020" dirty="0"/>
          </a:p>
        </p:txBody>
      </p:sp>
      <p:sp>
        <p:nvSpPr>
          <p:cNvPr id="24" name="Shape 17"/>
          <p:cNvSpPr/>
          <p:nvPr/>
        </p:nvSpPr>
        <p:spPr>
          <a:xfrm>
            <a:off x="6217920" y="3575304"/>
            <a:ext cx="5257800" cy="749808"/>
          </a:xfrm>
          <a:prstGeom prst="roundRect">
            <a:avLst>
              <a:gd name="adj" fmla="val 8537"/>
            </a:avLst>
          </a:prstGeom>
          <a:solidFill>
            <a:srgbClr val="1B2740"/>
          </a:solidFill>
          <a:ln/>
        </p:spPr>
      </p:sp>
      <p:sp>
        <p:nvSpPr>
          <p:cNvPr id="25" name="Shape 18"/>
          <p:cNvSpPr/>
          <p:nvPr/>
        </p:nvSpPr>
        <p:spPr>
          <a:xfrm>
            <a:off x="6656832" y="3721608"/>
            <a:ext cx="457200" cy="457200"/>
          </a:xfrm>
          <a:prstGeom prst="ellipse">
            <a:avLst/>
          </a:prstGeom>
          <a:solidFill>
            <a:srgbClr val="24314F"/>
          </a:solidFill>
          <a:ln/>
        </p:spPr>
      </p:sp>
      <p:pic>
        <p:nvPicPr>
          <p:cNvPr id="26" name="Image 5" descr="/tmp/claude-0/-home-user-Presentaciones-y-varios/903c1196-30c4-57a8-b469-52313f1ce01c/scratchpad/rafael/icons/building_C9A86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59702" y="3824478"/>
            <a:ext cx="251460" cy="25146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7086600" y="3630168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Preparar públicos personalizados en Cali y Medellín antes de invertir, usando el perfil ya validado en Bogotá.</a:t>
            </a:r>
            <a:endParaRPr lang="en-US" sz="1020" dirty="0"/>
          </a:p>
        </p:txBody>
      </p:sp>
      <p:sp>
        <p:nvSpPr>
          <p:cNvPr id="28" name="Shape 20"/>
          <p:cNvSpPr/>
          <p:nvPr/>
        </p:nvSpPr>
        <p:spPr>
          <a:xfrm>
            <a:off x="640080" y="4471416"/>
            <a:ext cx="5257800" cy="749808"/>
          </a:xfrm>
          <a:prstGeom prst="roundRect">
            <a:avLst>
              <a:gd name="adj" fmla="val 8537"/>
            </a:avLst>
          </a:prstGeom>
          <a:solidFill>
            <a:srgbClr val="1B2740"/>
          </a:solidFill>
          <a:ln/>
        </p:spPr>
      </p:sp>
      <p:sp>
        <p:nvSpPr>
          <p:cNvPr id="29" name="Shape 21"/>
          <p:cNvSpPr/>
          <p:nvPr/>
        </p:nvSpPr>
        <p:spPr>
          <a:xfrm>
            <a:off x="1078992" y="4617720"/>
            <a:ext cx="457200" cy="457200"/>
          </a:xfrm>
          <a:prstGeom prst="ellipse">
            <a:avLst/>
          </a:prstGeom>
          <a:solidFill>
            <a:srgbClr val="24314F"/>
          </a:solidFill>
          <a:ln/>
        </p:spPr>
      </p:sp>
      <p:pic>
        <p:nvPicPr>
          <p:cNvPr id="30" name="Image 6" descr="/tmp/claude-0/-home-user-Presentaciones-y-varios/903c1196-30c4-57a8-b469-52313f1ce01c/scratchpad/rafael/icons/thumbsup_C9A868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1862" y="4720590"/>
            <a:ext cx="251460" cy="251460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1508760" y="4526280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Convertir el referido de círculos sociales en una campaña digital medible, no solo espontánea.</a:t>
            </a:r>
            <a:endParaRPr lang="en-US" sz="1020" dirty="0"/>
          </a:p>
        </p:txBody>
      </p:sp>
      <p:sp>
        <p:nvSpPr>
          <p:cNvPr id="32" name="Shape 23"/>
          <p:cNvSpPr/>
          <p:nvPr/>
        </p:nvSpPr>
        <p:spPr>
          <a:xfrm>
            <a:off x="6217920" y="4471416"/>
            <a:ext cx="5257800" cy="749808"/>
          </a:xfrm>
          <a:prstGeom prst="roundRect">
            <a:avLst>
              <a:gd name="adj" fmla="val 8537"/>
            </a:avLst>
          </a:prstGeom>
          <a:solidFill>
            <a:srgbClr val="1B2740"/>
          </a:solidFill>
          <a:ln/>
        </p:spPr>
      </p:sp>
      <p:sp>
        <p:nvSpPr>
          <p:cNvPr id="33" name="Shape 24"/>
          <p:cNvSpPr/>
          <p:nvPr/>
        </p:nvSpPr>
        <p:spPr>
          <a:xfrm>
            <a:off x="6656832" y="4617720"/>
            <a:ext cx="457200" cy="457200"/>
          </a:xfrm>
          <a:prstGeom prst="ellipse">
            <a:avLst/>
          </a:prstGeom>
          <a:solidFill>
            <a:srgbClr val="24314F"/>
          </a:solidFill>
          <a:ln/>
        </p:spPr>
      </p:sp>
      <p:pic>
        <p:nvPicPr>
          <p:cNvPr id="34" name="Image 7" descr="/tmp/claude-0/-home-user-Presentaciones-y-varios/903c1196-30c4-57a8-b469-52313f1ce01c/scratchpad/rafael/icons/calendar_C9A868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9702" y="4720590"/>
            <a:ext cx="251460" cy="251460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7086600" y="4526280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Lanzar campañas de renovación dirigidas a clientes cuya visa esté próxima a vencer.</a:t>
            </a:r>
            <a:endParaRPr lang="en-US" sz="1020" dirty="0"/>
          </a:p>
        </p:txBody>
      </p:sp>
      <p:sp>
        <p:nvSpPr>
          <p:cNvPr id="36" name="Shape 26"/>
          <p:cNvSpPr/>
          <p:nvPr/>
        </p:nvSpPr>
        <p:spPr>
          <a:xfrm>
            <a:off x="640080" y="5367528"/>
            <a:ext cx="5257800" cy="749808"/>
          </a:xfrm>
          <a:prstGeom prst="roundRect">
            <a:avLst>
              <a:gd name="adj" fmla="val 8537"/>
            </a:avLst>
          </a:prstGeom>
          <a:solidFill>
            <a:srgbClr val="1B2740"/>
          </a:solidFill>
          <a:ln/>
        </p:spPr>
      </p:sp>
      <p:sp>
        <p:nvSpPr>
          <p:cNvPr id="37" name="Shape 27"/>
          <p:cNvSpPr/>
          <p:nvPr/>
        </p:nvSpPr>
        <p:spPr>
          <a:xfrm>
            <a:off x="1078992" y="5513832"/>
            <a:ext cx="457200" cy="457200"/>
          </a:xfrm>
          <a:prstGeom prst="ellipse">
            <a:avLst/>
          </a:prstGeom>
          <a:solidFill>
            <a:srgbClr val="24314F"/>
          </a:solidFill>
          <a:ln/>
        </p:spPr>
      </p:sp>
      <p:pic>
        <p:nvPicPr>
          <p:cNvPr id="38" name="Image 8" descr="/tmp/claude-0/-home-user-Presentaciones-y-varios/903c1196-30c4-57a8-b469-52313f1ce01c/scratchpad/rafael/icons/briefcase_C9A868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81862" y="5616702"/>
            <a:ext cx="251460" cy="251460"/>
          </a:xfrm>
          <a:prstGeom prst="rect">
            <a:avLst/>
          </a:prstGeom>
        </p:spPr>
      </p:pic>
      <p:sp>
        <p:nvSpPr>
          <p:cNvPr id="39" name="Text 28"/>
          <p:cNvSpPr/>
          <p:nvPr/>
        </p:nvSpPr>
        <p:spPr>
          <a:xfrm>
            <a:off x="1508760" y="5422392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Diferenciar la comunicación por motivo de viaje (turismo, negocios, inversión) dentro del segmento premium.</a:t>
            </a:r>
            <a:endParaRPr lang="en-US" sz="1020" dirty="0"/>
          </a:p>
        </p:txBody>
      </p:sp>
      <p:sp>
        <p:nvSpPr>
          <p:cNvPr id="40" name="Shape 29"/>
          <p:cNvSpPr/>
          <p:nvPr/>
        </p:nvSpPr>
        <p:spPr>
          <a:xfrm>
            <a:off x="6217920" y="5367528"/>
            <a:ext cx="5257800" cy="749808"/>
          </a:xfrm>
          <a:prstGeom prst="roundRect">
            <a:avLst>
              <a:gd name="adj" fmla="val 8537"/>
            </a:avLst>
          </a:prstGeom>
          <a:solidFill>
            <a:srgbClr val="1B2740"/>
          </a:solidFill>
          <a:ln/>
        </p:spPr>
      </p:sp>
      <p:sp>
        <p:nvSpPr>
          <p:cNvPr id="41" name="Shape 30"/>
          <p:cNvSpPr/>
          <p:nvPr/>
        </p:nvSpPr>
        <p:spPr>
          <a:xfrm>
            <a:off x="6656832" y="5513832"/>
            <a:ext cx="457200" cy="457200"/>
          </a:xfrm>
          <a:prstGeom prst="ellipse">
            <a:avLst/>
          </a:prstGeom>
          <a:solidFill>
            <a:srgbClr val="24314F"/>
          </a:solidFill>
          <a:ln/>
        </p:spPr>
      </p:sp>
      <p:pic>
        <p:nvPicPr>
          <p:cNvPr id="42" name="Image 9" descr="/tmp/claude-0/-home-user-Presentaciones-y-varios/903c1196-30c4-57a8-b469-52313f1ce01c/scratchpad/rafael/icons/passport_C9A868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59702" y="5616702"/>
            <a:ext cx="251460" cy="251460"/>
          </a:xfrm>
          <a:prstGeom prst="rect">
            <a:avLst/>
          </a:prstGeom>
        </p:spPr>
      </p:pic>
      <p:sp>
        <p:nvSpPr>
          <p:cNvPr id="43" name="Text 31"/>
          <p:cNvSpPr/>
          <p:nvPr/>
        </p:nvSpPr>
        <p:spPr>
          <a:xfrm>
            <a:off x="7086600" y="5422392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Posicionar los 10+ años de trayectoria de Rafael como ancla de autoridad en cada anuncio de descubrimiento.</a:t>
            </a:r>
            <a:endParaRPr lang="en-US" sz="1020" dirty="0"/>
          </a:p>
        </p:txBody>
      </p:sp>
      <p:sp>
        <p:nvSpPr>
          <p:cNvPr id="44" name="Text 32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INVERSIÓN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se necesita para activar el sistema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líneas de inversión, independientes entre sí.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074920" cy="3520440"/>
          </a:xfrm>
          <a:prstGeom prst="roundRect">
            <a:avLst>
              <a:gd name="adj" fmla="val 2078"/>
            </a:avLst>
          </a:prstGeom>
          <a:solidFill>
            <a:srgbClr val="F5F5F3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30428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HONORARIOS DE GESTIÓN ESTRATÉGICA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005840" y="28346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9C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MESES 1 A 3 · PRECIO DE LANZAMIENTO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1089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$950.000</a:t>
            </a:r>
            <a:pPr indent="0" marL="0">
              <a:buNone/>
            </a:pPr>
            <a:r>
              <a:rPr lang="en-US" sz="1500" dirty="0">
                <a:solidFill>
                  <a:srgbClr val="6B6B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/mes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1005840" y="3840480"/>
            <a:ext cx="4343400" cy="0"/>
          </a:xfrm>
          <a:prstGeom prst="line">
            <a:avLst/>
          </a:prstGeom>
          <a:noFill/>
          <a:ln w="12700">
            <a:solidFill>
              <a:srgbClr val="E4E3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4005072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EL MES 4 · TARIFA FULL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005840" y="427939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$1.300.000</a:t>
            </a:r>
            <a:pPr indent="0" marL="0">
              <a:buNone/>
            </a:pPr>
            <a:r>
              <a:rPr lang="en-US" sz="1500" dirty="0">
                <a:solidFill>
                  <a:srgbClr val="6B6B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/mes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1005840" y="491947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estrategia, diseño de campañas, gestión y optimización continua de las 4 etapas del sistema.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72200" y="2011680"/>
            <a:ext cx="5074920" cy="3520440"/>
          </a:xfrm>
          <a:prstGeom prst="roundRect">
            <a:avLst>
              <a:gd name="adj" fmla="val 2078"/>
            </a:avLst>
          </a:prstGeom>
          <a:solidFill>
            <a:srgbClr val="121A2B"/>
          </a:solidFill>
          <a:ln/>
        </p:spPr>
      </p:sp>
      <p:sp>
        <p:nvSpPr>
          <p:cNvPr id="14" name="Text 12"/>
          <p:cNvSpPr/>
          <p:nvPr/>
        </p:nvSpPr>
        <p:spPr>
          <a:xfrm>
            <a:off x="6537960" y="230428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C9A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DE PAUTA EN META ADS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537960" y="28346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B8B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 RECOMENDADO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1089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$1.500.000</a:t>
            </a:r>
            <a:pPr indent="0" marL="0">
              <a:buNone/>
            </a:pPr>
            <a:r>
              <a:rPr lang="en-US" sz="1500" dirty="0">
                <a:solidFill>
                  <a:srgbClr val="B8B4A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/mes</a:t>
            </a:r>
            <a:endParaRPr lang="en-US" sz="3400" dirty="0"/>
          </a:p>
        </p:txBody>
      </p:sp>
      <p:sp>
        <p:nvSpPr>
          <p:cNvPr id="17" name="Shape 15"/>
          <p:cNvSpPr/>
          <p:nvPr/>
        </p:nvSpPr>
        <p:spPr>
          <a:xfrm>
            <a:off x="6537960" y="3840480"/>
            <a:ext cx="4343400" cy="0"/>
          </a:xfrm>
          <a:prstGeom prst="line">
            <a:avLst/>
          </a:prstGeom>
          <a:noFill/>
          <a:ln w="12700">
            <a:solidFill>
              <a:srgbClr val="2A365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7960" y="3977640"/>
            <a:ext cx="4343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3D2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invierte 100% en la plataforma de Meta. Financia el alcance, la evaluación, la conversión y la reactivación de clientes en las 4 etapas del sistema.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2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honorarios cubren la estrategia y la ejecución; el presupuesto de pauta pertenece 100% a Tu Asesor de Visa y se administra directamente dentro de la cuenta publicitaria.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SIGUIENTE PASO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60020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es más publicidad.</a:t>
            </a:r>
            <a:endParaRPr lang="en-US" sz="30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 un sistema de confianza que se multiplica.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3520440"/>
            <a:ext cx="548640" cy="548640"/>
          </a:xfrm>
          <a:prstGeom prst="ellipse">
            <a:avLst/>
          </a:prstGeom>
          <a:solidFill>
            <a:srgbClr val="C9A868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3520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20" dirty="0"/>
          </a:p>
        </p:txBody>
      </p:sp>
      <p:sp>
        <p:nvSpPr>
          <p:cNvPr id="6" name="Text 4"/>
          <p:cNvSpPr/>
          <p:nvPr/>
        </p:nvSpPr>
        <p:spPr>
          <a:xfrm>
            <a:off x="777240" y="44805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Auditoría de proceso actual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49377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3D2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del recorrido comercial y de contacto hoy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80560" y="3520440"/>
            <a:ext cx="548640" cy="548640"/>
          </a:xfrm>
          <a:prstGeom prst="ellipse">
            <a:avLst/>
          </a:prstGeom>
          <a:solidFill>
            <a:srgbClr val="C9A868"/>
          </a:solidFill>
          <a:ln/>
        </p:spPr>
      </p:sp>
      <p:sp>
        <p:nvSpPr>
          <p:cNvPr id="9" name="Text 7"/>
          <p:cNvSpPr/>
          <p:nvPr/>
        </p:nvSpPr>
        <p:spPr>
          <a:xfrm>
            <a:off x="4480560" y="3520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20" dirty="0"/>
          </a:p>
        </p:txBody>
      </p:sp>
      <p:sp>
        <p:nvSpPr>
          <p:cNvPr id="10" name="Text 8"/>
          <p:cNvSpPr/>
          <p:nvPr/>
        </p:nvSpPr>
        <p:spPr>
          <a:xfrm>
            <a:off x="4480560" y="44805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 de las 4 campañas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480560" y="49377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3D2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Presentación, Evaluación, Conversión, Ascensión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83880" y="3520440"/>
            <a:ext cx="548640" cy="548640"/>
          </a:xfrm>
          <a:prstGeom prst="ellipse">
            <a:avLst/>
          </a:prstGeom>
          <a:solidFill>
            <a:srgbClr val="C9A868"/>
          </a:solidFill>
          <a:ln/>
        </p:spPr>
      </p:sp>
      <p:sp>
        <p:nvSpPr>
          <p:cNvPr id="13" name="Text 11"/>
          <p:cNvSpPr/>
          <p:nvPr/>
        </p:nvSpPr>
        <p:spPr>
          <a:xfrm>
            <a:off x="8183880" y="3520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12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20" dirty="0"/>
          </a:p>
        </p:txBody>
      </p:sp>
      <p:sp>
        <p:nvSpPr>
          <p:cNvPr id="14" name="Text 12"/>
          <p:cNvSpPr/>
          <p:nvPr/>
        </p:nvSpPr>
        <p:spPr>
          <a:xfrm>
            <a:off x="8183880" y="44805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Activación en Bogotá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183880" y="49377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3D2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base para expandir a Cali y Medellín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2026-08-03T15:33:40Z</dcterms:created>
  <dcterms:modified xsi:type="dcterms:W3CDTF">2026-08-03T15:33:40Z</dcterms:modified>
</cp:coreProperties>
</file>