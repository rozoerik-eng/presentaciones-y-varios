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Establecer el punto de partida real, reconociendo lo que ya existe antes de hablar de lo que falta.
MENSAJE PRINCIPAL: Rafael ya tiene más de 10 años de trayectoria y la confianza de sus clientes; lo que no tiene todavía es un sistema de Meta Ads que convierta esa confianza en un flujo constante de clientes calificados en Bogotá y, luego, en Cali y Medellín.
QUÉ EXPLICAR: El crecimiento actual depende del referido y del círculo social. Ese modelo tiene techo; Meta Ads es el mecanismo para romper ese techo sin perder la exclusividad ni la confidencialidad que caracterizan el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Cambiar el modelo mental de 'esperar el referido' a 'sistema de adquisición'.
MENSAJE PRINCIPAL: El problema no es la calidad del servicio; es la ausencia de una arquitectura que lo dé a conocer de forma constante.
QUÉ EXPLICAR: Contrastar cómo funciona hoy la captación (dependiente de terceros) frente a cómo debería operar un sistema de Meta Ads (segmentado, medible, con seguimiento confidencial en cada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la metodología completa en una sola imagen antes de entrar en el detalle de cada etapa.
MENSAJE PRINCIPAL: Cada etapa de Meta Ads cumple un rol distinto y prepara la siguiente; ninguna funciona aislada.
QUÉ EXPLICAR: Recorrer el journey completo: Presentación (descubrir el servicio), Evaluación (confiar antes de compartir datos personales), Conversión (agendar una consulta), Ascensión (volver a confiar y recomendar). Esta estructura reemplaza la dependencia del referido puntual.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Lograr que personas del segmento correcto en Bogotá descubran a Tu Asesor de Visa. Aquí no se vende, se despierta interés y se genera reconocimiento.
MENSAJE PRINCIPAL: El objetivo se mide en alcance calificado dentro del segmento correcto, no en mensajes o clics genéricos.
QUÉ EXPLICAR: Objetivos de Meta recomendados (reconocimiento, interacción); segmentación geográfica por zonas exclusivas de Bogotá; y por qué los 10+ años de trayectoria de Rafael son el ángulo de autoridad principal, incluso sin casos documentados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profundidad al contenido creativo de la etapa 1.
MENSAJE PRINCIPAL: No se trata de un anuncio genérico de servicios de visa, sino de piezas que atacan distintas razones de decisión de un cliente exigente.
QUÉ EXPLICAR: Recorrer cada pilar. Los 10 años de trayectoria son el activo más valioso hoy sin explotar digitalmente. La discreción no es solo un mensaje: debe sentirse desde el primer anuncio que ve el prospecto.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Mover a quien ya conoce el servicio hacia la intención de agendar, resolviendo el temor natural a compartir información personal y financiera.
MENSAJE PRINCIPAL: En un trámite de visa, la confianza en el manejo de los datos personales pesa tanto como la experiencia del asesor.
QUÉ EXPLICAR: Se activa remarketing sobre quienes vieron los anuncios de la etapa 1. El contenido cambia hacia transparencia del proceso y confidencialidad explícita, ya que hoy no existen testimonios documentados que usar como prueba social.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con honestidad qué activo de confianza ya existe y cuál todavía no se ha construido.
MENSAJE PRINCIPAL: Rafael tiene más de 10 años de trayectoria y un compromiso real de confidencialidad; hoy ninguno de los dos se comunica de forma activa en ningún canal digital.
QUÉ EXPLICAR: Cómo se crean públicos personalizados a partir de quienes interactúan con los anuncios de la etapa 1, y cómo se les impacta con contenido de transparencia y confidencialidad para moverlos hacia la etapa de conversión. Ser claro con Rafael: no existen aún testimonios documentados, y construirlos es parte del sistema, no un punto de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Convertir el interés calificado en una consulta agendada por WhatsApp.
MENSAJE PRINCIPAL: Aquí no se busca una venta; se busca que la persona correcta agende un espacio confidencial para conversar su caso.
QUÉ EXPLICAR: Las audiencias se restringen a quienes vieron los videos o interactuaron con los anuncios de confianza. El objetivo de Meta cambia a mensajes o clientes potenciales. El CTA es directo: agendar una consulta, nunca prometer un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el detalle táctico de optimización dentro de la etapa de conversión.
MENSAJE PRINCIPAL: Pequeños ajustes de segmentación y llamado a la acción mueven directamente la tasa de agendamiento.
QUÉ EXPLICAR: Ejemplo concreto: pasar de un anuncio genérico de contacto a uno que nombra la confidencialidad, el segmento y la facilidad de agendar. Nunca prometer un resultado de la visa; el CTA siempre es agendar una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Convertir un cliente que ya confió una vez en una fuente constante de nuevos clientes.
MENSAJE PRINCIPAL: La etapa más rentable del sistema es la que hoy no existe en ningún canal digital.
QUÉ EXPLICAR: Cómo construir públicos personalizados de clientes anteriores para renovaciones y visas de familiares, y cómo el mismo perfil validado en Bogotá se puede usar para preparar la expansión a Cali y Medellín antes de invertir en esas ciudades.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Explicar el concepto de Lifetime Value aplicado a un servicio de asesoría personal.
MENSAJE PRINCIPAL: No buscamos una consulta única; buscamos una relación de confianza que se extienda a la familia y al círculo social del cliente.
QUÉ EXPLICAR: Cada gatillo (renovación, visa de un familiar, un referido, la expansión geográfica) es una campaña de reactivación dirigida a un público ya construido en las etapas anteriores. Esto multiplica el valor de cada cliente adquirido, sin depender solo de nuevas consultas.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Consolidar la visión completa antes de pasar al cierre.
MENSAJE PRINCIPAL: El sistema es un ciclo, no una línea recta; el cliente que vuelve a confiar reingresa al ciclo en su siguiente trámite o al traer a un familiar.
QUÉ EXPLICAR: Cómo el dato de una etapa (quién vio el anuncio, quién interactuó, quién agendó) alimenta la audiencia de la siguiente. Reforzar que un referido puntual no puede sostener esta arquitectura.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el razonamiento económico del sistema sin prometer resultados de visa.
MENSAJE PRINCIPAL: El sistema reduce la dependencia de esperar el próximo referido y aumenta el valor de cada cliente ya conseguido.
QUÉ EXPLICAR: Por qué reimpactar cuesta menos que adquirir; por qué un cliente satisfecho en un segmento de alto poder adquisitivo trae referidos de alto valor; por qué validar el sistema en Bogotá reduce el riesgo antes de invertir en Cali y Medellín. Nunca usar lenguaje de garantía de aprobación.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el diagnóstico con impacto, mostrando la brecha concreta entre el potencial del servicio y la ejecución publicitaria actual.
MENSAJE PRINCIPAL: Cada oportunidad está fundamentada en lo que ya sabemos de Tu Asesor de Visa (10+ años de trayectoria, segmento premium, plan de expansión), no en suposiciones ni casos inventados.
QUÉ EXPLICAR: Recorrer brevemente cada oportunidad conectándola con la etapa del sistema a la que pertenece. Ser honesto: algunas de estas oportunidades (como los casos documentados) son cosas que el sistema debe construir desde cero, no activos que ya existan.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con una propuesta de acción clara, sin sonar comercial.
MENSAJE PRINCIPAL: El crecimiento no depende de más publicidad genérica; depende de darle estructura a la confianza que Rafael ya construyó en 10 años.
QUÉ EXPLICAR: Los tres pasos siguientes son concretos y secuenciales. La siguiente conversación debe definir el alcance y el cronograma de implementación, comenzando en Bogotá.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4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image" Target="../media/image-1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CAPTACIÓN DE CLIENTES · META ADS · BOGOTÁ ·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Asesor de Visa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33649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confianza construida en 10 años a un sistema de captación de clientes premium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C9A8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Rafael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Hoy, la confianza se construye uno a uno.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un sistema que la multiplique.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5F5F3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738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rafael/icons/passport_9C7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3200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 años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trayectoria y experiencia, sin un sistema digital que la respalde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5F5F3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6354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Presentaciones-y-varios/903c1196-30c4-57a8-b469-52313f1ce01c/scratchpad/rafael/icons/mapPin_9C7A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3200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ciudad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48056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hoy en Bogotá, frente al plan de expansión a Cali y Medellín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5F5F3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02970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rafael/icons/target_9C7A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0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04672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Meta Ads estructuradas para atraer clientes de forma constante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y la confianza ya existen. Falta el sistema que las convierta en un flujo constante de clientes calificados.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ESTRATÉGICO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referido no es un sistema de captación.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F5F5F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 TÁCTICA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del voz a voz y del círculo social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público: todos por igual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251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seguimiento después del primer contacto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937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 quién lo recomiende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121A2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ADQUISICIÓN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objetivos de Meta Ads, uno por etapa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5661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exclusivas por zona y perfil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4251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confidencial durante todo el proceso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937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 la arquitectura, no del azar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Ads como motor de captación premium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etapas. Cada una prepara la siguiente.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5F5F3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1993392"/>
            <a:ext cx="731520" cy="731520"/>
          </a:xfrm>
          <a:prstGeom prst="ellipse">
            <a:avLst/>
          </a:prstGeom>
          <a:solidFill>
            <a:srgbClr val="121A2B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60" dirty="0"/>
          </a:p>
        </p:txBody>
      </p:sp>
      <p:sp>
        <p:nvSpPr>
          <p:cNvPr id="8" name="Shape 6"/>
          <p:cNvSpPr/>
          <p:nvPr/>
        </p:nvSpPr>
        <p:spPr>
          <a:xfrm>
            <a:off x="159562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tmp/claude-0/-home-user-Presentaciones-y-varios/903c1196-30c4-57a8-b469-52313f1ce01c/scratchpad/rafael/icons/eye_9C7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64" y="35753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</a:t>
            </a:r>
            <a:endParaRPr lang="en-US" sz="1200" dirty="0"/>
          </a:p>
        </p:txBody>
      </p:sp>
      <p:pic>
        <p:nvPicPr>
          <p:cNvPr id="12" name="Image 1" descr="/tmp/claude-0/-home-user-Presentaciones-y-varios/903c1196-30c4-57a8-b469-52313f1ce01c/scratchpad/rafael/icons/arrowRight_9C7A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977640"/>
            <a:ext cx="246888" cy="2468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EFEAE0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9100" y="1993392"/>
            <a:ext cx="731520" cy="731520"/>
          </a:xfrm>
          <a:prstGeom prst="ellipse">
            <a:avLst/>
          </a:prstGeom>
          <a:solidFill>
            <a:srgbClr val="121A2B"/>
          </a:solidFill>
          <a:ln/>
        </p:spPr>
      </p:sp>
      <p:sp>
        <p:nvSpPr>
          <p:cNvPr id="15" name="Text 11"/>
          <p:cNvSpPr/>
          <p:nvPr/>
        </p:nvSpPr>
        <p:spPr>
          <a:xfrm>
            <a:off x="422910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60" dirty="0"/>
          </a:p>
        </p:txBody>
      </p:sp>
      <p:sp>
        <p:nvSpPr>
          <p:cNvPr id="16" name="Shape 12"/>
          <p:cNvSpPr/>
          <p:nvPr/>
        </p:nvSpPr>
        <p:spPr>
          <a:xfrm>
            <a:off x="424738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rafael/icons/shield_9C7A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357530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6616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356616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</a:t>
            </a:r>
            <a:endParaRPr lang="en-US" sz="1200" dirty="0"/>
          </a:p>
        </p:txBody>
      </p:sp>
      <p:pic>
        <p:nvPicPr>
          <p:cNvPr id="20" name="Image 3" descr="/tmp/claude-0/-home-user-Presentaciones-y-varios/903c1196-30c4-57a8-b469-52313f1ce01c/scratchpad/rafael/icons/arrowRight_9C7A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977640"/>
            <a:ext cx="246888" cy="24688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8076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5F5F3"/>
          </a:solidFill>
          <a:ln/>
        </p:spPr>
      </p:sp>
      <p:sp>
        <p:nvSpPr>
          <p:cNvPr id="22" name="Shape 16"/>
          <p:cNvSpPr/>
          <p:nvPr/>
        </p:nvSpPr>
        <p:spPr>
          <a:xfrm>
            <a:off x="6880860" y="1993392"/>
            <a:ext cx="731520" cy="731520"/>
          </a:xfrm>
          <a:prstGeom prst="ellipse">
            <a:avLst/>
          </a:prstGeom>
          <a:solidFill>
            <a:srgbClr val="121A2B"/>
          </a:solidFill>
          <a:ln/>
        </p:spPr>
      </p:sp>
      <p:sp>
        <p:nvSpPr>
          <p:cNvPr id="23" name="Text 17"/>
          <p:cNvSpPr/>
          <p:nvPr/>
        </p:nvSpPr>
        <p:spPr>
          <a:xfrm>
            <a:off x="688086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60" dirty="0"/>
          </a:p>
        </p:txBody>
      </p:sp>
      <p:sp>
        <p:nvSpPr>
          <p:cNvPr id="24" name="Shape 18"/>
          <p:cNvSpPr/>
          <p:nvPr/>
        </p:nvSpPr>
        <p:spPr>
          <a:xfrm>
            <a:off x="689914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tmp/claude-0/-home-user-Presentaciones-y-varios/903c1196-30c4-57a8-b469-52313f1ce01c/scratchpad/rafael/icons/calendar_9C7A3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884" y="357530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1792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621792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</a:t>
            </a:r>
            <a:endParaRPr lang="en-US" sz="1200" dirty="0"/>
          </a:p>
        </p:txBody>
      </p:sp>
      <p:pic>
        <p:nvPicPr>
          <p:cNvPr id="28" name="Image 5" descr="/tmp/claude-0/-home-user-Presentaciones-y-varios/903c1196-30c4-57a8-b469-52313f1ce01c/scratchpad/rafael/icons/arrowRight_9C7A3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3977640"/>
            <a:ext cx="246888" cy="24688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73252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EFEAE0"/>
          </a:solidFill>
          <a:ln/>
        </p:spPr>
      </p:sp>
      <p:sp>
        <p:nvSpPr>
          <p:cNvPr id="30" name="Shape 22"/>
          <p:cNvSpPr/>
          <p:nvPr/>
        </p:nvSpPr>
        <p:spPr>
          <a:xfrm>
            <a:off x="9532620" y="1993392"/>
            <a:ext cx="731520" cy="731520"/>
          </a:xfrm>
          <a:prstGeom prst="ellipse">
            <a:avLst/>
          </a:prstGeom>
          <a:solidFill>
            <a:srgbClr val="121A2B"/>
          </a:solidFill>
          <a:ln/>
        </p:spPr>
      </p:sp>
      <p:sp>
        <p:nvSpPr>
          <p:cNvPr id="31" name="Text 23"/>
          <p:cNvSpPr/>
          <p:nvPr/>
        </p:nvSpPr>
        <p:spPr>
          <a:xfrm>
            <a:off x="953262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560" dirty="0"/>
          </a:p>
        </p:txBody>
      </p:sp>
      <p:sp>
        <p:nvSpPr>
          <p:cNvPr id="32" name="Shape 24"/>
          <p:cNvSpPr/>
          <p:nvPr/>
        </p:nvSpPr>
        <p:spPr>
          <a:xfrm>
            <a:off x="955090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/tmp/claude-0/-home-user-Presentaciones-y-varios/903c1196-30c4-57a8-b469-52313f1ce01c/scratchpad/rafael/icons/sync_9C7A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644" y="3575304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86968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886968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no es más alcance: es un cliente calificado que agenda, confía y vuelve a confiar su proceso.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C9A86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dar a conocer a Tu Asesor de Visa entre personas de alto poder adquisitivo en Bogotá.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8" name="Image 0" descr="/tmp/claude-0/-home-user-Presentaciones-y-varios/903c1196-30c4-57a8-b469-52313f1ce01c/scratchpad/rafael/icons/mapPin_C9A8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exclusivas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1" name="Image 1" descr="/tmp/claude-0/-home-user-Presentaciones-y-varios/903c1196-30c4-57a8-b469-52313f1ce01c/scratchpad/rafael/icons/passport_C9A8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años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4" name="Image 2" descr="/tmp/claude-0/-home-user-Presentaciones-y-varios/903c1196-30c4-57a8-b469-52313f1ce01c/scratchpad/rafael/icons/flagUsa_C9A86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visa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americana claro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7" name="Image 3" descr="/tmp/claude-0/-home-user-Presentaciones-y-varios/903c1196-30c4-57a8-b469-52313f1ce01c/scratchpad/rafael/icons/shield_C9A86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Discreción desde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contacto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PRESENTACIÓN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cinco pilares del descubrimiento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pilar ataca una razón distinta de decisión.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5F5F3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rafael/icons/passport_9C7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7660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Trayectoria de 10+ años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37360" y="295351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acumulada como ancla de autoridad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5F5F3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Presentaciones-y-varios/903c1196-30c4-57a8-b469-52313f1ce01c/scratchpad/rafael/icons/mapPin_9C7A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7660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Zonas exclusivas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394960" y="295351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fina por sectores de alto poder adquisitivo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552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5F5F3"/>
          </a:solidFill>
          <a:ln/>
        </p:spPr>
      </p:sp>
      <p:sp>
        <p:nvSpPr>
          <p:cNvPr id="16" name="Shape 12"/>
          <p:cNvSpPr/>
          <p:nvPr/>
        </p:nvSpPr>
        <p:spPr>
          <a:xfrm>
            <a:off x="82753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rafael/icons/flagUsa_9C7A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27660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proceso, explicado con claridad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052560" y="295351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Desmontar mitos sobre la visa americana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6634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5F5F3"/>
          </a:solidFill>
          <a:ln/>
        </p:spPr>
      </p:sp>
      <p:sp>
        <p:nvSpPr>
          <p:cNvPr id="21" name="Shape 16"/>
          <p:cNvSpPr/>
          <p:nvPr/>
        </p:nvSpPr>
        <p:spPr>
          <a:xfrm>
            <a:off x="960120" y="4937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tmp/claude-0/-home-user-Presentaciones-y-varios/903c1196-30c4-57a8-b469-52313f1ce01c/scratchpad/rafael/icons/shield_9C7A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50977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Discreción desde el inicio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737360" y="52852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contacto ya transmite confidencialidad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97680" y="46634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5F5F3"/>
          </a:solidFill>
          <a:ln/>
        </p:spPr>
      </p:sp>
      <p:sp>
        <p:nvSpPr>
          <p:cNvPr id="26" name="Shape 20"/>
          <p:cNvSpPr/>
          <p:nvPr/>
        </p:nvSpPr>
        <p:spPr>
          <a:xfrm>
            <a:off x="4617720" y="4937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tmp/claude-0/-home-user-Presentaciones-y-varios/903c1196-30c4-57a8-b469-52313f1ce01c/scratchpad/rafael/icons/handshake_9C7A3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50977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Atención personalizada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394960" y="52852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 trámite más, un acompañamiento cercano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C9A86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quien ya conoce el servicio necesita confiar antes de compartir sus datos.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8" name="Image 0" descr="/tmp/claude-0/-home-user-Presentaciones-y-varios/903c1196-30c4-57a8-b469-52313f1ce01c/scratchpad/rafael/icons/shield_C9A8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proceso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1" name="Image 1" descr="/tmp/claude-0/-home-user-Presentaciones-y-varios/903c1196-30c4-57a8-b469-52313f1ce01c/scratchpad/rafael/icons/lock_C9A8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4" name="Image 2" descr="/tmp/claude-0/-home-user-Presentaciones-y-varios/903c1196-30c4-57a8-b469-52313f1ce01c/scratchpad/rafael/icons/sync_C9A86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interacción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7" name="Image 3" descr="/tmp/claude-0/-home-user-Presentaciones-y-varios/903c1196-30c4-57a8-b469-52313f1ce01c/scratchpad/rafael/icons/handshake_C9A86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confianza que hoy no se comunica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EFEAE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606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Presentaciones-y-varios/903c1196-30c4-57a8-b469-52313f1ce01c/scratchpad/rafael/icons/passport_9C7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8117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 años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965960" y="2880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trayectoria que hoy no se traducen en un activo digital de confianza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EFEAE0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606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laude-0/-home-user-Presentaciones-y-varios/903c1196-30c4-57a8-b469-52313f1ce01c/scratchpad/rafael/icons/lock_9C7A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8117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5532120" y="2880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en el manejo de datos personales, un diferenciador que hoy no se comunica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46304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5F5F3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15" name="Image 2" descr="/tmp/claude-0/-home-user-Presentaciones-y-varios/903c1196-30c4-57a8-b469-52313f1ce01c/scratchpad/rafael/icons/eye_9C7A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49834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9456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anuncio</a:t>
            </a:r>
            <a:endParaRPr lang="en-US" sz="1300" dirty="0"/>
          </a:p>
        </p:txBody>
      </p:sp>
      <p:pic>
        <p:nvPicPr>
          <p:cNvPr id="17" name="Image 3" descr="/tmp/claude-0/-home-user-Presentaciones-y-varios/903c1196-30c4-57a8-b469-52313f1ce01c/scratchpad/rafael/icons/arrowRight_9C7A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507492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1772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5F5F3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19" name="Image 4" descr="/tmp/claude-0/-home-user-Presentaciones-y-varios/903c1196-30c4-57a8-b469-52313f1ce01c/scratchpad/rafael/icons/filter_9C7A3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98348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4924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</a:t>
            </a:r>
            <a:endParaRPr lang="en-US" sz="1300" dirty="0"/>
          </a:p>
        </p:txBody>
      </p:sp>
      <p:pic>
        <p:nvPicPr>
          <p:cNvPr id="21" name="Image 5" descr="/tmp/claude-0/-home-user-Presentaciones-y-varios/903c1196-30c4-57a8-b469-52313f1ce01c/scratchpad/rafael/icons/arrowRight_9C7A3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507492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77240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5F5F3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23" name="Image 6" descr="/tmp/claude-0/-home-user-Presentaciones-y-varios/903c1196-30c4-57a8-b469-52313f1ce01c/scratchpad/rafael/icons/shield_9C7A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983480"/>
            <a:ext cx="411480" cy="4114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50392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y proceso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C9A86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convertir el interés en una consulta agendada, no en una venta.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8" name="Image 0" descr="/tmp/claude-0/-home-user-Presentaciones-y-varios/903c1196-30c4-57a8-b469-52313f1ce01c/scratchpad/rafael/icons/calendar_C9A8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1" name="Image 1" descr="/tmp/claude-0/-home-user-Presentaciones-y-varios/903c1196-30c4-57a8-b469-52313f1ce01c/scratchpad/rafael/icons/comment_C9A8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4" name="Image 2" descr="/tmp/claude-0/-home-user-Presentaciones-y-varios/903c1196-30c4-57a8-b469-52313f1ce01c/scratchpad/rafael/icons/target_C9A86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7" name="Image 3" descr="/tmp/claude-0/-home-user-Presentaciones-y-varios/903c1196-30c4-57a8-b469-52313f1ce01c/scratchpad/rafael/icons/route_C9A86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fricción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contacto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CONVERSIÓN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intención a la consulta agendada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público, dos formas de pedirle que actúe.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F5F5F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GENÉRICO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“Contáctanos para más información”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segmento específico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llamado a la acción claro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público para todos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121A2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POR SEGMENTO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788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“Agenda tu consulta confidencial de visa americana”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3703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a zonas exclusivas de Bogotá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206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explícita en el mensaje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4709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con fecha y disponibilidad clara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C9A86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el cliente que ya confió, vuelve a confiar y lo recomienda.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8" name="Image 0" descr="/tmp/claude-0/-home-user-Presentaciones-y-varios/903c1196-30c4-57a8-b469-52313f1ce01c/scratchpad/rafael/icons/sync_C9A8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visa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1" name="Image 1" descr="/tmp/claude-0/-home-user-Presentaciones-y-varios/903c1196-30c4-57a8-b469-52313f1ce01c/scratchpad/rafael/icons/users_C9A8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para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4" name="Image 2" descr="/tmp/claude-0/-home-user-Presentaciones-y-varios/903c1196-30c4-57a8-b469-52313f1ce01c/scratchpad/rafael/icons/thumbsup_C9A86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Referidos dentro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 círculo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7" name="Image 3" descr="/tmp/claude-0/-home-user-Presentaciones-y-varios/903c1196-30c4-57a8-b469-52313f1ce01c/scratchpad/rafael/icons/building_C9A86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 y Medellín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ASCENSIÓN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trámite a una relación de confianza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PRINCIPIO: LIFETIME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F5F5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consulta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que llega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una campaña puntual</a:t>
            </a:r>
            <a:endParaRPr lang="en-US" sz="1150" dirty="0"/>
          </a:p>
        </p:txBody>
      </p:sp>
      <p:pic>
        <p:nvPicPr>
          <p:cNvPr id="8" name="Image 0" descr="/tmp/claude-0/-home-user-Presentaciones-y-varios/903c1196-30c4-57a8-b469-52313f1ce01c/scratchpad/rafael/icons/arrowRight_9C7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338328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09360" y="2606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834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de confianza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37960" y="3383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por renovación, trae a su familia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recomienda dentro de su círculo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0525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5F5F3"/>
          </a:solidFill>
          <a:ln/>
        </p:spPr>
      </p:sp>
      <p:sp>
        <p:nvSpPr>
          <p:cNvPr id="13" name="Shape 10"/>
          <p:cNvSpPr/>
          <p:nvPr/>
        </p:nvSpPr>
        <p:spPr>
          <a:xfrm>
            <a:off x="117957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tmp/claude-0/-home-user-Presentaciones-y-varios/903c1196-30c4-57a8-b469-52313f1ce01c/scratchpad/rafael/icons/sync_9C7A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33" y="509663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6537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visa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55701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EFEAE0"/>
          </a:solidFill>
          <a:ln/>
        </p:spPr>
      </p:sp>
      <p:sp>
        <p:nvSpPr>
          <p:cNvPr id="17" name="Shape 13"/>
          <p:cNvSpPr/>
          <p:nvPr/>
        </p:nvSpPr>
        <p:spPr>
          <a:xfrm>
            <a:off x="383133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tmp/claude-0/-home-user-Presentaciones-y-varios/903c1196-30c4-57a8-b469-52313f1ce01c/scratchpad/rafael/icons/users_9C7A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493" y="5096637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1713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de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familiar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0877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5F5F3"/>
          </a:solidFill>
          <a:ln/>
        </p:spPr>
      </p:sp>
      <p:sp>
        <p:nvSpPr>
          <p:cNvPr id="21" name="Shape 16"/>
          <p:cNvSpPr/>
          <p:nvPr/>
        </p:nvSpPr>
        <p:spPr>
          <a:xfrm>
            <a:off x="648309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tmp/claude-0/-home-user-Presentaciones-y-varios/903c1196-30c4-57a8-b469-52313f1ce01c/scratchpad/rafael/icons/thumbsup_9C7A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253" y="509663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6889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 de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86053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EFEAE0"/>
          </a:solidFill>
          <a:ln/>
        </p:spPr>
      </p:sp>
      <p:sp>
        <p:nvSpPr>
          <p:cNvPr id="25" name="Shape 19"/>
          <p:cNvSpPr/>
          <p:nvPr/>
        </p:nvSpPr>
        <p:spPr>
          <a:xfrm>
            <a:off x="913485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tmp/claude-0/-home-user-Presentaciones-y-varios/903c1196-30c4-57a8-b469-52313f1ce01c/scratchpad/rafael/icons/building_9C7A3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013" y="509663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065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ciudades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CONSOLIDACIÓN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completo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etapa funciona sola. El valor está en la conexión.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2606040"/>
            <a:ext cx="1234440" cy="1234440"/>
          </a:xfrm>
          <a:prstGeom prst="ellipse">
            <a:avLst/>
          </a:prstGeom>
          <a:solidFill>
            <a:srgbClr val="1B2740"/>
          </a:solidFill>
          <a:ln w="19050">
            <a:solidFill>
              <a:srgbClr val="C9A868"/>
            </a:solidFill>
            <a:prstDash val="solid"/>
          </a:ln>
        </p:spPr>
      </p:sp>
      <p:pic>
        <p:nvPicPr>
          <p:cNvPr id="6" name="Image 0" descr="/tmp/claude-0/-home-user-Presentaciones-y-varios/903c1196-30c4-57a8-b469-52313f1ce01c/scratchpad/rafael/icons/eye_C9A8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9763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500" dirty="0"/>
          </a:p>
        </p:txBody>
      </p:sp>
      <p:pic>
        <p:nvPicPr>
          <p:cNvPr id="9" name="Image 1" descr="/tmp/claude-0/-home-user-Presentaciones-y-varios/903c1196-30c4-57a8-b469-52313f1ce01c/scratchpad/rafael/icons/arrowRight_C9A8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095244"/>
            <a:ext cx="246888" cy="2468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77640" y="2606040"/>
            <a:ext cx="1234440" cy="1234440"/>
          </a:xfrm>
          <a:prstGeom prst="ellipse">
            <a:avLst/>
          </a:prstGeom>
          <a:solidFill>
            <a:srgbClr val="1B2740"/>
          </a:solidFill>
          <a:ln w="19050">
            <a:solidFill>
              <a:srgbClr val="C9A868"/>
            </a:solidFill>
            <a:prstDash val="solid"/>
          </a:ln>
        </p:spPr>
      </p:sp>
      <p:pic>
        <p:nvPicPr>
          <p:cNvPr id="11" name="Image 2" descr="/tmp/claude-0/-home-user-Presentaciones-y-varios/903c1196-30c4-57a8-b469-52313f1ce01c/scratchpad/rafael/icons/shield_C9A86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972" y="2976372"/>
            <a:ext cx="493776" cy="493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42900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500" dirty="0"/>
          </a:p>
        </p:txBody>
      </p:sp>
      <p:pic>
        <p:nvPicPr>
          <p:cNvPr id="14" name="Image 3" descr="/tmp/claude-0/-home-user-Presentaciones-y-varios/903c1196-30c4-57a8-b469-52313f1ce01c/scratchpad/rafael/icons/arrowRight_C9A86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095244"/>
            <a:ext cx="246888" cy="24688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629400" y="2606040"/>
            <a:ext cx="1234440" cy="1234440"/>
          </a:xfrm>
          <a:prstGeom prst="ellipse">
            <a:avLst/>
          </a:prstGeom>
          <a:solidFill>
            <a:srgbClr val="1B2740"/>
          </a:solidFill>
          <a:ln w="19050">
            <a:solidFill>
              <a:srgbClr val="C9A868"/>
            </a:solidFill>
            <a:prstDash val="solid"/>
          </a:ln>
        </p:spPr>
      </p:sp>
      <p:pic>
        <p:nvPicPr>
          <p:cNvPr id="16" name="Image 4" descr="/tmp/claude-0/-home-user-Presentaciones-y-varios/903c1196-30c4-57a8-b469-52313f1ce01c/scratchpad/rafael/icons/calendar_C9A86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732" y="2976372"/>
            <a:ext cx="493776" cy="4937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8076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08076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1500" dirty="0"/>
          </a:p>
        </p:txBody>
      </p:sp>
      <p:pic>
        <p:nvPicPr>
          <p:cNvPr id="19" name="Image 5" descr="/tmp/claude-0/-home-user-Presentaciones-y-varios/903c1196-30c4-57a8-b469-52313f1ce01c/scratchpad/rafael/icons/arrowRight_C9A86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3095244"/>
            <a:ext cx="246888" cy="24688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281160" y="2606040"/>
            <a:ext cx="1234440" cy="1234440"/>
          </a:xfrm>
          <a:prstGeom prst="ellipse">
            <a:avLst/>
          </a:prstGeom>
          <a:solidFill>
            <a:srgbClr val="1B2740"/>
          </a:solidFill>
          <a:ln w="19050">
            <a:solidFill>
              <a:srgbClr val="C9A868"/>
            </a:solidFill>
            <a:prstDash val="solid"/>
          </a:ln>
        </p:spPr>
      </p:sp>
      <p:pic>
        <p:nvPicPr>
          <p:cNvPr id="21" name="Image 6" descr="/tmp/claude-0/-home-user-Presentaciones-y-varios/903c1196-30c4-57a8-b469-52313f1ce01c/scratchpad/rafael/icons/sync_C9A86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1492" y="2976372"/>
            <a:ext cx="493776" cy="49377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73252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873252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2103120" y="4800600"/>
            <a:ext cx="7955280" cy="868680"/>
          </a:xfrm>
          <a:prstGeom prst="roundRect">
            <a:avLst>
              <a:gd name="adj" fmla="val 10526"/>
            </a:avLst>
          </a:prstGeom>
          <a:solidFill>
            <a:srgbClr val="1B2740"/>
          </a:solidFill>
          <a:ln/>
        </p:spPr>
      </p:sp>
      <p:sp>
        <p:nvSpPr>
          <p:cNvPr id="25" name="Shape 16"/>
          <p:cNvSpPr/>
          <p:nvPr/>
        </p:nvSpPr>
        <p:spPr>
          <a:xfrm>
            <a:off x="2377440" y="4960620"/>
            <a:ext cx="548640" cy="548640"/>
          </a:xfrm>
          <a:prstGeom prst="ellipse">
            <a:avLst/>
          </a:prstGeom>
          <a:solidFill>
            <a:srgbClr val="24314F"/>
          </a:solidFill>
          <a:ln/>
        </p:spPr>
      </p:sp>
      <p:pic>
        <p:nvPicPr>
          <p:cNvPr id="26" name="Image 7" descr="/tmp/claude-0/-home-user-Presentaciones-y-varios/903c1196-30c4-57a8-b469-52313f1ce01c/scratchpad/rafael/icons/sync_C9A86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0884" y="5084064"/>
            <a:ext cx="301752" cy="30175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154680" y="480060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repite: quien vuelve a confiar entra de nuevo por evaluación en su siguiente trámite.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RAZONAMIENTO ECONÓMICO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lógica de negocio detrás del 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5F5F3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Presentaciones-y-varios/903c1196-30c4-57a8-b469-52313f1ce01c/scratchpad/rafael/icons/dollar_9C7A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651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costo por cliente en el tiempo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Reimpactar a quien ya confió cuesta menos que conseguir a alguien nuevo.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5F5F3"/>
          </a:solidFill>
          <a:ln/>
        </p:spPr>
      </p:sp>
      <p:sp>
        <p:nvSpPr>
          <p:cNvPr id="10" name="Shape 7"/>
          <p:cNvSpPr/>
          <p:nvPr/>
        </p:nvSpPr>
        <p:spPr>
          <a:xfrm>
            <a:off x="587502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laude-0/-home-user-Presentaciones-y-varios/903c1196-30c4-57a8-b469-52313f1ce01c/scratchpad/rafael/icons/thumbsup_9C7A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651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referidos calificados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80060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que confía, refiere a su propio círculo social.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5F5F3"/>
          </a:solidFill>
          <a:ln/>
        </p:spPr>
      </p:sp>
      <p:sp>
        <p:nvSpPr>
          <p:cNvPr id="15" name="Shape 11"/>
          <p:cNvSpPr/>
          <p:nvPr/>
        </p:nvSpPr>
        <p:spPr>
          <a:xfrm>
            <a:off x="971550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tmp/claude-0/-home-user-Presentaciones-y-varios/903c1196-30c4-57a8-b469-52313f1ce01c/scratchpad/rafael/icons/building_9C7A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0" y="2651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 geográfica rentable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4108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sistema validado en Bogotá reduce el riesgo al llegar a Cali y Medellín.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promete resultados de visa garantizados. Reduce la dependencia del referido y aumenta el valor de cada cliente ya ganado.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DEL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oportunidades que hoy Tu Asesor de Visa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 dejando sobre la mesa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2740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1929384"/>
            <a:ext cx="457200" cy="457200"/>
          </a:xfrm>
          <a:prstGeom prst="ellipse">
            <a:avLst/>
          </a:prstGeom>
          <a:solidFill>
            <a:srgbClr val="24314F"/>
          </a:solidFill>
          <a:ln/>
        </p:spPr>
      </p:sp>
      <p:pic>
        <p:nvPicPr>
          <p:cNvPr id="6" name="Image 0" descr="/tmp/claude-0/-home-user-Presentaciones-y-varios/903c1196-30c4-57a8-b469-52313f1ce01c/scratchpad/rafael/icons/mapPin_C9A8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862" y="2032254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379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campañas de reconocimiento específicamente por zonas exclusivas de Bogotá, hoy sin ninguna segmentación digital.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2740"/>
          </a:solidFill>
          <a:ln/>
        </p:spPr>
      </p:sp>
      <p:sp>
        <p:nvSpPr>
          <p:cNvPr id="9" name="Shape 6"/>
          <p:cNvSpPr/>
          <p:nvPr/>
        </p:nvSpPr>
        <p:spPr>
          <a:xfrm>
            <a:off x="6656832" y="1929384"/>
            <a:ext cx="457200" cy="457200"/>
          </a:xfrm>
          <a:prstGeom prst="ellipse">
            <a:avLst/>
          </a:prstGeom>
          <a:solidFill>
            <a:srgbClr val="24314F"/>
          </a:solidFill>
          <a:ln/>
        </p:spPr>
      </p:sp>
      <p:pic>
        <p:nvPicPr>
          <p:cNvPr id="10" name="Image 1" descr="/tmp/claude-0/-home-user-Presentaciones-y-varios/903c1196-30c4-57a8-b469-52313f1ce01c/scratchpad/rafael/icons/star_C9A8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702" y="2032254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379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los primeros casos documentados como activo de prueba social para las campañas de evaluación.</a:t>
            </a:r>
            <a:endParaRPr lang="en-US" sz="1020" dirty="0"/>
          </a:p>
        </p:txBody>
      </p:sp>
      <p:sp>
        <p:nvSpPr>
          <p:cNvPr id="12" name="Shape 8"/>
          <p:cNvSpPr/>
          <p:nvPr/>
        </p:nvSpPr>
        <p:spPr>
          <a:xfrm>
            <a:off x="640080" y="267919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2740"/>
          </a:solidFill>
          <a:ln/>
        </p:spPr>
      </p:sp>
      <p:sp>
        <p:nvSpPr>
          <p:cNvPr id="13" name="Shape 9"/>
          <p:cNvSpPr/>
          <p:nvPr/>
        </p:nvSpPr>
        <p:spPr>
          <a:xfrm>
            <a:off x="1078992" y="2825496"/>
            <a:ext cx="457200" cy="457200"/>
          </a:xfrm>
          <a:prstGeom prst="ellipse">
            <a:avLst/>
          </a:prstGeom>
          <a:solidFill>
            <a:srgbClr val="24314F"/>
          </a:solidFill>
          <a:ln/>
        </p:spPr>
      </p:sp>
      <p:pic>
        <p:nvPicPr>
          <p:cNvPr id="14" name="Image 2" descr="/tmp/claude-0/-home-user-Presentaciones-y-varios/903c1196-30c4-57a8-b469-52313f1ce01c/scratchpad/rafael/icons/lock_C9A86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862" y="2928366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27340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activamente la confidencialidad en el manejo de datos personales, hoy invisible para el cliente potencial.</a:t>
            </a:r>
            <a:endParaRPr lang="en-US" sz="1020" dirty="0"/>
          </a:p>
        </p:txBody>
      </p:sp>
      <p:sp>
        <p:nvSpPr>
          <p:cNvPr id="16" name="Shape 11"/>
          <p:cNvSpPr/>
          <p:nvPr/>
        </p:nvSpPr>
        <p:spPr>
          <a:xfrm>
            <a:off x="6217920" y="267919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2740"/>
          </a:solidFill>
          <a:ln/>
        </p:spPr>
      </p:sp>
      <p:sp>
        <p:nvSpPr>
          <p:cNvPr id="17" name="Shape 12"/>
          <p:cNvSpPr/>
          <p:nvPr/>
        </p:nvSpPr>
        <p:spPr>
          <a:xfrm>
            <a:off x="6656832" y="2825496"/>
            <a:ext cx="457200" cy="457200"/>
          </a:xfrm>
          <a:prstGeom prst="ellipse">
            <a:avLst/>
          </a:prstGeom>
          <a:solidFill>
            <a:srgbClr val="24314F"/>
          </a:solidFill>
          <a:ln/>
        </p:spPr>
      </p:sp>
      <p:pic>
        <p:nvPicPr>
          <p:cNvPr id="18" name="Image 3" descr="/tmp/claude-0/-home-user-Presentaciones-y-varios/903c1196-30c4-57a8-b469-52313f1ce01c/scratchpad/rafael/icons/comment_C9A86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702" y="2928366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27340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seguimiento de conversiones en WhatsApp para medir consultas agendadas, no solo mensajes recibidos.</a:t>
            </a:r>
            <a:endParaRPr lang="en-US" sz="1020" dirty="0"/>
          </a:p>
        </p:txBody>
      </p:sp>
      <p:sp>
        <p:nvSpPr>
          <p:cNvPr id="20" name="Shape 14"/>
          <p:cNvSpPr/>
          <p:nvPr/>
        </p:nvSpPr>
        <p:spPr>
          <a:xfrm>
            <a:off x="640080" y="357530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2740"/>
          </a:solidFill>
          <a:ln/>
        </p:spPr>
      </p:sp>
      <p:sp>
        <p:nvSpPr>
          <p:cNvPr id="21" name="Shape 15"/>
          <p:cNvSpPr/>
          <p:nvPr/>
        </p:nvSpPr>
        <p:spPr>
          <a:xfrm>
            <a:off x="1078992" y="3721608"/>
            <a:ext cx="457200" cy="457200"/>
          </a:xfrm>
          <a:prstGeom prst="ellipse">
            <a:avLst/>
          </a:prstGeom>
          <a:solidFill>
            <a:srgbClr val="24314F"/>
          </a:solidFill>
          <a:ln/>
        </p:spPr>
      </p:sp>
      <p:pic>
        <p:nvPicPr>
          <p:cNvPr id="22" name="Image 4" descr="/tmp/claude-0/-home-user-Presentaciones-y-varios/903c1196-30c4-57a8-b469-52313f1ce01c/scratchpad/rafael/icons/sync_C9A86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862" y="3824478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36301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remarketing para quienes inician una conversación pero no llegan a agendar.</a:t>
            </a:r>
            <a:endParaRPr lang="en-US" sz="1020" dirty="0"/>
          </a:p>
        </p:txBody>
      </p:sp>
      <p:sp>
        <p:nvSpPr>
          <p:cNvPr id="24" name="Shape 17"/>
          <p:cNvSpPr/>
          <p:nvPr/>
        </p:nvSpPr>
        <p:spPr>
          <a:xfrm>
            <a:off x="6217920" y="357530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2740"/>
          </a:solidFill>
          <a:ln/>
        </p:spPr>
      </p:sp>
      <p:sp>
        <p:nvSpPr>
          <p:cNvPr id="25" name="Shape 18"/>
          <p:cNvSpPr/>
          <p:nvPr/>
        </p:nvSpPr>
        <p:spPr>
          <a:xfrm>
            <a:off x="6656832" y="3721608"/>
            <a:ext cx="457200" cy="457200"/>
          </a:xfrm>
          <a:prstGeom prst="ellipse">
            <a:avLst/>
          </a:prstGeom>
          <a:solidFill>
            <a:srgbClr val="24314F"/>
          </a:solidFill>
          <a:ln/>
        </p:spPr>
      </p:sp>
      <p:pic>
        <p:nvPicPr>
          <p:cNvPr id="26" name="Image 5" descr="/tmp/claude-0/-home-user-Presentaciones-y-varios/903c1196-30c4-57a8-b469-52313f1ce01c/scratchpad/rafael/icons/building_C9A86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702" y="3824478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36301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públicos personalizados en Cali y Medellín antes de invertir, usando el perfil ya validado en Bogotá.</a:t>
            </a:r>
            <a:endParaRPr lang="en-US" sz="1020" dirty="0"/>
          </a:p>
        </p:txBody>
      </p:sp>
      <p:sp>
        <p:nvSpPr>
          <p:cNvPr id="28" name="Shape 20"/>
          <p:cNvSpPr/>
          <p:nvPr/>
        </p:nvSpPr>
        <p:spPr>
          <a:xfrm>
            <a:off x="640080" y="447141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2740"/>
          </a:solidFill>
          <a:ln/>
        </p:spPr>
      </p:sp>
      <p:sp>
        <p:nvSpPr>
          <p:cNvPr id="29" name="Shape 21"/>
          <p:cNvSpPr/>
          <p:nvPr/>
        </p:nvSpPr>
        <p:spPr>
          <a:xfrm>
            <a:off x="1078992" y="4617720"/>
            <a:ext cx="457200" cy="457200"/>
          </a:xfrm>
          <a:prstGeom prst="ellipse">
            <a:avLst/>
          </a:prstGeom>
          <a:solidFill>
            <a:srgbClr val="24314F"/>
          </a:solidFill>
          <a:ln/>
        </p:spPr>
      </p:sp>
      <p:pic>
        <p:nvPicPr>
          <p:cNvPr id="30" name="Image 6" descr="/tmp/claude-0/-home-user-Presentaciones-y-varios/903c1196-30c4-57a8-b469-52313f1ce01c/scratchpad/rafael/icons/thumbsup_C9A86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862" y="4720590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08760" y="4526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el referido de círculos sociales en una campaña digital medible, no solo espontánea.</a:t>
            </a:r>
            <a:endParaRPr lang="en-US" sz="1020" dirty="0"/>
          </a:p>
        </p:txBody>
      </p:sp>
      <p:sp>
        <p:nvSpPr>
          <p:cNvPr id="32" name="Shape 23"/>
          <p:cNvSpPr/>
          <p:nvPr/>
        </p:nvSpPr>
        <p:spPr>
          <a:xfrm>
            <a:off x="6217920" y="447141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2740"/>
          </a:solidFill>
          <a:ln/>
        </p:spPr>
      </p:sp>
      <p:sp>
        <p:nvSpPr>
          <p:cNvPr id="33" name="Shape 24"/>
          <p:cNvSpPr/>
          <p:nvPr/>
        </p:nvSpPr>
        <p:spPr>
          <a:xfrm>
            <a:off x="6656832" y="4617720"/>
            <a:ext cx="457200" cy="457200"/>
          </a:xfrm>
          <a:prstGeom prst="ellipse">
            <a:avLst/>
          </a:prstGeom>
          <a:solidFill>
            <a:srgbClr val="24314F"/>
          </a:solidFill>
          <a:ln/>
        </p:spPr>
      </p:sp>
      <p:pic>
        <p:nvPicPr>
          <p:cNvPr id="34" name="Image 7" descr="/tmp/claude-0/-home-user-Presentaciones-y-varios/903c1196-30c4-57a8-b469-52313f1ce01c/scratchpad/rafael/icons/calendar_C9A86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9702" y="4720590"/>
            <a:ext cx="251460" cy="2514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86600" y="4526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campañas de renovación dirigidas a clientes cuya visa esté próxima a vencer.</a:t>
            </a:r>
            <a:endParaRPr lang="en-US" sz="1020" dirty="0"/>
          </a:p>
        </p:txBody>
      </p:sp>
      <p:sp>
        <p:nvSpPr>
          <p:cNvPr id="36" name="Shape 26"/>
          <p:cNvSpPr/>
          <p:nvPr/>
        </p:nvSpPr>
        <p:spPr>
          <a:xfrm>
            <a:off x="640080" y="536752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2740"/>
          </a:solidFill>
          <a:ln/>
        </p:spPr>
      </p:sp>
      <p:sp>
        <p:nvSpPr>
          <p:cNvPr id="37" name="Shape 27"/>
          <p:cNvSpPr/>
          <p:nvPr/>
        </p:nvSpPr>
        <p:spPr>
          <a:xfrm>
            <a:off x="1078992" y="5513832"/>
            <a:ext cx="457200" cy="457200"/>
          </a:xfrm>
          <a:prstGeom prst="ellipse">
            <a:avLst/>
          </a:prstGeom>
          <a:solidFill>
            <a:srgbClr val="24314F"/>
          </a:solidFill>
          <a:ln/>
        </p:spPr>
      </p:sp>
      <p:pic>
        <p:nvPicPr>
          <p:cNvPr id="38" name="Image 8" descr="/tmp/claude-0/-home-user-Presentaciones-y-varios/903c1196-30c4-57a8-b469-52313f1ce01c/scratchpad/rafael/icons/briefcase_C9A86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862" y="5616702"/>
            <a:ext cx="251460" cy="25146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508760" y="54223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la comunicación por motivo de viaje (turismo, negocios, inversión) dentro del segmento premium.</a:t>
            </a:r>
            <a:endParaRPr lang="en-US" sz="1020" dirty="0"/>
          </a:p>
        </p:txBody>
      </p:sp>
      <p:sp>
        <p:nvSpPr>
          <p:cNvPr id="40" name="Shape 29"/>
          <p:cNvSpPr/>
          <p:nvPr/>
        </p:nvSpPr>
        <p:spPr>
          <a:xfrm>
            <a:off x="6217920" y="536752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2740"/>
          </a:solidFill>
          <a:ln/>
        </p:spPr>
      </p:sp>
      <p:sp>
        <p:nvSpPr>
          <p:cNvPr id="41" name="Shape 30"/>
          <p:cNvSpPr/>
          <p:nvPr/>
        </p:nvSpPr>
        <p:spPr>
          <a:xfrm>
            <a:off x="6656832" y="5513832"/>
            <a:ext cx="457200" cy="457200"/>
          </a:xfrm>
          <a:prstGeom prst="ellipse">
            <a:avLst/>
          </a:prstGeom>
          <a:solidFill>
            <a:srgbClr val="24314F"/>
          </a:solidFill>
          <a:ln/>
        </p:spPr>
      </p:sp>
      <p:pic>
        <p:nvPicPr>
          <p:cNvPr id="42" name="Image 9" descr="/tmp/claude-0/-home-user-Presentaciones-y-varios/903c1196-30c4-57a8-b469-52313f1ce01c/scratchpad/rafael/icons/passport_C9A86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9702" y="5616702"/>
            <a:ext cx="251460" cy="25146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86600" y="54223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los 10+ años de trayectoria de Rafael como ancla de autoridad en cada anuncio de descubrimiento.</a:t>
            </a:r>
            <a:endParaRPr lang="en-US" sz="1020" dirty="0"/>
          </a:p>
        </p:txBody>
      </p:sp>
      <p:sp>
        <p:nvSpPr>
          <p:cNvPr id="4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más publicidad.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 sistema de confianza que se multiplica.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C9A86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20" dirty="0"/>
          </a:p>
        </p:txBody>
      </p:sp>
      <p:sp>
        <p:nvSpPr>
          <p:cNvPr id="6" name="Text 4"/>
          <p:cNvSpPr/>
          <p:nvPr/>
        </p:nvSpPr>
        <p:spPr>
          <a:xfrm>
            <a:off x="77724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de proceso actual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del recorrido comercial y de contacto hoy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3520440"/>
            <a:ext cx="548640" cy="548640"/>
          </a:xfrm>
          <a:prstGeom prst="ellipse">
            <a:avLst/>
          </a:prstGeom>
          <a:solidFill>
            <a:srgbClr val="C9A868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20" dirty="0"/>
          </a:p>
        </p:txBody>
      </p:sp>
      <p:sp>
        <p:nvSpPr>
          <p:cNvPr id="10" name="Text 8"/>
          <p:cNvSpPr/>
          <p:nvPr/>
        </p:nvSpPr>
        <p:spPr>
          <a:xfrm>
            <a:off x="448056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las 4 campañas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Presentación, Evaluación, Conversión, Ascensión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3520440"/>
            <a:ext cx="548640" cy="548640"/>
          </a:xfrm>
          <a:prstGeom prst="ellipse">
            <a:avLst/>
          </a:prstGeom>
          <a:solidFill>
            <a:srgbClr val="C9A868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20" dirty="0"/>
          </a:p>
        </p:txBody>
      </p:sp>
      <p:sp>
        <p:nvSpPr>
          <p:cNvPr id="14" name="Text 12"/>
          <p:cNvSpPr/>
          <p:nvPr/>
        </p:nvSpPr>
        <p:spPr>
          <a:xfrm>
            <a:off x="818388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Activación en Bogotá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388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base para expandir a Cali y Medellín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2026-08-03T15:08:46Z</dcterms:created>
  <dcterms:modified xsi:type="dcterms:W3CDTF">2026-08-03T15:08:46Z</dcterms:modified>
</cp:coreProperties>
</file>