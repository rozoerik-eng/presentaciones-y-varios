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Establecer el punto de partida real, reconociendo lo que ya existe antes de hablar de lo que falta.
MENSAJE PRINCIPAL: Loretto ya tiene una tienda en línea funcional, catálogo completo y hasta un cliente mayorista real (un supermercado); lo que no tiene todavía es un sistema de Meta Ads que lleve esos productos a nuevos clientes de forma constante.
QUÉ EXPLICAR: El crecimiento actual depende de contactos cercanos. Ese modelo tiene techo; Meta Ads es el mecanismo para romper ese techo y activar la expansión planeada a Cali y Medellín.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Cambiar el modelo mental de 'vender a contactos' a 'sistema de adquisición'.
MENSAJE PRINCIPAL: El problema no es la calidad del producto; es la ausencia de una arquitectura que lo dé a conocer más allá del círculo cercano.
QUÉ EXPLICAR: Contrastar cómo funciona hoy la venta (dependiente de contactos) frente a cómo debería operar un sistema de Meta Ads (segmentado, medible, con propósito por etapa).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la metodología completa en una sola imagen antes de entrar en el detalle de cada etapa.
MENSAJE PRINCIPAL: Cada etapa de Meta Ads cumple un rol distinto y prepara la siguiente; ninguna funciona aislada.
QUÉ EXPLICAR: Recorrer el journey completo: Presentación (descubrir Loretto), Evaluación (confiar en la calidad del producto), Conversión (comprar en la tienda ya lista), Ascensión (volver a comprar). Esta estructura reemplaza la dependencia de contactos cercanos.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Lograr que personas interesadas en bienestar y nutrición en Colombia descubran Loretto. Aquí no se vende, se despierta interés.
MENSAJE PRINCIPAL: El objetivo se mide en alcance calificado dentro del segmento correcto, no en visitas genéricas.
QUÉ EXPLICAR: Objetivos de Meta recomendados (reconocimiento, interacción con video); territorio de targeting (Bogotá primero, luego Cali y Medellín); y por qué el Collagen Flex, el producto más visible de la marca, es el ancla natural de las primeras campañas.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profundidad al contenido creativo de la etapa 1.
MENSAJE PRINCIPAL: No se trata de un anuncio genérico de suplementos, sino de piezas que cubren distintos ángulos de decisión.
QUÉ EXPLICAR: Recorrer cada pilar. Los arándanos frescos y el respaldo de un cliente mayorista son diferenciadores poco comunes en esta categoría y deben aprovecharse desde el primer anuncio.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Mover a quien ya conoce Loretto hacia la intención de compra, resolviendo la duda natural sobre la calidad del producto.
MENSAJE PRINCIPAL: Loretto ya tiene prueba social real; hoy no se usa en ningún anuncio.
QUÉ EXPLICAR: Se activa remarketing sobre quienes vieron los anuncios de la etapa 1. El contenido cambia hacia reseñas reales, el testimonio del cliente mayorista y transparencia sobre los ingredientes naturales.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una oportunidad concreta y medible que hoy no se aprovecha.
MENSAJE PRINCIPAL: Loretto ya tiene dos activos de confianza reales — un cliente mayorista y reseñas de clientes — que hoy no existen en ningún anuncio.
QUÉ EXPLICAR: Cómo se crean públicos personalizados a partir de quienes interactúan con los anuncios de la etapa 1, y cómo se les impacta con contenido de prueba social para moverlos hacia la etapa de conversión.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Convertir el interés calificado en compras reales dentro de la tienda de Loretto, que ya está lista para vender.
MENSAJE PRINCIPAL: En conversión no buscamos alcance, buscamos precisión: solo se invierte en quien ya mostró interés real.
QUÉ EXPLICAR: Las audiencias se restringen a quienes vieron videos o interactuaron con los anuncios de confianza. El objetivo de Meta cambia a conversiones de compra. El envío gratis desde $100.000 ya existe y debe comunicarse activamente como parte de la oferta.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el detalle táctico de optimización dentro de la etapa de conversión.
MENSAJE PRINCIPAL: Pequeños ajustes de oferta y llamado a la acción mueven directamente la tasa de conversión.
QUÉ EXPLICAR: Ejemplo concreto: pasar de un anuncio genérico de tienda a uno que nombra el producto y el envío gratis, un beneficio real que hoy no se comunica en ningún canal pagado.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Convertir un cliente que ya compró una vez en un cliente recurrente.
MENSAJE PRINCIPAL: La etapa más rentable del sistema es la que hoy no existe en ningún canal digital.
QUÉ EXPLICAR: Los suplementos son un producto de consumo recurrente: se terminan y se vuelven a comprar. Cómo construir públicos personalizados de clientes anteriores para recompra y combos, y cómo el mismo perfil validado en Bogotá prepara la expansión a Cali y Medellín.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Explicar el concepto de Lifetime Value aplicado a productos de consumo recurrente.
MENSAJE PRINCIPAL: No buscamos vender una vez; buscamos construir una rutina de bienestar que se repite mes a mes.
QUÉ EXPLICAR: Cada gatillo (recompra natural del suplemento, un nuevo combo, un referido, la expansión geográfica) es una campaña de reactivación dirigida a un público ya construido en las etapas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Consolidar la visión completa antes de pasar al cierre.
MENSAJE PRINCIPAL: El sistema es un ciclo, no una línea recta; el cliente que vuelve a comprar reingresa al ciclo en su siguiente decisión.
QUÉ EXPLICAR: Cómo el dato de una etapa (quién vio el anuncio, quién interactuó, quién compró) alimenta la audiencia de la siguiente. Reforzar que vender a contactos cercanos no puede sostener esta arquitectura.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el razonamiento económico del sistema sin prometer cifras específicas.
MENSAJE PRINCIPAL: El sistema reduce la dependencia de conseguir clientes nuevos cada vez y aumenta el valor de los clientes ya conseguidos.
QUÉ EXPLICAR: Por qué reimpactar cuesta menos que adquirir; por qué los suplementos, al ser de consumo recurrente, se prestan naturalmente a un sistema de recompra; por qué ofrecer combos a la base existente sube el ticket promedio.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el diagnóstico con impacto, mostrando la brecha concreta entre el potencial de Loretto y la ejecución publicitaria actual.
MENSAJE PRINCIPAL: Cada oportunidad está fundamentada en lo que ya existe en la marca (tienda activa, cliente mayorista, catálogo, contenido UGC), no en suposiciones.
QUÉ EXPLICAR: Recorrer brevemente cada oportunidad conectándola con la etapa del sistema a la que pertenece. La última oportunidad (datos de contacto de la tienda) debe explicarse con tacto: es un ajuste operativo necesario antes de escalar la inversión.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un plan de trabajo concreto para los primeros 3 meses, conectando cada mes con un producto protagonista y con el contenido UGC que se gestiona.
MENSAJE PRINCIPAL: La metodología de las 4 etapas se activa de forma progresiva mes a mes, empezando por el Collagen Flex, siguiendo con magnesio y detox, y cerrando con los combos.
QUÉ EXPLICAR: Mes 1 se enfoca en dar a conocer el Collagen Flex apoyado en contenido UGC. Mes 2 construye confianza con el testimonio mayorista y abre las primeras campañas de conversión. Mes 3 escala lo que mejor funciona y presenta los combos, arrancando ya la etapa de ascensión.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seguridad mostrando un cronograma detallado y realista para los primeros 3 meses.
MENSAJE PRINCIPAL: Cada quincena tiene un entregable concreto; no hay ambigüedad sobre qué se está haciendo en cada momento.
QUÉ EXPLICAR: Las dos primeras semanas son de base técnica (auditoría, píxel, checkout), no de campañas activas todavía. A partir de la semana 3 empieza la etapa de Presentación con el Collagen Flex, y el sistema se va completando progresivamente hasta arrancar Ascensión al final del mes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con claridad las dos líneas de inversión necesarias para poner en marcha el sistema, sin mezclar honorarios de gestión con presupuesto publicitario.
MENSAJE PRINCIPAL: Son dos inversiones independientes: unos honorarios de gestión estratégica y un presupuesto de pauta que pertenece siempre a Loretto.
QUÉ EXPLICAR: Los honorarios de gestión inician en $950.000 mensuales durante los primeros 3 meses como precio de lanzamiento, y pasan a la tarifa full de $1.300.000 mensuales desde el mes 4. Aparte, el presupuesto mínimo recomendado de pauta en Meta Ads es de $1.500.000 mensuales, que se invierte directamente en la plataforma y no hace parte de los honorarios.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con una propuesta de acción clara, sin sonar comercial.
MENSAJE PRINCIPAL: El crecimiento no depende de vender a más contactos; depende de darle estructura a lo que Loretto ya construyó.
QUÉ EXPLICAR: Los tres pasos siguientes son concretos y secuenciales. La siguiente conversación debe definir el alcance y el cronograma de implementación, comenzando en Bogotá.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4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image" Target="../media/image-13-2.png"/><Relationship Id="rId7" Type="http://schemas.openxmlformats.org/officeDocument/2006/relationships/image" Target="../media/image-13-7.png"/><Relationship Id="rId8" Type="http://schemas.openxmlformats.org/officeDocument/2006/relationships/image" Target="../media/image-1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ADQUISICIÓN DE CLIENTES · META ADS · COLOMBIA ·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Loretto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33649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ventas por contactos cercanos a un sistema de adquisición de clientes con Meta Ads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B48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Nelson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Hoy, Loretto vende a quienes ya te conocen.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E2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 todo el mercado que podría comprarte.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738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loretto/icons/bag_6E2E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3200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activa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4526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en línea, con catálogo completo y checkout listo para vender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26060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6354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claude-0/-home-user-Presentaciones-y-varios/903c1196-30c4-57a8-b469-52313f1ce01c/scratchpad/loretto/icons/mapPin_6E2E8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3200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0624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ciudad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480560" y="4526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actual, frente al plan de expansión a Bogotá, Cali y Medellín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0" y="26060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02970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loretto/icons/target_6E2E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0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046720" y="4526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Meta Ads estructuradas para atraer clientes de forma constante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catálogo, la calidad y hasta un primer cliente mayorista ya existen. Falta el sistema que lleve todo esto a nuevos clientes en todo el país.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ESTRATÉGICO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Vender a conocidos no es un sistema de adquisición.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F6F4F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 TÁCTICA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contactos cercanos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público: todos por igual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251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proceso de captación estructurado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937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depende de a quién conozcas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18132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860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ADQUISICIÓN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objetivos de Meta Ads, uno por etapa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5661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por interés en bienestar y nutrición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4251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continuo en todo el país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937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depende de la arquitectura, no del círculo social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Ads como motor de adquisición nacional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etapas. Cada una prepara la siguiente.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6F4F2"/>
          </a:solidFill>
          <a:ln/>
        </p:spPr>
      </p:sp>
      <p:sp>
        <p:nvSpPr>
          <p:cNvPr id="6" name="Shape 4"/>
          <p:cNvSpPr/>
          <p:nvPr/>
        </p:nvSpPr>
        <p:spPr>
          <a:xfrm>
            <a:off x="1577340" y="1993392"/>
            <a:ext cx="731520" cy="731520"/>
          </a:xfrm>
          <a:prstGeom prst="ellipse">
            <a:avLst/>
          </a:prstGeom>
          <a:solidFill>
            <a:srgbClr val="181321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60" dirty="0"/>
          </a:p>
        </p:txBody>
      </p:sp>
      <p:sp>
        <p:nvSpPr>
          <p:cNvPr id="8" name="Shape 6"/>
          <p:cNvSpPr/>
          <p:nvPr/>
        </p:nvSpPr>
        <p:spPr>
          <a:xfrm>
            <a:off x="159562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tmp/claude-0/-home-user-Presentaciones-y-varios/903c1196-30c4-57a8-b469-52313f1ce01c/scratchpad/loretto/icons/eye_6E2E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364" y="357530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</a:t>
            </a:r>
            <a:endParaRPr lang="en-US" sz="1200" dirty="0"/>
          </a:p>
        </p:txBody>
      </p:sp>
      <p:pic>
        <p:nvPicPr>
          <p:cNvPr id="12" name="Image 1" descr="/tmp/claude-0/-home-user-Presentaciones-y-varios/903c1196-30c4-57a8-b469-52313f1ce01c/scratchpad/loretto/icons/arrowRight_6E2E8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3977640"/>
            <a:ext cx="246888" cy="2468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EFE7F5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9100" y="1993392"/>
            <a:ext cx="731520" cy="731520"/>
          </a:xfrm>
          <a:prstGeom prst="ellipse">
            <a:avLst/>
          </a:prstGeom>
          <a:solidFill>
            <a:srgbClr val="181321"/>
          </a:solidFill>
          <a:ln/>
        </p:spPr>
      </p:sp>
      <p:sp>
        <p:nvSpPr>
          <p:cNvPr id="15" name="Text 11"/>
          <p:cNvSpPr/>
          <p:nvPr/>
        </p:nvSpPr>
        <p:spPr>
          <a:xfrm>
            <a:off x="422910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60" dirty="0"/>
          </a:p>
        </p:txBody>
      </p:sp>
      <p:sp>
        <p:nvSpPr>
          <p:cNvPr id="16" name="Shape 12"/>
          <p:cNvSpPr/>
          <p:nvPr/>
        </p:nvSpPr>
        <p:spPr>
          <a:xfrm>
            <a:off x="424738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loretto/icons/star_6E2E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357530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6616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356616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</a:t>
            </a:r>
            <a:endParaRPr lang="en-US" sz="1200" dirty="0"/>
          </a:p>
        </p:txBody>
      </p:sp>
      <p:pic>
        <p:nvPicPr>
          <p:cNvPr id="20" name="Image 3" descr="/tmp/claude-0/-home-user-Presentaciones-y-varios/903c1196-30c4-57a8-b469-52313f1ce01c/scratchpad/loretto/icons/arrowRight_6E2E8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977640"/>
            <a:ext cx="246888" cy="24688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08076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6F4F2"/>
          </a:solidFill>
          <a:ln/>
        </p:spPr>
      </p:sp>
      <p:sp>
        <p:nvSpPr>
          <p:cNvPr id="22" name="Shape 16"/>
          <p:cNvSpPr/>
          <p:nvPr/>
        </p:nvSpPr>
        <p:spPr>
          <a:xfrm>
            <a:off x="6880860" y="1993392"/>
            <a:ext cx="731520" cy="731520"/>
          </a:xfrm>
          <a:prstGeom prst="ellipse">
            <a:avLst/>
          </a:prstGeom>
          <a:solidFill>
            <a:srgbClr val="181321"/>
          </a:solidFill>
          <a:ln/>
        </p:spPr>
      </p:sp>
      <p:sp>
        <p:nvSpPr>
          <p:cNvPr id="23" name="Text 17"/>
          <p:cNvSpPr/>
          <p:nvPr/>
        </p:nvSpPr>
        <p:spPr>
          <a:xfrm>
            <a:off x="688086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60" dirty="0"/>
          </a:p>
        </p:txBody>
      </p:sp>
      <p:sp>
        <p:nvSpPr>
          <p:cNvPr id="24" name="Shape 18"/>
          <p:cNvSpPr/>
          <p:nvPr/>
        </p:nvSpPr>
        <p:spPr>
          <a:xfrm>
            <a:off x="689914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tmp/claude-0/-home-user-Presentaciones-y-varios/903c1196-30c4-57a8-b469-52313f1ce01c/scratchpad/loretto/icons/bag_6E2E8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884" y="357530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1792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621792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endParaRPr lang="en-US" sz="1200" dirty="0"/>
          </a:p>
        </p:txBody>
      </p:sp>
      <p:pic>
        <p:nvPicPr>
          <p:cNvPr id="28" name="Image 5" descr="/tmp/claude-0/-home-user-Presentaciones-y-varios/903c1196-30c4-57a8-b469-52313f1ce01c/scratchpad/loretto/icons/arrowRight_6E2E8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3977640"/>
            <a:ext cx="246888" cy="24688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73252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EFE7F5"/>
          </a:solidFill>
          <a:ln/>
        </p:spPr>
      </p:sp>
      <p:sp>
        <p:nvSpPr>
          <p:cNvPr id="30" name="Shape 22"/>
          <p:cNvSpPr/>
          <p:nvPr/>
        </p:nvSpPr>
        <p:spPr>
          <a:xfrm>
            <a:off x="9532620" y="1993392"/>
            <a:ext cx="731520" cy="731520"/>
          </a:xfrm>
          <a:prstGeom prst="ellipse">
            <a:avLst/>
          </a:prstGeom>
          <a:solidFill>
            <a:srgbClr val="181321"/>
          </a:solidFill>
          <a:ln/>
        </p:spPr>
      </p:sp>
      <p:sp>
        <p:nvSpPr>
          <p:cNvPr id="31" name="Text 23"/>
          <p:cNvSpPr/>
          <p:nvPr/>
        </p:nvSpPr>
        <p:spPr>
          <a:xfrm>
            <a:off x="953262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560" dirty="0"/>
          </a:p>
        </p:txBody>
      </p:sp>
      <p:sp>
        <p:nvSpPr>
          <p:cNvPr id="32" name="Shape 24"/>
          <p:cNvSpPr/>
          <p:nvPr/>
        </p:nvSpPr>
        <p:spPr>
          <a:xfrm>
            <a:off x="955090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/tmp/claude-0/-home-user-Presentaciones-y-varios/903c1196-30c4-57a8-b469-52313f1ce01c/scratchpad/loretto/icons/sync_6E2E8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644" y="3575304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86968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886968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no es más publicaciones: es un cliente que descubre, confía, compra y vuelve a comprar en todo el país.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B48FD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dar a conocer Loretto entre personas interesadas en bienestar y nutrición en Colombia.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8" name="Image 0" descr="/tmp/claude-0/-home-user-Presentaciones-y-varios/903c1196-30c4-57a8-b469-52313f1ce01c/scratchpad/loretto/icons/mapPin_B48F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en Bogotá,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 y Medellín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1" name="Image 1" descr="/tmp/claude-0/-home-user-Presentaciones-y-varios/903c1196-30c4-57a8-b469-52313f1ce01c/scratchpad/loretto/icons/bottle_B48F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Collagen Flex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ancla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4" name="Image 2" descr="/tmp/claude-0/-home-user-Presentaciones-y-varios/903c1196-30c4-57a8-b469-52313f1ce01c/scratchpad/loretto/icons/video_B48F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UGC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auténtico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7" name="Image 3" descr="/tmp/claude-0/-home-user-Presentaciones-y-varios/903c1196-30c4-57a8-b469-52313f1ce01c/scratchpad/loretto/icons/leaf_B48F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8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PRESENTACIÓN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cinco pilares del descubrimiento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pilar ataca una razón distinta de decisión.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loretto/icons/bottle_6E2E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7660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Collagen Flex, el producto insignia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73736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colágeno hidrolizado marino como protagonista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claude-0/-home-user-Presentaciones-y-varios/903c1196-30c4-57a8-b469-52313f1ce01c/scratchpad/loretto/icons/leaf_6E2E8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7660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Ingredientes 100% naturales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39496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promesa central de calidad de la marca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5528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16" name="Shape 12"/>
          <p:cNvSpPr/>
          <p:nvPr/>
        </p:nvSpPr>
        <p:spPr>
          <a:xfrm>
            <a:off x="827532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loretto/icons/video_6E2E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27660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UGC auténtico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05256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Creadores reales mostrando el producto en su rutina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6634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21" name="Shape 16"/>
          <p:cNvSpPr/>
          <p:nvPr/>
        </p:nvSpPr>
        <p:spPr>
          <a:xfrm>
            <a:off x="960120" y="4937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tmp/claude-0/-home-user-Presentaciones-y-varios/903c1196-30c4-57a8-b469-52313f1ce01c/scratchpad/loretto/icons/fruit_6E2E8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50977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Arándanos frescos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737360" y="5303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diferenciador que pocas marcas de suplementos ofrecen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97680" y="46634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26" name="Shape 20"/>
          <p:cNvSpPr/>
          <p:nvPr/>
        </p:nvSpPr>
        <p:spPr>
          <a:xfrm>
            <a:off x="4617720" y="4937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tmp/claude-0/-home-user-Presentaciones-y-varios/903c1196-30c4-57a8-b469-52313f1ce01c/scratchpad/loretto/icons/handshake_6E2E8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509778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cliente mayorista real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394960" y="5303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respaldo de un supermercado que ya confía en Loretto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B48FD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quien ya vio Loretto necesita confirmar que es un producto de calidad real.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8" name="Image 0" descr="/tmp/claude-0/-home-user-Presentaciones-y-varios/903c1196-30c4-57a8-b469-52313f1ce01c/scratchpad/loretto/icons/star_B48F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1" name="Image 1" descr="/tmp/claude-0/-home-user-Presentaciones-y-varios/903c1196-30c4-57a8-b469-52313f1ce01c/scratchpad/loretto/icons/handshake_B48F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de un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mayorista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4" name="Image 2" descr="/tmp/claude-0/-home-user-Presentaciones-y-varios/903c1196-30c4-57a8-b469-52313f1ce01c/scratchpad/loretto/icons/sync_B48F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interacción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7" name="Image 3" descr="/tmp/claude-0/-home-user-Presentaciones-y-varios/903c1196-30c4-57a8-b469-52313f1ce01c/scratchpad/loretto/icons/shield_B48F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ingredientes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8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prueba social que ya existe, sin explotar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EFE7F5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606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Presentaciones-y-varios/903c1196-30c4-57a8-b469-52313f1ce01c/scratchpad/loretto/icons/handshake_6E2E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8117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Mayorista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965960" y="2880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supermercado ya confía en Loretto, y hoy ese testimonio no se usa en ningún anuncio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EFE7F5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606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claude-0/-home-user-Presentaciones-y-varios/903c1196-30c4-57a8-b469-52313f1ce01c/scratchpad/loretto/icons/star_6E2E8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8117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Reseñas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532120" y="2880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reales ya dejaron su opinión, sin convertirse todavía en creativo de campaña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463040" y="4572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pic>
        <p:nvPicPr>
          <p:cNvPr id="15" name="Image 2" descr="/tmp/claude-0/-home-user-Presentaciones-y-varios/903c1196-30c4-57a8-b469-52313f1ce01c/scratchpad/loretto/icons/eye_6E2E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49834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94560" y="457200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anuncio</a:t>
            </a:r>
            <a:endParaRPr lang="en-US" sz="1300" dirty="0"/>
          </a:p>
        </p:txBody>
      </p:sp>
      <p:pic>
        <p:nvPicPr>
          <p:cNvPr id="17" name="Image 3" descr="/tmp/claude-0/-home-user-Presentaciones-y-varios/903c1196-30c4-57a8-b469-52313f1ce01c/scratchpad/loretto/icons/arrowRight_6E2E8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507492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617720" y="4572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pic>
        <p:nvPicPr>
          <p:cNvPr id="19" name="Image 4" descr="/tmp/claude-0/-home-user-Presentaciones-y-varios/903c1196-30c4-57a8-b469-52313f1ce01c/scratchpad/loretto/icons/filter_6E2E8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98348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49240" y="457200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</a:t>
            </a:r>
            <a:endParaRPr lang="en-US" sz="1300" dirty="0"/>
          </a:p>
        </p:txBody>
      </p:sp>
      <p:pic>
        <p:nvPicPr>
          <p:cNvPr id="21" name="Image 5" descr="/tmp/claude-0/-home-user-Presentaciones-y-varios/903c1196-30c4-57a8-b469-52313f1ce01c/scratchpad/loretto/icons/arrowRight_6E2E8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507492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772400" y="4572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pic>
        <p:nvPicPr>
          <p:cNvPr id="23" name="Image 6" descr="/tmp/claude-0/-home-user-Presentaciones-y-varios/903c1196-30c4-57a8-b469-52313f1ce01c/scratchpad/loretto/icons/shield_6E2E8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983480"/>
            <a:ext cx="411480" cy="4114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503920" y="457200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de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social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B48FD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convertir el interés en una compra dentro de la tienda en línea.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8" name="Image 0" descr="/tmp/claude-0/-home-user-Presentaciones-y-varios/903c1196-30c4-57a8-b469-52313f1ce01c/scratchpad/loretto/icons/bag_B48F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lista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1" name="Image 1" descr="/tmp/claude-0/-home-user-Presentaciones-y-varios/903c1196-30c4-57a8-b469-52313f1ce01c/scratchpad/loretto/icons/truck_B48F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gratis desde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$100.000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4" name="Image 2" descr="/tmp/claude-0/-home-user-Presentaciones-y-varios/903c1196-30c4-57a8-b469-52313f1ce01c/scratchpad/loretto/icons/bottle_B48F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producto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7" name="Image 3" descr="/tmp/claude-0/-home-user-Presentaciones-y-varios/903c1196-30c4-57a8-b469-52313f1ce01c/scratchpad/loretto/icons/route_B48F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fricción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8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CONVERSIÓN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intención a la compra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público, dos formas de pedirle que actúe.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F6F4F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GENÉRICO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“Visita nuestra tienda en línea”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producto específico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0690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mención del envío gratis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público para todos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1813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POR PRODUCTO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788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“Lleva tu Collagen Flex, con envío gratis desde $100.000”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3703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y beneficio específicos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4206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gratis como parte del mensaje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4709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anuncio por producto o combo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B48FD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la primera compra se convierte en una rutina de bienestar recurrente.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8" name="Image 0" descr="/tmp/claude-0/-home-user-Presentaciones-y-varios/903c1196-30c4-57a8-b469-52313f1ce01c/scratchpad/loretto/icons/sync_B48F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suplementos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1" name="Image 1" descr="/tmp/claude-0/-home-user-Presentaciones-y-varios/903c1196-30c4-57a8-b469-52313f1ce01c/scratchpad/loretto/icons/bag_B48F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Combos 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 completas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4" name="Image 2" descr="/tmp/claude-0/-home-user-Presentaciones-y-varios/903c1196-30c4-57a8-b469-52313f1ce01c/scratchpad/loretto/icons/heart_B48F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Reimpactar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anteriores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7" name="Image 3" descr="/tmp/claude-0/-home-user-Presentaciones-y-varios/903c1196-30c4-57a8-b469-52313f1ce01c/scratchpad/loretto/icons/building_B48F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 y Medellín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8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ASCENSIÓN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una compra a una rutina de bienestar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PRINCIPIO: LIFETIME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F6F4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compra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que llega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una campaña puntual</a:t>
            </a:r>
            <a:endParaRPr lang="en-US" sz="1150" dirty="0"/>
          </a:p>
        </p:txBody>
      </p:sp>
      <p:pic>
        <p:nvPicPr>
          <p:cNvPr id="8" name="Image 0" descr="/tmp/claude-0/-home-user-Presentaciones-y-varios/903c1196-30c4-57a8-b469-52313f1ce01c/scratchpad/loretto/icons/arrowRight_6E2E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338328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09360" y="2606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181321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834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Rutina recurrente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37960" y="3383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por recompra, prueba nuevos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combos y recomienda Loretto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0525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6F4F2"/>
          </a:solidFill>
          <a:ln/>
        </p:spPr>
      </p:sp>
      <p:sp>
        <p:nvSpPr>
          <p:cNvPr id="13" name="Shape 10"/>
          <p:cNvSpPr/>
          <p:nvPr/>
        </p:nvSpPr>
        <p:spPr>
          <a:xfrm>
            <a:off x="117957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tmp/claude-0/-home-user-Presentaciones-y-varios/903c1196-30c4-57a8-b469-52313f1ce01c/scratchpad/loretto/icons/sync_6E2E8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733" y="509663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6537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55701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EFE7F5"/>
          </a:solidFill>
          <a:ln/>
        </p:spPr>
      </p:sp>
      <p:sp>
        <p:nvSpPr>
          <p:cNvPr id="17" name="Shape 13"/>
          <p:cNvSpPr/>
          <p:nvPr/>
        </p:nvSpPr>
        <p:spPr>
          <a:xfrm>
            <a:off x="383133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tmp/claude-0/-home-user-Presentaciones-y-varios/903c1196-30c4-57a8-b469-52313f1ce01c/scratchpad/loretto/icons/bag_6E2E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493" y="5096637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1713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combo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rutina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0877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6F4F2"/>
          </a:solidFill>
          <a:ln/>
        </p:spPr>
      </p:sp>
      <p:sp>
        <p:nvSpPr>
          <p:cNvPr id="21" name="Shape 16"/>
          <p:cNvSpPr/>
          <p:nvPr/>
        </p:nvSpPr>
        <p:spPr>
          <a:xfrm>
            <a:off x="648309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tmp/claude-0/-home-user-Presentaciones-y-varios/903c1196-30c4-57a8-b469-52313f1ce01c/scratchpad/loretto/icons/thumbsup_6E2E8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253" y="509663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6889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 de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86053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EFE7F5"/>
          </a:solidFill>
          <a:ln/>
        </p:spPr>
      </p:sp>
      <p:sp>
        <p:nvSpPr>
          <p:cNvPr id="25" name="Shape 19"/>
          <p:cNvSpPr/>
          <p:nvPr/>
        </p:nvSpPr>
        <p:spPr>
          <a:xfrm>
            <a:off x="913485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tmp/claude-0/-home-user-Presentaciones-y-varios/903c1196-30c4-57a8-b469-52313f1ce01c/scratchpad/loretto/icons/building_6E2E8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013" y="509663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065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ciudades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CONSOLIDACIÓN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completo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etapa funciona sola. El valor está en la conexión.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25880" y="2606040"/>
            <a:ext cx="1234440" cy="1234440"/>
          </a:xfrm>
          <a:prstGeom prst="ellipse">
            <a:avLst/>
          </a:prstGeom>
          <a:solidFill>
            <a:srgbClr val="241C33"/>
          </a:solidFill>
          <a:ln w="19050">
            <a:solidFill>
              <a:srgbClr val="B48FD1"/>
            </a:solidFill>
            <a:prstDash val="solid"/>
          </a:ln>
        </p:spPr>
      </p:sp>
      <p:pic>
        <p:nvPicPr>
          <p:cNvPr id="6" name="Image 0" descr="/tmp/claude-0/-home-user-Presentaciones-y-varios/903c1196-30c4-57a8-b469-52313f1ce01c/scratchpad/loretto/icons/eye_B48F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9763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500" dirty="0"/>
          </a:p>
        </p:txBody>
      </p:sp>
      <p:pic>
        <p:nvPicPr>
          <p:cNvPr id="9" name="Image 1" descr="/tmp/claude-0/-home-user-Presentaciones-y-varios/903c1196-30c4-57a8-b469-52313f1ce01c/scratchpad/loretto/icons/arrowRight_B48F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3095244"/>
            <a:ext cx="246888" cy="2468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77640" y="2606040"/>
            <a:ext cx="1234440" cy="1234440"/>
          </a:xfrm>
          <a:prstGeom prst="ellipse">
            <a:avLst/>
          </a:prstGeom>
          <a:solidFill>
            <a:srgbClr val="241C33"/>
          </a:solidFill>
          <a:ln w="19050">
            <a:solidFill>
              <a:srgbClr val="B48FD1"/>
            </a:solidFill>
            <a:prstDash val="solid"/>
          </a:ln>
        </p:spPr>
      </p:sp>
      <p:pic>
        <p:nvPicPr>
          <p:cNvPr id="11" name="Image 2" descr="/tmp/claude-0/-home-user-Presentaciones-y-varios/903c1196-30c4-57a8-b469-52313f1ce01c/scratchpad/loretto/icons/star_B48F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972" y="2976372"/>
            <a:ext cx="493776" cy="493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00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42900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500" dirty="0"/>
          </a:p>
        </p:txBody>
      </p:sp>
      <p:pic>
        <p:nvPicPr>
          <p:cNvPr id="14" name="Image 3" descr="/tmp/claude-0/-home-user-Presentaciones-y-varios/903c1196-30c4-57a8-b469-52313f1ce01c/scratchpad/loretto/icons/arrowRight_B48F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095244"/>
            <a:ext cx="246888" cy="24688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629400" y="2606040"/>
            <a:ext cx="1234440" cy="1234440"/>
          </a:xfrm>
          <a:prstGeom prst="ellipse">
            <a:avLst/>
          </a:prstGeom>
          <a:solidFill>
            <a:srgbClr val="241C33"/>
          </a:solidFill>
          <a:ln w="19050">
            <a:solidFill>
              <a:srgbClr val="B48FD1"/>
            </a:solidFill>
            <a:prstDash val="solid"/>
          </a:ln>
        </p:spPr>
      </p:sp>
      <p:pic>
        <p:nvPicPr>
          <p:cNvPr id="16" name="Image 4" descr="/tmp/claude-0/-home-user-Presentaciones-y-varios/903c1196-30c4-57a8-b469-52313f1ce01c/scratchpad/loretto/icons/bag_B48F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732" y="2976372"/>
            <a:ext cx="493776" cy="4937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8076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608076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1500" dirty="0"/>
          </a:p>
        </p:txBody>
      </p:sp>
      <p:pic>
        <p:nvPicPr>
          <p:cNvPr id="19" name="Image 5" descr="/tmp/claude-0/-home-user-Presentaciones-y-varios/903c1196-30c4-57a8-b469-52313f1ce01c/scratchpad/loretto/icons/arrowRight_B48FD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3095244"/>
            <a:ext cx="246888" cy="24688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9281160" y="2606040"/>
            <a:ext cx="1234440" cy="1234440"/>
          </a:xfrm>
          <a:prstGeom prst="ellipse">
            <a:avLst/>
          </a:prstGeom>
          <a:solidFill>
            <a:srgbClr val="241C33"/>
          </a:solidFill>
          <a:ln w="19050">
            <a:solidFill>
              <a:srgbClr val="B48FD1"/>
            </a:solidFill>
            <a:prstDash val="solid"/>
          </a:ln>
        </p:spPr>
      </p:sp>
      <p:pic>
        <p:nvPicPr>
          <p:cNvPr id="21" name="Image 6" descr="/tmp/claude-0/-home-user-Presentaciones-y-varios/903c1196-30c4-57a8-b469-52313f1ce01c/scratchpad/loretto/icons/sync_B48FD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1492" y="2976372"/>
            <a:ext cx="493776" cy="49377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73252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873252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2103120" y="4800600"/>
            <a:ext cx="7955280" cy="868680"/>
          </a:xfrm>
          <a:prstGeom prst="roundRect">
            <a:avLst>
              <a:gd name="adj" fmla="val 10526"/>
            </a:avLst>
          </a:prstGeom>
          <a:solidFill>
            <a:srgbClr val="241C33"/>
          </a:solidFill>
          <a:ln/>
        </p:spPr>
      </p:sp>
      <p:sp>
        <p:nvSpPr>
          <p:cNvPr id="25" name="Shape 16"/>
          <p:cNvSpPr/>
          <p:nvPr/>
        </p:nvSpPr>
        <p:spPr>
          <a:xfrm>
            <a:off x="2377440" y="4960620"/>
            <a:ext cx="548640" cy="548640"/>
          </a:xfrm>
          <a:prstGeom prst="ellipse">
            <a:avLst/>
          </a:prstGeom>
          <a:solidFill>
            <a:srgbClr val="2F2440"/>
          </a:solidFill>
          <a:ln/>
        </p:spPr>
      </p:sp>
      <p:pic>
        <p:nvPicPr>
          <p:cNvPr id="26" name="Image 7" descr="/tmp/claude-0/-home-user-Presentaciones-y-varios/903c1196-30c4-57a8-b469-52313f1ce01c/scratchpad/loretto/icons/sync_B48FD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0884" y="5084064"/>
            <a:ext cx="301752" cy="30175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154680" y="480060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repite: quien vuelve a comprar entra de nuevo por evaluación en su próxima decisión.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8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RAZONAMIENTO ECONÓMICO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lógica de negocio detrás del 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6F4F2"/>
          </a:solidFill>
          <a:ln/>
        </p:spPr>
      </p:sp>
      <p:sp>
        <p:nvSpPr>
          <p:cNvPr id="5" name="Shape 3"/>
          <p:cNvSpPr/>
          <p:nvPr/>
        </p:nvSpPr>
        <p:spPr>
          <a:xfrm>
            <a:off x="203454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Presentaciones-y-varios/903c1196-30c4-57a8-b469-52313f1ce01c/scratchpad/loretto/icons/dollar_6E2E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2651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costo por cliente en el tiempo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4160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Reimpactar a quien ya conoce Loretto cuesta menos que conseguir a alguien nuevo.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6F4F2"/>
          </a:solidFill>
          <a:ln/>
        </p:spPr>
      </p:sp>
      <p:sp>
        <p:nvSpPr>
          <p:cNvPr id="10" name="Shape 7"/>
          <p:cNvSpPr/>
          <p:nvPr/>
        </p:nvSpPr>
        <p:spPr>
          <a:xfrm>
            <a:off x="587502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claude-0/-home-user-Presentaciones-y-varios/903c1196-30c4-57a8-b469-52313f1ce01c/scratchpad/loretto/icons/sync_6E2E8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651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frecuencia de recompra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800600" y="4160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suplementos se consumen y se acaban: cada reactivación suma una nueva compra.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6F4F2"/>
          </a:solidFill>
          <a:ln/>
        </p:spPr>
      </p:sp>
      <p:sp>
        <p:nvSpPr>
          <p:cNvPr id="15" name="Shape 11"/>
          <p:cNvSpPr/>
          <p:nvPr/>
        </p:nvSpPr>
        <p:spPr>
          <a:xfrm>
            <a:off x="971550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tmp/claude-0/-home-user-Presentaciones-y-varios/903c1196-30c4-57a8-b469-52313f1ce01c/scratchpad/loretto/icons/bag_6E2E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0" y="2651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ticket promedio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41080" y="4160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combos y rutinas completas se ofrecen a quien ya confía en la marca.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promete resultados garantizados. Reduce la dependencia de conseguir clientes nuevos cada vez y aumenta el valor de los que ya se ganaron.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DEL 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oportunidades que hoy Loretto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 dejando sobre la mesa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41C33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1929384"/>
            <a:ext cx="457200" cy="457200"/>
          </a:xfrm>
          <a:prstGeom prst="ellipse">
            <a:avLst/>
          </a:prstGeom>
          <a:solidFill>
            <a:srgbClr val="2F2440"/>
          </a:solidFill>
          <a:ln/>
        </p:spPr>
      </p:sp>
      <p:pic>
        <p:nvPicPr>
          <p:cNvPr id="6" name="Image 0" descr="/tmp/claude-0/-home-user-Presentaciones-y-varios/903c1196-30c4-57a8-b469-52313f1ce01c/scratchpad/loretto/icons/video_B48F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862" y="2032254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3794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remarketing sobre quienes interactúan con el contenido UGC, hoy sin ningún público personalizado en Meta.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41C33"/>
          </a:solidFill>
          <a:ln/>
        </p:spPr>
      </p:sp>
      <p:sp>
        <p:nvSpPr>
          <p:cNvPr id="9" name="Shape 6"/>
          <p:cNvSpPr/>
          <p:nvPr/>
        </p:nvSpPr>
        <p:spPr>
          <a:xfrm>
            <a:off x="6656832" y="1929384"/>
            <a:ext cx="457200" cy="457200"/>
          </a:xfrm>
          <a:prstGeom prst="ellipse">
            <a:avLst/>
          </a:prstGeom>
          <a:solidFill>
            <a:srgbClr val="2F2440"/>
          </a:solidFill>
          <a:ln/>
        </p:spPr>
      </p:sp>
      <p:pic>
        <p:nvPicPr>
          <p:cNvPr id="10" name="Image 1" descr="/tmp/claude-0/-home-user-Presentaciones-y-varios/903c1196-30c4-57a8-b469-52313f1ce01c/scratchpad/loretto/icons/handshake_B48F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702" y="2032254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3794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el testimonio real de un cliente mayorista en un creativo de autoridad para las campañas de evaluación.</a:t>
            </a:r>
            <a:endParaRPr lang="en-US" sz="1020" dirty="0"/>
          </a:p>
        </p:txBody>
      </p:sp>
      <p:sp>
        <p:nvSpPr>
          <p:cNvPr id="12" name="Shape 8"/>
          <p:cNvSpPr/>
          <p:nvPr/>
        </p:nvSpPr>
        <p:spPr>
          <a:xfrm>
            <a:off x="640080" y="2679192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41C33"/>
          </a:solidFill>
          <a:ln/>
        </p:spPr>
      </p:sp>
      <p:sp>
        <p:nvSpPr>
          <p:cNvPr id="13" name="Shape 9"/>
          <p:cNvSpPr/>
          <p:nvPr/>
        </p:nvSpPr>
        <p:spPr>
          <a:xfrm>
            <a:off x="1078992" y="2825496"/>
            <a:ext cx="457200" cy="457200"/>
          </a:xfrm>
          <a:prstGeom prst="ellipse">
            <a:avLst/>
          </a:prstGeom>
          <a:solidFill>
            <a:srgbClr val="2F2440"/>
          </a:solidFill>
          <a:ln/>
        </p:spPr>
      </p:sp>
      <p:pic>
        <p:nvPicPr>
          <p:cNvPr id="14" name="Image 2" descr="/tmp/claude-0/-home-user-Presentaciones-y-varios/903c1196-30c4-57a8-b469-52313f1ce01c/scratchpad/loretto/icons/bottle_B48F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862" y="2928366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27340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el Collagen Flex, el producto más visible de la marca, como ancla de las campañas de descubrimiento.</a:t>
            </a:r>
            <a:endParaRPr lang="en-US" sz="1020" dirty="0"/>
          </a:p>
        </p:txBody>
      </p:sp>
      <p:sp>
        <p:nvSpPr>
          <p:cNvPr id="16" name="Shape 11"/>
          <p:cNvSpPr/>
          <p:nvPr/>
        </p:nvSpPr>
        <p:spPr>
          <a:xfrm>
            <a:off x="6217920" y="2679192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41C33"/>
          </a:solidFill>
          <a:ln/>
        </p:spPr>
      </p:sp>
      <p:sp>
        <p:nvSpPr>
          <p:cNvPr id="17" name="Shape 12"/>
          <p:cNvSpPr/>
          <p:nvPr/>
        </p:nvSpPr>
        <p:spPr>
          <a:xfrm>
            <a:off x="6656832" y="2825496"/>
            <a:ext cx="457200" cy="457200"/>
          </a:xfrm>
          <a:prstGeom prst="ellipse">
            <a:avLst/>
          </a:prstGeom>
          <a:solidFill>
            <a:srgbClr val="2F2440"/>
          </a:solidFill>
          <a:ln/>
        </p:spPr>
      </p:sp>
      <p:pic>
        <p:nvPicPr>
          <p:cNvPr id="18" name="Image 3" descr="/tmp/claude-0/-home-user-Presentaciones-y-varios/903c1196-30c4-57a8-b469-52313f1ce01c/scratchpad/loretto/icons/truck_B48F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702" y="2928366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27340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el envío gratis desde $100.000, un beneficio real que hoy no aparece en ningún anuncio.</a:t>
            </a:r>
            <a:endParaRPr lang="en-US" sz="1020" dirty="0"/>
          </a:p>
        </p:txBody>
      </p:sp>
      <p:sp>
        <p:nvSpPr>
          <p:cNvPr id="20" name="Shape 14"/>
          <p:cNvSpPr/>
          <p:nvPr/>
        </p:nvSpPr>
        <p:spPr>
          <a:xfrm>
            <a:off x="640080" y="3575304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41C33"/>
          </a:solidFill>
          <a:ln/>
        </p:spPr>
      </p:sp>
      <p:sp>
        <p:nvSpPr>
          <p:cNvPr id="21" name="Shape 15"/>
          <p:cNvSpPr/>
          <p:nvPr/>
        </p:nvSpPr>
        <p:spPr>
          <a:xfrm>
            <a:off x="1078992" y="3721608"/>
            <a:ext cx="457200" cy="457200"/>
          </a:xfrm>
          <a:prstGeom prst="ellipse">
            <a:avLst/>
          </a:prstGeom>
          <a:solidFill>
            <a:srgbClr val="2F2440"/>
          </a:solidFill>
          <a:ln/>
        </p:spPr>
      </p:sp>
      <p:pic>
        <p:nvPicPr>
          <p:cNvPr id="22" name="Image 4" descr="/tmp/claude-0/-home-user-Presentaciones-y-varios/903c1196-30c4-57a8-b469-52313f1ce01c/scratchpad/loretto/icons/fruit_B48F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862" y="3824478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36301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a Loretto con los arándanos frescos, un producto que pocas marcas de suplementos ofrecen.</a:t>
            </a:r>
            <a:endParaRPr lang="en-US" sz="1020" dirty="0"/>
          </a:p>
        </p:txBody>
      </p:sp>
      <p:sp>
        <p:nvSpPr>
          <p:cNvPr id="24" name="Shape 17"/>
          <p:cNvSpPr/>
          <p:nvPr/>
        </p:nvSpPr>
        <p:spPr>
          <a:xfrm>
            <a:off x="6217920" y="3575304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41C33"/>
          </a:solidFill>
          <a:ln/>
        </p:spPr>
      </p:sp>
      <p:sp>
        <p:nvSpPr>
          <p:cNvPr id="25" name="Shape 18"/>
          <p:cNvSpPr/>
          <p:nvPr/>
        </p:nvSpPr>
        <p:spPr>
          <a:xfrm>
            <a:off x="6656832" y="3721608"/>
            <a:ext cx="457200" cy="457200"/>
          </a:xfrm>
          <a:prstGeom prst="ellipse">
            <a:avLst/>
          </a:prstGeom>
          <a:solidFill>
            <a:srgbClr val="2F2440"/>
          </a:solidFill>
          <a:ln/>
        </p:spPr>
      </p:sp>
      <p:pic>
        <p:nvPicPr>
          <p:cNvPr id="26" name="Image 5" descr="/tmp/claude-0/-home-user-Presentaciones-y-varios/903c1196-30c4-57a8-b469-52313f1ce01c/scratchpad/loretto/icons/chart_B48FD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702" y="3824478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36301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seguimiento de conversiones en la tienda para medir compras reales, no solo visitas.</a:t>
            </a:r>
            <a:endParaRPr lang="en-US" sz="1020" dirty="0"/>
          </a:p>
        </p:txBody>
      </p:sp>
      <p:sp>
        <p:nvSpPr>
          <p:cNvPr id="28" name="Shape 20"/>
          <p:cNvSpPr/>
          <p:nvPr/>
        </p:nvSpPr>
        <p:spPr>
          <a:xfrm>
            <a:off x="640080" y="4471416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41C33"/>
          </a:solidFill>
          <a:ln/>
        </p:spPr>
      </p:sp>
      <p:sp>
        <p:nvSpPr>
          <p:cNvPr id="29" name="Shape 21"/>
          <p:cNvSpPr/>
          <p:nvPr/>
        </p:nvSpPr>
        <p:spPr>
          <a:xfrm>
            <a:off x="1078992" y="4617720"/>
            <a:ext cx="457200" cy="457200"/>
          </a:xfrm>
          <a:prstGeom prst="ellipse">
            <a:avLst/>
          </a:prstGeom>
          <a:solidFill>
            <a:srgbClr val="2F2440"/>
          </a:solidFill>
          <a:ln/>
        </p:spPr>
      </p:sp>
      <p:pic>
        <p:nvPicPr>
          <p:cNvPr id="30" name="Image 6" descr="/tmp/claude-0/-home-user-Presentaciones-y-varios/903c1196-30c4-57a8-b469-52313f1ce01c/scratchpad/loretto/icons/building_B48FD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862" y="4720590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08760" y="4526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públicos personalizados en Cali y Medellín antes de invertir, usando el perfil validado en Bogotá.</a:t>
            </a:r>
            <a:endParaRPr lang="en-US" sz="1020" dirty="0"/>
          </a:p>
        </p:txBody>
      </p:sp>
      <p:sp>
        <p:nvSpPr>
          <p:cNvPr id="32" name="Shape 23"/>
          <p:cNvSpPr/>
          <p:nvPr/>
        </p:nvSpPr>
        <p:spPr>
          <a:xfrm>
            <a:off x="6217920" y="4471416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41C33"/>
          </a:solidFill>
          <a:ln/>
        </p:spPr>
      </p:sp>
      <p:sp>
        <p:nvSpPr>
          <p:cNvPr id="33" name="Shape 24"/>
          <p:cNvSpPr/>
          <p:nvPr/>
        </p:nvSpPr>
        <p:spPr>
          <a:xfrm>
            <a:off x="6656832" y="4617720"/>
            <a:ext cx="457200" cy="457200"/>
          </a:xfrm>
          <a:prstGeom prst="ellipse">
            <a:avLst/>
          </a:prstGeom>
          <a:solidFill>
            <a:srgbClr val="2F2440"/>
          </a:solidFill>
          <a:ln/>
        </p:spPr>
      </p:sp>
      <p:pic>
        <p:nvPicPr>
          <p:cNvPr id="34" name="Image 7" descr="/tmp/claude-0/-home-user-Presentaciones-y-varios/903c1196-30c4-57a8-b469-52313f1ce01c/scratchpad/loretto/icons/sync_B48FD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9702" y="4720590"/>
            <a:ext cx="251460" cy="2514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86600" y="4526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campañas de recompra dirigidas a clientes cuyo suplemento esté por terminarse.</a:t>
            </a:r>
            <a:endParaRPr lang="en-US" sz="1020" dirty="0"/>
          </a:p>
        </p:txBody>
      </p:sp>
      <p:sp>
        <p:nvSpPr>
          <p:cNvPr id="36" name="Shape 26"/>
          <p:cNvSpPr/>
          <p:nvPr/>
        </p:nvSpPr>
        <p:spPr>
          <a:xfrm>
            <a:off x="640080" y="5367528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41C33"/>
          </a:solidFill>
          <a:ln/>
        </p:spPr>
      </p:sp>
      <p:sp>
        <p:nvSpPr>
          <p:cNvPr id="37" name="Shape 27"/>
          <p:cNvSpPr/>
          <p:nvPr/>
        </p:nvSpPr>
        <p:spPr>
          <a:xfrm>
            <a:off x="1078992" y="5513832"/>
            <a:ext cx="457200" cy="457200"/>
          </a:xfrm>
          <a:prstGeom prst="ellipse">
            <a:avLst/>
          </a:prstGeom>
          <a:solidFill>
            <a:srgbClr val="2F2440"/>
          </a:solidFill>
          <a:ln/>
        </p:spPr>
      </p:sp>
      <p:pic>
        <p:nvPicPr>
          <p:cNvPr id="38" name="Image 8" descr="/tmp/claude-0/-home-user-Presentaciones-y-varios/903c1196-30c4-57a8-b469-52313f1ce01c/scratchpad/loretto/icons/bag_B48FD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1862" y="5616702"/>
            <a:ext cx="251460" cy="25146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508760" y="54223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los combos ya existentes en la oferta principal de la etapa de ascensión.</a:t>
            </a:r>
            <a:endParaRPr lang="en-US" sz="1020" dirty="0"/>
          </a:p>
        </p:txBody>
      </p:sp>
      <p:sp>
        <p:nvSpPr>
          <p:cNvPr id="40" name="Shape 29"/>
          <p:cNvSpPr/>
          <p:nvPr/>
        </p:nvSpPr>
        <p:spPr>
          <a:xfrm>
            <a:off x="6217920" y="5367528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41C33"/>
          </a:solidFill>
          <a:ln/>
        </p:spPr>
      </p:sp>
      <p:sp>
        <p:nvSpPr>
          <p:cNvPr id="41" name="Shape 30"/>
          <p:cNvSpPr/>
          <p:nvPr/>
        </p:nvSpPr>
        <p:spPr>
          <a:xfrm>
            <a:off x="6656832" y="5513832"/>
            <a:ext cx="457200" cy="457200"/>
          </a:xfrm>
          <a:prstGeom prst="ellipse">
            <a:avLst/>
          </a:prstGeom>
          <a:solidFill>
            <a:srgbClr val="2F2440"/>
          </a:solidFill>
          <a:ln/>
        </p:spPr>
      </p:sp>
      <p:pic>
        <p:nvPicPr>
          <p:cNvPr id="42" name="Image 9" descr="/tmp/claude-0/-home-user-Presentaciones-y-varios/903c1196-30c4-57a8-b469-52313f1ce01c/scratchpad/loretto/icons/shield_B48FD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9702" y="5616702"/>
            <a:ext cx="251460" cy="25146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086600" y="54223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la información de contacto de la tienda antes de escalar la inversión en pauta, para no perder la confianza que generan los anuncios.</a:t>
            </a:r>
            <a:endParaRPr lang="en-US" sz="1020" dirty="0"/>
          </a:p>
        </p:txBody>
      </p:sp>
      <p:sp>
        <p:nvSpPr>
          <p:cNvPr id="4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8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TRABAJO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primeros 3 meses: mes a 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posicionamos cada producto con el contenido UGC y la calidad de Loretto.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6F4F2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loretto/icons/bottle_6E2E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5831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83080" y="26791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Descubrimiento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Etapa: </a:t>
            </a:r>
            <a:pPr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0120" y="3611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protagonista: </a:t>
            </a:r>
            <a:pPr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Collagen Flex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60120" y="4023360"/>
            <a:ext cx="288036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416052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UGC mostrando el colágeno en la rutina diaria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960120" y="481888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reconocimiento dirigidas a Bogotá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960120" y="547725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público de remarketing desde quienes interactúan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4480560" y="21488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81321"/>
          </a:solidFill>
          <a:ln/>
        </p:spPr>
      </p:sp>
      <p:sp>
        <p:nvSpPr>
          <p:cNvPr id="17" name="Shape 14"/>
          <p:cNvSpPr/>
          <p:nvPr/>
        </p:nvSpPr>
        <p:spPr>
          <a:xfrm>
            <a:off x="4846320" y="2423160"/>
            <a:ext cx="640080" cy="640080"/>
          </a:xfrm>
          <a:prstGeom prst="ellipse">
            <a:avLst/>
          </a:prstGeom>
          <a:solidFill>
            <a:srgbClr val="241C33"/>
          </a:solidFill>
          <a:ln/>
        </p:spPr>
      </p:sp>
      <p:pic>
        <p:nvPicPr>
          <p:cNvPr id="18" name="Image 1" descr="/tmp/claude-0/-home-user-Presentaciones-y-varios/903c1196-30c4-57a8-b469-52313f1ce01c/scratchpad/loretto/icons/shield_B48F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58318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2356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623560" y="26791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Confianza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80060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Etapa: </a:t>
            </a:r>
            <a:pPr indent="0" marL="0">
              <a:buNone/>
            </a:pPr>
            <a:r>
              <a:rPr lang="en-US" sz="1050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+ arranque de Conversión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00600" y="3611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protagonista: </a:t>
            </a:r>
            <a:pPr indent="0" marL="0">
              <a:buNone/>
            </a:pPr>
            <a:r>
              <a:rPr lang="en-US" sz="1050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Magnesio y Detox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800600" y="4023360"/>
            <a:ext cx="2880360" cy="0"/>
          </a:xfrm>
          <a:prstGeom prst="line">
            <a:avLst/>
          </a:prstGeom>
          <a:noFill/>
          <a:ln w="12700">
            <a:solidFill>
              <a:srgbClr val="3A2E4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00600" y="416052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testimonio del cliente mayorista y reseñas reales como creativo</a:t>
            </a:r>
            <a:endParaRPr lang="en-US" sz="1030" dirty="0"/>
          </a:p>
        </p:txBody>
      </p:sp>
      <p:sp>
        <p:nvSpPr>
          <p:cNvPr id="25" name="Text 21"/>
          <p:cNvSpPr/>
          <p:nvPr/>
        </p:nvSpPr>
        <p:spPr>
          <a:xfrm>
            <a:off x="4800600" y="481888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campañas de conversión con el envío gratis como oferta</a:t>
            </a:r>
            <a:endParaRPr lang="en-US" sz="1030" dirty="0"/>
          </a:p>
        </p:txBody>
      </p:sp>
      <p:sp>
        <p:nvSpPr>
          <p:cNvPr id="26" name="Text 22"/>
          <p:cNvSpPr/>
          <p:nvPr/>
        </p:nvSpPr>
        <p:spPr>
          <a:xfrm>
            <a:off x="4800600" y="547725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conversiones activo en la tienda</a:t>
            </a:r>
            <a:endParaRPr lang="en-US" sz="1030" dirty="0"/>
          </a:p>
        </p:txBody>
      </p:sp>
      <p:sp>
        <p:nvSpPr>
          <p:cNvPr id="27" name="Shape 23"/>
          <p:cNvSpPr/>
          <p:nvPr/>
        </p:nvSpPr>
        <p:spPr>
          <a:xfrm>
            <a:off x="8321040" y="21488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6F4F2"/>
          </a:solidFill>
          <a:ln/>
        </p:spPr>
      </p:sp>
      <p:sp>
        <p:nvSpPr>
          <p:cNvPr id="28" name="Shape 24"/>
          <p:cNvSpPr/>
          <p:nvPr/>
        </p:nvSpPr>
        <p:spPr>
          <a:xfrm>
            <a:off x="868680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2" descr="/tmp/claude-0/-home-user-Presentaciones-y-varios/903c1196-30c4-57a8-b469-52313f1ce01c/scratchpad/loretto/icons/rocket_6E2E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820" y="2583180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46404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464040" y="26791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Consolidación</a:t>
            </a:r>
            <a:endParaRPr 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864108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Etapa: </a:t>
            </a:r>
            <a:pPr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escalada + arranque de Ascensión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641080" y="3611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protagonista: </a:t>
            </a:r>
            <a:pPr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Combos y rutina completa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641080" y="4023360"/>
            <a:ext cx="288036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641080" y="416052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escalan las campañas de conversión con mejor desempeño</a:t>
            </a:r>
            <a:endParaRPr lang="en-US" sz="1030" dirty="0"/>
          </a:p>
        </p:txBody>
      </p:sp>
      <p:sp>
        <p:nvSpPr>
          <p:cNvPr id="36" name="Text 31"/>
          <p:cNvSpPr/>
          <p:nvPr/>
        </p:nvSpPr>
        <p:spPr>
          <a:xfrm>
            <a:off x="8641080" y="481888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combos existentes como oferta principal para subir el ticket</a:t>
            </a:r>
            <a:endParaRPr lang="en-US" sz="1030" dirty="0"/>
          </a:p>
        </p:txBody>
      </p:sp>
      <p:sp>
        <p:nvSpPr>
          <p:cNvPr id="37" name="Text 32"/>
          <p:cNvSpPr/>
          <p:nvPr/>
        </p:nvSpPr>
        <p:spPr>
          <a:xfrm>
            <a:off x="8641080" y="547725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público de recompra para clientes ya adquiridos</a:t>
            </a:r>
            <a:endParaRPr lang="en-US" sz="1030" dirty="0"/>
          </a:p>
        </p:txBody>
      </p:sp>
      <p:sp>
        <p:nvSpPr>
          <p:cNvPr id="38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TRABAJO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semana a semana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ejecución detrás de cada 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233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6F4F2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2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1-2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cuenta, píxel y checkout de la tienda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2257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EFE7F5"/>
          </a:solidFill>
          <a:ln/>
        </p:spPr>
      </p:sp>
      <p:sp>
        <p:nvSpPr>
          <p:cNvPr id="9" name="Text 7"/>
          <p:cNvSpPr/>
          <p:nvPr/>
        </p:nvSpPr>
        <p:spPr>
          <a:xfrm>
            <a:off x="245973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2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3-4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8716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 campañas de Presentación — Collagen Flex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4281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6F4F2"/>
          </a:solidFill>
          <a:ln/>
        </p:spPr>
      </p:sp>
      <p:sp>
        <p:nvSpPr>
          <p:cNvPr id="12" name="Text 10"/>
          <p:cNvSpPr/>
          <p:nvPr/>
        </p:nvSpPr>
        <p:spPr>
          <a:xfrm>
            <a:off x="437997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2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5-6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0740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y prueba social — testimonio mayorista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EFE7F5"/>
          </a:solidFill>
          <a:ln/>
        </p:spPr>
      </p:sp>
      <p:sp>
        <p:nvSpPr>
          <p:cNvPr id="15" name="Text 13"/>
          <p:cNvSpPr/>
          <p:nvPr/>
        </p:nvSpPr>
        <p:spPr>
          <a:xfrm>
            <a:off x="630021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2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7-8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campañas de Conversión con envío gratis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8329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6F4F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045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2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9-10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4788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campañas ganadoras — combos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0353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6E2E8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069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11-12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16812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de Ascensión: primer público de recompra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del mes 3, el sistema completo está activo: descubrimiento, confianza, conversión y las primeras señales de recompra.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necesita para activar el sistema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líneas de inversión, independientes entre sí.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F6F4F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042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 DE GESTIÓN ESTRATÉGICA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 A 3 · PRECIO DE LANZAMIENTO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$950.000</a:t>
            </a:r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/mes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1005840" y="3840480"/>
            <a:ext cx="434340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050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MES 4 · TARIFA FULL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27939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$1.300.000</a:t>
            </a:r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/mes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005840" y="49194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estrategia, diseño de campañas, gestión y optimización continua de las 4 etapas del sistema.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011680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181321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3042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DE PAUTA EN META ADS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834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6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RECOMENDADO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108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$1.500.000</a:t>
            </a:r>
            <a:pPr indent="0" marL="0">
              <a:buNone/>
            </a:pPr>
            <a:r>
              <a:rPr lang="en-US" sz="1500" dirty="0">
                <a:solidFill>
                  <a:srgbClr val="C6B9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/mes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6537960" y="3840480"/>
            <a:ext cx="4343400" cy="0"/>
          </a:xfrm>
          <a:prstGeom prst="line">
            <a:avLst/>
          </a:prstGeom>
          <a:noFill/>
          <a:ln w="12700">
            <a:solidFill>
              <a:srgbClr val="37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97764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invierte 100% en la plataforma de Meta. Financia el alcance, la evaluación, la conversión y la reactivación de clientes en las 4 etapas del sistema.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honorarios cubren la estrategia y la ejecución; el presupuesto de pauta pertenece 100% a Loretto y se administra directamente dentro de la cuenta publicitaria.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más ventas por contactos.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 sistema de adquisición nacional.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B48FD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20" dirty="0"/>
          </a:p>
        </p:txBody>
      </p:sp>
      <p:sp>
        <p:nvSpPr>
          <p:cNvPr id="6" name="Text 4"/>
          <p:cNvSpPr/>
          <p:nvPr/>
        </p:nvSpPr>
        <p:spPr>
          <a:xfrm>
            <a:off x="77724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de cuenta y tienda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técnica de la configuración actual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3520440"/>
            <a:ext cx="548640" cy="548640"/>
          </a:xfrm>
          <a:prstGeom prst="ellipse">
            <a:avLst/>
          </a:prstGeom>
          <a:solidFill>
            <a:srgbClr val="B48FD1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20" dirty="0"/>
          </a:p>
        </p:txBody>
      </p:sp>
      <p:sp>
        <p:nvSpPr>
          <p:cNvPr id="10" name="Text 8"/>
          <p:cNvSpPr/>
          <p:nvPr/>
        </p:nvSpPr>
        <p:spPr>
          <a:xfrm>
            <a:off x="448056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las 4 campañas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Presentación, Evaluación, Conversión, Ascensión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3520440"/>
            <a:ext cx="548640" cy="548640"/>
          </a:xfrm>
          <a:prstGeom prst="ellipse">
            <a:avLst/>
          </a:prstGeom>
          <a:solidFill>
            <a:srgbClr val="B48FD1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20" dirty="0"/>
          </a:p>
        </p:txBody>
      </p:sp>
      <p:sp>
        <p:nvSpPr>
          <p:cNvPr id="14" name="Text 12"/>
          <p:cNvSpPr/>
          <p:nvPr/>
        </p:nvSpPr>
        <p:spPr>
          <a:xfrm>
            <a:off x="818388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Activación en Bogotá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388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base para expandir a Cali y Medellín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8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2026-08-06T01:01:13Z</dcterms:created>
  <dcterms:modified xsi:type="dcterms:W3CDTF">2026-08-06T01:01:14Z</dcterms:modified>
</cp:coreProperties>
</file>