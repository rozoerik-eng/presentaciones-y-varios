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es un reporte de resultados de Meta Ads ni una propuesta comercial de agencia. Es un plan estratégico: por qué y cómo reorientamos la cuenta hacia un sistema de adquisición B2B, con prioridad HORECA.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ya demostró que puede generar conversaciones baratas. Evaluación fue la campaña más eficiente ($1.082). Presentación-2 muestra fatiga creativa clara: frecuencia 4,78 sobre 19.898 personas de alcance. Ascensión nunca llegó a consumir presupuesto. No existe histórico relevante de tráfico web ni Pixel maduro. En B2C hubo creativos ganadores de yogurt griego (~$875–$1.048 por conversación) pero hoy están pausados.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conclusión NO es 'Meta funciona bien'. Meta demostró capacidad de generar conversaciones a bajo costo, pero la cuenta está optimizada hacia una acción de bajo valor comercial: iniciar una conversación. De 1.668 conversaciones, solo 86 quedaron como lead. El problema no se resuelve buscando conversaciones aún más baratas — se resuelve mejorando la calidad, calificación y transformación comercial de los contactos.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cuenta será reorientada progresivamente hacia un sistema de adquisición B2B HORECA. El objetivo: convertir Meta Ads en un canal capaz de generar demanda, captar interés, calificar empresas, generar oportunidades y alimentar al equipo comercial hacia clientes recurrentes. Prioridad inicial: HORECA. El segmento corporativo queda como segunda etapa. Importante: no presentar esto como abandono del B2C.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razones: (1) necesidad recurrente de abastecimiento; (2) resolvemos problemas operativos reales — nómina, rotación, tiempos, estandarización, picos de demanda; (3) Meta permite trabajar señales y clusters (administradores de páginas, gastronomía, hotelería, catering), pero no afirmamos identificar perfectamente al 'dueño de restaurante'; (4) potencial de recompra: cuenta HORECA → pedido → recompra → relación comercial recurrente.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producto debe aparecer como la solución al problema, no como el punto de partida del mensaje. Este cambio de comunicación es central para todo el sistema B2B.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bloques con problemas reales y un ángulo creativo cada uno. Estas frases son conceptos estratégicos de comunicación, no promesas garantizadas de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INVIMA, BPM, cadena de frío y estándares de calidad no se usan como adornos institucionales: funcionan como requisitos y argumentos de confianza dentro del proceso de decisión B2B. Primero se plantea el problema y la necesidad; la solución, capacidad y respaldo llegan después, como argumento de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uno de los diagramas centrales de la presentación. Meta Ads genera demanda (Presentación), la persona reconoce un problema (Interés), solicitamos información del negocio (Formulario), identificamos potencial comercial (Calificación), iniciamos conversación con contexto (WhatsApp/asesor), entendemos necesidades y volumen (Diagnóstico), avanzamos a cotización o prueba (Propuesta), se concreta el cliente HORECA, y el objetivo final es la recompra.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(70% del presupuesto): generar demanda con reels, video, contenido educativo, demostraciones. Evaluación (30%): retargeting sobre interacción, video, formularios iniciados/abandonados, visitantes B2B. Conversión: no se crea aún una campaña de conversiones web porque no hay histórico suficiente de eventos para alimentar el aprendizaje; el camino es formulario → WhatsApp → asesor. Ascensión: apagada hasta tener suficiente base de clientes, recompra y producto complementario para upselling.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Estructura simple de dos campañas activas. El resto permanece apagado hasta tener datos suficientes: Ascensión, campañas corporativas independientes, y cualquier optimización agresiva hacia conversiones web (no hay histórico de Pixel maduro).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formulario reemplaza parcialmente 'escríbenos por WhatsApp' por 'cuéntanos sobre tu negocio'. Los rangos de volumen y las opciones no son definitivos — se validan con la empresa antes de publicarse.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cambio más importante de la nueva estrategia. Antes medíamos hasta costo por conversación. Después medimos todo el recorrido hasta la recompra. El éxito no es el volumen de conversaciones: es la calidad de las oportunidades comerciales HORECA generadas.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estados permiten conectar el rendimiento de marketing con ventas reales: cuántos leads llegan a cotización, cuántos se ganan, cuántos generan recompra. Sin este sistema, Meta puede generar leads que se pierden sin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Ambos canales deben funcionar dentro del mismo sistema de adquisición: Google captura demanda existente, Meta genera demanda nueva. El modelo de atribución de último clic puede distorsionar la lectura de eficiencia entre ambos.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etapas sobre ~90 días: Preparación (validar cliente ideal, oferta, ticket, margen, formulario, medición), Lanzamiento (campañas, creativos, WhatsApp, seguimiento), Aprendizaje (análisis por vertical, creativo, audiencia, geografía, calidad), Optimización (redistribución de presupuesto y escalamiento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inventa ninguna cifra de rentabilidad. Esta información permitirá definir, en una siguiente etapa, el CPL objetivo, el CPQL objetivo, el CAC máximo y el presupuesto escalable — no se establecen esos números en esta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contundente: la transformación estratégica es pasar de Meta Ads como canal de conversaciones a Meta Ads como sistema de adquisición B2B. Esta es la idea que debe quedar resonando con la dirección.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2.png"/><Relationship Id="rId7" Type="http://schemas.openxmlformats.org/officeDocument/2006/relationships/image" Target="../media/image-9-7.png"/><Relationship Id="rId8" Type="http://schemas.openxmlformats.org/officeDocument/2006/relationships/image" Target="../media/image-9-2.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2.png"/><Relationship Id="rId12" Type="http://schemas.openxmlformats.org/officeDocument/2006/relationships/image" Target="../media/image-9-12.png"/><Relationship Id="rId13" Type="http://schemas.openxmlformats.org/officeDocument/2006/relationships/image" Target="../media/image-9-2.png"/><Relationship Id="rId14" Type="http://schemas.openxmlformats.org/officeDocument/2006/relationships/image" Target="../media/image-9-14.png"/><Relationship Id="rId15" Type="http://schemas.openxmlformats.org/officeDocument/2006/relationships/image" Target="../media/image-9-2.png"/><Relationship Id="rId16" Type="http://schemas.openxmlformats.org/officeDocument/2006/relationships/image" Target="../media/image-9-16.png"/><Relationship Id="rId17" Type="http://schemas.openxmlformats.org/officeDocument/2006/relationships/image" Target="../media/image-9-2.png"/><Relationship Id="rId18" Type="http://schemas.openxmlformats.org/officeDocument/2006/relationships/image" Target="../media/image-9-18.png"/><Relationship Id="rId19" Type="http://schemas.openxmlformats.org/officeDocument/2006/relationships/image" Target="../media/image-9-18.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1.png"/><Relationship Id="rId7" Type="http://schemas.openxmlformats.org/officeDocument/2006/relationships/image" Target="../media/image-13-1.png"/><Relationship Id="rId8" Type="http://schemas.openxmlformats.org/officeDocument/2006/relationships/image" Target="../media/image-13-1.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image" Target="../media/image-17-1.png"/><Relationship Id="rId7" Type="http://schemas.openxmlformats.org/officeDocument/2006/relationships/image" Target="../media/image-17-1.png"/><Relationship Id="rId8" Type="http://schemas.openxmlformats.org/officeDocument/2006/relationships/image" Target="../media/image-17-1.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286000"/>
            <a:ext cx="10058400" cy="365760"/>
          </a:xfrm>
          <a:prstGeom prst="rect">
            <a:avLst/>
          </a:prstGeom>
          <a:noFill/>
          <a:ln/>
        </p:spPr>
        <p:txBody>
          <a:bodyPr wrap="square" lIns="0" tIns="0" rIns="0" bIns="0" rtlCol="0" anchor="ctr"/>
          <a:lstStyle/>
          <a:p>
            <a:pPr indent="0" marL="0">
              <a:buNone/>
            </a:pPr>
            <a:r>
              <a:rPr lang="en-US" sz="1400" b="1" spc="250" kern="0" dirty="0">
                <a:solidFill>
                  <a:srgbClr val="1F4D3A"/>
                </a:solidFill>
                <a:latin typeface="Calibri" pitchFamily="34" charset="0"/>
                <a:ea typeface="Calibri" pitchFamily="34" charset="-122"/>
                <a:cs typeface="Calibri" pitchFamily="34" charset="-120"/>
              </a:rPr>
              <a:t>PLAN ESTRATÉGICO DE REORIENTACIÓN B2B</a:t>
            </a:r>
            <a:endParaRPr lang="en-US" sz="1400" dirty="0"/>
          </a:p>
        </p:txBody>
      </p:sp>
      <p:sp>
        <p:nvSpPr>
          <p:cNvPr id="3" name="Text 1"/>
          <p:cNvSpPr/>
          <p:nvPr/>
        </p:nvSpPr>
        <p:spPr>
          <a:xfrm>
            <a:off x="822960" y="2743200"/>
            <a:ext cx="10058400" cy="1005840"/>
          </a:xfrm>
          <a:prstGeom prst="rect">
            <a:avLst/>
          </a:prstGeom>
          <a:noFill/>
          <a:ln/>
        </p:spPr>
        <p:txBody>
          <a:bodyPr wrap="square" lIns="0" tIns="0" rIns="0" bIns="0" rtlCol="0" anchor="ctr"/>
          <a:lstStyle/>
          <a:p>
            <a:pPr indent="0" marL="0">
              <a:buNone/>
            </a:pPr>
            <a:r>
              <a:rPr lang="en-US" sz="5000" b="1" dirty="0">
                <a:solidFill>
                  <a:srgbClr val="1A1A1A"/>
                </a:solidFill>
                <a:latin typeface="Cambria" pitchFamily="34" charset="0"/>
                <a:ea typeface="Cambria" pitchFamily="34" charset="-122"/>
                <a:cs typeface="Cambria" pitchFamily="34" charset="-120"/>
              </a:rPr>
              <a:t>Entrega del Chef</a:t>
            </a:r>
            <a:endParaRPr lang="en-US" sz="5000" dirty="0"/>
          </a:p>
        </p:txBody>
      </p:sp>
      <p:sp>
        <p:nvSpPr>
          <p:cNvPr id="4" name="Shape 2"/>
          <p:cNvSpPr/>
          <p:nvPr/>
        </p:nvSpPr>
        <p:spPr>
          <a:xfrm>
            <a:off x="822960" y="3794760"/>
            <a:ext cx="4114800" cy="0"/>
          </a:xfrm>
          <a:prstGeom prst="line">
            <a:avLst/>
          </a:prstGeom>
          <a:noFill/>
          <a:ln w="12700">
            <a:solidFill>
              <a:srgbClr val="E4E2DD"/>
            </a:solidFill>
            <a:prstDash val="solid"/>
          </a:ln>
        </p:spPr>
      </p:sp>
      <p:sp>
        <p:nvSpPr>
          <p:cNvPr id="5" name="Text 3"/>
          <p:cNvSpPr/>
          <p:nvPr/>
        </p:nvSpPr>
        <p:spPr>
          <a:xfrm>
            <a:off x="822960" y="3977640"/>
            <a:ext cx="9601200" cy="640080"/>
          </a:xfrm>
          <a:prstGeom prst="rect">
            <a:avLst/>
          </a:prstGeom>
          <a:noFill/>
          <a:ln/>
        </p:spPr>
        <p:txBody>
          <a:bodyPr wrap="square" lIns="0" tIns="0" rIns="0" bIns="0" rtlCol="0" anchor="ctr"/>
          <a:lstStyle/>
          <a:p>
            <a:pPr indent="0" marL="0">
              <a:buNone/>
            </a:pPr>
            <a:r>
              <a:rPr lang="en-US" sz="1800" i="1" dirty="0">
                <a:solidFill>
                  <a:srgbClr val="6B6B66"/>
                </a:solidFill>
                <a:latin typeface="Calibri" pitchFamily="34" charset="0"/>
                <a:ea typeface="Calibri" pitchFamily="34" charset="-122"/>
                <a:cs typeface="Calibri" pitchFamily="34" charset="-120"/>
              </a:rPr>
              <a:t>De canal de conversaciones a sistema de adquisición B2B HORECA</a:t>
            </a:r>
            <a:endParaRPr lang="en-US" sz="1800" dirty="0"/>
          </a:p>
        </p:txBody>
      </p:sp>
      <p:sp>
        <p:nvSpPr>
          <p:cNvPr id="6" name="Text 4"/>
          <p:cNvSpPr/>
          <p:nvPr/>
        </p:nvSpPr>
        <p:spPr>
          <a:xfrm>
            <a:off x="822960" y="6126480"/>
            <a:ext cx="7315200" cy="36576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Presentado al equipo directivo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DATOS</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Lo que muestran los últimos 90 días</a:t>
            </a:r>
            <a:endParaRPr lang="en-US" sz="3000" dirty="0"/>
          </a:p>
        </p:txBody>
      </p:sp>
      <p:sp>
        <p:nvSpPr>
          <p:cNvPr id="4" name="Text 2"/>
          <p:cNvSpPr/>
          <p:nvPr/>
        </p:nvSpPr>
        <p:spPr>
          <a:xfrm>
            <a:off x="822960" y="2148840"/>
            <a:ext cx="2514600" cy="685800"/>
          </a:xfrm>
          <a:prstGeom prst="rect">
            <a:avLst/>
          </a:prstGeom>
          <a:noFill/>
          <a:ln/>
        </p:spPr>
        <p:txBody>
          <a:bodyPr wrap="square" lIns="0" tIns="0" rIns="0" bIns="0" rtlCol="0" anchor="ctr"/>
          <a:lstStyle/>
          <a:p>
            <a:pPr indent="0" marL="0">
              <a:buNone/>
            </a:pPr>
            <a:r>
              <a:rPr lang="en-US" sz="3000" b="1" dirty="0">
                <a:solidFill>
                  <a:srgbClr val="1F4D3A"/>
                </a:solidFill>
                <a:latin typeface="Cambria" pitchFamily="34" charset="0"/>
                <a:ea typeface="Cambria" pitchFamily="34" charset="-122"/>
                <a:cs typeface="Cambria" pitchFamily="34" charset="-120"/>
              </a:rPr>
              <a:t>$3.108.962</a:t>
            </a:r>
            <a:endParaRPr lang="en-US" sz="3000" dirty="0"/>
          </a:p>
        </p:txBody>
      </p:sp>
      <p:sp>
        <p:nvSpPr>
          <p:cNvPr id="5" name="Text 3"/>
          <p:cNvSpPr/>
          <p:nvPr/>
        </p:nvSpPr>
        <p:spPr>
          <a:xfrm>
            <a:off x="822960" y="2880360"/>
            <a:ext cx="2514600" cy="6400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Inversión total</a:t>
            </a:r>
            <a:endParaRPr lang="en-US" sz="1150" dirty="0"/>
          </a:p>
        </p:txBody>
      </p:sp>
      <p:sp>
        <p:nvSpPr>
          <p:cNvPr id="6" name="Text 4"/>
          <p:cNvSpPr/>
          <p:nvPr/>
        </p:nvSpPr>
        <p:spPr>
          <a:xfrm>
            <a:off x="3520440" y="2148840"/>
            <a:ext cx="2514600" cy="685800"/>
          </a:xfrm>
          <a:prstGeom prst="rect">
            <a:avLst/>
          </a:prstGeom>
          <a:noFill/>
          <a:ln/>
        </p:spPr>
        <p:txBody>
          <a:bodyPr wrap="square" lIns="0" tIns="0" rIns="0" bIns="0" rtlCol="0" anchor="ctr"/>
          <a:lstStyle/>
          <a:p>
            <a:pPr indent="0" marL="0">
              <a:buNone/>
            </a:pPr>
            <a:r>
              <a:rPr lang="en-US" sz="3000" b="1" dirty="0">
                <a:solidFill>
                  <a:srgbClr val="1F4D3A"/>
                </a:solidFill>
                <a:latin typeface="Cambria" pitchFamily="34" charset="0"/>
                <a:ea typeface="Cambria" pitchFamily="34" charset="-122"/>
                <a:cs typeface="Cambria" pitchFamily="34" charset="-120"/>
              </a:rPr>
              <a:t>1.668</a:t>
            </a:r>
            <a:endParaRPr lang="en-US" sz="3000" dirty="0"/>
          </a:p>
        </p:txBody>
      </p:sp>
      <p:sp>
        <p:nvSpPr>
          <p:cNvPr id="7" name="Text 5"/>
          <p:cNvSpPr/>
          <p:nvPr/>
        </p:nvSpPr>
        <p:spPr>
          <a:xfrm>
            <a:off x="3520440" y="2880360"/>
            <a:ext cx="2514600" cy="6400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Conversaciones de WhatsApp</a:t>
            </a:r>
            <a:endParaRPr lang="en-US" sz="1150" dirty="0"/>
          </a:p>
        </p:txBody>
      </p:sp>
      <p:sp>
        <p:nvSpPr>
          <p:cNvPr id="8" name="Text 6"/>
          <p:cNvSpPr/>
          <p:nvPr/>
        </p:nvSpPr>
        <p:spPr>
          <a:xfrm>
            <a:off x="6217920" y="2148840"/>
            <a:ext cx="2514600" cy="685800"/>
          </a:xfrm>
          <a:prstGeom prst="rect">
            <a:avLst/>
          </a:prstGeom>
          <a:noFill/>
          <a:ln/>
        </p:spPr>
        <p:txBody>
          <a:bodyPr wrap="square" lIns="0" tIns="0" rIns="0" bIns="0" rtlCol="0" anchor="ctr"/>
          <a:lstStyle/>
          <a:p>
            <a:pPr indent="0" marL="0">
              <a:buNone/>
            </a:pPr>
            <a:r>
              <a:rPr lang="en-US" sz="3000" b="1" dirty="0">
                <a:solidFill>
                  <a:srgbClr val="1F4D3A"/>
                </a:solidFill>
                <a:latin typeface="Cambria" pitchFamily="34" charset="0"/>
                <a:ea typeface="Cambria" pitchFamily="34" charset="-122"/>
                <a:cs typeface="Cambria" pitchFamily="34" charset="-120"/>
              </a:rPr>
              <a:t>$1.864</a:t>
            </a:r>
            <a:endParaRPr lang="en-US" sz="3000" dirty="0"/>
          </a:p>
        </p:txBody>
      </p:sp>
      <p:sp>
        <p:nvSpPr>
          <p:cNvPr id="9" name="Text 7"/>
          <p:cNvSpPr/>
          <p:nvPr/>
        </p:nvSpPr>
        <p:spPr>
          <a:xfrm>
            <a:off x="6217920" y="2880360"/>
            <a:ext cx="2514600" cy="6400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Costo promedio por conversación</a:t>
            </a:r>
            <a:endParaRPr lang="en-US" sz="1150" dirty="0"/>
          </a:p>
        </p:txBody>
      </p:sp>
      <p:sp>
        <p:nvSpPr>
          <p:cNvPr id="10" name="Text 8"/>
          <p:cNvSpPr/>
          <p:nvPr/>
        </p:nvSpPr>
        <p:spPr>
          <a:xfrm>
            <a:off x="8915400" y="2148840"/>
            <a:ext cx="2514600" cy="685800"/>
          </a:xfrm>
          <a:prstGeom prst="rect">
            <a:avLst/>
          </a:prstGeom>
          <a:noFill/>
          <a:ln/>
        </p:spPr>
        <p:txBody>
          <a:bodyPr wrap="square" lIns="0" tIns="0" rIns="0" bIns="0" rtlCol="0" anchor="ctr"/>
          <a:lstStyle/>
          <a:p>
            <a:pPr indent="0" marL="0">
              <a:buNone/>
            </a:pPr>
            <a:r>
              <a:rPr lang="en-US" sz="3000" b="1" dirty="0">
                <a:solidFill>
                  <a:srgbClr val="1F4D3A"/>
                </a:solidFill>
                <a:latin typeface="Cambria" pitchFamily="34" charset="0"/>
                <a:ea typeface="Cambria" pitchFamily="34" charset="-122"/>
                <a:cs typeface="Cambria" pitchFamily="34" charset="-120"/>
              </a:rPr>
              <a:t>5,2%</a:t>
            </a:r>
            <a:endParaRPr lang="en-US" sz="3000" dirty="0"/>
          </a:p>
        </p:txBody>
      </p:sp>
      <p:sp>
        <p:nvSpPr>
          <p:cNvPr id="11" name="Text 9"/>
          <p:cNvSpPr/>
          <p:nvPr/>
        </p:nvSpPr>
        <p:spPr>
          <a:xfrm>
            <a:off x="8915400" y="2880360"/>
            <a:ext cx="2514600" cy="6400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Tasa conversación → lead (86 leads)</a:t>
            </a:r>
            <a:endParaRPr lang="en-US" sz="1150" dirty="0"/>
          </a:p>
        </p:txBody>
      </p:sp>
      <p:sp>
        <p:nvSpPr>
          <p:cNvPr id="12" name="Shape 10"/>
          <p:cNvSpPr/>
          <p:nvPr/>
        </p:nvSpPr>
        <p:spPr>
          <a:xfrm>
            <a:off x="822960" y="3703320"/>
            <a:ext cx="10515600" cy="0"/>
          </a:xfrm>
          <a:prstGeom prst="line">
            <a:avLst/>
          </a:prstGeom>
          <a:noFill/>
          <a:ln w="12700">
            <a:solidFill>
              <a:srgbClr val="E4E2DD"/>
            </a:solidFill>
            <a:prstDash val="solid"/>
          </a:ln>
        </p:spPr>
      </p:sp>
      <p:sp>
        <p:nvSpPr>
          <p:cNvPr id="13" name="Text 11"/>
          <p:cNvSpPr/>
          <p:nvPr/>
        </p:nvSpPr>
        <p:spPr>
          <a:xfrm>
            <a:off x="822960" y="4023360"/>
            <a:ext cx="3429000" cy="274320"/>
          </a:xfrm>
          <a:prstGeom prst="rect">
            <a:avLst/>
          </a:prstGeom>
          <a:noFill/>
          <a:ln/>
        </p:spPr>
        <p:txBody>
          <a:bodyPr wrap="square" lIns="0" tIns="0" rIns="0" bIns="0" rtlCol="0" anchor="ctr"/>
          <a:lstStyle/>
          <a:p>
            <a:pPr indent="0" marL="0">
              <a:buNone/>
            </a:pPr>
            <a:r>
              <a:rPr lang="en-US" sz="1150" b="1" spc="50" kern="0" dirty="0">
                <a:solidFill>
                  <a:srgbClr val="1A1A1A"/>
                </a:solidFill>
                <a:latin typeface="Calibri" pitchFamily="34" charset="0"/>
                <a:ea typeface="Calibri" pitchFamily="34" charset="-122"/>
                <a:cs typeface="Calibri" pitchFamily="34" charset="-120"/>
              </a:rPr>
              <a:t>EVALUACIÓN</a:t>
            </a:r>
            <a:endParaRPr lang="en-US" sz="1150" dirty="0"/>
          </a:p>
        </p:txBody>
      </p:sp>
      <p:sp>
        <p:nvSpPr>
          <p:cNvPr id="14" name="Text 12"/>
          <p:cNvSpPr/>
          <p:nvPr/>
        </p:nvSpPr>
        <p:spPr>
          <a:xfrm>
            <a:off x="822960" y="4343400"/>
            <a:ext cx="3429000" cy="365760"/>
          </a:xfrm>
          <a:prstGeom prst="rect">
            <a:avLst/>
          </a:prstGeom>
          <a:noFill/>
          <a:ln/>
        </p:spPr>
        <p:txBody>
          <a:bodyPr wrap="square" lIns="0" tIns="0" rIns="0" bIns="0" rtlCol="0" anchor="ctr"/>
          <a:lstStyle/>
          <a:p>
            <a:pPr indent="0" marL="0">
              <a:buNone/>
            </a:pPr>
            <a:r>
              <a:rPr lang="en-US" sz="1600" b="1" dirty="0">
                <a:solidFill>
                  <a:srgbClr val="1F4D3A"/>
                </a:solidFill>
                <a:latin typeface="Calibri" pitchFamily="34" charset="0"/>
                <a:ea typeface="Calibri" pitchFamily="34" charset="-122"/>
                <a:cs typeface="Calibri" pitchFamily="34" charset="-120"/>
              </a:rPr>
              <a:t>$1.082 / conversación</a:t>
            </a:r>
            <a:endParaRPr lang="en-US" sz="1600" dirty="0"/>
          </a:p>
        </p:txBody>
      </p:sp>
      <p:sp>
        <p:nvSpPr>
          <p:cNvPr id="15" name="Text 13"/>
          <p:cNvSpPr/>
          <p:nvPr/>
        </p:nvSpPr>
        <p:spPr>
          <a:xfrm>
            <a:off x="822960" y="4754880"/>
            <a:ext cx="3429000" cy="45720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La más eficiente de la cuenta</a:t>
            </a:r>
            <a:endParaRPr lang="en-US" sz="1150" dirty="0"/>
          </a:p>
        </p:txBody>
      </p:sp>
      <p:sp>
        <p:nvSpPr>
          <p:cNvPr id="16" name="Text 14"/>
          <p:cNvSpPr/>
          <p:nvPr/>
        </p:nvSpPr>
        <p:spPr>
          <a:xfrm>
            <a:off x="4389120" y="4023360"/>
            <a:ext cx="3429000" cy="274320"/>
          </a:xfrm>
          <a:prstGeom prst="rect">
            <a:avLst/>
          </a:prstGeom>
          <a:noFill/>
          <a:ln/>
        </p:spPr>
        <p:txBody>
          <a:bodyPr wrap="square" lIns="0" tIns="0" rIns="0" bIns="0" rtlCol="0" anchor="ctr"/>
          <a:lstStyle/>
          <a:p>
            <a:pPr indent="0" marL="0">
              <a:buNone/>
            </a:pPr>
            <a:r>
              <a:rPr lang="en-US" sz="1150" b="1" spc="50" kern="0" dirty="0">
                <a:solidFill>
                  <a:srgbClr val="1A1A1A"/>
                </a:solidFill>
                <a:latin typeface="Calibri" pitchFamily="34" charset="0"/>
                <a:ea typeface="Calibri" pitchFamily="34" charset="-122"/>
                <a:cs typeface="Calibri" pitchFamily="34" charset="-120"/>
              </a:rPr>
              <a:t>PRESENTACIÓN-2</a:t>
            </a:r>
            <a:endParaRPr lang="en-US" sz="1150" dirty="0"/>
          </a:p>
        </p:txBody>
      </p:sp>
      <p:sp>
        <p:nvSpPr>
          <p:cNvPr id="17" name="Text 15"/>
          <p:cNvSpPr/>
          <p:nvPr/>
        </p:nvSpPr>
        <p:spPr>
          <a:xfrm>
            <a:off x="4389120" y="4343400"/>
            <a:ext cx="3429000" cy="365760"/>
          </a:xfrm>
          <a:prstGeom prst="rect">
            <a:avLst/>
          </a:prstGeom>
          <a:noFill/>
          <a:ln/>
        </p:spPr>
        <p:txBody>
          <a:bodyPr wrap="square" lIns="0" tIns="0" rIns="0" bIns="0" rtlCol="0" anchor="ctr"/>
          <a:lstStyle/>
          <a:p>
            <a:pPr indent="0" marL="0">
              <a:buNone/>
            </a:pPr>
            <a:r>
              <a:rPr lang="en-US" sz="1600" b="1" dirty="0">
                <a:solidFill>
                  <a:srgbClr val="1F4D3A"/>
                </a:solidFill>
                <a:latin typeface="Calibri" pitchFamily="34" charset="0"/>
                <a:ea typeface="Calibri" pitchFamily="34" charset="-122"/>
                <a:cs typeface="Calibri" pitchFamily="34" charset="-120"/>
              </a:rPr>
              <a:t>$2.446 / conversación</a:t>
            </a:r>
            <a:endParaRPr lang="en-US" sz="1600" dirty="0"/>
          </a:p>
        </p:txBody>
      </p:sp>
      <p:sp>
        <p:nvSpPr>
          <p:cNvPr id="18" name="Text 16"/>
          <p:cNvSpPr/>
          <p:nvPr/>
        </p:nvSpPr>
        <p:spPr>
          <a:xfrm>
            <a:off x="4389120" y="4754880"/>
            <a:ext cx="3429000" cy="45720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Fatiga creativa — frecuencia 4,78</a:t>
            </a:r>
            <a:endParaRPr lang="en-US" sz="1150" dirty="0"/>
          </a:p>
        </p:txBody>
      </p:sp>
      <p:sp>
        <p:nvSpPr>
          <p:cNvPr id="19" name="Text 17"/>
          <p:cNvSpPr/>
          <p:nvPr/>
        </p:nvSpPr>
        <p:spPr>
          <a:xfrm>
            <a:off x="7955280" y="4023360"/>
            <a:ext cx="3429000" cy="274320"/>
          </a:xfrm>
          <a:prstGeom prst="rect">
            <a:avLst/>
          </a:prstGeom>
          <a:noFill/>
          <a:ln/>
        </p:spPr>
        <p:txBody>
          <a:bodyPr wrap="square" lIns="0" tIns="0" rIns="0" bIns="0" rtlCol="0" anchor="ctr"/>
          <a:lstStyle/>
          <a:p>
            <a:pPr indent="0" marL="0">
              <a:buNone/>
            </a:pPr>
            <a:r>
              <a:rPr lang="en-US" sz="1150" b="1" spc="50" kern="0" dirty="0">
                <a:solidFill>
                  <a:srgbClr val="1A1A1A"/>
                </a:solidFill>
                <a:latin typeface="Calibri" pitchFamily="34" charset="0"/>
                <a:ea typeface="Calibri" pitchFamily="34" charset="-122"/>
                <a:cs typeface="Calibri" pitchFamily="34" charset="-120"/>
              </a:rPr>
              <a:t>ASCENSIÓN</a:t>
            </a:r>
            <a:endParaRPr lang="en-US" sz="1150" dirty="0"/>
          </a:p>
        </p:txBody>
      </p:sp>
      <p:sp>
        <p:nvSpPr>
          <p:cNvPr id="20" name="Text 18"/>
          <p:cNvSpPr/>
          <p:nvPr/>
        </p:nvSpPr>
        <p:spPr>
          <a:xfrm>
            <a:off x="7955280" y="4343400"/>
            <a:ext cx="3429000" cy="365760"/>
          </a:xfrm>
          <a:prstGeom prst="rect">
            <a:avLst/>
          </a:prstGeom>
          <a:noFill/>
          <a:ln/>
        </p:spPr>
        <p:txBody>
          <a:bodyPr wrap="square" lIns="0" tIns="0" rIns="0" bIns="0" rtlCol="0" anchor="ctr"/>
          <a:lstStyle/>
          <a:p>
            <a:pPr indent="0" marL="0">
              <a:buNone/>
            </a:pPr>
            <a:r>
              <a:rPr lang="en-US" sz="1600" b="1" dirty="0">
                <a:solidFill>
                  <a:srgbClr val="1F4D3A"/>
                </a:solidFill>
                <a:latin typeface="Calibri" pitchFamily="34" charset="0"/>
                <a:ea typeface="Calibri" pitchFamily="34" charset="-122"/>
                <a:cs typeface="Calibri" pitchFamily="34" charset="-120"/>
              </a:rPr>
              <a:t>Sin consumo</a:t>
            </a:r>
            <a:endParaRPr lang="en-US" sz="1600" dirty="0"/>
          </a:p>
        </p:txBody>
      </p:sp>
      <p:sp>
        <p:nvSpPr>
          <p:cNvPr id="21" name="Text 19"/>
          <p:cNvSpPr/>
          <p:nvPr/>
        </p:nvSpPr>
        <p:spPr>
          <a:xfrm>
            <a:off x="7955280" y="4754880"/>
            <a:ext cx="3429000" cy="45720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No llegó a activarse</a:t>
            </a:r>
            <a:endParaRPr lang="en-US" sz="1150" dirty="0"/>
          </a:p>
        </p:txBody>
      </p:sp>
      <p:sp>
        <p:nvSpPr>
          <p:cNvPr id="22" name="Text 20"/>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DIAGNÓSTICO</a:t>
            </a:r>
            <a:endParaRPr lang="en-US" sz="1200" dirty="0"/>
          </a:p>
        </p:txBody>
      </p:sp>
      <p:sp>
        <p:nvSpPr>
          <p:cNvPr id="3" name="Text 1"/>
          <p:cNvSpPr/>
          <p:nvPr/>
        </p:nvSpPr>
        <p:spPr>
          <a:xfrm>
            <a:off x="822960" y="841248"/>
            <a:ext cx="10058400" cy="13716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El problema no es el costo.</a:t>
            </a:r>
            <a:endParaRPr lang="en-US" sz="3000" dirty="0"/>
          </a:p>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Es lo que pasa después.</a:t>
            </a:r>
            <a:endParaRPr lang="en-US" sz="3000" dirty="0"/>
          </a:p>
        </p:txBody>
      </p:sp>
      <p:sp>
        <p:nvSpPr>
          <p:cNvPr id="4" name="Shape 2"/>
          <p:cNvSpPr/>
          <p:nvPr/>
        </p:nvSpPr>
        <p:spPr>
          <a:xfrm>
            <a:off x="1188720" y="3291840"/>
            <a:ext cx="3291840" cy="1371600"/>
          </a:xfrm>
          <a:prstGeom prst="roundRect">
            <a:avLst>
              <a:gd name="adj" fmla="val 4000"/>
            </a:avLst>
          </a:prstGeom>
          <a:solidFill>
            <a:srgbClr val="F6F6F4"/>
          </a:solidFill>
          <a:ln/>
        </p:spPr>
      </p:sp>
      <p:sp>
        <p:nvSpPr>
          <p:cNvPr id="5" name="Text 3"/>
          <p:cNvSpPr/>
          <p:nvPr/>
        </p:nvSpPr>
        <p:spPr>
          <a:xfrm>
            <a:off x="1188720" y="3520440"/>
            <a:ext cx="3291840" cy="548640"/>
          </a:xfrm>
          <a:prstGeom prst="rect">
            <a:avLst/>
          </a:prstGeom>
          <a:noFill/>
          <a:ln/>
        </p:spPr>
        <p:txBody>
          <a:bodyPr wrap="square" lIns="0" tIns="0" rIns="0" bIns="0" rtlCol="0" anchor="ctr"/>
          <a:lstStyle/>
          <a:p>
            <a:pPr algn="ctr" indent="0" marL="0">
              <a:buNone/>
            </a:pPr>
            <a:r>
              <a:rPr lang="en-US" sz="3000" b="1" dirty="0">
                <a:solidFill>
                  <a:srgbClr val="1A1A1A"/>
                </a:solidFill>
                <a:latin typeface="Cambria" pitchFamily="34" charset="0"/>
                <a:ea typeface="Cambria" pitchFamily="34" charset="-122"/>
                <a:cs typeface="Cambria" pitchFamily="34" charset="-120"/>
              </a:rPr>
              <a:t>1.668</a:t>
            </a:r>
            <a:endParaRPr lang="en-US" sz="3000" dirty="0"/>
          </a:p>
        </p:txBody>
      </p:sp>
      <p:sp>
        <p:nvSpPr>
          <p:cNvPr id="6" name="Text 4"/>
          <p:cNvSpPr/>
          <p:nvPr/>
        </p:nvSpPr>
        <p:spPr>
          <a:xfrm>
            <a:off x="1188720" y="4160520"/>
            <a:ext cx="3291840" cy="365760"/>
          </a:xfrm>
          <a:prstGeom prst="rect">
            <a:avLst/>
          </a:prstGeom>
          <a:noFill/>
          <a:ln/>
        </p:spPr>
        <p:txBody>
          <a:bodyPr wrap="square" lIns="0" tIns="0" rIns="0" bIns="0" rtlCol="0" anchor="ctr"/>
          <a:lstStyle/>
          <a:p>
            <a:pPr algn="ctr" indent="0" marL="0">
              <a:buNone/>
            </a:pPr>
            <a:r>
              <a:rPr lang="en-US" sz="1250" dirty="0">
                <a:solidFill>
                  <a:srgbClr val="6B6B66"/>
                </a:solidFill>
                <a:latin typeface="Calibri" pitchFamily="34" charset="0"/>
                <a:ea typeface="Calibri" pitchFamily="34" charset="-122"/>
                <a:cs typeface="Calibri" pitchFamily="34" charset="-120"/>
              </a:rPr>
              <a:t>conversaciones</a:t>
            </a:r>
            <a:endParaRPr lang="en-US" sz="1250" dirty="0"/>
          </a:p>
        </p:txBody>
      </p:sp>
      <p:pic>
        <p:nvPicPr>
          <p:cNvPr id="7" name="Image 0" descr="/tmp/entregadelchef_build/icons/arrowRight_muted.png">    </p:cNvPr>
          <p:cNvPicPr>
            <a:picLocks noChangeAspect="1"/>
          </p:cNvPicPr>
          <p:nvPr/>
        </p:nvPicPr>
        <p:blipFill>
          <a:blip r:embed="rId1"/>
          <a:stretch>
            <a:fillRect/>
          </a:stretch>
        </p:blipFill>
        <p:spPr>
          <a:xfrm>
            <a:off x="4709160" y="3776472"/>
            <a:ext cx="402336" cy="402336"/>
          </a:xfrm>
          <a:prstGeom prst="rect">
            <a:avLst/>
          </a:prstGeom>
        </p:spPr>
      </p:pic>
      <p:sp>
        <p:nvSpPr>
          <p:cNvPr id="8" name="Shape 5"/>
          <p:cNvSpPr/>
          <p:nvPr/>
        </p:nvSpPr>
        <p:spPr>
          <a:xfrm>
            <a:off x="5349240" y="3291840"/>
            <a:ext cx="3291840" cy="1371600"/>
          </a:xfrm>
          <a:prstGeom prst="roundRect">
            <a:avLst>
              <a:gd name="adj" fmla="val 4000"/>
            </a:avLst>
          </a:prstGeom>
          <a:solidFill>
            <a:srgbClr val="1F4D3A"/>
          </a:solidFill>
          <a:ln/>
        </p:spPr>
      </p:sp>
      <p:sp>
        <p:nvSpPr>
          <p:cNvPr id="9" name="Text 6"/>
          <p:cNvSpPr/>
          <p:nvPr/>
        </p:nvSpPr>
        <p:spPr>
          <a:xfrm>
            <a:off x="5349240" y="3520440"/>
            <a:ext cx="329184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86</a:t>
            </a:r>
            <a:endParaRPr lang="en-US" sz="3000" dirty="0"/>
          </a:p>
        </p:txBody>
      </p:sp>
      <p:sp>
        <p:nvSpPr>
          <p:cNvPr id="10" name="Text 7"/>
          <p:cNvSpPr/>
          <p:nvPr/>
        </p:nvSpPr>
        <p:spPr>
          <a:xfrm>
            <a:off x="5349240" y="4160520"/>
            <a:ext cx="3291840" cy="365760"/>
          </a:xfrm>
          <a:prstGeom prst="rect">
            <a:avLst/>
          </a:prstGeom>
          <a:noFill/>
          <a:ln/>
        </p:spPr>
        <p:txBody>
          <a:bodyPr wrap="square" lIns="0" tIns="0" rIns="0" bIns="0" rtlCol="0" anchor="ctr"/>
          <a:lstStyle/>
          <a:p>
            <a:pPr algn="ctr" indent="0" marL="0">
              <a:buNone/>
            </a:pPr>
            <a:r>
              <a:rPr lang="en-US" sz="1250" dirty="0">
                <a:solidFill>
                  <a:srgbClr val="CFE0D6"/>
                </a:solidFill>
                <a:latin typeface="Calibri" pitchFamily="34" charset="0"/>
                <a:ea typeface="Calibri" pitchFamily="34" charset="-122"/>
                <a:cs typeface="Calibri" pitchFamily="34" charset="-120"/>
              </a:rPr>
              <a:t>leads registrados · 5,2%</a:t>
            </a:r>
            <a:endParaRPr lang="en-US" sz="1250" dirty="0"/>
          </a:p>
        </p:txBody>
      </p:sp>
      <p:sp>
        <p:nvSpPr>
          <p:cNvPr id="11" name="Text 8"/>
          <p:cNvSpPr/>
          <p:nvPr/>
        </p:nvSpPr>
        <p:spPr>
          <a:xfrm>
            <a:off x="822960" y="5212080"/>
            <a:ext cx="10058400" cy="457200"/>
          </a:xfrm>
          <a:prstGeom prst="rect">
            <a:avLst/>
          </a:prstGeom>
          <a:noFill/>
          <a:ln/>
        </p:spPr>
        <p:txBody>
          <a:bodyPr wrap="square" lIns="0" tIns="0" rIns="0" bIns="0" rtlCol="0" anchor="ctr"/>
          <a:lstStyle/>
          <a:p>
            <a:pPr indent="0" marL="0">
              <a:buNone/>
            </a:pPr>
            <a:r>
              <a:rPr lang="en-US" sz="1550" i="1" dirty="0">
                <a:solidFill>
                  <a:srgbClr val="1A1A1A"/>
                </a:solidFill>
                <a:latin typeface="Calibri" pitchFamily="34" charset="0"/>
                <a:ea typeface="Calibri" pitchFamily="34" charset="-122"/>
                <a:cs typeface="Calibri" pitchFamily="34" charset="-120"/>
              </a:rPr>
              <a:t>El cuello de botella está después del primer contacto.</a:t>
            </a:r>
            <a:endParaRPr lang="en-US" sz="1550" dirty="0"/>
          </a:p>
        </p:txBody>
      </p:sp>
      <p:sp>
        <p:nvSpPr>
          <p:cNvPr id="12" name="Text 9"/>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D3A"/>
        </a:solidFill>
      </p:bgPr>
    </p:bg>
    <p:spTree>
      <p:nvGrpSpPr>
        <p:cNvPr id="1" name=""/>
        <p:cNvGrpSpPr/>
        <p:nvPr/>
      </p:nvGrpSpPr>
      <p:grpSpPr>
        <a:xfrm>
          <a:off x="0" y="0"/>
          <a:ext cx="0" cy="0"/>
          <a:chOff x="0" y="0"/>
          <a:chExt cx="0" cy="0"/>
        </a:xfrm>
      </p:grpSpPr>
      <p:sp>
        <p:nvSpPr>
          <p:cNvPr id="2" name="Text 0"/>
          <p:cNvSpPr/>
          <p:nvPr/>
        </p:nvSpPr>
        <p:spPr>
          <a:xfrm>
            <a:off x="822960" y="685800"/>
            <a:ext cx="9144000" cy="365760"/>
          </a:xfrm>
          <a:prstGeom prst="rect">
            <a:avLst/>
          </a:prstGeom>
          <a:noFill/>
          <a:ln/>
        </p:spPr>
        <p:txBody>
          <a:bodyPr wrap="square" lIns="0" tIns="0" rIns="0" bIns="0" rtlCol="0" anchor="ctr"/>
          <a:lstStyle/>
          <a:p>
            <a:pPr indent="0" marL="0">
              <a:buNone/>
            </a:pPr>
            <a:r>
              <a:rPr lang="en-US" sz="1300" b="1" spc="200" kern="0" dirty="0">
                <a:solidFill>
                  <a:srgbClr val="CFE0D6"/>
                </a:solidFill>
                <a:latin typeface="Calibri" pitchFamily="34" charset="0"/>
                <a:ea typeface="Calibri" pitchFamily="34" charset="-122"/>
                <a:cs typeface="Calibri" pitchFamily="34" charset="-120"/>
              </a:rPr>
              <a:t>DECISIÓN ESTRATÉGICA</a:t>
            </a:r>
            <a:endParaRPr lang="en-US" sz="1300" dirty="0"/>
          </a:p>
        </p:txBody>
      </p:sp>
      <p:sp>
        <p:nvSpPr>
          <p:cNvPr id="3" name="Text 1"/>
          <p:cNvSpPr/>
          <p:nvPr/>
        </p:nvSpPr>
        <p:spPr>
          <a:xfrm>
            <a:off x="822960" y="1097280"/>
            <a:ext cx="10332720" cy="11887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 sistema de adquisición B2B HORECA</a:t>
            </a:r>
            <a:endParaRPr lang="en-US" sz="3200" dirty="0"/>
          </a:p>
        </p:txBody>
      </p:sp>
      <p:sp>
        <p:nvSpPr>
          <p:cNvPr id="4" name="Text 2"/>
          <p:cNvSpPr/>
          <p:nvPr/>
        </p:nvSpPr>
        <p:spPr>
          <a:xfrm>
            <a:off x="822960" y="2926080"/>
            <a:ext cx="1691640" cy="640080"/>
          </a:xfrm>
          <a:prstGeom prst="rect">
            <a:avLst/>
          </a:prstGeom>
          <a:solidFill>
            <a:srgbClr val="FFFFFF"/>
          </a:solidFill>
          <a:ln/>
        </p:spPr>
        <p:txBody>
          <a:bodyPr wrap="square" lIns="50800" tIns="50800" rIns="50800" bIns="50800" rtlCol="0" anchor="ctr"/>
          <a:lstStyle/>
          <a:p>
            <a:pPr algn="ctr" indent="0" marL="0">
              <a:buNone/>
            </a:pPr>
            <a:r>
              <a:rPr lang="en-US" sz="1050" b="1" dirty="0">
                <a:solidFill>
                  <a:srgbClr val="1A1A1A"/>
                </a:solidFill>
                <a:latin typeface="Calibri" pitchFamily="34" charset="0"/>
                <a:ea typeface="Calibri" pitchFamily="34" charset="-122"/>
                <a:cs typeface="Calibri" pitchFamily="34" charset="-120"/>
              </a:rPr>
              <a:t>Generar demanda</a:t>
            </a:r>
            <a:endParaRPr lang="en-US" sz="1050" dirty="0"/>
          </a:p>
        </p:txBody>
      </p:sp>
      <p:pic>
        <p:nvPicPr>
          <p:cNvPr id="5" name="Image 0" descr="/tmp/entregadelchef_build/icons/arrowRight_white.png">    </p:cNvPr>
          <p:cNvPicPr>
            <a:picLocks noChangeAspect="1"/>
          </p:cNvPicPr>
          <p:nvPr/>
        </p:nvPicPr>
        <p:blipFill>
          <a:blip r:embed="rId1"/>
          <a:stretch>
            <a:fillRect/>
          </a:stretch>
        </p:blipFill>
        <p:spPr>
          <a:xfrm>
            <a:off x="2519172" y="3145536"/>
            <a:ext cx="201168" cy="201168"/>
          </a:xfrm>
          <a:prstGeom prst="rect">
            <a:avLst/>
          </a:prstGeom>
        </p:spPr>
      </p:pic>
      <p:sp>
        <p:nvSpPr>
          <p:cNvPr id="6" name="Text 3"/>
          <p:cNvSpPr/>
          <p:nvPr/>
        </p:nvSpPr>
        <p:spPr>
          <a:xfrm>
            <a:off x="2587752" y="2926080"/>
            <a:ext cx="1691640" cy="640080"/>
          </a:xfrm>
          <a:prstGeom prst="rect">
            <a:avLst/>
          </a:prstGeom>
          <a:solidFill>
            <a:srgbClr val="FFFFFF"/>
          </a:solidFill>
          <a:ln/>
        </p:spPr>
        <p:txBody>
          <a:bodyPr wrap="square" lIns="50800" tIns="50800" rIns="50800" bIns="50800" rtlCol="0" anchor="ctr"/>
          <a:lstStyle/>
          <a:p>
            <a:pPr algn="ctr" indent="0" marL="0">
              <a:buNone/>
            </a:pPr>
            <a:r>
              <a:rPr lang="en-US" sz="1050" b="1" dirty="0">
                <a:solidFill>
                  <a:srgbClr val="1A1A1A"/>
                </a:solidFill>
                <a:latin typeface="Calibri" pitchFamily="34" charset="0"/>
                <a:ea typeface="Calibri" pitchFamily="34" charset="-122"/>
                <a:cs typeface="Calibri" pitchFamily="34" charset="-120"/>
              </a:rPr>
              <a:t>Captar interés</a:t>
            </a:r>
            <a:endParaRPr lang="en-US" sz="1050" dirty="0"/>
          </a:p>
        </p:txBody>
      </p:sp>
      <p:pic>
        <p:nvPicPr>
          <p:cNvPr id="7" name="Image 1" descr="/tmp/entregadelchef_build/icons/arrowRight_white.png">    </p:cNvPr>
          <p:cNvPicPr>
            <a:picLocks noChangeAspect="1"/>
          </p:cNvPicPr>
          <p:nvPr/>
        </p:nvPicPr>
        <p:blipFill>
          <a:blip r:embed="rId2"/>
          <a:stretch>
            <a:fillRect/>
          </a:stretch>
        </p:blipFill>
        <p:spPr>
          <a:xfrm>
            <a:off x="4283964" y="3145536"/>
            <a:ext cx="201168" cy="201168"/>
          </a:xfrm>
          <a:prstGeom prst="rect">
            <a:avLst/>
          </a:prstGeom>
        </p:spPr>
      </p:pic>
      <p:sp>
        <p:nvSpPr>
          <p:cNvPr id="8" name="Text 4"/>
          <p:cNvSpPr/>
          <p:nvPr/>
        </p:nvSpPr>
        <p:spPr>
          <a:xfrm>
            <a:off x="4352544" y="2926080"/>
            <a:ext cx="1691640" cy="640080"/>
          </a:xfrm>
          <a:prstGeom prst="rect">
            <a:avLst/>
          </a:prstGeom>
          <a:solidFill>
            <a:srgbClr val="FFFFFF"/>
          </a:solidFill>
          <a:ln/>
        </p:spPr>
        <p:txBody>
          <a:bodyPr wrap="square" lIns="50800" tIns="50800" rIns="50800" bIns="50800" rtlCol="0" anchor="ctr"/>
          <a:lstStyle/>
          <a:p>
            <a:pPr algn="ctr" indent="0" marL="0">
              <a:buNone/>
            </a:pPr>
            <a:r>
              <a:rPr lang="en-US" sz="1050" b="1" dirty="0">
                <a:solidFill>
                  <a:srgbClr val="1A1A1A"/>
                </a:solidFill>
                <a:latin typeface="Calibri" pitchFamily="34" charset="0"/>
                <a:ea typeface="Calibri" pitchFamily="34" charset="-122"/>
                <a:cs typeface="Calibri" pitchFamily="34" charset="-120"/>
              </a:rPr>
              <a:t>Calificar empresas</a:t>
            </a:r>
            <a:endParaRPr lang="en-US" sz="1050" dirty="0"/>
          </a:p>
        </p:txBody>
      </p:sp>
      <p:pic>
        <p:nvPicPr>
          <p:cNvPr id="9" name="Image 2" descr="/tmp/entregadelchef_build/icons/arrowRight_white.png">    </p:cNvPr>
          <p:cNvPicPr>
            <a:picLocks noChangeAspect="1"/>
          </p:cNvPicPr>
          <p:nvPr/>
        </p:nvPicPr>
        <p:blipFill>
          <a:blip r:embed="rId3"/>
          <a:stretch>
            <a:fillRect/>
          </a:stretch>
        </p:blipFill>
        <p:spPr>
          <a:xfrm>
            <a:off x="6048756" y="3145536"/>
            <a:ext cx="201168" cy="201168"/>
          </a:xfrm>
          <a:prstGeom prst="rect">
            <a:avLst/>
          </a:prstGeom>
        </p:spPr>
      </p:pic>
      <p:sp>
        <p:nvSpPr>
          <p:cNvPr id="10" name="Text 5"/>
          <p:cNvSpPr/>
          <p:nvPr/>
        </p:nvSpPr>
        <p:spPr>
          <a:xfrm>
            <a:off x="6117336" y="2926080"/>
            <a:ext cx="1691640" cy="640080"/>
          </a:xfrm>
          <a:prstGeom prst="rect">
            <a:avLst/>
          </a:prstGeom>
          <a:solidFill>
            <a:srgbClr val="FFFFFF"/>
          </a:solidFill>
          <a:ln/>
        </p:spPr>
        <p:txBody>
          <a:bodyPr wrap="square" lIns="50800" tIns="50800" rIns="50800" bIns="50800" rtlCol="0" anchor="ctr"/>
          <a:lstStyle/>
          <a:p>
            <a:pPr algn="ctr" indent="0" marL="0">
              <a:buNone/>
            </a:pPr>
            <a:r>
              <a:rPr lang="en-US" sz="1050" b="1" dirty="0">
                <a:solidFill>
                  <a:srgbClr val="1A1A1A"/>
                </a:solidFill>
                <a:latin typeface="Calibri" pitchFamily="34" charset="0"/>
                <a:ea typeface="Calibri" pitchFamily="34" charset="-122"/>
                <a:cs typeface="Calibri" pitchFamily="34" charset="-120"/>
              </a:rPr>
              <a:t>Oportunidad comercial</a:t>
            </a:r>
            <a:endParaRPr lang="en-US" sz="1050" dirty="0"/>
          </a:p>
        </p:txBody>
      </p:sp>
      <p:pic>
        <p:nvPicPr>
          <p:cNvPr id="11" name="Image 3" descr="/tmp/entregadelchef_build/icons/arrowRight_white.png">    </p:cNvPr>
          <p:cNvPicPr>
            <a:picLocks noChangeAspect="1"/>
          </p:cNvPicPr>
          <p:nvPr/>
        </p:nvPicPr>
        <p:blipFill>
          <a:blip r:embed="rId4"/>
          <a:stretch>
            <a:fillRect/>
          </a:stretch>
        </p:blipFill>
        <p:spPr>
          <a:xfrm>
            <a:off x="7813548" y="3145536"/>
            <a:ext cx="201168" cy="201168"/>
          </a:xfrm>
          <a:prstGeom prst="rect">
            <a:avLst/>
          </a:prstGeom>
        </p:spPr>
      </p:pic>
      <p:sp>
        <p:nvSpPr>
          <p:cNvPr id="12" name="Text 6"/>
          <p:cNvSpPr/>
          <p:nvPr/>
        </p:nvSpPr>
        <p:spPr>
          <a:xfrm>
            <a:off x="7882128" y="2926080"/>
            <a:ext cx="1691640" cy="640080"/>
          </a:xfrm>
          <a:prstGeom prst="rect">
            <a:avLst/>
          </a:prstGeom>
          <a:solidFill>
            <a:srgbClr val="FFFFFF"/>
          </a:solidFill>
          <a:ln/>
        </p:spPr>
        <p:txBody>
          <a:bodyPr wrap="square" lIns="50800" tIns="50800" rIns="50800" bIns="50800" rtlCol="0" anchor="ctr"/>
          <a:lstStyle/>
          <a:p>
            <a:pPr algn="ctr" indent="0" marL="0">
              <a:buNone/>
            </a:pPr>
            <a:r>
              <a:rPr lang="en-US" sz="1050" b="1" dirty="0">
                <a:solidFill>
                  <a:srgbClr val="1A1A1A"/>
                </a:solidFill>
                <a:latin typeface="Calibri" pitchFamily="34" charset="0"/>
                <a:ea typeface="Calibri" pitchFamily="34" charset="-122"/>
                <a:cs typeface="Calibri" pitchFamily="34" charset="-120"/>
              </a:rPr>
              <a:t>Equipo comercial</a:t>
            </a:r>
            <a:endParaRPr lang="en-US" sz="1050" dirty="0"/>
          </a:p>
        </p:txBody>
      </p:sp>
      <p:pic>
        <p:nvPicPr>
          <p:cNvPr id="13" name="Image 4" descr="/tmp/entregadelchef_build/icons/arrowRight_white.png">    </p:cNvPr>
          <p:cNvPicPr>
            <a:picLocks noChangeAspect="1"/>
          </p:cNvPicPr>
          <p:nvPr/>
        </p:nvPicPr>
        <p:blipFill>
          <a:blip r:embed="rId5"/>
          <a:stretch>
            <a:fillRect/>
          </a:stretch>
        </p:blipFill>
        <p:spPr>
          <a:xfrm>
            <a:off x="9578340" y="3145536"/>
            <a:ext cx="201168" cy="201168"/>
          </a:xfrm>
          <a:prstGeom prst="rect">
            <a:avLst/>
          </a:prstGeom>
        </p:spPr>
      </p:pic>
      <p:sp>
        <p:nvSpPr>
          <p:cNvPr id="14" name="Text 7"/>
          <p:cNvSpPr/>
          <p:nvPr/>
        </p:nvSpPr>
        <p:spPr>
          <a:xfrm>
            <a:off x="9646920" y="2926080"/>
            <a:ext cx="1691640" cy="640080"/>
          </a:xfrm>
          <a:prstGeom prst="rect">
            <a:avLst/>
          </a:prstGeom>
          <a:solidFill>
            <a:srgbClr val="FFFFFF"/>
          </a:solidFill>
          <a:ln/>
        </p:spPr>
        <p:txBody>
          <a:bodyPr wrap="square" lIns="50800" tIns="50800" rIns="50800" bIns="50800" rtlCol="0" anchor="ctr"/>
          <a:lstStyle/>
          <a:p>
            <a:pPr algn="ctr" indent="0" marL="0">
              <a:buNone/>
            </a:pPr>
            <a:r>
              <a:rPr lang="en-US" sz="1050" b="1" dirty="0">
                <a:solidFill>
                  <a:srgbClr val="1A1A1A"/>
                </a:solidFill>
                <a:latin typeface="Calibri" pitchFamily="34" charset="0"/>
                <a:ea typeface="Calibri" pitchFamily="34" charset="-122"/>
                <a:cs typeface="Calibri" pitchFamily="34" charset="-120"/>
              </a:rPr>
              <a:t>Cliente recurrente</a:t>
            </a:r>
            <a:endParaRPr lang="en-US" sz="1050" dirty="0"/>
          </a:p>
        </p:txBody>
      </p:sp>
      <p:sp>
        <p:nvSpPr>
          <p:cNvPr id="15" name="Text 8"/>
          <p:cNvSpPr/>
          <p:nvPr/>
        </p:nvSpPr>
        <p:spPr>
          <a:xfrm>
            <a:off x="822960" y="4206240"/>
            <a:ext cx="10332720" cy="914400"/>
          </a:xfrm>
          <a:prstGeom prst="rect">
            <a:avLst/>
          </a:prstGeom>
          <a:noFill/>
          <a:ln/>
        </p:spPr>
        <p:txBody>
          <a:bodyPr wrap="square" lIns="0" tIns="0" rIns="0" bIns="0" rtlCol="0" anchor="ctr"/>
          <a:lstStyle/>
          <a:p>
            <a:pPr indent="0" marL="0">
              <a:buNone/>
            </a:pPr>
            <a:r>
              <a:rPr lang="en-US" sz="1500" dirty="0">
                <a:solidFill>
                  <a:srgbClr val="E8F0EA"/>
                </a:solidFill>
                <a:latin typeface="Calibri" pitchFamily="34" charset="0"/>
                <a:ea typeface="Calibri" pitchFamily="34" charset="-122"/>
                <a:cs typeface="Calibri" pitchFamily="34" charset="-120"/>
              </a:rPr>
              <a:t>No es un abandono del B2C. Es una priorización estratégica: HORECA primero (restaurantes, hoteles, catering); lo corporativo queda como segunda etapa.</a:t>
            </a:r>
            <a:endParaRPr lang="en-US" sz="1500" dirty="0"/>
          </a:p>
        </p:txBody>
      </p:sp>
      <p:sp>
        <p:nvSpPr>
          <p:cNvPr id="16" name="Text 9"/>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JUSTIFICACIÓN</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Por qué HORECA es la prioridad</a:t>
            </a:r>
            <a:endParaRPr lang="en-US" sz="3000" dirty="0"/>
          </a:p>
        </p:txBody>
      </p:sp>
      <p:pic>
        <p:nvPicPr>
          <p:cNvPr id="4" name="Image 0" descr="/tmp/entregadelchef_build/icons/repeat_green.png">    </p:cNvPr>
          <p:cNvPicPr>
            <a:picLocks noChangeAspect="1"/>
          </p:cNvPicPr>
          <p:nvPr/>
        </p:nvPicPr>
        <p:blipFill>
          <a:blip r:embed="rId1"/>
          <a:stretch>
            <a:fillRect/>
          </a:stretch>
        </p:blipFill>
        <p:spPr>
          <a:xfrm>
            <a:off x="822960" y="2194560"/>
            <a:ext cx="457200" cy="457200"/>
          </a:xfrm>
          <a:prstGeom prst="rect">
            <a:avLst/>
          </a:prstGeom>
        </p:spPr>
      </p:pic>
      <p:sp>
        <p:nvSpPr>
          <p:cNvPr id="5" name="Text 2"/>
          <p:cNvSpPr/>
          <p:nvPr/>
        </p:nvSpPr>
        <p:spPr>
          <a:xfrm>
            <a:off x="822960" y="2880360"/>
            <a:ext cx="2468880" cy="64008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Necesidad recurrente</a:t>
            </a:r>
            <a:endParaRPr lang="en-US" sz="1400" dirty="0"/>
          </a:p>
        </p:txBody>
      </p:sp>
      <p:sp>
        <p:nvSpPr>
          <p:cNvPr id="6" name="Text 3"/>
          <p:cNvSpPr/>
          <p:nvPr/>
        </p:nvSpPr>
        <p:spPr>
          <a:xfrm>
            <a:off x="822960" y="3474720"/>
            <a:ext cx="2468880" cy="15544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Los negocios HORECA necesitan producir y abastecerse continuamente.</a:t>
            </a:r>
            <a:endParaRPr lang="en-US" sz="1150" dirty="0"/>
          </a:p>
        </p:txBody>
      </p:sp>
      <p:pic>
        <p:nvPicPr>
          <p:cNvPr id="7" name="Image 1" descr="/tmp/entregadelchef_build/icons/zap_green.png">    </p:cNvPr>
          <p:cNvPicPr>
            <a:picLocks noChangeAspect="1"/>
          </p:cNvPicPr>
          <p:nvPr/>
        </p:nvPicPr>
        <p:blipFill>
          <a:blip r:embed="rId2"/>
          <a:stretch>
            <a:fillRect/>
          </a:stretch>
        </p:blipFill>
        <p:spPr>
          <a:xfrm>
            <a:off x="3474720" y="2194560"/>
            <a:ext cx="457200" cy="457200"/>
          </a:xfrm>
          <a:prstGeom prst="rect">
            <a:avLst/>
          </a:prstGeom>
        </p:spPr>
      </p:pic>
      <p:sp>
        <p:nvSpPr>
          <p:cNvPr id="8" name="Text 4"/>
          <p:cNvSpPr/>
          <p:nvPr/>
        </p:nvSpPr>
        <p:spPr>
          <a:xfrm>
            <a:off x="3474720" y="2880360"/>
            <a:ext cx="2468880" cy="64008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Resuelve problemas operativos</a:t>
            </a:r>
            <a:endParaRPr lang="en-US" sz="1400" dirty="0"/>
          </a:p>
        </p:txBody>
      </p:sp>
      <p:sp>
        <p:nvSpPr>
          <p:cNvPr id="9" name="Text 5"/>
          <p:cNvSpPr/>
          <p:nvPr/>
        </p:nvSpPr>
        <p:spPr>
          <a:xfrm>
            <a:off x="3474720" y="3474720"/>
            <a:ext cx="2468880" cy="15544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No solo vendemos alimentos: resolvemos capacidad, costos, tiempos y estandarización.</a:t>
            </a:r>
            <a:endParaRPr lang="en-US" sz="1150" dirty="0"/>
          </a:p>
        </p:txBody>
      </p:sp>
      <p:pic>
        <p:nvPicPr>
          <p:cNvPr id="10" name="Image 2" descr="/tmp/entregadelchef_build/icons/target_green.png">    </p:cNvPr>
          <p:cNvPicPr>
            <a:picLocks noChangeAspect="1"/>
          </p:cNvPicPr>
          <p:nvPr/>
        </p:nvPicPr>
        <p:blipFill>
          <a:blip r:embed="rId3"/>
          <a:stretch>
            <a:fillRect/>
          </a:stretch>
        </p:blipFill>
        <p:spPr>
          <a:xfrm>
            <a:off x="6126480" y="2194560"/>
            <a:ext cx="457200" cy="457200"/>
          </a:xfrm>
          <a:prstGeom prst="rect">
            <a:avLst/>
          </a:prstGeom>
        </p:spPr>
      </p:pic>
      <p:sp>
        <p:nvSpPr>
          <p:cNvPr id="11" name="Text 6"/>
          <p:cNvSpPr/>
          <p:nvPr/>
        </p:nvSpPr>
        <p:spPr>
          <a:xfrm>
            <a:off x="6126480" y="2880360"/>
            <a:ext cx="2468880" cy="64008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Señales, no perfección</a:t>
            </a:r>
            <a:endParaRPr lang="en-US" sz="1400" dirty="0"/>
          </a:p>
        </p:txBody>
      </p:sp>
      <p:sp>
        <p:nvSpPr>
          <p:cNvPr id="12" name="Text 7"/>
          <p:cNvSpPr/>
          <p:nvPr/>
        </p:nvSpPr>
        <p:spPr>
          <a:xfrm>
            <a:off x="6126480" y="3474720"/>
            <a:ext cx="2468880" cy="15544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Meta permite trabajar clusters y comportamientos relacionados con gastronomía y hotelería — no una segmentación perfecta.</a:t>
            </a:r>
            <a:endParaRPr lang="en-US" sz="1150" dirty="0"/>
          </a:p>
        </p:txBody>
      </p:sp>
      <p:pic>
        <p:nvPicPr>
          <p:cNvPr id="13" name="Image 3" descr="/tmp/entregadelchef_build/icons/trendUp_green.png">    </p:cNvPr>
          <p:cNvPicPr>
            <a:picLocks noChangeAspect="1"/>
          </p:cNvPicPr>
          <p:nvPr/>
        </p:nvPicPr>
        <p:blipFill>
          <a:blip r:embed="rId4"/>
          <a:stretch>
            <a:fillRect/>
          </a:stretch>
        </p:blipFill>
        <p:spPr>
          <a:xfrm>
            <a:off x="8778240" y="2194560"/>
            <a:ext cx="457200" cy="457200"/>
          </a:xfrm>
          <a:prstGeom prst="rect">
            <a:avLst/>
          </a:prstGeom>
        </p:spPr>
      </p:pic>
      <p:sp>
        <p:nvSpPr>
          <p:cNvPr id="14" name="Text 8"/>
          <p:cNvSpPr/>
          <p:nvPr/>
        </p:nvSpPr>
        <p:spPr>
          <a:xfrm>
            <a:off x="8778240" y="2880360"/>
            <a:ext cx="2468880" cy="64008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Potencial de recurrencia</a:t>
            </a:r>
            <a:endParaRPr lang="en-US" sz="1400" dirty="0"/>
          </a:p>
        </p:txBody>
      </p:sp>
      <p:sp>
        <p:nvSpPr>
          <p:cNvPr id="15" name="Text 9"/>
          <p:cNvSpPr/>
          <p:nvPr/>
        </p:nvSpPr>
        <p:spPr>
          <a:xfrm>
            <a:off x="8778240" y="3474720"/>
            <a:ext cx="2468880" cy="15544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El objetivo no es una compra aislada, sino una relación comercial recurrente.</a:t>
            </a:r>
            <a:endParaRPr lang="en-US" sz="1150" dirty="0"/>
          </a:p>
        </p:txBody>
      </p:sp>
      <p:sp>
        <p:nvSpPr>
          <p:cNvPr id="16" name="Text 10"/>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POSICIONAMIENTO</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El producto deja de ser el punto de partida</a:t>
            </a:r>
            <a:endParaRPr lang="en-US" sz="3000" dirty="0"/>
          </a:p>
        </p:txBody>
      </p:sp>
      <p:sp>
        <p:nvSpPr>
          <p:cNvPr id="4" name="Shape 2"/>
          <p:cNvSpPr/>
          <p:nvPr/>
        </p:nvSpPr>
        <p:spPr>
          <a:xfrm>
            <a:off x="822960" y="2286000"/>
            <a:ext cx="4937760" cy="3383280"/>
          </a:xfrm>
          <a:prstGeom prst="roundRect">
            <a:avLst>
              <a:gd name="adj" fmla="val 1622"/>
            </a:avLst>
          </a:prstGeom>
          <a:solidFill>
            <a:srgbClr val="F6F6F4"/>
          </a:solidFill>
          <a:ln/>
        </p:spPr>
      </p:sp>
      <p:sp>
        <p:nvSpPr>
          <p:cNvPr id="5" name="Shape 3"/>
          <p:cNvSpPr/>
          <p:nvPr/>
        </p:nvSpPr>
        <p:spPr>
          <a:xfrm>
            <a:off x="6309360" y="2286000"/>
            <a:ext cx="4937760" cy="3383280"/>
          </a:xfrm>
          <a:prstGeom prst="roundRect">
            <a:avLst>
              <a:gd name="adj" fmla="val 1622"/>
            </a:avLst>
          </a:prstGeom>
          <a:solidFill>
            <a:srgbClr val="1F4D3A"/>
          </a:solidFill>
          <a:ln/>
        </p:spPr>
      </p:sp>
      <p:sp>
        <p:nvSpPr>
          <p:cNvPr id="6" name="Text 4"/>
          <p:cNvSpPr/>
          <p:nvPr/>
        </p:nvSpPr>
        <p:spPr>
          <a:xfrm>
            <a:off x="1188720" y="2606040"/>
            <a:ext cx="4206240" cy="320040"/>
          </a:xfrm>
          <a:prstGeom prst="rect">
            <a:avLst/>
          </a:prstGeom>
          <a:noFill/>
          <a:ln/>
        </p:spPr>
        <p:txBody>
          <a:bodyPr wrap="square" lIns="0" tIns="0" rIns="0" bIns="0" rtlCol="0" anchor="ctr"/>
          <a:lstStyle/>
          <a:p>
            <a:pPr indent="0" marL="0">
              <a:buNone/>
            </a:pPr>
            <a:r>
              <a:rPr lang="en-US" sz="1250" b="1" spc="150" kern="0" dirty="0">
                <a:solidFill>
                  <a:srgbClr val="6B6B66"/>
                </a:solidFill>
                <a:latin typeface="Calibri" pitchFamily="34" charset="0"/>
                <a:ea typeface="Calibri" pitchFamily="34" charset="-122"/>
                <a:cs typeface="Calibri" pitchFamily="34" charset="-120"/>
              </a:rPr>
              <a:t>ANTES</a:t>
            </a:r>
            <a:endParaRPr lang="en-US" sz="1250" dirty="0"/>
          </a:p>
        </p:txBody>
      </p:sp>
      <p:sp>
        <p:nvSpPr>
          <p:cNvPr id="7" name="Text 5"/>
          <p:cNvSpPr/>
          <p:nvPr/>
        </p:nvSpPr>
        <p:spPr>
          <a:xfrm>
            <a:off x="1188720" y="3017520"/>
            <a:ext cx="4206240" cy="6400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Producto → anuncio → conversación</a:t>
            </a:r>
            <a:endParaRPr lang="en-US" sz="1600" dirty="0"/>
          </a:p>
        </p:txBody>
      </p:sp>
      <p:sp>
        <p:nvSpPr>
          <p:cNvPr id="8" name="Text 6"/>
          <p:cNvSpPr/>
          <p:nvPr/>
        </p:nvSpPr>
        <p:spPr>
          <a:xfrm>
            <a:off x="1188720" y="4023360"/>
            <a:ext cx="4206240" cy="1097280"/>
          </a:xfrm>
          <a:prstGeom prst="rect">
            <a:avLst/>
          </a:prstGeom>
          <a:noFill/>
          <a:ln/>
        </p:spPr>
        <p:txBody>
          <a:bodyPr wrap="square" lIns="0" tIns="0" rIns="0" bIns="0" rtlCol="0" anchor="ctr"/>
          <a:lstStyle/>
          <a:p>
            <a:pPr indent="0" marL="0">
              <a:buNone/>
            </a:pPr>
            <a:r>
              <a:rPr lang="en-US" sz="1300" i="1" dirty="0">
                <a:solidFill>
                  <a:srgbClr val="6B6B66"/>
                </a:solidFill>
                <a:latin typeface="Calibri" pitchFamily="34" charset="0"/>
                <a:ea typeface="Calibri" pitchFamily="34" charset="-122"/>
                <a:cs typeface="Calibri" pitchFamily="34" charset="-120"/>
              </a:rPr>
              <a:t>“Tenemos yogurt griego, alimentos, productos congelados.”</a:t>
            </a:r>
            <a:endParaRPr lang="en-US" sz="1300" dirty="0"/>
          </a:p>
        </p:txBody>
      </p:sp>
      <p:sp>
        <p:nvSpPr>
          <p:cNvPr id="9" name="Text 7"/>
          <p:cNvSpPr/>
          <p:nvPr/>
        </p:nvSpPr>
        <p:spPr>
          <a:xfrm>
            <a:off x="6675120" y="2606040"/>
            <a:ext cx="4206240" cy="320040"/>
          </a:xfrm>
          <a:prstGeom prst="rect">
            <a:avLst/>
          </a:prstGeom>
          <a:noFill/>
          <a:ln/>
        </p:spPr>
        <p:txBody>
          <a:bodyPr wrap="square" lIns="0" tIns="0" rIns="0" bIns="0" rtlCol="0" anchor="ctr"/>
          <a:lstStyle/>
          <a:p>
            <a:pPr indent="0" marL="0">
              <a:buNone/>
            </a:pPr>
            <a:r>
              <a:rPr lang="en-US" sz="1250" b="1" spc="150" kern="0" dirty="0">
                <a:solidFill>
                  <a:srgbClr val="CFE0D6"/>
                </a:solidFill>
                <a:latin typeface="Calibri" pitchFamily="34" charset="0"/>
                <a:ea typeface="Calibri" pitchFamily="34" charset="-122"/>
                <a:cs typeface="Calibri" pitchFamily="34" charset="-120"/>
              </a:rPr>
              <a:t>DESPUÉS</a:t>
            </a:r>
            <a:endParaRPr lang="en-US" sz="1250" dirty="0"/>
          </a:p>
        </p:txBody>
      </p:sp>
      <p:sp>
        <p:nvSpPr>
          <p:cNvPr id="10" name="Text 8"/>
          <p:cNvSpPr/>
          <p:nvPr/>
        </p:nvSpPr>
        <p:spPr>
          <a:xfrm>
            <a:off x="6675120" y="3017520"/>
            <a:ext cx="420624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Problema → solución → calificación → contacto</a:t>
            </a:r>
            <a:endParaRPr lang="en-US" sz="1600" dirty="0"/>
          </a:p>
        </p:txBody>
      </p:sp>
      <p:sp>
        <p:nvSpPr>
          <p:cNvPr id="11" name="Text 9"/>
          <p:cNvSpPr/>
          <p:nvPr/>
        </p:nvSpPr>
        <p:spPr>
          <a:xfrm>
            <a:off x="6675120" y="4023360"/>
            <a:ext cx="4206240" cy="1371600"/>
          </a:xfrm>
          <a:prstGeom prst="rect">
            <a:avLst/>
          </a:prstGeom>
          <a:noFill/>
          <a:ln/>
        </p:spPr>
        <p:txBody>
          <a:bodyPr wrap="square" lIns="0" tIns="0" rIns="0" bIns="0" rtlCol="0" anchor="ctr"/>
          <a:lstStyle/>
          <a:p>
            <a:pPr indent="0" marL="0">
              <a:buNone/>
            </a:pPr>
            <a:r>
              <a:rPr lang="en-US" sz="1300" i="1" dirty="0">
                <a:solidFill>
                  <a:srgbClr val="E8F0EA"/>
                </a:solidFill>
                <a:latin typeface="Calibri" pitchFamily="34" charset="0"/>
                <a:ea typeface="Calibri" pitchFamily="34" charset="-122"/>
                <a:cs typeface="Calibri" pitchFamily="34" charset="-120"/>
              </a:rPr>
              <a:t>“¿Cuánto te cuesta mantener una estructura de cocina que podría producir más con apoyo externo?”</a:t>
            </a:r>
            <a:endParaRPr lang="en-US" sz="1300" dirty="0"/>
          </a:p>
        </p:txBody>
      </p:sp>
      <p:sp>
        <p:nvSpPr>
          <p:cNvPr id="12" name="Text 10"/>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TRES FRENTES</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2800" b="1" dirty="0">
                <a:solidFill>
                  <a:srgbClr val="1A1A1A"/>
                </a:solidFill>
                <a:latin typeface="Cambria" pitchFamily="34" charset="0"/>
                <a:ea typeface="Cambria" pitchFamily="34" charset="-122"/>
                <a:cs typeface="Cambria" pitchFamily="34" charset="-120"/>
              </a:rPr>
              <a:t>Restaurantes, hoteles y catering</a:t>
            </a:r>
            <a:endParaRPr lang="en-US" sz="2800" dirty="0"/>
          </a:p>
        </p:txBody>
      </p:sp>
      <p:pic>
        <p:nvPicPr>
          <p:cNvPr id="4" name="Image 0" descr="/tmp/entregadelchef_build/icons/coffee_green.png">    </p:cNvPr>
          <p:cNvPicPr>
            <a:picLocks noChangeAspect="1"/>
          </p:cNvPicPr>
          <p:nvPr/>
        </p:nvPicPr>
        <p:blipFill>
          <a:blip r:embed="rId1"/>
          <a:stretch>
            <a:fillRect/>
          </a:stretch>
        </p:blipFill>
        <p:spPr>
          <a:xfrm>
            <a:off x="822960" y="2103120"/>
            <a:ext cx="411480" cy="411480"/>
          </a:xfrm>
          <a:prstGeom prst="rect">
            <a:avLst/>
          </a:prstGeom>
        </p:spPr>
      </p:pic>
      <p:sp>
        <p:nvSpPr>
          <p:cNvPr id="5" name="Text 2"/>
          <p:cNvSpPr/>
          <p:nvPr/>
        </p:nvSpPr>
        <p:spPr>
          <a:xfrm>
            <a:off x="1371600" y="2121408"/>
            <a:ext cx="2880360" cy="365760"/>
          </a:xfrm>
          <a:prstGeom prst="rect">
            <a:avLst/>
          </a:prstGeom>
          <a:noFill/>
          <a:ln/>
        </p:spPr>
        <p:txBody>
          <a:bodyPr wrap="square" lIns="0" tIns="0" rIns="0" bIns="0" rtlCol="0" anchor="ctr"/>
          <a:lstStyle/>
          <a:p>
            <a:pPr indent="0" marL="0">
              <a:buNone/>
            </a:pPr>
            <a:r>
              <a:rPr lang="en-US" sz="1400" b="1" spc="50" kern="0" dirty="0">
                <a:solidFill>
                  <a:srgbClr val="1A1A1A"/>
                </a:solidFill>
                <a:latin typeface="Calibri" pitchFamily="34" charset="0"/>
                <a:ea typeface="Calibri" pitchFamily="34" charset="-122"/>
                <a:cs typeface="Calibri" pitchFamily="34" charset="-120"/>
              </a:rPr>
              <a:t>RESTAURANTES</a:t>
            </a:r>
            <a:endParaRPr lang="en-US" sz="1400" dirty="0"/>
          </a:p>
        </p:txBody>
      </p:sp>
      <p:sp>
        <p:nvSpPr>
          <p:cNvPr id="6" name="Text 3"/>
          <p:cNvSpPr/>
          <p:nvPr/>
        </p:nvSpPr>
        <p:spPr>
          <a:xfrm>
            <a:off x="822960" y="2651760"/>
            <a:ext cx="3429000" cy="1371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Costo de nómina</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Rotación de cocineros</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Tiempos de producción</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Estandarización</a:t>
            </a:r>
            <a:endParaRPr lang="en-US" sz="1150" dirty="0"/>
          </a:p>
        </p:txBody>
      </p:sp>
      <p:sp>
        <p:nvSpPr>
          <p:cNvPr id="7" name="Shape 4"/>
          <p:cNvSpPr/>
          <p:nvPr/>
        </p:nvSpPr>
        <p:spPr>
          <a:xfrm>
            <a:off x="822960" y="4160520"/>
            <a:ext cx="3429000" cy="0"/>
          </a:xfrm>
          <a:prstGeom prst="line">
            <a:avLst/>
          </a:prstGeom>
          <a:noFill/>
          <a:ln w="12700">
            <a:solidFill>
              <a:srgbClr val="E4E2DD"/>
            </a:solidFill>
            <a:prstDash val="solid"/>
          </a:ln>
        </p:spPr>
      </p:sp>
      <p:sp>
        <p:nvSpPr>
          <p:cNvPr id="8" name="Text 5"/>
          <p:cNvSpPr/>
          <p:nvPr/>
        </p:nvSpPr>
        <p:spPr>
          <a:xfrm>
            <a:off x="822960" y="4297680"/>
            <a:ext cx="3429000" cy="1188720"/>
          </a:xfrm>
          <a:prstGeom prst="rect">
            <a:avLst/>
          </a:prstGeom>
          <a:noFill/>
          <a:ln/>
        </p:spPr>
        <p:txBody>
          <a:bodyPr wrap="square" lIns="0" tIns="0" rIns="0" bIns="0" rtlCol="0" anchor="ctr"/>
          <a:lstStyle/>
          <a:p>
            <a:pPr indent="0" marL="0">
              <a:buNone/>
            </a:pPr>
            <a:r>
              <a:rPr lang="en-US" sz="1150" i="1" dirty="0">
                <a:solidFill>
                  <a:srgbClr val="1F4D3A"/>
                </a:solidFill>
                <a:latin typeface="Calibri" pitchFamily="34" charset="0"/>
                <a:ea typeface="Calibri" pitchFamily="34" charset="-122"/>
                <a:cs typeface="Calibri" pitchFamily="34" charset="-120"/>
              </a:rPr>
              <a:t>“Produce más sin aumentar proporcionalmente tu estructura de cocina.”</a:t>
            </a:r>
            <a:endParaRPr lang="en-US" sz="1150" dirty="0"/>
          </a:p>
        </p:txBody>
      </p:sp>
      <p:pic>
        <p:nvPicPr>
          <p:cNvPr id="9" name="Image 1" descr="/tmp/entregadelchef_build/icons/home_green.png">    </p:cNvPr>
          <p:cNvPicPr>
            <a:picLocks noChangeAspect="1"/>
          </p:cNvPicPr>
          <p:nvPr/>
        </p:nvPicPr>
        <p:blipFill>
          <a:blip r:embed="rId2"/>
          <a:stretch>
            <a:fillRect/>
          </a:stretch>
        </p:blipFill>
        <p:spPr>
          <a:xfrm>
            <a:off x="4434840" y="2103120"/>
            <a:ext cx="411480" cy="411480"/>
          </a:xfrm>
          <a:prstGeom prst="rect">
            <a:avLst/>
          </a:prstGeom>
        </p:spPr>
      </p:pic>
      <p:sp>
        <p:nvSpPr>
          <p:cNvPr id="10" name="Text 6"/>
          <p:cNvSpPr/>
          <p:nvPr/>
        </p:nvSpPr>
        <p:spPr>
          <a:xfrm>
            <a:off x="4983480" y="2121408"/>
            <a:ext cx="2880360" cy="365760"/>
          </a:xfrm>
          <a:prstGeom prst="rect">
            <a:avLst/>
          </a:prstGeom>
          <a:noFill/>
          <a:ln/>
        </p:spPr>
        <p:txBody>
          <a:bodyPr wrap="square" lIns="0" tIns="0" rIns="0" bIns="0" rtlCol="0" anchor="ctr"/>
          <a:lstStyle/>
          <a:p>
            <a:pPr indent="0" marL="0">
              <a:buNone/>
            </a:pPr>
            <a:r>
              <a:rPr lang="en-US" sz="1400" b="1" spc="50" kern="0" dirty="0">
                <a:solidFill>
                  <a:srgbClr val="1A1A1A"/>
                </a:solidFill>
                <a:latin typeface="Calibri" pitchFamily="34" charset="0"/>
                <a:ea typeface="Calibri" pitchFamily="34" charset="-122"/>
                <a:cs typeface="Calibri" pitchFamily="34" charset="-120"/>
              </a:rPr>
              <a:t>HOTELES</a:t>
            </a:r>
            <a:endParaRPr lang="en-US" sz="1400" dirty="0"/>
          </a:p>
        </p:txBody>
      </p:sp>
      <p:sp>
        <p:nvSpPr>
          <p:cNvPr id="11" name="Text 7"/>
          <p:cNvSpPr/>
          <p:nvPr/>
        </p:nvSpPr>
        <p:spPr>
          <a:xfrm>
            <a:off x="4434840" y="2651760"/>
            <a:ext cx="3429000" cy="1371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Picos de ocupación</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Desayunos y banquetes</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Eventos</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Variación de demanda</a:t>
            </a:r>
            <a:endParaRPr lang="en-US" sz="1150" dirty="0"/>
          </a:p>
        </p:txBody>
      </p:sp>
      <p:sp>
        <p:nvSpPr>
          <p:cNvPr id="12" name="Shape 8"/>
          <p:cNvSpPr/>
          <p:nvPr/>
        </p:nvSpPr>
        <p:spPr>
          <a:xfrm>
            <a:off x="4434840" y="4160520"/>
            <a:ext cx="3429000" cy="0"/>
          </a:xfrm>
          <a:prstGeom prst="line">
            <a:avLst/>
          </a:prstGeom>
          <a:noFill/>
          <a:ln w="12700">
            <a:solidFill>
              <a:srgbClr val="E4E2DD"/>
            </a:solidFill>
            <a:prstDash val="solid"/>
          </a:ln>
        </p:spPr>
      </p:sp>
      <p:sp>
        <p:nvSpPr>
          <p:cNvPr id="13" name="Text 9"/>
          <p:cNvSpPr/>
          <p:nvPr/>
        </p:nvSpPr>
        <p:spPr>
          <a:xfrm>
            <a:off x="4434840" y="4297680"/>
            <a:ext cx="3429000" cy="1188720"/>
          </a:xfrm>
          <a:prstGeom prst="rect">
            <a:avLst/>
          </a:prstGeom>
          <a:noFill/>
          <a:ln/>
        </p:spPr>
        <p:txBody>
          <a:bodyPr wrap="square" lIns="0" tIns="0" rIns="0" bIns="0" rtlCol="0" anchor="ctr"/>
          <a:lstStyle/>
          <a:p>
            <a:pPr indent="0" marL="0">
              <a:buNone/>
            </a:pPr>
            <a:r>
              <a:rPr lang="en-US" sz="1150" i="1" dirty="0">
                <a:solidFill>
                  <a:srgbClr val="1F4D3A"/>
                </a:solidFill>
                <a:latin typeface="Calibri" pitchFamily="34" charset="0"/>
                <a:ea typeface="Calibri" pitchFamily="34" charset="-122"/>
                <a:cs typeface="Calibri" pitchFamily="34" charset="-120"/>
              </a:rPr>
              <a:t>“Tu operación debe poder responder cuando la ocupación cambia.”</a:t>
            </a:r>
            <a:endParaRPr lang="en-US" sz="1150" dirty="0"/>
          </a:p>
        </p:txBody>
      </p:sp>
      <p:pic>
        <p:nvPicPr>
          <p:cNvPr id="14" name="Image 2" descr="/tmp/entregadelchef_build/icons/package_green.png">    </p:cNvPr>
          <p:cNvPicPr>
            <a:picLocks noChangeAspect="1"/>
          </p:cNvPicPr>
          <p:nvPr/>
        </p:nvPicPr>
        <p:blipFill>
          <a:blip r:embed="rId3"/>
          <a:stretch>
            <a:fillRect/>
          </a:stretch>
        </p:blipFill>
        <p:spPr>
          <a:xfrm>
            <a:off x="8046720" y="2103120"/>
            <a:ext cx="411480" cy="411480"/>
          </a:xfrm>
          <a:prstGeom prst="rect">
            <a:avLst/>
          </a:prstGeom>
        </p:spPr>
      </p:pic>
      <p:sp>
        <p:nvSpPr>
          <p:cNvPr id="15" name="Text 10"/>
          <p:cNvSpPr/>
          <p:nvPr/>
        </p:nvSpPr>
        <p:spPr>
          <a:xfrm>
            <a:off x="8595360" y="2121408"/>
            <a:ext cx="2880360" cy="365760"/>
          </a:xfrm>
          <a:prstGeom prst="rect">
            <a:avLst/>
          </a:prstGeom>
          <a:noFill/>
          <a:ln/>
        </p:spPr>
        <p:txBody>
          <a:bodyPr wrap="square" lIns="0" tIns="0" rIns="0" bIns="0" rtlCol="0" anchor="ctr"/>
          <a:lstStyle/>
          <a:p>
            <a:pPr indent="0" marL="0">
              <a:buNone/>
            </a:pPr>
            <a:r>
              <a:rPr lang="en-US" sz="1400" b="1" spc="50" kern="0" dirty="0">
                <a:solidFill>
                  <a:srgbClr val="1A1A1A"/>
                </a:solidFill>
                <a:latin typeface="Calibri" pitchFamily="34" charset="0"/>
                <a:ea typeface="Calibri" pitchFamily="34" charset="-122"/>
                <a:cs typeface="Calibri" pitchFamily="34" charset="-120"/>
              </a:rPr>
              <a:t>CATERING</a:t>
            </a:r>
            <a:endParaRPr lang="en-US" sz="1400" dirty="0"/>
          </a:p>
        </p:txBody>
      </p:sp>
      <p:sp>
        <p:nvSpPr>
          <p:cNvPr id="16" name="Text 11"/>
          <p:cNvSpPr/>
          <p:nvPr/>
        </p:nvSpPr>
        <p:spPr>
          <a:xfrm>
            <a:off x="8046720" y="2651760"/>
            <a:ext cx="3429000" cy="1371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Eventos grandes</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Pedidos simultáneos</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Capacidad limitada</a:t>
            </a:r>
            <a:endParaRPr lang="en-US" sz="1150" dirty="0"/>
          </a:p>
          <a:p>
            <a:pPr marL="342900" indent="-342900">
              <a:spcAft>
                <a:spcPts val="600"/>
              </a:spcAft>
              <a:buSzPct val="100000"/>
              <a:buChar char="•"/>
            </a:pPr>
            <a:r>
              <a:rPr lang="en-US" sz="1150" dirty="0">
                <a:solidFill>
                  <a:srgbClr val="6B6B66"/>
                </a:solidFill>
                <a:latin typeface="Calibri" pitchFamily="34" charset="0"/>
                <a:ea typeface="Calibri" pitchFamily="34" charset="-122"/>
                <a:cs typeface="Calibri" pitchFamily="34" charset="-120"/>
              </a:rPr>
              <a:t>Respaldo operativo</a:t>
            </a:r>
            <a:endParaRPr lang="en-US" sz="1150" dirty="0"/>
          </a:p>
        </p:txBody>
      </p:sp>
      <p:sp>
        <p:nvSpPr>
          <p:cNvPr id="17" name="Shape 12"/>
          <p:cNvSpPr/>
          <p:nvPr/>
        </p:nvSpPr>
        <p:spPr>
          <a:xfrm>
            <a:off x="8046720" y="4160520"/>
            <a:ext cx="3429000" cy="0"/>
          </a:xfrm>
          <a:prstGeom prst="line">
            <a:avLst/>
          </a:prstGeom>
          <a:noFill/>
          <a:ln w="12700">
            <a:solidFill>
              <a:srgbClr val="E4E2DD"/>
            </a:solidFill>
            <a:prstDash val="solid"/>
          </a:ln>
        </p:spPr>
      </p:sp>
      <p:sp>
        <p:nvSpPr>
          <p:cNvPr id="18" name="Text 13"/>
          <p:cNvSpPr/>
          <p:nvPr/>
        </p:nvSpPr>
        <p:spPr>
          <a:xfrm>
            <a:off x="8046720" y="4297680"/>
            <a:ext cx="3429000" cy="1188720"/>
          </a:xfrm>
          <a:prstGeom prst="rect">
            <a:avLst/>
          </a:prstGeom>
          <a:noFill/>
          <a:ln/>
        </p:spPr>
        <p:txBody>
          <a:bodyPr wrap="square" lIns="0" tIns="0" rIns="0" bIns="0" rtlCol="0" anchor="ctr"/>
          <a:lstStyle/>
          <a:p>
            <a:pPr indent="0" marL="0">
              <a:buNone/>
            </a:pPr>
            <a:r>
              <a:rPr lang="en-US" sz="1150" i="1" dirty="0">
                <a:solidFill>
                  <a:srgbClr val="1F4D3A"/>
                </a:solidFill>
                <a:latin typeface="Calibri" pitchFamily="34" charset="0"/>
                <a:ea typeface="Calibri" pitchFamily="34" charset="-122"/>
                <a:cs typeface="Calibri" pitchFamily="34" charset="-120"/>
              </a:rPr>
              <a:t>“Cuando el evento crece, tu capacidad de producción también debe hacerlo.”</a:t>
            </a:r>
            <a:endParaRPr lang="en-US" sz="1150" dirty="0"/>
          </a:p>
        </p:txBody>
      </p:sp>
      <p:sp>
        <p:nvSpPr>
          <p:cNvPr id="19" name="Text 14"/>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4"/>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CONFIANZA</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La calidad no es un adorno. Es un argumento.</a:t>
            </a:r>
            <a:endParaRPr lang="en-US" sz="3000" dirty="0"/>
          </a:p>
        </p:txBody>
      </p:sp>
      <p:sp>
        <p:nvSpPr>
          <p:cNvPr id="4" name="Shape 2"/>
          <p:cNvSpPr/>
          <p:nvPr/>
        </p:nvSpPr>
        <p:spPr>
          <a:xfrm>
            <a:off x="822960" y="2286000"/>
            <a:ext cx="1965960" cy="1371600"/>
          </a:xfrm>
          <a:prstGeom prst="roundRect">
            <a:avLst>
              <a:gd name="adj" fmla="val 4000"/>
            </a:avLst>
          </a:prstGeom>
          <a:solidFill>
            <a:srgbClr val="FFFFFF"/>
          </a:solidFill>
          <a:ln/>
        </p:spPr>
      </p:sp>
      <p:pic>
        <p:nvPicPr>
          <p:cNvPr id="5" name="Image 0" descr="/tmp/entregadelchef_build/icons/shield_green.png">    </p:cNvPr>
          <p:cNvPicPr>
            <a:picLocks noChangeAspect="1"/>
          </p:cNvPicPr>
          <p:nvPr/>
        </p:nvPicPr>
        <p:blipFill>
          <a:blip r:embed="rId1"/>
          <a:stretch>
            <a:fillRect/>
          </a:stretch>
        </p:blipFill>
        <p:spPr>
          <a:xfrm>
            <a:off x="1604772" y="2487168"/>
            <a:ext cx="402336" cy="402336"/>
          </a:xfrm>
          <a:prstGeom prst="rect">
            <a:avLst/>
          </a:prstGeom>
        </p:spPr>
      </p:pic>
      <p:sp>
        <p:nvSpPr>
          <p:cNvPr id="6" name="Text 3"/>
          <p:cNvSpPr/>
          <p:nvPr/>
        </p:nvSpPr>
        <p:spPr>
          <a:xfrm>
            <a:off x="914400" y="3063240"/>
            <a:ext cx="1783080" cy="50292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INVIMA</a:t>
            </a:r>
            <a:endParaRPr lang="en-US" sz="1150" dirty="0"/>
          </a:p>
        </p:txBody>
      </p:sp>
      <p:sp>
        <p:nvSpPr>
          <p:cNvPr id="7" name="Shape 4"/>
          <p:cNvSpPr/>
          <p:nvPr/>
        </p:nvSpPr>
        <p:spPr>
          <a:xfrm>
            <a:off x="2926080" y="2286000"/>
            <a:ext cx="1965960" cy="1371600"/>
          </a:xfrm>
          <a:prstGeom prst="roundRect">
            <a:avLst>
              <a:gd name="adj" fmla="val 4000"/>
            </a:avLst>
          </a:prstGeom>
          <a:solidFill>
            <a:srgbClr val="FFFFFF"/>
          </a:solidFill>
          <a:ln/>
        </p:spPr>
      </p:sp>
      <p:pic>
        <p:nvPicPr>
          <p:cNvPr id="8" name="Image 1" descr="/tmp/entregadelchef_build/icons/award_green.png">    </p:cNvPr>
          <p:cNvPicPr>
            <a:picLocks noChangeAspect="1"/>
          </p:cNvPicPr>
          <p:nvPr/>
        </p:nvPicPr>
        <p:blipFill>
          <a:blip r:embed="rId2"/>
          <a:stretch>
            <a:fillRect/>
          </a:stretch>
        </p:blipFill>
        <p:spPr>
          <a:xfrm>
            <a:off x="3707892" y="2487168"/>
            <a:ext cx="402336" cy="402336"/>
          </a:xfrm>
          <a:prstGeom prst="rect">
            <a:avLst/>
          </a:prstGeom>
        </p:spPr>
      </p:pic>
      <p:sp>
        <p:nvSpPr>
          <p:cNvPr id="9" name="Text 5"/>
          <p:cNvSpPr/>
          <p:nvPr/>
        </p:nvSpPr>
        <p:spPr>
          <a:xfrm>
            <a:off x="3017520" y="3063240"/>
            <a:ext cx="1783080" cy="50292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BPM</a:t>
            </a:r>
            <a:endParaRPr lang="en-US" sz="1150" dirty="0"/>
          </a:p>
        </p:txBody>
      </p:sp>
      <p:sp>
        <p:nvSpPr>
          <p:cNvPr id="10" name="Shape 6"/>
          <p:cNvSpPr/>
          <p:nvPr/>
        </p:nvSpPr>
        <p:spPr>
          <a:xfrm>
            <a:off x="5029200" y="2286000"/>
            <a:ext cx="1965960" cy="1371600"/>
          </a:xfrm>
          <a:prstGeom prst="roundRect">
            <a:avLst>
              <a:gd name="adj" fmla="val 4000"/>
            </a:avLst>
          </a:prstGeom>
          <a:solidFill>
            <a:srgbClr val="FFFFFF"/>
          </a:solidFill>
          <a:ln/>
        </p:spPr>
      </p:sp>
      <p:pic>
        <p:nvPicPr>
          <p:cNvPr id="11" name="Image 2" descr="/tmp/entregadelchef_build/icons/thermometer_green.png">    </p:cNvPr>
          <p:cNvPicPr>
            <a:picLocks noChangeAspect="1"/>
          </p:cNvPicPr>
          <p:nvPr/>
        </p:nvPicPr>
        <p:blipFill>
          <a:blip r:embed="rId3"/>
          <a:stretch>
            <a:fillRect/>
          </a:stretch>
        </p:blipFill>
        <p:spPr>
          <a:xfrm>
            <a:off x="5811012" y="2487168"/>
            <a:ext cx="402336" cy="402336"/>
          </a:xfrm>
          <a:prstGeom prst="rect">
            <a:avLst/>
          </a:prstGeom>
        </p:spPr>
      </p:pic>
      <p:sp>
        <p:nvSpPr>
          <p:cNvPr id="12" name="Text 7"/>
          <p:cNvSpPr/>
          <p:nvPr/>
        </p:nvSpPr>
        <p:spPr>
          <a:xfrm>
            <a:off x="5120640" y="3063240"/>
            <a:ext cx="1783080" cy="50292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Cadena de frío</a:t>
            </a:r>
            <a:endParaRPr lang="en-US" sz="1150" dirty="0"/>
          </a:p>
        </p:txBody>
      </p:sp>
      <p:sp>
        <p:nvSpPr>
          <p:cNvPr id="13" name="Shape 8"/>
          <p:cNvSpPr/>
          <p:nvPr/>
        </p:nvSpPr>
        <p:spPr>
          <a:xfrm>
            <a:off x="7132320" y="2286000"/>
            <a:ext cx="1965960" cy="1371600"/>
          </a:xfrm>
          <a:prstGeom prst="roundRect">
            <a:avLst>
              <a:gd name="adj" fmla="val 4000"/>
            </a:avLst>
          </a:prstGeom>
          <a:solidFill>
            <a:srgbClr val="FFFFFF"/>
          </a:solidFill>
          <a:ln/>
        </p:spPr>
      </p:sp>
      <p:pic>
        <p:nvPicPr>
          <p:cNvPr id="14" name="Image 3" descr="/tmp/entregadelchef_build/icons/layers_green.png">    </p:cNvPr>
          <p:cNvPicPr>
            <a:picLocks noChangeAspect="1"/>
          </p:cNvPicPr>
          <p:nvPr/>
        </p:nvPicPr>
        <p:blipFill>
          <a:blip r:embed="rId4"/>
          <a:stretch>
            <a:fillRect/>
          </a:stretch>
        </p:blipFill>
        <p:spPr>
          <a:xfrm>
            <a:off x="7914132" y="2487168"/>
            <a:ext cx="402336" cy="402336"/>
          </a:xfrm>
          <a:prstGeom prst="rect">
            <a:avLst/>
          </a:prstGeom>
        </p:spPr>
      </p:pic>
      <p:sp>
        <p:nvSpPr>
          <p:cNvPr id="15" name="Text 9"/>
          <p:cNvSpPr/>
          <p:nvPr/>
        </p:nvSpPr>
        <p:spPr>
          <a:xfrm>
            <a:off x="7223760" y="3063240"/>
            <a:ext cx="1783080" cy="50292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Procesos de producción</a:t>
            </a:r>
            <a:endParaRPr lang="en-US" sz="1150" dirty="0"/>
          </a:p>
        </p:txBody>
      </p:sp>
      <p:sp>
        <p:nvSpPr>
          <p:cNvPr id="16" name="Shape 10"/>
          <p:cNvSpPr/>
          <p:nvPr/>
        </p:nvSpPr>
        <p:spPr>
          <a:xfrm>
            <a:off x="9235440" y="2286000"/>
            <a:ext cx="1965960" cy="1371600"/>
          </a:xfrm>
          <a:prstGeom prst="roundRect">
            <a:avLst>
              <a:gd name="adj" fmla="val 4000"/>
            </a:avLst>
          </a:prstGeom>
          <a:solidFill>
            <a:srgbClr val="FFFFFF"/>
          </a:solidFill>
          <a:ln/>
        </p:spPr>
      </p:sp>
      <p:pic>
        <p:nvPicPr>
          <p:cNvPr id="17" name="Image 4" descr="/tmp/entregadelchef_build/icons/check_green.png">    </p:cNvPr>
          <p:cNvPicPr>
            <a:picLocks noChangeAspect="1"/>
          </p:cNvPicPr>
          <p:nvPr/>
        </p:nvPicPr>
        <p:blipFill>
          <a:blip r:embed="rId5"/>
          <a:stretch>
            <a:fillRect/>
          </a:stretch>
        </p:blipFill>
        <p:spPr>
          <a:xfrm>
            <a:off x="10017252" y="2487168"/>
            <a:ext cx="402336" cy="402336"/>
          </a:xfrm>
          <a:prstGeom prst="rect">
            <a:avLst/>
          </a:prstGeom>
        </p:spPr>
      </p:pic>
      <p:sp>
        <p:nvSpPr>
          <p:cNvPr id="18" name="Text 11"/>
          <p:cNvSpPr/>
          <p:nvPr/>
        </p:nvSpPr>
        <p:spPr>
          <a:xfrm>
            <a:off x="9326880" y="3063240"/>
            <a:ext cx="1783080" cy="50292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Estándares de calidad</a:t>
            </a:r>
            <a:endParaRPr lang="en-US" sz="1150" dirty="0"/>
          </a:p>
        </p:txBody>
      </p:sp>
      <p:sp>
        <p:nvSpPr>
          <p:cNvPr id="19" name="Shape 12"/>
          <p:cNvSpPr/>
          <p:nvPr/>
        </p:nvSpPr>
        <p:spPr>
          <a:xfrm>
            <a:off x="822960" y="4114800"/>
            <a:ext cx="10515600" cy="1371600"/>
          </a:xfrm>
          <a:prstGeom prst="roundRect">
            <a:avLst>
              <a:gd name="adj" fmla="val 4000"/>
            </a:avLst>
          </a:prstGeom>
          <a:solidFill>
            <a:srgbClr val="1A1A1A"/>
          </a:solidFill>
          <a:ln/>
        </p:spPr>
      </p:sp>
      <p:sp>
        <p:nvSpPr>
          <p:cNvPr id="20" name="Text 13"/>
          <p:cNvSpPr/>
          <p:nvPr/>
        </p:nvSpPr>
        <p:spPr>
          <a:xfrm>
            <a:off x="1188720" y="4114800"/>
            <a:ext cx="9784080" cy="1371600"/>
          </a:xfrm>
          <a:prstGeom prst="rect">
            <a:avLst/>
          </a:prstGeom>
          <a:noFill/>
          <a:ln/>
        </p:spPr>
        <p:txBody>
          <a:bodyPr wrap="square" lIns="0" tIns="0" rIns="0" bIns="0" rtlCol="0" anchor="ctr"/>
          <a:lstStyle/>
          <a:p>
            <a:pPr indent="0" marL="0">
              <a:buNone/>
            </a:pPr>
            <a:r>
              <a:rPr lang="en-US" sz="1500" b="1" dirty="0">
                <a:solidFill>
                  <a:srgbClr val="CFE0D6"/>
                </a:solidFill>
                <a:latin typeface="Calibri" pitchFamily="34" charset="0"/>
                <a:ea typeface="Calibri" pitchFamily="34" charset="-122"/>
                <a:cs typeface="Calibri" pitchFamily="34" charset="-120"/>
              </a:rPr>
              <a:t>Problema → necesidad   </a:t>
            </a:r>
            <a:pPr indent="0" marL="0">
              <a:buNone/>
            </a:pPr>
            <a:r>
              <a:rPr lang="en-US" sz="1500" dirty="0">
                <a:solidFill>
                  <a:srgbClr val="C9C9C6"/>
                </a:solidFill>
                <a:latin typeface="Calibri" pitchFamily="34" charset="0"/>
                <a:ea typeface="Calibri" pitchFamily="34" charset="-122"/>
                <a:cs typeface="Calibri" pitchFamily="34" charset="-120"/>
              </a:rPr>
              <a:t>primero.   </a:t>
            </a:r>
            <a:pPr indent="0" marL="0">
              <a:buNone/>
            </a:pPr>
            <a:r>
              <a:rPr lang="en-US" sz="1500" b="1" dirty="0">
                <a:solidFill>
                  <a:srgbClr val="CFE0D6"/>
                </a:solidFill>
                <a:latin typeface="Calibri" pitchFamily="34" charset="0"/>
                <a:ea typeface="Calibri" pitchFamily="34" charset="-122"/>
                <a:cs typeface="Calibri" pitchFamily="34" charset="-120"/>
              </a:rPr>
              <a:t>Solución → capacidad → respaldo → confianza   </a:t>
            </a:r>
            <a:pPr indent="0" marL="0">
              <a:buNone/>
            </a:pPr>
            <a:r>
              <a:rPr lang="en-US" sz="1500" dirty="0">
                <a:solidFill>
                  <a:srgbClr val="C9C9C6"/>
                </a:solidFill>
                <a:latin typeface="Calibri" pitchFamily="34" charset="0"/>
                <a:ea typeface="Calibri" pitchFamily="34" charset="-122"/>
                <a:cs typeface="Calibri" pitchFamily="34" charset="-120"/>
              </a:rPr>
              <a:t>después.</a:t>
            </a:r>
            <a:endParaRPr lang="en-US" sz="1500" dirty="0"/>
          </a:p>
        </p:txBody>
      </p:sp>
      <p:sp>
        <p:nvSpPr>
          <p:cNvPr id="21" name="Text 14"/>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EL SISTEMA</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2700" b="1" dirty="0">
                <a:solidFill>
                  <a:srgbClr val="1A1A1A"/>
                </a:solidFill>
                <a:latin typeface="Cambria" pitchFamily="34" charset="0"/>
                <a:ea typeface="Cambria" pitchFamily="34" charset="-122"/>
                <a:cs typeface="Cambria" pitchFamily="34" charset="-120"/>
              </a:rPr>
              <a:t>El nuevo recorrido del cliente</a:t>
            </a:r>
            <a:endParaRPr lang="en-US" sz="2700" dirty="0"/>
          </a:p>
        </p:txBody>
      </p:sp>
      <p:pic>
        <p:nvPicPr>
          <p:cNvPr id="4" name="Image 0" descr="/tmp/entregadelchef_build/icons/zap_green.png">    </p:cNvPr>
          <p:cNvPicPr>
            <a:picLocks noChangeAspect="1"/>
          </p:cNvPicPr>
          <p:nvPr/>
        </p:nvPicPr>
        <p:blipFill>
          <a:blip r:embed="rId1"/>
          <a:stretch>
            <a:fillRect/>
          </a:stretch>
        </p:blipFill>
        <p:spPr>
          <a:xfrm>
            <a:off x="1623060" y="2148840"/>
            <a:ext cx="365760" cy="365760"/>
          </a:xfrm>
          <a:prstGeom prst="rect">
            <a:avLst/>
          </a:prstGeom>
        </p:spPr>
      </p:pic>
      <p:sp>
        <p:nvSpPr>
          <p:cNvPr id="5" name="Text 2"/>
          <p:cNvSpPr/>
          <p:nvPr/>
        </p:nvSpPr>
        <p:spPr>
          <a:xfrm>
            <a:off x="822960" y="26517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1. Meta Ads</a:t>
            </a:r>
            <a:endParaRPr lang="en-US" sz="1100" dirty="0"/>
          </a:p>
        </p:txBody>
      </p:sp>
      <p:pic>
        <p:nvPicPr>
          <p:cNvPr id="6" name="Image 1" descr="/tmp/entregadelchef_build/icons/arrowRight_muted.png">    </p:cNvPr>
          <p:cNvPicPr>
            <a:picLocks noChangeAspect="1"/>
          </p:cNvPicPr>
          <p:nvPr/>
        </p:nvPicPr>
        <p:blipFill>
          <a:blip r:embed="rId2"/>
          <a:stretch>
            <a:fillRect/>
          </a:stretch>
        </p:blipFill>
        <p:spPr>
          <a:xfrm>
            <a:off x="2793492" y="2240280"/>
            <a:ext cx="182880" cy="182880"/>
          </a:xfrm>
          <a:prstGeom prst="rect">
            <a:avLst/>
          </a:prstGeom>
        </p:spPr>
      </p:pic>
      <p:pic>
        <p:nvPicPr>
          <p:cNvPr id="7" name="Image 2" descr="/tmp/entregadelchef_build/icons/send_green.png">    </p:cNvPr>
          <p:cNvPicPr>
            <a:picLocks noChangeAspect="1"/>
          </p:cNvPicPr>
          <p:nvPr/>
        </p:nvPicPr>
        <p:blipFill>
          <a:blip r:embed="rId3"/>
          <a:stretch>
            <a:fillRect/>
          </a:stretch>
        </p:blipFill>
        <p:spPr>
          <a:xfrm>
            <a:off x="3680460" y="2148840"/>
            <a:ext cx="365760" cy="365760"/>
          </a:xfrm>
          <a:prstGeom prst="rect">
            <a:avLst/>
          </a:prstGeom>
        </p:spPr>
      </p:pic>
      <p:sp>
        <p:nvSpPr>
          <p:cNvPr id="8" name="Text 3"/>
          <p:cNvSpPr/>
          <p:nvPr/>
        </p:nvSpPr>
        <p:spPr>
          <a:xfrm>
            <a:off x="2880360" y="26517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2. Presentación</a:t>
            </a:r>
            <a:endParaRPr lang="en-US" sz="1100" dirty="0"/>
          </a:p>
        </p:txBody>
      </p:sp>
      <p:pic>
        <p:nvPicPr>
          <p:cNvPr id="9" name="Image 3" descr="/tmp/entregadelchef_build/icons/arrowRight_muted.png">    </p:cNvPr>
          <p:cNvPicPr>
            <a:picLocks noChangeAspect="1"/>
          </p:cNvPicPr>
          <p:nvPr/>
        </p:nvPicPr>
        <p:blipFill>
          <a:blip r:embed="rId4"/>
          <a:stretch>
            <a:fillRect/>
          </a:stretch>
        </p:blipFill>
        <p:spPr>
          <a:xfrm>
            <a:off x="4850892" y="2240280"/>
            <a:ext cx="182880" cy="182880"/>
          </a:xfrm>
          <a:prstGeom prst="rect">
            <a:avLst/>
          </a:prstGeom>
        </p:spPr>
      </p:pic>
      <p:pic>
        <p:nvPicPr>
          <p:cNvPr id="10" name="Image 4" descr="/tmp/entregadelchef_build/icons/help_green.png">    </p:cNvPr>
          <p:cNvPicPr>
            <a:picLocks noChangeAspect="1"/>
          </p:cNvPicPr>
          <p:nvPr/>
        </p:nvPicPr>
        <p:blipFill>
          <a:blip r:embed="rId5"/>
          <a:stretch>
            <a:fillRect/>
          </a:stretch>
        </p:blipFill>
        <p:spPr>
          <a:xfrm>
            <a:off x="5737860" y="2148840"/>
            <a:ext cx="365760" cy="365760"/>
          </a:xfrm>
          <a:prstGeom prst="rect">
            <a:avLst/>
          </a:prstGeom>
        </p:spPr>
      </p:pic>
      <p:sp>
        <p:nvSpPr>
          <p:cNvPr id="11" name="Text 4"/>
          <p:cNvSpPr/>
          <p:nvPr/>
        </p:nvSpPr>
        <p:spPr>
          <a:xfrm>
            <a:off x="4937760" y="26517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3. Interés</a:t>
            </a:r>
            <a:endParaRPr lang="en-US" sz="1100" dirty="0"/>
          </a:p>
        </p:txBody>
      </p:sp>
      <p:pic>
        <p:nvPicPr>
          <p:cNvPr id="12" name="Image 5" descr="/tmp/entregadelchef_build/icons/arrowRight_muted.png">    </p:cNvPr>
          <p:cNvPicPr>
            <a:picLocks noChangeAspect="1"/>
          </p:cNvPicPr>
          <p:nvPr/>
        </p:nvPicPr>
        <p:blipFill>
          <a:blip r:embed="rId6"/>
          <a:stretch>
            <a:fillRect/>
          </a:stretch>
        </p:blipFill>
        <p:spPr>
          <a:xfrm>
            <a:off x="6908292" y="2240280"/>
            <a:ext cx="182880" cy="182880"/>
          </a:xfrm>
          <a:prstGeom prst="rect">
            <a:avLst/>
          </a:prstGeom>
        </p:spPr>
      </p:pic>
      <p:pic>
        <p:nvPicPr>
          <p:cNvPr id="13" name="Image 6" descr="/tmp/entregadelchef_build/icons/clipboard_green.png">    </p:cNvPr>
          <p:cNvPicPr>
            <a:picLocks noChangeAspect="1"/>
          </p:cNvPicPr>
          <p:nvPr/>
        </p:nvPicPr>
        <p:blipFill>
          <a:blip r:embed="rId7"/>
          <a:stretch>
            <a:fillRect/>
          </a:stretch>
        </p:blipFill>
        <p:spPr>
          <a:xfrm>
            <a:off x="7795260" y="2148840"/>
            <a:ext cx="365760" cy="365760"/>
          </a:xfrm>
          <a:prstGeom prst="rect">
            <a:avLst/>
          </a:prstGeom>
        </p:spPr>
      </p:pic>
      <p:sp>
        <p:nvSpPr>
          <p:cNvPr id="14" name="Text 5"/>
          <p:cNvSpPr/>
          <p:nvPr/>
        </p:nvSpPr>
        <p:spPr>
          <a:xfrm>
            <a:off x="6995160" y="26517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4. Formulario</a:t>
            </a:r>
            <a:endParaRPr lang="en-US" sz="1100" dirty="0"/>
          </a:p>
        </p:txBody>
      </p:sp>
      <p:pic>
        <p:nvPicPr>
          <p:cNvPr id="15" name="Image 7" descr="/tmp/entregadelchef_build/icons/arrowRight_muted.png">    </p:cNvPr>
          <p:cNvPicPr>
            <a:picLocks noChangeAspect="1"/>
          </p:cNvPicPr>
          <p:nvPr/>
        </p:nvPicPr>
        <p:blipFill>
          <a:blip r:embed="rId8"/>
          <a:stretch>
            <a:fillRect/>
          </a:stretch>
        </p:blipFill>
        <p:spPr>
          <a:xfrm>
            <a:off x="8965692" y="2240280"/>
            <a:ext cx="182880" cy="182880"/>
          </a:xfrm>
          <a:prstGeom prst="rect">
            <a:avLst/>
          </a:prstGeom>
        </p:spPr>
      </p:pic>
      <p:pic>
        <p:nvPicPr>
          <p:cNvPr id="16" name="Image 8" descr="/tmp/entregadelchef_build/icons/filter_green.png">    </p:cNvPr>
          <p:cNvPicPr>
            <a:picLocks noChangeAspect="1"/>
          </p:cNvPicPr>
          <p:nvPr/>
        </p:nvPicPr>
        <p:blipFill>
          <a:blip r:embed="rId9"/>
          <a:stretch>
            <a:fillRect/>
          </a:stretch>
        </p:blipFill>
        <p:spPr>
          <a:xfrm>
            <a:off x="9852660" y="2148840"/>
            <a:ext cx="365760" cy="365760"/>
          </a:xfrm>
          <a:prstGeom prst="rect">
            <a:avLst/>
          </a:prstGeom>
        </p:spPr>
      </p:pic>
      <p:sp>
        <p:nvSpPr>
          <p:cNvPr id="17" name="Text 6"/>
          <p:cNvSpPr/>
          <p:nvPr/>
        </p:nvSpPr>
        <p:spPr>
          <a:xfrm>
            <a:off x="9052560" y="26517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5. Calificación</a:t>
            </a:r>
            <a:endParaRPr lang="en-US" sz="1100" dirty="0"/>
          </a:p>
        </p:txBody>
      </p:sp>
      <p:pic>
        <p:nvPicPr>
          <p:cNvPr id="18" name="Image 9" descr="/tmp/entregadelchef_build/icons/message_green.png">    </p:cNvPr>
          <p:cNvPicPr>
            <a:picLocks noChangeAspect="1"/>
          </p:cNvPicPr>
          <p:nvPr/>
        </p:nvPicPr>
        <p:blipFill>
          <a:blip r:embed="rId10"/>
          <a:stretch>
            <a:fillRect/>
          </a:stretch>
        </p:blipFill>
        <p:spPr>
          <a:xfrm>
            <a:off x="1623060" y="3977640"/>
            <a:ext cx="365760" cy="365760"/>
          </a:xfrm>
          <a:prstGeom prst="rect">
            <a:avLst/>
          </a:prstGeom>
        </p:spPr>
      </p:pic>
      <p:sp>
        <p:nvSpPr>
          <p:cNvPr id="19" name="Text 7"/>
          <p:cNvSpPr/>
          <p:nvPr/>
        </p:nvSpPr>
        <p:spPr>
          <a:xfrm>
            <a:off x="822960" y="44805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6. WhatsApp / asesor</a:t>
            </a:r>
            <a:endParaRPr lang="en-US" sz="1100" dirty="0"/>
          </a:p>
        </p:txBody>
      </p:sp>
      <p:pic>
        <p:nvPicPr>
          <p:cNvPr id="20" name="Image 10" descr="/tmp/entregadelchef_build/icons/arrowRight_muted.png">    </p:cNvPr>
          <p:cNvPicPr>
            <a:picLocks noChangeAspect="1"/>
          </p:cNvPicPr>
          <p:nvPr/>
        </p:nvPicPr>
        <p:blipFill>
          <a:blip r:embed="rId11"/>
          <a:stretch>
            <a:fillRect/>
          </a:stretch>
        </p:blipFill>
        <p:spPr>
          <a:xfrm>
            <a:off x="2793492" y="4069080"/>
            <a:ext cx="182880" cy="182880"/>
          </a:xfrm>
          <a:prstGeom prst="rect">
            <a:avLst/>
          </a:prstGeom>
        </p:spPr>
      </p:pic>
      <p:pic>
        <p:nvPicPr>
          <p:cNvPr id="21" name="Image 11" descr="/tmp/entregadelchef_build/icons/search_green.png">    </p:cNvPr>
          <p:cNvPicPr>
            <a:picLocks noChangeAspect="1"/>
          </p:cNvPicPr>
          <p:nvPr/>
        </p:nvPicPr>
        <p:blipFill>
          <a:blip r:embed="rId12"/>
          <a:stretch>
            <a:fillRect/>
          </a:stretch>
        </p:blipFill>
        <p:spPr>
          <a:xfrm>
            <a:off x="3680460" y="3977640"/>
            <a:ext cx="365760" cy="365760"/>
          </a:xfrm>
          <a:prstGeom prst="rect">
            <a:avLst/>
          </a:prstGeom>
        </p:spPr>
      </p:pic>
      <p:sp>
        <p:nvSpPr>
          <p:cNvPr id="22" name="Text 8"/>
          <p:cNvSpPr/>
          <p:nvPr/>
        </p:nvSpPr>
        <p:spPr>
          <a:xfrm>
            <a:off x="2880360" y="44805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7. Diagnóstico</a:t>
            </a:r>
            <a:endParaRPr lang="en-US" sz="1100" dirty="0"/>
          </a:p>
        </p:txBody>
      </p:sp>
      <p:pic>
        <p:nvPicPr>
          <p:cNvPr id="23" name="Image 12" descr="/tmp/entregadelchef_build/icons/arrowRight_muted.png">    </p:cNvPr>
          <p:cNvPicPr>
            <a:picLocks noChangeAspect="1"/>
          </p:cNvPicPr>
          <p:nvPr/>
        </p:nvPicPr>
        <p:blipFill>
          <a:blip r:embed="rId13"/>
          <a:stretch>
            <a:fillRect/>
          </a:stretch>
        </p:blipFill>
        <p:spPr>
          <a:xfrm>
            <a:off x="4850892" y="4069080"/>
            <a:ext cx="182880" cy="182880"/>
          </a:xfrm>
          <a:prstGeom prst="rect">
            <a:avLst/>
          </a:prstGeom>
        </p:spPr>
      </p:pic>
      <p:pic>
        <p:nvPicPr>
          <p:cNvPr id="24" name="Image 13" descr="/tmp/entregadelchef_build/icons/file_green.png">    </p:cNvPr>
          <p:cNvPicPr>
            <a:picLocks noChangeAspect="1"/>
          </p:cNvPicPr>
          <p:nvPr/>
        </p:nvPicPr>
        <p:blipFill>
          <a:blip r:embed="rId14"/>
          <a:stretch>
            <a:fillRect/>
          </a:stretch>
        </p:blipFill>
        <p:spPr>
          <a:xfrm>
            <a:off x="5737860" y="3977640"/>
            <a:ext cx="365760" cy="365760"/>
          </a:xfrm>
          <a:prstGeom prst="rect">
            <a:avLst/>
          </a:prstGeom>
        </p:spPr>
      </p:pic>
      <p:sp>
        <p:nvSpPr>
          <p:cNvPr id="25" name="Text 9"/>
          <p:cNvSpPr/>
          <p:nvPr/>
        </p:nvSpPr>
        <p:spPr>
          <a:xfrm>
            <a:off x="4937760" y="44805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8. Propuesta</a:t>
            </a:r>
            <a:endParaRPr lang="en-US" sz="1100" dirty="0"/>
          </a:p>
        </p:txBody>
      </p:sp>
      <p:pic>
        <p:nvPicPr>
          <p:cNvPr id="26" name="Image 14" descr="/tmp/entregadelchef_build/icons/arrowRight_muted.png">    </p:cNvPr>
          <p:cNvPicPr>
            <a:picLocks noChangeAspect="1"/>
          </p:cNvPicPr>
          <p:nvPr/>
        </p:nvPicPr>
        <p:blipFill>
          <a:blip r:embed="rId15"/>
          <a:stretch>
            <a:fillRect/>
          </a:stretch>
        </p:blipFill>
        <p:spPr>
          <a:xfrm>
            <a:off x="6908292" y="4069080"/>
            <a:ext cx="182880" cy="182880"/>
          </a:xfrm>
          <a:prstGeom prst="rect">
            <a:avLst/>
          </a:prstGeom>
        </p:spPr>
      </p:pic>
      <p:pic>
        <p:nvPicPr>
          <p:cNvPr id="27" name="Image 15" descr="/tmp/entregadelchef_build/icons/check_green.png">    </p:cNvPr>
          <p:cNvPicPr>
            <a:picLocks noChangeAspect="1"/>
          </p:cNvPicPr>
          <p:nvPr/>
        </p:nvPicPr>
        <p:blipFill>
          <a:blip r:embed="rId16"/>
          <a:stretch>
            <a:fillRect/>
          </a:stretch>
        </p:blipFill>
        <p:spPr>
          <a:xfrm>
            <a:off x="7795260" y="3977640"/>
            <a:ext cx="365760" cy="365760"/>
          </a:xfrm>
          <a:prstGeom prst="rect">
            <a:avLst/>
          </a:prstGeom>
        </p:spPr>
      </p:pic>
      <p:sp>
        <p:nvSpPr>
          <p:cNvPr id="28" name="Text 10"/>
          <p:cNvSpPr/>
          <p:nvPr/>
        </p:nvSpPr>
        <p:spPr>
          <a:xfrm>
            <a:off x="6995160" y="44805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9. Cliente HORECA</a:t>
            </a:r>
            <a:endParaRPr lang="en-US" sz="1100" dirty="0"/>
          </a:p>
        </p:txBody>
      </p:sp>
      <p:pic>
        <p:nvPicPr>
          <p:cNvPr id="29" name="Image 16" descr="/tmp/entregadelchef_build/icons/arrowRight_muted.png">    </p:cNvPr>
          <p:cNvPicPr>
            <a:picLocks noChangeAspect="1"/>
          </p:cNvPicPr>
          <p:nvPr/>
        </p:nvPicPr>
        <p:blipFill>
          <a:blip r:embed="rId17"/>
          <a:stretch>
            <a:fillRect/>
          </a:stretch>
        </p:blipFill>
        <p:spPr>
          <a:xfrm>
            <a:off x="8965692" y="4069080"/>
            <a:ext cx="182880" cy="182880"/>
          </a:xfrm>
          <a:prstGeom prst="rect">
            <a:avLst/>
          </a:prstGeom>
        </p:spPr>
      </p:pic>
      <p:pic>
        <p:nvPicPr>
          <p:cNvPr id="30" name="Image 17" descr="/tmp/entregadelchef_build/icons/repeat_white.png">    </p:cNvPr>
          <p:cNvPicPr>
            <a:picLocks noChangeAspect="1"/>
          </p:cNvPicPr>
          <p:nvPr/>
        </p:nvPicPr>
        <p:blipFill>
          <a:blip r:embed="rId18"/>
          <a:stretch>
            <a:fillRect/>
          </a:stretch>
        </p:blipFill>
        <p:spPr>
          <a:xfrm>
            <a:off x="9852660" y="3977640"/>
            <a:ext cx="365760" cy="365760"/>
          </a:xfrm>
          <a:prstGeom prst="rect">
            <a:avLst/>
          </a:prstGeom>
        </p:spPr>
      </p:pic>
      <p:sp>
        <p:nvSpPr>
          <p:cNvPr id="31" name="Shape 11"/>
          <p:cNvSpPr/>
          <p:nvPr/>
        </p:nvSpPr>
        <p:spPr>
          <a:xfrm>
            <a:off x="9742932" y="3867912"/>
            <a:ext cx="585216" cy="585216"/>
          </a:xfrm>
          <a:prstGeom prst="roundRect">
            <a:avLst>
              <a:gd name="adj" fmla="val 50000"/>
            </a:avLst>
          </a:prstGeom>
          <a:solidFill>
            <a:srgbClr val="1F4D3A"/>
          </a:solidFill>
          <a:ln/>
        </p:spPr>
      </p:sp>
      <p:pic>
        <p:nvPicPr>
          <p:cNvPr id="32" name="Image 18" descr="/tmp/entregadelchef_build/icons/repeat_white.png">    </p:cNvPr>
          <p:cNvPicPr>
            <a:picLocks noChangeAspect="1"/>
          </p:cNvPicPr>
          <p:nvPr/>
        </p:nvPicPr>
        <p:blipFill>
          <a:blip r:embed="rId19"/>
          <a:stretch>
            <a:fillRect/>
          </a:stretch>
        </p:blipFill>
        <p:spPr>
          <a:xfrm>
            <a:off x="9852660" y="3977640"/>
            <a:ext cx="365760" cy="365760"/>
          </a:xfrm>
          <a:prstGeom prst="rect">
            <a:avLst/>
          </a:prstGeom>
        </p:spPr>
      </p:pic>
      <p:sp>
        <p:nvSpPr>
          <p:cNvPr id="33" name="Text 12"/>
          <p:cNvSpPr/>
          <p:nvPr/>
        </p:nvSpPr>
        <p:spPr>
          <a:xfrm>
            <a:off x="9052560" y="4480560"/>
            <a:ext cx="1965960" cy="4572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10. Recompra</a:t>
            </a:r>
            <a:endParaRPr lang="en-US" sz="1100" dirty="0"/>
          </a:p>
        </p:txBody>
      </p:sp>
      <p:pic>
        <p:nvPicPr>
          <p:cNvPr id="34" name="Image 19" descr="/tmp/entregadelchef_build/icons/arrowDown_muted.png">    </p:cNvPr>
          <p:cNvPicPr>
            <a:picLocks noChangeAspect="1"/>
          </p:cNvPicPr>
          <p:nvPr/>
        </p:nvPicPr>
        <p:blipFill>
          <a:blip r:embed="rId20"/>
          <a:stretch>
            <a:fillRect/>
          </a:stretch>
        </p:blipFill>
        <p:spPr>
          <a:xfrm>
            <a:off x="5820156" y="3593592"/>
            <a:ext cx="201168" cy="201168"/>
          </a:xfrm>
          <a:prstGeom prst="rect">
            <a:avLst/>
          </a:prstGeom>
        </p:spPr>
      </p:pic>
      <p:sp>
        <p:nvSpPr>
          <p:cNvPr id="35" name="Text 13"/>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METODOLOGÍA</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Presentación, Evaluación, Conversión y Ascensión — adaptadas a B2B</a:t>
            </a:r>
            <a:endParaRPr lang="en-US" sz="3000" dirty="0"/>
          </a:p>
        </p:txBody>
      </p:sp>
      <p:sp>
        <p:nvSpPr>
          <p:cNvPr id="4" name="Shape 2"/>
          <p:cNvSpPr/>
          <p:nvPr/>
        </p:nvSpPr>
        <p:spPr>
          <a:xfrm>
            <a:off x="822960" y="2103120"/>
            <a:ext cx="10515600" cy="960120"/>
          </a:xfrm>
          <a:prstGeom prst="roundRect">
            <a:avLst>
              <a:gd name="adj" fmla="val 4762"/>
            </a:avLst>
          </a:prstGeom>
          <a:solidFill>
            <a:srgbClr val="1F4D3A"/>
          </a:solidFill>
          <a:ln/>
        </p:spPr>
      </p:sp>
      <p:pic>
        <p:nvPicPr>
          <p:cNvPr id="5" name="Image 0" descr="/tmp/entregadelchef_build/icons/play_white.png">    </p:cNvPr>
          <p:cNvPicPr>
            <a:picLocks noChangeAspect="1"/>
          </p:cNvPicPr>
          <p:nvPr/>
        </p:nvPicPr>
        <p:blipFill>
          <a:blip r:embed="rId1"/>
          <a:stretch>
            <a:fillRect/>
          </a:stretch>
        </p:blipFill>
        <p:spPr>
          <a:xfrm>
            <a:off x="1097280" y="2359152"/>
            <a:ext cx="411480" cy="411480"/>
          </a:xfrm>
          <a:prstGeom prst="rect">
            <a:avLst/>
          </a:prstGeom>
        </p:spPr>
      </p:pic>
      <p:sp>
        <p:nvSpPr>
          <p:cNvPr id="6" name="Text 3"/>
          <p:cNvSpPr/>
          <p:nvPr/>
        </p:nvSpPr>
        <p:spPr>
          <a:xfrm>
            <a:off x="1737360" y="2212848"/>
            <a:ext cx="2743200" cy="7315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PRESENTACIÓN — 70%</a:t>
            </a:r>
            <a:endParaRPr lang="en-US" sz="1350" dirty="0"/>
          </a:p>
        </p:txBody>
      </p:sp>
      <p:sp>
        <p:nvSpPr>
          <p:cNvPr id="7" name="Text 4"/>
          <p:cNvSpPr/>
          <p:nvPr/>
        </p:nvSpPr>
        <p:spPr>
          <a:xfrm>
            <a:off x="4572000" y="2212848"/>
            <a:ext cx="6492240" cy="731520"/>
          </a:xfrm>
          <a:prstGeom prst="rect">
            <a:avLst/>
          </a:prstGeom>
          <a:noFill/>
          <a:ln/>
        </p:spPr>
        <p:txBody>
          <a:bodyPr wrap="square" lIns="0" tIns="0" rIns="0" bIns="0" rtlCol="0" anchor="ctr"/>
          <a:lstStyle/>
          <a:p>
            <a:pPr indent="0" marL="0">
              <a:buNone/>
            </a:pPr>
            <a:r>
              <a:rPr lang="en-US" sz="1200" dirty="0">
                <a:solidFill>
                  <a:srgbClr val="E8F0EA"/>
                </a:solidFill>
                <a:latin typeface="Calibri" pitchFamily="34" charset="0"/>
                <a:ea typeface="Calibri" pitchFamily="34" charset="-122"/>
                <a:cs typeface="Calibri" pitchFamily="34" charset="-120"/>
              </a:rPr>
              <a:t>Generar demanda B2B. Mostrar problemas reales. No vender de inmediato.</a:t>
            </a:r>
            <a:endParaRPr lang="en-US" sz="1200" dirty="0"/>
          </a:p>
        </p:txBody>
      </p:sp>
      <p:sp>
        <p:nvSpPr>
          <p:cNvPr id="8" name="Shape 5"/>
          <p:cNvSpPr/>
          <p:nvPr/>
        </p:nvSpPr>
        <p:spPr>
          <a:xfrm>
            <a:off x="822960" y="3200400"/>
            <a:ext cx="10515600" cy="960120"/>
          </a:xfrm>
          <a:prstGeom prst="roundRect">
            <a:avLst>
              <a:gd name="adj" fmla="val 4762"/>
            </a:avLst>
          </a:prstGeom>
          <a:solidFill>
            <a:srgbClr val="F6F6F4"/>
          </a:solidFill>
          <a:ln/>
        </p:spPr>
      </p:sp>
      <p:pic>
        <p:nvPicPr>
          <p:cNvPr id="9" name="Image 1" descr="/tmp/entregadelchef_build/icons/filter_green.png">    </p:cNvPr>
          <p:cNvPicPr>
            <a:picLocks noChangeAspect="1"/>
          </p:cNvPicPr>
          <p:nvPr/>
        </p:nvPicPr>
        <p:blipFill>
          <a:blip r:embed="rId2"/>
          <a:stretch>
            <a:fillRect/>
          </a:stretch>
        </p:blipFill>
        <p:spPr>
          <a:xfrm>
            <a:off x="1097280" y="3456432"/>
            <a:ext cx="411480" cy="411480"/>
          </a:xfrm>
          <a:prstGeom prst="rect">
            <a:avLst/>
          </a:prstGeom>
        </p:spPr>
      </p:pic>
      <p:sp>
        <p:nvSpPr>
          <p:cNvPr id="10" name="Text 6"/>
          <p:cNvSpPr/>
          <p:nvPr/>
        </p:nvSpPr>
        <p:spPr>
          <a:xfrm>
            <a:off x="1737360" y="3310128"/>
            <a:ext cx="2743200" cy="7315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EVALUACIÓN — 30%</a:t>
            </a:r>
            <a:endParaRPr lang="en-US" sz="1350" dirty="0"/>
          </a:p>
        </p:txBody>
      </p:sp>
      <p:sp>
        <p:nvSpPr>
          <p:cNvPr id="11" name="Text 7"/>
          <p:cNvSpPr/>
          <p:nvPr/>
        </p:nvSpPr>
        <p:spPr>
          <a:xfrm>
            <a:off x="4572000" y="3310128"/>
            <a:ext cx="6492240" cy="73152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Convertir interés en intención comercial, sobre audiencias que ya mostraron señales.</a:t>
            </a:r>
            <a:endParaRPr lang="en-US" sz="1200" dirty="0"/>
          </a:p>
        </p:txBody>
      </p:sp>
      <p:sp>
        <p:nvSpPr>
          <p:cNvPr id="12" name="Shape 8"/>
          <p:cNvSpPr/>
          <p:nvPr/>
        </p:nvSpPr>
        <p:spPr>
          <a:xfrm>
            <a:off x="822960" y="4297680"/>
            <a:ext cx="10515600" cy="960120"/>
          </a:xfrm>
          <a:prstGeom prst="roundRect">
            <a:avLst>
              <a:gd name="adj" fmla="val 4762"/>
            </a:avLst>
          </a:prstGeom>
          <a:solidFill>
            <a:srgbClr val="F6F6F4"/>
          </a:solidFill>
          <a:ln/>
        </p:spPr>
      </p:sp>
      <p:pic>
        <p:nvPicPr>
          <p:cNvPr id="13" name="Image 2" descr="/tmp/entregadelchef_build/icons/message_green.png">    </p:cNvPr>
          <p:cNvPicPr>
            <a:picLocks noChangeAspect="1"/>
          </p:cNvPicPr>
          <p:nvPr/>
        </p:nvPicPr>
        <p:blipFill>
          <a:blip r:embed="rId3"/>
          <a:stretch>
            <a:fillRect/>
          </a:stretch>
        </p:blipFill>
        <p:spPr>
          <a:xfrm>
            <a:off x="1097280" y="4553712"/>
            <a:ext cx="411480" cy="411480"/>
          </a:xfrm>
          <a:prstGeom prst="rect">
            <a:avLst/>
          </a:prstGeom>
        </p:spPr>
      </p:pic>
      <p:sp>
        <p:nvSpPr>
          <p:cNvPr id="14" name="Text 9"/>
          <p:cNvSpPr/>
          <p:nvPr/>
        </p:nvSpPr>
        <p:spPr>
          <a:xfrm>
            <a:off x="1737360" y="4407408"/>
            <a:ext cx="2743200" cy="7315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CONVERSIÓN</a:t>
            </a:r>
            <a:endParaRPr lang="en-US" sz="1350" dirty="0"/>
          </a:p>
        </p:txBody>
      </p:sp>
      <p:sp>
        <p:nvSpPr>
          <p:cNvPr id="15" name="Text 10"/>
          <p:cNvSpPr/>
          <p:nvPr/>
        </p:nvSpPr>
        <p:spPr>
          <a:xfrm>
            <a:off x="4572000" y="4407408"/>
            <a:ext cx="6492240" cy="73152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Formulario → lead calificado → WhatsApp → asesor → cotización → cierre. Sin optimización web todavía.</a:t>
            </a:r>
            <a:endParaRPr lang="en-US" sz="1200" dirty="0"/>
          </a:p>
        </p:txBody>
      </p:sp>
      <p:sp>
        <p:nvSpPr>
          <p:cNvPr id="16" name="Shape 11"/>
          <p:cNvSpPr/>
          <p:nvPr/>
        </p:nvSpPr>
        <p:spPr>
          <a:xfrm>
            <a:off x="822960" y="5394960"/>
            <a:ext cx="10515600" cy="960120"/>
          </a:xfrm>
          <a:prstGeom prst="roundRect">
            <a:avLst>
              <a:gd name="adj" fmla="val 4762"/>
            </a:avLst>
          </a:prstGeom>
          <a:solidFill>
            <a:srgbClr val="F6F6F4"/>
          </a:solidFill>
          <a:ln/>
        </p:spPr>
      </p:sp>
      <p:pic>
        <p:nvPicPr>
          <p:cNvPr id="17" name="Image 3" descr="/tmp/entregadelchef_build/icons/pause_green.png">    </p:cNvPr>
          <p:cNvPicPr>
            <a:picLocks noChangeAspect="1"/>
          </p:cNvPicPr>
          <p:nvPr/>
        </p:nvPicPr>
        <p:blipFill>
          <a:blip r:embed="rId4"/>
          <a:stretch>
            <a:fillRect/>
          </a:stretch>
        </p:blipFill>
        <p:spPr>
          <a:xfrm>
            <a:off x="1097280" y="5650992"/>
            <a:ext cx="411480" cy="411480"/>
          </a:xfrm>
          <a:prstGeom prst="rect">
            <a:avLst/>
          </a:prstGeom>
        </p:spPr>
      </p:pic>
      <p:sp>
        <p:nvSpPr>
          <p:cNvPr id="18" name="Text 12"/>
          <p:cNvSpPr/>
          <p:nvPr/>
        </p:nvSpPr>
        <p:spPr>
          <a:xfrm>
            <a:off x="1737360" y="5504688"/>
            <a:ext cx="2743200" cy="731520"/>
          </a:xfrm>
          <a:prstGeom prst="rect">
            <a:avLst/>
          </a:prstGeom>
          <a:noFill/>
          <a:ln/>
        </p:spPr>
        <p:txBody>
          <a:bodyPr wrap="square" lIns="0" tIns="0" rIns="0" bIns="0" rtlCol="0" anchor="ctr"/>
          <a:lstStyle/>
          <a:p>
            <a:pPr indent="0" marL="0">
              <a:buNone/>
            </a:pPr>
            <a:r>
              <a:rPr lang="en-US" sz="1350" b="1" dirty="0">
                <a:solidFill>
                  <a:srgbClr val="6B6B66"/>
                </a:solidFill>
                <a:latin typeface="Calibri" pitchFamily="34" charset="0"/>
                <a:ea typeface="Calibri" pitchFamily="34" charset="-122"/>
                <a:cs typeface="Calibri" pitchFamily="34" charset="-120"/>
              </a:rPr>
              <a:t>ASCENSIÓN</a:t>
            </a:r>
            <a:endParaRPr lang="en-US" sz="1350" dirty="0"/>
          </a:p>
        </p:txBody>
      </p:sp>
      <p:sp>
        <p:nvSpPr>
          <p:cNvPr id="19" name="Text 13"/>
          <p:cNvSpPr/>
          <p:nvPr/>
        </p:nvSpPr>
        <p:spPr>
          <a:xfrm>
            <a:off x="4572000" y="5504688"/>
            <a:ext cx="6492240" cy="73152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Apagada por ahora. Se activa cuando exista suficiente base de clientes y recompra.</a:t>
            </a:r>
            <a:endParaRPr lang="en-US" sz="1200" dirty="0"/>
          </a:p>
        </p:txBody>
      </p:sp>
      <p:sp>
        <p:nvSpPr>
          <p:cNvPr id="20" name="Text 14"/>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4"/>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ESTRUCTURA DE CUENTA</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Dos campañas activas, tres apagadas</a:t>
            </a:r>
            <a:endParaRPr lang="en-US" sz="3000" dirty="0"/>
          </a:p>
        </p:txBody>
      </p:sp>
      <p:sp>
        <p:nvSpPr>
          <p:cNvPr id="4" name="Shape 2"/>
          <p:cNvSpPr/>
          <p:nvPr/>
        </p:nvSpPr>
        <p:spPr>
          <a:xfrm>
            <a:off x="822960" y="2148840"/>
            <a:ext cx="4937760" cy="2743200"/>
          </a:xfrm>
          <a:prstGeom prst="roundRect">
            <a:avLst>
              <a:gd name="adj" fmla="val 2000"/>
            </a:avLst>
          </a:prstGeom>
          <a:solidFill>
            <a:srgbClr val="FFFFFF"/>
          </a:solidFill>
          <a:ln/>
        </p:spPr>
      </p:sp>
      <p:sp>
        <p:nvSpPr>
          <p:cNvPr id="5" name="Text 3"/>
          <p:cNvSpPr/>
          <p:nvPr/>
        </p:nvSpPr>
        <p:spPr>
          <a:xfrm>
            <a:off x="1143000" y="2377440"/>
            <a:ext cx="4297680" cy="365760"/>
          </a:xfrm>
          <a:prstGeom prst="rect">
            <a:avLst/>
          </a:prstGeom>
          <a:noFill/>
          <a:ln/>
        </p:spPr>
        <p:txBody>
          <a:bodyPr wrap="square" lIns="0" tIns="0" rIns="0" bIns="0" rtlCol="0" anchor="ctr"/>
          <a:lstStyle/>
          <a:p>
            <a:pPr indent="0" marL="0">
              <a:buNone/>
            </a:pPr>
            <a:r>
              <a:rPr lang="en-US" sz="1250" b="1" dirty="0">
                <a:solidFill>
                  <a:srgbClr val="1F4D3A"/>
                </a:solidFill>
                <a:latin typeface="Calibri" pitchFamily="34" charset="0"/>
                <a:ea typeface="Calibri" pitchFamily="34" charset="-122"/>
                <a:cs typeface="Calibri" pitchFamily="34" charset="-120"/>
              </a:rPr>
              <a:t>CAMPAÑA 1 · PRESENTACIÓN HORECA — 70%</a:t>
            </a:r>
            <a:endParaRPr lang="en-US" sz="1250" dirty="0"/>
          </a:p>
        </p:txBody>
      </p:sp>
      <p:sp>
        <p:nvSpPr>
          <p:cNvPr id="6" name="Text 4"/>
          <p:cNvSpPr/>
          <p:nvPr/>
        </p:nvSpPr>
        <p:spPr>
          <a:xfrm>
            <a:off x="1143000" y="2834640"/>
            <a:ext cx="4297680" cy="19202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Un conjunto inicial por clusters geográficos y señales HORECA</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Creativos para restaurantes, hoteles y catering</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Objetivo: identificar qué problema y mensaje funciona mejor</a:t>
            </a:r>
            <a:endParaRPr lang="en-US" sz="1250" dirty="0"/>
          </a:p>
        </p:txBody>
      </p:sp>
      <p:sp>
        <p:nvSpPr>
          <p:cNvPr id="7" name="Shape 5"/>
          <p:cNvSpPr/>
          <p:nvPr/>
        </p:nvSpPr>
        <p:spPr>
          <a:xfrm>
            <a:off x="6309360" y="2148840"/>
            <a:ext cx="4937760" cy="2743200"/>
          </a:xfrm>
          <a:prstGeom prst="roundRect">
            <a:avLst>
              <a:gd name="adj" fmla="val 2000"/>
            </a:avLst>
          </a:prstGeom>
          <a:solidFill>
            <a:srgbClr val="FFFFFF"/>
          </a:solidFill>
          <a:ln/>
        </p:spPr>
      </p:sp>
      <p:sp>
        <p:nvSpPr>
          <p:cNvPr id="8" name="Text 6"/>
          <p:cNvSpPr/>
          <p:nvPr/>
        </p:nvSpPr>
        <p:spPr>
          <a:xfrm>
            <a:off x="6629400" y="2377440"/>
            <a:ext cx="4297680" cy="365760"/>
          </a:xfrm>
          <a:prstGeom prst="rect">
            <a:avLst/>
          </a:prstGeom>
          <a:noFill/>
          <a:ln/>
        </p:spPr>
        <p:txBody>
          <a:bodyPr wrap="square" lIns="0" tIns="0" rIns="0" bIns="0" rtlCol="0" anchor="ctr"/>
          <a:lstStyle/>
          <a:p>
            <a:pPr indent="0" marL="0">
              <a:buNone/>
            </a:pPr>
            <a:r>
              <a:rPr lang="en-US" sz="1250" b="1" dirty="0">
                <a:solidFill>
                  <a:srgbClr val="1F4D3A"/>
                </a:solidFill>
                <a:latin typeface="Calibri" pitchFamily="34" charset="0"/>
                <a:ea typeface="Calibri" pitchFamily="34" charset="-122"/>
                <a:cs typeface="Calibri" pitchFamily="34" charset="-120"/>
              </a:rPr>
              <a:t>CAMPAÑA 2 · EVALUACIÓN HORECA — 30%</a:t>
            </a:r>
            <a:endParaRPr lang="en-US" sz="1250" dirty="0"/>
          </a:p>
        </p:txBody>
      </p:sp>
      <p:sp>
        <p:nvSpPr>
          <p:cNvPr id="9" name="Text 7"/>
          <p:cNvSpPr/>
          <p:nvPr/>
        </p:nvSpPr>
        <p:spPr>
          <a:xfrm>
            <a:off x="6629400" y="2834640"/>
            <a:ext cx="4297680" cy="19202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Retargeting de visitantes web B2B e interacción</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Viewers de video y formularios iniciados/abandonados</a:t>
            </a:r>
            <a:endParaRPr lang="en-US" sz="1250" dirty="0"/>
          </a:p>
          <a:p>
            <a:pPr marL="342900" indent="-3429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Otras audiencias propias disponibles</a:t>
            </a:r>
            <a:endParaRPr lang="en-US" sz="1250" dirty="0"/>
          </a:p>
        </p:txBody>
      </p:sp>
      <p:sp>
        <p:nvSpPr>
          <p:cNvPr id="10" name="Text 8"/>
          <p:cNvSpPr/>
          <p:nvPr/>
        </p:nvSpPr>
        <p:spPr>
          <a:xfrm>
            <a:off x="822960" y="5166360"/>
            <a:ext cx="10515600" cy="457200"/>
          </a:xfrm>
          <a:prstGeom prst="rect">
            <a:avLst/>
          </a:prstGeom>
          <a:noFill/>
          <a:ln/>
        </p:spPr>
        <p:txBody>
          <a:bodyPr wrap="square" lIns="0" tIns="0" rIns="0" bIns="0" rtlCol="0" anchor="ctr"/>
          <a:lstStyle/>
          <a:p>
            <a:pPr indent="0" marL="0">
              <a:buNone/>
            </a:pPr>
            <a:r>
              <a:rPr lang="en-US" sz="1250" i="1" dirty="0">
                <a:solidFill>
                  <a:srgbClr val="6B6B66"/>
                </a:solidFill>
                <a:latin typeface="Calibri" pitchFamily="34" charset="0"/>
                <a:ea typeface="Calibri" pitchFamily="34" charset="-122"/>
                <a:cs typeface="Calibri" pitchFamily="34" charset="-120"/>
              </a:rPr>
              <a:t>APAGADAS POR AHORA:  Ascensión  ·  Campañas corporativas independientes  ·  Optimización agresiva a conversiones web</a:t>
            </a:r>
            <a:endParaRPr lang="en-US" sz="1250" dirty="0"/>
          </a:p>
        </p:txBody>
      </p:sp>
      <p:sp>
        <p:nvSpPr>
          <p:cNvPr id="11" name="Text 9"/>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CALIFICACIÓN</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De “escríbenos por WhatsApp” a “cuéntanos sobre tu negocio”</a:t>
            </a:r>
            <a:endParaRPr lang="en-US" sz="3000" dirty="0"/>
          </a:p>
        </p:txBody>
      </p:sp>
      <p:pic>
        <p:nvPicPr>
          <p:cNvPr id="4" name="Image 0" descr="/tmp/entregadelchef_build/icons/clipboard_green.png">    </p:cNvPr>
          <p:cNvPicPr>
            <a:picLocks noChangeAspect="1"/>
          </p:cNvPicPr>
          <p:nvPr/>
        </p:nvPicPr>
        <p:blipFill>
          <a:blip r:embed="rId1"/>
          <a:stretch>
            <a:fillRect/>
          </a:stretch>
        </p:blipFill>
        <p:spPr>
          <a:xfrm>
            <a:off x="822960" y="2194560"/>
            <a:ext cx="292608" cy="292608"/>
          </a:xfrm>
          <a:prstGeom prst="rect">
            <a:avLst/>
          </a:prstGeom>
        </p:spPr>
      </p:pic>
      <p:sp>
        <p:nvSpPr>
          <p:cNvPr id="5" name="Text 2"/>
          <p:cNvSpPr/>
          <p:nvPr/>
        </p:nvSpPr>
        <p:spPr>
          <a:xfrm>
            <a:off x="1280160" y="2167128"/>
            <a:ext cx="3200400" cy="4114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Tipo de negocio</a:t>
            </a:r>
            <a:endParaRPr lang="en-US" sz="1300" dirty="0"/>
          </a:p>
        </p:txBody>
      </p:sp>
      <p:sp>
        <p:nvSpPr>
          <p:cNvPr id="6" name="Text 3"/>
          <p:cNvSpPr/>
          <p:nvPr/>
        </p:nvSpPr>
        <p:spPr>
          <a:xfrm>
            <a:off x="4572000" y="2167128"/>
            <a:ext cx="6583680" cy="41148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Restaurante · Hotel · Catering · Otro</a:t>
            </a:r>
            <a:endParaRPr lang="en-US" sz="1200" dirty="0"/>
          </a:p>
        </p:txBody>
      </p:sp>
      <p:pic>
        <p:nvPicPr>
          <p:cNvPr id="7" name="Image 1" descr="/tmp/entregadelchef_build/icons/clipboard_green.png">    </p:cNvPr>
          <p:cNvPicPr>
            <a:picLocks noChangeAspect="1"/>
          </p:cNvPicPr>
          <p:nvPr/>
        </p:nvPicPr>
        <p:blipFill>
          <a:blip r:embed="rId2"/>
          <a:stretch>
            <a:fillRect/>
          </a:stretch>
        </p:blipFill>
        <p:spPr>
          <a:xfrm>
            <a:off x="822960" y="2788920"/>
            <a:ext cx="292608" cy="292608"/>
          </a:xfrm>
          <a:prstGeom prst="rect">
            <a:avLst/>
          </a:prstGeom>
        </p:spPr>
      </p:pic>
      <p:sp>
        <p:nvSpPr>
          <p:cNvPr id="8" name="Text 4"/>
          <p:cNvSpPr/>
          <p:nvPr/>
        </p:nvSpPr>
        <p:spPr>
          <a:xfrm>
            <a:off x="1280160" y="2761488"/>
            <a:ext cx="3200400" cy="4114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Volumen aproximado</a:t>
            </a:r>
            <a:endParaRPr lang="en-US" sz="1300" dirty="0"/>
          </a:p>
        </p:txBody>
      </p:sp>
      <p:sp>
        <p:nvSpPr>
          <p:cNvPr id="9" name="Text 5"/>
          <p:cNvSpPr/>
          <p:nvPr/>
        </p:nvSpPr>
        <p:spPr>
          <a:xfrm>
            <a:off x="4572000" y="2761488"/>
            <a:ext cx="6583680" cy="41148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20–50 · 51–100 · 101–300 · +300 porciones/día</a:t>
            </a:r>
            <a:endParaRPr lang="en-US" sz="1200" dirty="0"/>
          </a:p>
        </p:txBody>
      </p:sp>
      <p:pic>
        <p:nvPicPr>
          <p:cNvPr id="10" name="Image 2" descr="/tmp/entregadelchef_build/icons/clipboard_green.png">    </p:cNvPr>
          <p:cNvPicPr>
            <a:picLocks noChangeAspect="1"/>
          </p:cNvPicPr>
          <p:nvPr/>
        </p:nvPicPr>
        <p:blipFill>
          <a:blip r:embed="rId3"/>
          <a:stretch>
            <a:fillRect/>
          </a:stretch>
        </p:blipFill>
        <p:spPr>
          <a:xfrm>
            <a:off x="822960" y="3383280"/>
            <a:ext cx="292608" cy="292608"/>
          </a:xfrm>
          <a:prstGeom prst="rect">
            <a:avLst/>
          </a:prstGeom>
        </p:spPr>
      </p:pic>
      <p:sp>
        <p:nvSpPr>
          <p:cNvPr id="11" name="Text 6"/>
          <p:cNvSpPr/>
          <p:nvPr/>
        </p:nvSpPr>
        <p:spPr>
          <a:xfrm>
            <a:off x="1280160" y="3355848"/>
            <a:ext cx="3200400" cy="4114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Cargo</a:t>
            </a:r>
            <a:endParaRPr lang="en-US" sz="1300" dirty="0"/>
          </a:p>
        </p:txBody>
      </p:sp>
      <p:sp>
        <p:nvSpPr>
          <p:cNvPr id="12" name="Text 7"/>
          <p:cNvSpPr/>
          <p:nvPr/>
        </p:nvSpPr>
        <p:spPr>
          <a:xfrm>
            <a:off x="4572000" y="3355848"/>
            <a:ext cx="6583680" cy="41148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Propietario · Administrador · Compras · Chef · Otro</a:t>
            </a:r>
            <a:endParaRPr lang="en-US" sz="1200" dirty="0"/>
          </a:p>
        </p:txBody>
      </p:sp>
      <p:pic>
        <p:nvPicPr>
          <p:cNvPr id="13" name="Image 3" descr="/tmp/entregadelchef_build/icons/clipboard_green.png">    </p:cNvPr>
          <p:cNvPicPr>
            <a:picLocks noChangeAspect="1"/>
          </p:cNvPicPr>
          <p:nvPr/>
        </p:nvPicPr>
        <p:blipFill>
          <a:blip r:embed="rId4"/>
          <a:stretch>
            <a:fillRect/>
          </a:stretch>
        </p:blipFill>
        <p:spPr>
          <a:xfrm>
            <a:off x="822960" y="3977640"/>
            <a:ext cx="292608" cy="292608"/>
          </a:xfrm>
          <a:prstGeom prst="rect">
            <a:avLst/>
          </a:prstGeom>
        </p:spPr>
      </p:pic>
      <p:sp>
        <p:nvSpPr>
          <p:cNvPr id="14" name="Text 8"/>
          <p:cNvSpPr/>
          <p:nvPr/>
        </p:nvSpPr>
        <p:spPr>
          <a:xfrm>
            <a:off x="1280160" y="3950208"/>
            <a:ext cx="3200400" cy="4114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Nombre del establecimiento</a:t>
            </a:r>
            <a:endParaRPr lang="en-US" sz="1300" dirty="0"/>
          </a:p>
        </p:txBody>
      </p:sp>
      <p:sp>
        <p:nvSpPr>
          <p:cNvPr id="15" name="Text 9"/>
          <p:cNvSpPr/>
          <p:nvPr/>
        </p:nvSpPr>
        <p:spPr>
          <a:xfrm>
            <a:off x="4572000" y="3950208"/>
            <a:ext cx="6583680" cy="41148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Campo abierto</a:t>
            </a:r>
            <a:endParaRPr lang="en-US" sz="1200" dirty="0"/>
          </a:p>
        </p:txBody>
      </p:sp>
      <p:pic>
        <p:nvPicPr>
          <p:cNvPr id="16" name="Image 4" descr="/tmp/entregadelchef_build/icons/clipboard_green.png">    </p:cNvPr>
          <p:cNvPicPr>
            <a:picLocks noChangeAspect="1"/>
          </p:cNvPicPr>
          <p:nvPr/>
        </p:nvPicPr>
        <p:blipFill>
          <a:blip r:embed="rId5"/>
          <a:stretch>
            <a:fillRect/>
          </a:stretch>
        </p:blipFill>
        <p:spPr>
          <a:xfrm>
            <a:off x="822960" y="4572000"/>
            <a:ext cx="292608" cy="292608"/>
          </a:xfrm>
          <a:prstGeom prst="rect">
            <a:avLst/>
          </a:prstGeom>
        </p:spPr>
      </p:pic>
      <p:sp>
        <p:nvSpPr>
          <p:cNvPr id="17" name="Text 10"/>
          <p:cNvSpPr/>
          <p:nvPr/>
        </p:nvSpPr>
        <p:spPr>
          <a:xfrm>
            <a:off x="1280160" y="4544568"/>
            <a:ext cx="3200400" cy="4114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Necesidad principal</a:t>
            </a:r>
            <a:endParaRPr lang="en-US" sz="1300" dirty="0"/>
          </a:p>
        </p:txBody>
      </p:sp>
      <p:sp>
        <p:nvSpPr>
          <p:cNvPr id="18" name="Text 11"/>
          <p:cNvSpPr/>
          <p:nvPr/>
        </p:nvSpPr>
        <p:spPr>
          <a:xfrm>
            <a:off x="4572000" y="4544568"/>
            <a:ext cx="6583680" cy="41148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Costos · Capacidad · Tercerizar · Respaldo · Otro</a:t>
            </a:r>
            <a:endParaRPr lang="en-US" sz="1200" dirty="0"/>
          </a:p>
        </p:txBody>
      </p:sp>
      <p:sp>
        <p:nvSpPr>
          <p:cNvPr id="19" name="Shape 12"/>
          <p:cNvSpPr/>
          <p:nvPr/>
        </p:nvSpPr>
        <p:spPr>
          <a:xfrm>
            <a:off x="822960" y="5257800"/>
            <a:ext cx="10515600" cy="0"/>
          </a:xfrm>
          <a:prstGeom prst="line">
            <a:avLst/>
          </a:prstGeom>
          <a:noFill/>
          <a:ln w="12700">
            <a:solidFill>
              <a:srgbClr val="E4E2DD"/>
            </a:solidFill>
            <a:prstDash val="solid"/>
          </a:ln>
        </p:spPr>
      </p:sp>
      <p:sp>
        <p:nvSpPr>
          <p:cNvPr id="20" name="Text 13"/>
          <p:cNvSpPr/>
          <p:nvPr/>
        </p:nvSpPr>
        <p:spPr>
          <a:xfrm>
            <a:off x="822960" y="5440680"/>
            <a:ext cx="10515600" cy="365760"/>
          </a:xfrm>
          <a:prstGeom prst="rect">
            <a:avLst/>
          </a:prstGeom>
          <a:noFill/>
          <a:ln/>
        </p:spPr>
        <p:txBody>
          <a:bodyPr wrap="square" lIns="0" tIns="0" rIns="0" bIns="0" rtlCol="0" anchor="ctr"/>
          <a:lstStyle/>
          <a:p>
            <a:pPr indent="0" marL="0">
              <a:buNone/>
            </a:pPr>
            <a:r>
              <a:rPr lang="en-US" sz="1200" i="1" dirty="0">
                <a:solidFill>
                  <a:srgbClr val="6B6B66"/>
                </a:solidFill>
                <a:latin typeface="Calibri" pitchFamily="34" charset="0"/>
                <a:ea typeface="Calibri" pitchFamily="34" charset="-122"/>
                <a:cs typeface="Calibri" pitchFamily="34" charset="-120"/>
              </a:rPr>
              <a:t>Estructura inicial, sujeta a validación con Entrega del Chef.</a:t>
            </a:r>
            <a:endParaRPr lang="en-US" sz="1200" dirty="0"/>
          </a:p>
        </p:txBody>
      </p:sp>
      <p:sp>
        <p:nvSpPr>
          <p:cNvPr id="21" name="Text 14"/>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MEDICIÓN</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Medir negocio, no solo Meta</a:t>
            </a:r>
            <a:endParaRPr lang="en-US" sz="3000" dirty="0"/>
          </a:p>
        </p:txBody>
      </p:sp>
      <p:sp>
        <p:nvSpPr>
          <p:cNvPr id="4" name="Text 2"/>
          <p:cNvSpPr/>
          <p:nvPr/>
        </p:nvSpPr>
        <p:spPr>
          <a:xfrm>
            <a:off x="822960" y="2194560"/>
            <a:ext cx="4937760" cy="320040"/>
          </a:xfrm>
          <a:prstGeom prst="rect">
            <a:avLst/>
          </a:prstGeom>
          <a:noFill/>
          <a:ln/>
        </p:spPr>
        <p:txBody>
          <a:bodyPr wrap="square" lIns="0" tIns="0" rIns="0" bIns="0" rtlCol="0" anchor="ctr"/>
          <a:lstStyle/>
          <a:p>
            <a:pPr indent="0" marL="0">
              <a:buNone/>
            </a:pPr>
            <a:r>
              <a:rPr lang="en-US" sz="1250" b="1" spc="150" kern="0" dirty="0">
                <a:solidFill>
                  <a:srgbClr val="6B6B66"/>
                </a:solidFill>
                <a:latin typeface="Calibri" pitchFamily="34" charset="0"/>
                <a:ea typeface="Calibri" pitchFamily="34" charset="-122"/>
                <a:cs typeface="Calibri" pitchFamily="34" charset="-120"/>
              </a:rPr>
              <a:t>ANTES</a:t>
            </a:r>
            <a:endParaRPr lang="en-US" sz="1250" dirty="0"/>
          </a:p>
        </p:txBody>
      </p:sp>
      <p:sp>
        <p:nvSpPr>
          <p:cNvPr id="5" name="Text 3"/>
          <p:cNvSpPr/>
          <p:nvPr/>
        </p:nvSpPr>
        <p:spPr>
          <a:xfrm>
            <a:off x="822960" y="2651760"/>
            <a:ext cx="493776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Impresiones</a:t>
            </a:r>
            <a:endParaRPr lang="en-US" sz="1400" dirty="0"/>
          </a:p>
        </p:txBody>
      </p:sp>
      <p:pic>
        <p:nvPicPr>
          <p:cNvPr id="6" name="Image 0" descr="/tmp/entregadelchef_build/icons/arrowDown_muted.png">    </p:cNvPr>
          <p:cNvPicPr>
            <a:picLocks noChangeAspect="1"/>
          </p:cNvPicPr>
          <p:nvPr/>
        </p:nvPicPr>
        <p:blipFill>
          <a:blip r:embed="rId1"/>
          <a:stretch>
            <a:fillRect/>
          </a:stretch>
        </p:blipFill>
        <p:spPr>
          <a:xfrm>
            <a:off x="841248" y="3035808"/>
            <a:ext cx="182880" cy="182880"/>
          </a:xfrm>
          <a:prstGeom prst="rect">
            <a:avLst/>
          </a:prstGeom>
        </p:spPr>
      </p:pic>
      <p:sp>
        <p:nvSpPr>
          <p:cNvPr id="7" name="Text 4"/>
          <p:cNvSpPr/>
          <p:nvPr/>
        </p:nvSpPr>
        <p:spPr>
          <a:xfrm>
            <a:off x="822960" y="3246120"/>
            <a:ext cx="493776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Conversaciones</a:t>
            </a:r>
            <a:endParaRPr lang="en-US" sz="1400" dirty="0"/>
          </a:p>
        </p:txBody>
      </p:sp>
      <p:pic>
        <p:nvPicPr>
          <p:cNvPr id="8" name="Image 1" descr="/tmp/entregadelchef_build/icons/arrowDown_muted.png">    </p:cNvPr>
          <p:cNvPicPr>
            <a:picLocks noChangeAspect="1"/>
          </p:cNvPicPr>
          <p:nvPr/>
        </p:nvPicPr>
        <p:blipFill>
          <a:blip r:embed="rId2"/>
          <a:stretch>
            <a:fillRect/>
          </a:stretch>
        </p:blipFill>
        <p:spPr>
          <a:xfrm>
            <a:off x="841248" y="3630168"/>
            <a:ext cx="182880" cy="182880"/>
          </a:xfrm>
          <a:prstGeom prst="rect">
            <a:avLst/>
          </a:prstGeom>
        </p:spPr>
      </p:pic>
      <p:sp>
        <p:nvSpPr>
          <p:cNvPr id="9" name="Text 5"/>
          <p:cNvSpPr/>
          <p:nvPr/>
        </p:nvSpPr>
        <p:spPr>
          <a:xfrm>
            <a:off x="822960" y="3840480"/>
            <a:ext cx="4937760" cy="36576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Costo por conversación</a:t>
            </a:r>
            <a:endParaRPr lang="en-US" sz="1400" dirty="0"/>
          </a:p>
        </p:txBody>
      </p:sp>
      <p:sp>
        <p:nvSpPr>
          <p:cNvPr id="10" name="Text 6"/>
          <p:cNvSpPr/>
          <p:nvPr/>
        </p:nvSpPr>
        <p:spPr>
          <a:xfrm>
            <a:off x="6309360" y="2194560"/>
            <a:ext cx="4937760" cy="320040"/>
          </a:xfrm>
          <a:prstGeom prst="rect">
            <a:avLst/>
          </a:prstGeom>
          <a:noFill/>
          <a:ln/>
        </p:spPr>
        <p:txBody>
          <a:bodyPr wrap="square" lIns="0" tIns="0" rIns="0" bIns="0" rtlCol="0" anchor="ctr"/>
          <a:lstStyle/>
          <a:p>
            <a:pPr indent="0" marL="0">
              <a:buNone/>
            </a:pPr>
            <a:r>
              <a:rPr lang="en-US" sz="1250" b="1" spc="150" kern="0" dirty="0">
                <a:solidFill>
                  <a:srgbClr val="1F4D3A"/>
                </a:solidFill>
                <a:latin typeface="Calibri" pitchFamily="34" charset="0"/>
                <a:ea typeface="Calibri" pitchFamily="34" charset="-122"/>
                <a:cs typeface="Calibri" pitchFamily="34" charset="-120"/>
              </a:rPr>
              <a:t>DESPUÉS</a:t>
            </a:r>
            <a:endParaRPr lang="en-US" sz="1250" dirty="0"/>
          </a:p>
        </p:txBody>
      </p:sp>
      <p:sp>
        <p:nvSpPr>
          <p:cNvPr id="11" name="Text 7"/>
          <p:cNvSpPr/>
          <p:nvPr/>
        </p:nvSpPr>
        <p:spPr>
          <a:xfrm>
            <a:off x="6309360" y="2651760"/>
            <a:ext cx="4937760" cy="329184"/>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Impresiones</a:t>
            </a:r>
            <a:endParaRPr lang="en-US" sz="1300" dirty="0"/>
          </a:p>
        </p:txBody>
      </p:sp>
      <p:pic>
        <p:nvPicPr>
          <p:cNvPr id="12" name="Image 2" descr="/tmp/entregadelchef_build/icons/arrowDown_muted.png">    </p:cNvPr>
          <p:cNvPicPr>
            <a:picLocks noChangeAspect="1"/>
          </p:cNvPicPr>
          <p:nvPr/>
        </p:nvPicPr>
        <p:blipFill>
          <a:blip r:embed="rId3"/>
          <a:stretch>
            <a:fillRect/>
          </a:stretch>
        </p:blipFill>
        <p:spPr>
          <a:xfrm>
            <a:off x="6327648" y="2980944"/>
            <a:ext cx="146304" cy="146304"/>
          </a:xfrm>
          <a:prstGeom prst="rect">
            <a:avLst/>
          </a:prstGeom>
        </p:spPr>
      </p:pic>
      <p:sp>
        <p:nvSpPr>
          <p:cNvPr id="13" name="Text 8"/>
          <p:cNvSpPr/>
          <p:nvPr/>
        </p:nvSpPr>
        <p:spPr>
          <a:xfrm>
            <a:off x="6309360" y="3136392"/>
            <a:ext cx="4937760" cy="329184"/>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Conversaciones</a:t>
            </a:r>
            <a:endParaRPr lang="en-US" sz="1300" dirty="0"/>
          </a:p>
        </p:txBody>
      </p:sp>
      <p:pic>
        <p:nvPicPr>
          <p:cNvPr id="14" name="Image 3" descr="/tmp/entregadelchef_build/icons/arrowDown_muted.png">    </p:cNvPr>
          <p:cNvPicPr>
            <a:picLocks noChangeAspect="1"/>
          </p:cNvPicPr>
          <p:nvPr/>
        </p:nvPicPr>
        <p:blipFill>
          <a:blip r:embed="rId4"/>
          <a:stretch>
            <a:fillRect/>
          </a:stretch>
        </p:blipFill>
        <p:spPr>
          <a:xfrm>
            <a:off x="6327648" y="3465576"/>
            <a:ext cx="146304" cy="146304"/>
          </a:xfrm>
          <a:prstGeom prst="rect">
            <a:avLst/>
          </a:prstGeom>
        </p:spPr>
      </p:pic>
      <p:sp>
        <p:nvSpPr>
          <p:cNvPr id="15" name="Text 9"/>
          <p:cNvSpPr/>
          <p:nvPr/>
        </p:nvSpPr>
        <p:spPr>
          <a:xfrm>
            <a:off x="6309360" y="3621024"/>
            <a:ext cx="4937760" cy="329184"/>
          </a:xfrm>
          <a:prstGeom prst="rect">
            <a:avLst/>
          </a:prstGeom>
          <a:noFill/>
          <a:ln/>
        </p:spPr>
        <p:txBody>
          <a:bodyPr wrap="square" lIns="0" tIns="0" rIns="0" bIns="0" rtlCol="0" anchor="ctr"/>
          <a:lstStyle/>
          <a:p>
            <a:pPr indent="0" marL="0">
              <a:buNone/>
            </a:pPr>
            <a:r>
              <a:rPr lang="en-US" sz="1300" b="1" dirty="0">
                <a:solidFill>
                  <a:srgbClr val="1F4D3A"/>
                </a:solidFill>
                <a:latin typeface="Calibri" pitchFamily="34" charset="0"/>
                <a:ea typeface="Calibri" pitchFamily="34" charset="-122"/>
                <a:cs typeface="Calibri" pitchFamily="34" charset="-120"/>
              </a:rPr>
              <a:t>Leads</a:t>
            </a:r>
            <a:endParaRPr lang="en-US" sz="1300" dirty="0"/>
          </a:p>
        </p:txBody>
      </p:sp>
      <p:pic>
        <p:nvPicPr>
          <p:cNvPr id="16" name="Image 4" descr="/tmp/entregadelchef_build/icons/arrowDown_muted.png">    </p:cNvPr>
          <p:cNvPicPr>
            <a:picLocks noChangeAspect="1"/>
          </p:cNvPicPr>
          <p:nvPr/>
        </p:nvPicPr>
        <p:blipFill>
          <a:blip r:embed="rId5"/>
          <a:stretch>
            <a:fillRect/>
          </a:stretch>
        </p:blipFill>
        <p:spPr>
          <a:xfrm>
            <a:off x="6327648" y="3950208"/>
            <a:ext cx="146304" cy="146304"/>
          </a:xfrm>
          <a:prstGeom prst="rect">
            <a:avLst/>
          </a:prstGeom>
        </p:spPr>
      </p:pic>
      <p:sp>
        <p:nvSpPr>
          <p:cNvPr id="17" name="Text 10"/>
          <p:cNvSpPr/>
          <p:nvPr/>
        </p:nvSpPr>
        <p:spPr>
          <a:xfrm>
            <a:off x="6309360" y="4105656"/>
            <a:ext cx="4937760" cy="329184"/>
          </a:xfrm>
          <a:prstGeom prst="rect">
            <a:avLst/>
          </a:prstGeom>
          <a:noFill/>
          <a:ln/>
        </p:spPr>
        <p:txBody>
          <a:bodyPr wrap="square" lIns="0" tIns="0" rIns="0" bIns="0" rtlCol="0" anchor="ctr"/>
          <a:lstStyle/>
          <a:p>
            <a:pPr indent="0" marL="0">
              <a:buNone/>
            </a:pPr>
            <a:r>
              <a:rPr lang="en-US" sz="1300" b="1" dirty="0">
                <a:solidFill>
                  <a:srgbClr val="1F4D3A"/>
                </a:solidFill>
                <a:latin typeface="Calibri" pitchFamily="34" charset="0"/>
                <a:ea typeface="Calibri" pitchFamily="34" charset="-122"/>
                <a:cs typeface="Calibri" pitchFamily="34" charset="-120"/>
              </a:rPr>
              <a:t>Leads calificados</a:t>
            </a:r>
            <a:endParaRPr lang="en-US" sz="1300" dirty="0"/>
          </a:p>
        </p:txBody>
      </p:sp>
      <p:pic>
        <p:nvPicPr>
          <p:cNvPr id="18" name="Image 5" descr="/tmp/entregadelchef_build/icons/arrowDown_muted.png">    </p:cNvPr>
          <p:cNvPicPr>
            <a:picLocks noChangeAspect="1"/>
          </p:cNvPicPr>
          <p:nvPr/>
        </p:nvPicPr>
        <p:blipFill>
          <a:blip r:embed="rId6"/>
          <a:stretch>
            <a:fillRect/>
          </a:stretch>
        </p:blipFill>
        <p:spPr>
          <a:xfrm>
            <a:off x="6327648" y="4434840"/>
            <a:ext cx="146304" cy="146304"/>
          </a:xfrm>
          <a:prstGeom prst="rect">
            <a:avLst/>
          </a:prstGeom>
        </p:spPr>
      </p:pic>
      <p:sp>
        <p:nvSpPr>
          <p:cNvPr id="19" name="Text 11"/>
          <p:cNvSpPr/>
          <p:nvPr/>
        </p:nvSpPr>
        <p:spPr>
          <a:xfrm>
            <a:off x="6309360" y="4590288"/>
            <a:ext cx="4937760" cy="329184"/>
          </a:xfrm>
          <a:prstGeom prst="rect">
            <a:avLst/>
          </a:prstGeom>
          <a:noFill/>
          <a:ln/>
        </p:spPr>
        <p:txBody>
          <a:bodyPr wrap="square" lIns="0" tIns="0" rIns="0" bIns="0" rtlCol="0" anchor="ctr"/>
          <a:lstStyle/>
          <a:p>
            <a:pPr indent="0" marL="0">
              <a:buNone/>
            </a:pPr>
            <a:r>
              <a:rPr lang="en-US" sz="1300" b="1" dirty="0">
                <a:solidFill>
                  <a:srgbClr val="1F4D3A"/>
                </a:solidFill>
                <a:latin typeface="Calibri" pitchFamily="34" charset="0"/>
                <a:ea typeface="Calibri" pitchFamily="34" charset="-122"/>
                <a:cs typeface="Calibri" pitchFamily="34" charset="-120"/>
              </a:rPr>
              <a:t>Cotizaciones</a:t>
            </a:r>
            <a:endParaRPr lang="en-US" sz="1300" dirty="0"/>
          </a:p>
        </p:txBody>
      </p:sp>
      <p:pic>
        <p:nvPicPr>
          <p:cNvPr id="20" name="Image 6" descr="/tmp/entregadelchef_build/icons/arrowDown_muted.png">    </p:cNvPr>
          <p:cNvPicPr>
            <a:picLocks noChangeAspect="1"/>
          </p:cNvPicPr>
          <p:nvPr/>
        </p:nvPicPr>
        <p:blipFill>
          <a:blip r:embed="rId7"/>
          <a:stretch>
            <a:fillRect/>
          </a:stretch>
        </p:blipFill>
        <p:spPr>
          <a:xfrm>
            <a:off x="6327648" y="4919472"/>
            <a:ext cx="146304" cy="146304"/>
          </a:xfrm>
          <a:prstGeom prst="rect">
            <a:avLst/>
          </a:prstGeom>
        </p:spPr>
      </p:pic>
      <p:sp>
        <p:nvSpPr>
          <p:cNvPr id="21" name="Text 12"/>
          <p:cNvSpPr/>
          <p:nvPr/>
        </p:nvSpPr>
        <p:spPr>
          <a:xfrm>
            <a:off x="6309360" y="5074920"/>
            <a:ext cx="4937760" cy="329184"/>
          </a:xfrm>
          <a:prstGeom prst="rect">
            <a:avLst/>
          </a:prstGeom>
          <a:noFill/>
          <a:ln/>
        </p:spPr>
        <p:txBody>
          <a:bodyPr wrap="square" lIns="0" tIns="0" rIns="0" bIns="0" rtlCol="0" anchor="ctr"/>
          <a:lstStyle/>
          <a:p>
            <a:pPr indent="0" marL="0">
              <a:buNone/>
            </a:pPr>
            <a:r>
              <a:rPr lang="en-US" sz="1300" b="1" dirty="0">
                <a:solidFill>
                  <a:srgbClr val="1F4D3A"/>
                </a:solidFill>
                <a:latin typeface="Calibri" pitchFamily="34" charset="0"/>
                <a:ea typeface="Calibri" pitchFamily="34" charset="-122"/>
                <a:cs typeface="Calibri" pitchFamily="34" charset="-120"/>
              </a:rPr>
              <a:t>Clientes</a:t>
            </a:r>
            <a:endParaRPr lang="en-US" sz="1300" dirty="0"/>
          </a:p>
        </p:txBody>
      </p:sp>
      <p:pic>
        <p:nvPicPr>
          <p:cNvPr id="22" name="Image 7" descr="/tmp/entregadelchef_build/icons/arrowDown_muted.png">    </p:cNvPr>
          <p:cNvPicPr>
            <a:picLocks noChangeAspect="1"/>
          </p:cNvPicPr>
          <p:nvPr/>
        </p:nvPicPr>
        <p:blipFill>
          <a:blip r:embed="rId8"/>
          <a:stretch>
            <a:fillRect/>
          </a:stretch>
        </p:blipFill>
        <p:spPr>
          <a:xfrm>
            <a:off x="6327648" y="5404104"/>
            <a:ext cx="146304" cy="146304"/>
          </a:xfrm>
          <a:prstGeom prst="rect">
            <a:avLst/>
          </a:prstGeom>
        </p:spPr>
      </p:pic>
      <p:sp>
        <p:nvSpPr>
          <p:cNvPr id="23" name="Text 13"/>
          <p:cNvSpPr/>
          <p:nvPr/>
        </p:nvSpPr>
        <p:spPr>
          <a:xfrm>
            <a:off x="6309360" y="5559552"/>
            <a:ext cx="4937760" cy="329184"/>
          </a:xfrm>
          <a:prstGeom prst="rect">
            <a:avLst/>
          </a:prstGeom>
          <a:noFill/>
          <a:ln/>
        </p:spPr>
        <p:txBody>
          <a:bodyPr wrap="square" lIns="0" tIns="0" rIns="0" bIns="0" rtlCol="0" anchor="ctr"/>
          <a:lstStyle/>
          <a:p>
            <a:pPr indent="0" marL="0">
              <a:buNone/>
            </a:pPr>
            <a:r>
              <a:rPr lang="en-US" sz="1300" b="1" dirty="0">
                <a:solidFill>
                  <a:srgbClr val="1F4D3A"/>
                </a:solidFill>
                <a:latin typeface="Calibri" pitchFamily="34" charset="0"/>
                <a:ea typeface="Calibri" pitchFamily="34" charset="-122"/>
                <a:cs typeface="Calibri" pitchFamily="34" charset="-120"/>
              </a:rPr>
              <a:t>Recompras</a:t>
            </a:r>
            <a:endParaRPr lang="en-US" sz="1300" dirty="0"/>
          </a:p>
        </p:txBody>
      </p:sp>
      <p:sp>
        <p:nvSpPr>
          <p:cNvPr id="24" name="Text 14"/>
          <p:cNvSpPr/>
          <p:nvPr/>
        </p:nvSpPr>
        <p:spPr>
          <a:xfrm>
            <a:off x="822960" y="5943600"/>
            <a:ext cx="10515600" cy="548640"/>
          </a:xfrm>
          <a:prstGeom prst="rect">
            <a:avLst/>
          </a:prstGeom>
          <a:noFill/>
          <a:ln/>
        </p:spPr>
        <p:txBody>
          <a:bodyPr wrap="square" lIns="0" tIns="0" rIns="0" bIns="0" rtlCol="0" anchor="ctr"/>
          <a:lstStyle/>
          <a:p>
            <a:pPr indent="0" marL="0">
              <a:buNone/>
            </a:pPr>
            <a:r>
              <a:rPr lang="en-US" sz="1350" b="1" i="1" dirty="0">
                <a:solidFill>
                  <a:srgbClr val="1F4D3A"/>
                </a:solidFill>
                <a:latin typeface="Calibri" pitchFamily="34" charset="0"/>
                <a:ea typeface="Calibri" pitchFamily="34" charset="-122"/>
                <a:cs typeface="Calibri" pitchFamily="34" charset="-120"/>
              </a:rPr>
              <a:t>El éxito no será el mayor número de conversaciones. Será conseguir oportunidades comerciales HORECA de mayor calidad.</a:t>
            </a:r>
            <a:endParaRPr lang="en-US" sz="1350" dirty="0"/>
          </a:p>
        </p:txBody>
      </p:sp>
      <p:sp>
        <p:nvSpPr>
          <p:cNvPr id="25" name="Text 15"/>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6F4"/>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SISTEMA COMERCIAL</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Meta no resuelve el cuello de botella sola</a:t>
            </a:r>
            <a:endParaRPr lang="en-US" sz="3000" dirty="0"/>
          </a:p>
        </p:txBody>
      </p:sp>
      <p:sp>
        <p:nvSpPr>
          <p:cNvPr id="4" name="Text 2"/>
          <p:cNvSpPr/>
          <p:nvPr/>
        </p:nvSpPr>
        <p:spPr>
          <a:xfrm>
            <a:off x="822960" y="1965960"/>
            <a:ext cx="10515600" cy="45720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Publicidad y proceso comercial deben funcionar como un solo sistema, con estados claros para cada lead:</a:t>
            </a:r>
            <a:endParaRPr lang="en-US" sz="1400" dirty="0"/>
          </a:p>
        </p:txBody>
      </p:sp>
      <p:sp>
        <p:nvSpPr>
          <p:cNvPr id="5" name="Shape 3"/>
          <p:cNvSpPr/>
          <p:nvPr/>
        </p:nvSpPr>
        <p:spPr>
          <a:xfrm>
            <a:off x="822960" y="2651760"/>
            <a:ext cx="1965960" cy="594360"/>
          </a:xfrm>
          <a:prstGeom prst="roundRect">
            <a:avLst>
              <a:gd name="adj" fmla="val 53846"/>
            </a:avLst>
          </a:prstGeom>
          <a:solidFill>
            <a:srgbClr val="FFFFFF"/>
          </a:solidFill>
          <a:ln w="12700">
            <a:solidFill>
              <a:srgbClr val="E4E2DD"/>
            </a:solidFill>
            <a:prstDash val="solid"/>
          </a:ln>
        </p:spPr>
      </p:sp>
      <p:sp>
        <p:nvSpPr>
          <p:cNvPr id="6" name="Text 4"/>
          <p:cNvSpPr/>
          <p:nvPr/>
        </p:nvSpPr>
        <p:spPr>
          <a:xfrm>
            <a:off x="822960" y="265176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Nuevo</a:t>
            </a:r>
            <a:endParaRPr lang="en-US" sz="1150" dirty="0"/>
          </a:p>
        </p:txBody>
      </p:sp>
      <p:sp>
        <p:nvSpPr>
          <p:cNvPr id="7" name="Shape 5"/>
          <p:cNvSpPr/>
          <p:nvPr/>
        </p:nvSpPr>
        <p:spPr>
          <a:xfrm>
            <a:off x="2926080" y="2651760"/>
            <a:ext cx="1965960" cy="594360"/>
          </a:xfrm>
          <a:prstGeom prst="roundRect">
            <a:avLst>
              <a:gd name="adj" fmla="val 53846"/>
            </a:avLst>
          </a:prstGeom>
          <a:solidFill>
            <a:srgbClr val="FFFFFF"/>
          </a:solidFill>
          <a:ln w="12700">
            <a:solidFill>
              <a:srgbClr val="E4E2DD"/>
            </a:solidFill>
            <a:prstDash val="solid"/>
          </a:ln>
        </p:spPr>
      </p:sp>
      <p:sp>
        <p:nvSpPr>
          <p:cNvPr id="8" name="Text 6"/>
          <p:cNvSpPr/>
          <p:nvPr/>
        </p:nvSpPr>
        <p:spPr>
          <a:xfrm>
            <a:off x="2926080" y="265176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Contactado</a:t>
            </a:r>
            <a:endParaRPr lang="en-US" sz="1150" dirty="0"/>
          </a:p>
        </p:txBody>
      </p:sp>
      <p:sp>
        <p:nvSpPr>
          <p:cNvPr id="9" name="Shape 7"/>
          <p:cNvSpPr/>
          <p:nvPr/>
        </p:nvSpPr>
        <p:spPr>
          <a:xfrm>
            <a:off x="5029200" y="2651760"/>
            <a:ext cx="1965960" cy="594360"/>
          </a:xfrm>
          <a:prstGeom prst="roundRect">
            <a:avLst>
              <a:gd name="adj" fmla="val 53846"/>
            </a:avLst>
          </a:prstGeom>
          <a:solidFill>
            <a:srgbClr val="FFFFFF"/>
          </a:solidFill>
          <a:ln w="12700">
            <a:solidFill>
              <a:srgbClr val="E4E2DD"/>
            </a:solidFill>
            <a:prstDash val="solid"/>
          </a:ln>
        </p:spPr>
      </p:sp>
      <p:sp>
        <p:nvSpPr>
          <p:cNvPr id="10" name="Text 8"/>
          <p:cNvSpPr/>
          <p:nvPr/>
        </p:nvSpPr>
        <p:spPr>
          <a:xfrm>
            <a:off x="5029200" y="265176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Calificado</a:t>
            </a:r>
            <a:endParaRPr lang="en-US" sz="1150" dirty="0"/>
          </a:p>
        </p:txBody>
      </p:sp>
      <p:sp>
        <p:nvSpPr>
          <p:cNvPr id="11" name="Shape 9"/>
          <p:cNvSpPr/>
          <p:nvPr/>
        </p:nvSpPr>
        <p:spPr>
          <a:xfrm>
            <a:off x="7132320" y="2651760"/>
            <a:ext cx="1965960" cy="594360"/>
          </a:xfrm>
          <a:prstGeom prst="roundRect">
            <a:avLst>
              <a:gd name="adj" fmla="val 53846"/>
            </a:avLst>
          </a:prstGeom>
          <a:solidFill>
            <a:srgbClr val="FFFFFF"/>
          </a:solidFill>
          <a:ln w="12700">
            <a:solidFill>
              <a:srgbClr val="E4E2DD"/>
            </a:solidFill>
            <a:prstDash val="solid"/>
          </a:ln>
        </p:spPr>
      </p:sp>
      <p:sp>
        <p:nvSpPr>
          <p:cNvPr id="12" name="Text 10"/>
          <p:cNvSpPr/>
          <p:nvPr/>
        </p:nvSpPr>
        <p:spPr>
          <a:xfrm>
            <a:off x="7132320" y="265176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No calificado</a:t>
            </a:r>
            <a:endParaRPr lang="en-US" sz="1150" dirty="0"/>
          </a:p>
        </p:txBody>
      </p:sp>
      <p:sp>
        <p:nvSpPr>
          <p:cNvPr id="13" name="Shape 11"/>
          <p:cNvSpPr/>
          <p:nvPr/>
        </p:nvSpPr>
        <p:spPr>
          <a:xfrm>
            <a:off x="9235440" y="2651760"/>
            <a:ext cx="1965960" cy="594360"/>
          </a:xfrm>
          <a:prstGeom prst="roundRect">
            <a:avLst>
              <a:gd name="adj" fmla="val 53846"/>
            </a:avLst>
          </a:prstGeom>
          <a:solidFill>
            <a:srgbClr val="FFFFFF"/>
          </a:solidFill>
          <a:ln w="12700">
            <a:solidFill>
              <a:srgbClr val="E4E2DD"/>
            </a:solidFill>
            <a:prstDash val="solid"/>
          </a:ln>
        </p:spPr>
      </p:sp>
      <p:sp>
        <p:nvSpPr>
          <p:cNvPr id="14" name="Text 12"/>
          <p:cNvSpPr/>
          <p:nvPr/>
        </p:nvSpPr>
        <p:spPr>
          <a:xfrm>
            <a:off x="9235440" y="265176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Cotización enviada</a:t>
            </a:r>
            <a:endParaRPr lang="en-US" sz="1150" dirty="0"/>
          </a:p>
        </p:txBody>
      </p:sp>
      <p:sp>
        <p:nvSpPr>
          <p:cNvPr id="15" name="Shape 13"/>
          <p:cNvSpPr/>
          <p:nvPr/>
        </p:nvSpPr>
        <p:spPr>
          <a:xfrm>
            <a:off x="822960" y="3429000"/>
            <a:ext cx="1965960" cy="594360"/>
          </a:xfrm>
          <a:prstGeom prst="roundRect">
            <a:avLst>
              <a:gd name="adj" fmla="val 53846"/>
            </a:avLst>
          </a:prstGeom>
          <a:solidFill>
            <a:srgbClr val="FFFFFF"/>
          </a:solidFill>
          <a:ln w="12700">
            <a:solidFill>
              <a:srgbClr val="E4E2DD"/>
            </a:solidFill>
            <a:prstDash val="solid"/>
          </a:ln>
        </p:spPr>
      </p:sp>
      <p:sp>
        <p:nvSpPr>
          <p:cNvPr id="16" name="Text 14"/>
          <p:cNvSpPr/>
          <p:nvPr/>
        </p:nvSpPr>
        <p:spPr>
          <a:xfrm>
            <a:off x="822960" y="342900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Muestra enviada</a:t>
            </a:r>
            <a:endParaRPr lang="en-US" sz="1150" dirty="0"/>
          </a:p>
        </p:txBody>
      </p:sp>
      <p:sp>
        <p:nvSpPr>
          <p:cNvPr id="17" name="Shape 15"/>
          <p:cNvSpPr/>
          <p:nvPr/>
        </p:nvSpPr>
        <p:spPr>
          <a:xfrm>
            <a:off x="2926080" y="3429000"/>
            <a:ext cx="1965960" cy="594360"/>
          </a:xfrm>
          <a:prstGeom prst="roundRect">
            <a:avLst>
              <a:gd name="adj" fmla="val 53846"/>
            </a:avLst>
          </a:prstGeom>
          <a:solidFill>
            <a:srgbClr val="FFFFFF"/>
          </a:solidFill>
          <a:ln w="12700">
            <a:solidFill>
              <a:srgbClr val="E4E2DD"/>
            </a:solidFill>
            <a:prstDash val="solid"/>
          </a:ln>
        </p:spPr>
      </p:sp>
      <p:sp>
        <p:nvSpPr>
          <p:cNvPr id="18" name="Text 16"/>
          <p:cNvSpPr/>
          <p:nvPr/>
        </p:nvSpPr>
        <p:spPr>
          <a:xfrm>
            <a:off x="2926080" y="342900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Negociación</a:t>
            </a:r>
            <a:endParaRPr lang="en-US" sz="1150" dirty="0"/>
          </a:p>
        </p:txBody>
      </p:sp>
      <p:sp>
        <p:nvSpPr>
          <p:cNvPr id="19" name="Shape 17"/>
          <p:cNvSpPr/>
          <p:nvPr/>
        </p:nvSpPr>
        <p:spPr>
          <a:xfrm>
            <a:off x="5029200" y="3429000"/>
            <a:ext cx="1965960" cy="594360"/>
          </a:xfrm>
          <a:prstGeom prst="roundRect">
            <a:avLst>
              <a:gd name="adj" fmla="val 53846"/>
            </a:avLst>
          </a:prstGeom>
          <a:solidFill>
            <a:srgbClr val="1F4D3A"/>
          </a:solidFill>
          <a:ln w="12700">
            <a:solidFill>
              <a:srgbClr val="E4E2DD"/>
            </a:solidFill>
            <a:prstDash val="solid"/>
          </a:ln>
        </p:spPr>
      </p:sp>
      <p:sp>
        <p:nvSpPr>
          <p:cNvPr id="20" name="Text 18"/>
          <p:cNvSpPr/>
          <p:nvPr/>
        </p:nvSpPr>
        <p:spPr>
          <a:xfrm>
            <a:off x="5029200" y="3429000"/>
            <a:ext cx="19659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Ganado</a:t>
            </a:r>
            <a:endParaRPr lang="en-US" sz="1150" dirty="0"/>
          </a:p>
        </p:txBody>
      </p:sp>
      <p:sp>
        <p:nvSpPr>
          <p:cNvPr id="21" name="Shape 19"/>
          <p:cNvSpPr/>
          <p:nvPr/>
        </p:nvSpPr>
        <p:spPr>
          <a:xfrm>
            <a:off x="7132320" y="3429000"/>
            <a:ext cx="1965960" cy="594360"/>
          </a:xfrm>
          <a:prstGeom prst="roundRect">
            <a:avLst>
              <a:gd name="adj" fmla="val 53846"/>
            </a:avLst>
          </a:prstGeom>
          <a:solidFill>
            <a:srgbClr val="FFFFFF"/>
          </a:solidFill>
          <a:ln w="12700">
            <a:solidFill>
              <a:srgbClr val="E4E2DD"/>
            </a:solidFill>
            <a:prstDash val="solid"/>
          </a:ln>
        </p:spPr>
      </p:sp>
      <p:sp>
        <p:nvSpPr>
          <p:cNvPr id="22" name="Text 20"/>
          <p:cNvSpPr/>
          <p:nvPr/>
        </p:nvSpPr>
        <p:spPr>
          <a:xfrm>
            <a:off x="7132320" y="3429000"/>
            <a:ext cx="1965960" cy="594360"/>
          </a:xfrm>
          <a:prstGeom prst="rect">
            <a:avLst/>
          </a:prstGeom>
          <a:noFill/>
          <a:ln/>
        </p:spPr>
        <p:txBody>
          <a:bodyPr wrap="square" lIns="0" tIns="0" rIns="0" bIns="0"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Perdido</a:t>
            </a:r>
            <a:endParaRPr lang="en-US" sz="1150" dirty="0"/>
          </a:p>
        </p:txBody>
      </p:sp>
      <p:sp>
        <p:nvSpPr>
          <p:cNvPr id="23" name="Shape 21"/>
          <p:cNvSpPr/>
          <p:nvPr/>
        </p:nvSpPr>
        <p:spPr>
          <a:xfrm>
            <a:off x="9235440" y="3429000"/>
            <a:ext cx="1965960" cy="594360"/>
          </a:xfrm>
          <a:prstGeom prst="roundRect">
            <a:avLst>
              <a:gd name="adj" fmla="val 53846"/>
            </a:avLst>
          </a:prstGeom>
          <a:solidFill>
            <a:srgbClr val="1F4D3A"/>
          </a:solidFill>
          <a:ln w="12700">
            <a:solidFill>
              <a:srgbClr val="E4E2DD"/>
            </a:solidFill>
            <a:prstDash val="solid"/>
          </a:ln>
        </p:spPr>
      </p:sp>
      <p:sp>
        <p:nvSpPr>
          <p:cNvPr id="24" name="Text 22"/>
          <p:cNvSpPr/>
          <p:nvPr/>
        </p:nvSpPr>
        <p:spPr>
          <a:xfrm>
            <a:off x="9235440" y="3429000"/>
            <a:ext cx="1965960" cy="5943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Recompra</a:t>
            </a:r>
            <a:endParaRPr lang="en-US" sz="1150" dirty="0"/>
          </a:p>
        </p:txBody>
      </p:sp>
      <p:sp>
        <p:nvSpPr>
          <p:cNvPr id="25" name="Text 23"/>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COMPLEMENTARIEDAD</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Google captura. Meta genera.</a:t>
            </a:r>
            <a:endParaRPr lang="en-US" sz="3000" dirty="0"/>
          </a:p>
        </p:txBody>
      </p:sp>
      <p:sp>
        <p:nvSpPr>
          <p:cNvPr id="4" name="Shape 2"/>
          <p:cNvSpPr/>
          <p:nvPr/>
        </p:nvSpPr>
        <p:spPr>
          <a:xfrm>
            <a:off x="822960" y="2286000"/>
            <a:ext cx="4937760" cy="2377440"/>
          </a:xfrm>
          <a:prstGeom prst="roundRect">
            <a:avLst>
              <a:gd name="adj" fmla="val 2308"/>
            </a:avLst>
          </a:prstGeom>
          <a:solidFill>
            <a:srgbClr val="F6F6F4"/>
          </a:solidFill>
          <a:ln/>
        </p:spPr>
      </p:sp>
      <p:pic>
        <p:nvPicPr>
          <p:cNvPr id="5" name="Image 0" descr="/tmp/entregadelchef_build/icons/search_green.png">    </p:cNvPr>
          <p:cNvPicPr>
            <a:picLocks noChangeAspect="1"/>
          </p:cNvPicPr>
          <p:nvPr/>
        </p:nvPicPr>
        <p:blipFill>
          <a:blip r:embed="rId1"/>
          <a:stretch>
            <a:fillRect/>
          </a:stretch>
        </p:blipFill>
        <p:spPr>
          <a:xfrm>
            <a:off x="1188720" y="2606040"/>
            <a:ext cx="411480" cy="411480"/>
          </a:xfrm>
          <a:prstGeom prst="rect">
            <a:avLst/>
          </a:prstGeom>
        </p:spPr>
      </p:pic>
      <p:sp>
        <p:nvSpPr>
          <p:cNvPr id="6" name="Text 3"/>
          <p:cNvSpPr/>
          <p:nvPr/>
        </p:nvSpPr>
        <p:spPr>
          <a:xfrm>
            <a:off x="1737360" y="2606040"/>
            <a:ext cx="3749040" cy="365760"/>
          </a:xfrm>
          <a:prstGeom prst="rect">
            <a:avLst/>
          </a:prstGeom>
          <a:noFill/>
          <a:ln/>
        </p:spPr>
        <p:txBody>
          <a:bodyPr wrap="square" lIns="0" tIns="0" rIns="0" bIns="0" rtlCol="0" anchor="ctr"/>
          <a:lstStyle/>
          <a:p>
            <a:pPr indent="0" marL="0">
              <a:buNone/>
            </a:pPr>
            <a:r>
              <a:rPr lang="en-US" sz="1400" b="1" spc="100" kern="0" dirty="0">
                <a:solidFill>
                  <a:srgbClr val="1A1A1A"/>
                </a:solidFill>
                <a:latin typeface="Calibri" pitchFamily="34" charset="0"/>
                <a:ea typeface="Calibri" pitchFamily="34" charset="-122"/>
                <a:cs typeface="Calibri" pitchFamily="34" charset="-120"/>
              </a:rPr>
              <a:t>GOOGLE</a:t>
            </a:r>
            <a:endParaRPr lang="en-US" sz="1400" dirty="0"/>
          </a:p>
        </p:txBody>
      </p:sp>
      <p:sp>
        <p:nvSpPr>
          <p:cNvPr id="7" name="Text 4"/>
          <p:cNvSpPr/>
          <p:nvPr/>
        </p:nvSpPr>
        <p:spPr>
          <a:xfrm>
            <a:off x="1737360" y="2944368"/>
            <a:ext cx="3749040" cy="320040"/>
          </a:xfrm>
          <a:prstGeom prst="rect">
            <a:avLst/>
          </a:prstGeom>
          <a:noFill/>
          <a:ln/>
        </p:spPr>
        <p:txBody>
          <a:bodyPr wrap="square" lIns="0" tIns="0" rIns="0" bIns="0" rtlCol="0" anchor="ctr"/>
          <a:lstStyle/>
          <a:p>
            <a:pPr indent="0" marL="0">
              <a:buNone/>
            </a:pPr>
            <a:r>
              <a:rPr lang="en-US" sz="1200" b="1" dirty="0">
                <a:solidFill>
                  <a:srgbClr val="1F4D3A"/>
                </a:solidFill>
                <a:latin typeface="Calibri" pitchFamily="34" charset="0"/>
                <a:ea typeface="Calibri" pitchFamily="34" charset="-122"/>
                <a:cs typeface="Calibri" pitchFamily="34" charset="-120"/>
              </a:rPr>
              <a:t>Captura intención</a:t>
            </a:r>
            <a:endParaRPr lang="en-US" sz="1200" dirty="0"/>
          </a:p>
        </p:txBody>
      </p:sp>
      <p:sp>
        <p:nvSpPr>
          <p:cNvPr id="8" name="Text 5"/>
          <p:cNvSpPr/>
          <p:nvPr/>
        </p:nvSpPr>
        <p:spPr>
          <a:xfrm>
            <a:off x="1188720" y="3429000"/>
            <a:ext cx="4206240" cy="1097280"/>
          </a:xfrm>
          <a:prstGeom prst="rect">
            <a:avLst/>
          </a:prstGeom>
          <a:noFill/>
          <a:ln/>
        </p:spPr>
        <p:txBody>
          <a:bodyPr wrap="square" lIns="0" tIns="0" rIns="0" bIns="0" rtlCol="0" anchor="ctr"/>
          <a:lstStyle/>
          <a:p>
            <a:pPr indent="0" marL="0">
              <a:buNone/>
            </a:pPr>
            <a:r>
              <a:rPr lang="en-US" sz="1250" dirty="0">
                <a:solidFill>
                  <a:srgbClr val="6B6B66"/>
                </a:solidFill>
                <a:latin typeface="Calibri" pitchFamily="34" charset="0"/>
                <a:ea typeface="Calibri" pitchFamily="34" charset="-122"/>
                <a:cs typeface="Calibri" pitchFamily="34" charset="-120"/>
              </a:rPr>
              <a:t>Personas que ya están buscando activamente un proveedor o solución.</a:t>
            </a:r>
            <a:endParaRPr lang="en-US" sz="1250" dirty="0"/>
          </a:p>
        </p:txBody>
      </p:sp>
      <p:sp>
        <p:nvSpPr>
          <p:cNvPr id="9" name="Shape 6"/>
          <p:cNvSpPr/>
          <p:nvPr/>
        </p:nvSpPr>
        <p:spPr>
          <a:xfrm>
            <a:off x="6309360" y="2286000"/>
            <a:ext cx="4937760" cy="2377440"/>
          </a:xfrm>
          <a:prstGeom prst="roundRect">
            <a:avLst>
              <a:gd name="adj" fmla="val 2308"/>
            </a:avLst>
          </a:prstGeom>
          <a:solidFill>
            <a:srgbClr val="F6F6F4"/>
          </a:solidFill>
          <a:ln/>
        </p:spPr>
      </p:sp>
      <p:pic>
        <p:nvPicPr>
          <p:cNvPr id="10" name="Image 1" descr="/tmp/entregadelchef_build/icons/zap_green.png">    </p:cNvPr>
          <p:cNvPicPr>
            <a:picLocks noChangeAspect="1"/>
          </p:cNvPicPr>
          <p:nvPr/>
        </p:nvPicPr>
        <p:blipFill>
          <a:blip r:embed="rId2"/>
          <a:stretch>
            <a:fillRect/>
          </a:stretch>
        </p:blipFill>
        <p:spPr>
          <a:xfrm>
            <a:off x="6675120" y="2606040"/>
            <a:ext cx="411480" cy="411480"/>
          </a:xfrm>
          <a:prstGeom prst="rect">
            <a:avLst/>
          </a:prstGeom>
        </p:spPr>
      </p:pic>
      <p:sp>
        <p:nvSpPr>
          <p:cNvPr id="11" name="Text 7"/>
          <p:cNvSpPr/>
          <p:nvPr/>
        </p:nvSpPr>
        <p:spPr>
          <a:xfrm>
            <a:off x="7223760" y="2606040"/>
            <a:ext cx="3749040" cy="365760"/>
          </a:xfrm>
          <a:prstGeom prst="rect">
            <a:avLst/>
          </a:prstGeom>
          <a:noFill/>
          <a:ln/>
        </p:spPr>
        <p:txBody>
          <a:bodyPr wrap="square" lIns="0" tIns="0" rIns="0" bIns="0" rtlCol="0" anchor="ctr"/>
          <a:lstStyle/>
          <a:p>
            <a:pPr indent="0" marL="0">
              <a:buNone/>
            </a:pPr>
            <a:r>
              <a:rPr lang="en-US" sz="1400" b="1" spc="100" kern="0" dirty="0">
                <a:solidFill>
                  <a:srgbClr val="1A1A1A"/>
                </a:solidFill>
                <a:latin typeface="Calibri" pitchFamily="34" charset="0"/>
                <a:ea typeface="Calibri" pitchFamily="34" charset="-122"/>
                <a:cs typeface="Calibri" pitchFamily="34" charset="-120"/>
              </a:rPr>
              <a:t>META</a:t>
            </a:r>
            <a:endParaRPr lang="en-US" sz="1400" dirty="0"/>
          </a:p>
        </p:txBody>
      </p:sp>
      <p:sp>
        <p:nvSpPr>
          <p:cNvPr id="12" name="Text 8"/>
          <p:cNvSpPr/>
          <p:nvPr/>
        </p:nvSpPr>
        <p:spPr>
          <a:xfrm>
            <a:off x="7223760" y="2944368"/>
            <a:ext cx="3749040" cy="320040"/>
          </a:xfrm>
          <a:prstGeom prst="rect">
            <a:avLst/>
          </a:prstGeom>
          <a:noFill/>
          <a:ln/>
        </p:spPr>
        <p:txBody>
          <a:bodyPr wrap="square" lIns="0" tIns="0" rIns="0" bIns="0" rtlCol="0" anchor="ctr"/>
          <a:lstStyle/>
          <a:p>
            <a:pPr indent="0" marL="0">
              <a:buNone/>
            </a:pPr>
            <a:r>
              <a:rPr lang="en-US" sz="1200" b="1" dirty="0">
                <a:solidFill>
                  <a:srgbClr val="1F4D3A"/>
                </a:solidFill>
                <a:latin typeface="Calibri" pitchFamily="34" charset="0"/>
                <a:ea typeface="Calibri" pitchFamily="34" charset="-122"/>
                <a:cs typeface="Calibri" pitchFamily="34" charset="-120"/>
              </a:rPr>
              <a:t>Genera intención</a:t>
            </a:r>
            <a:endParaRPr lang="en-US" sz="1200" dirty="0"/>
          </a:p>
        </p:txBody>
      </p:sp>
      <p:sp>
        <p:nvSpPr>
          <p:cNvPr id="13" name="Text 9"/>
          <p:cNvSpPr/>
          <p:nvPr/>
        </p:nvSpPr>
        <p:spPr>
          <a:xfrm>
            <a:off x="6675120" y="3429000"/>
            <a:ext cx="4206240" cy="1097280"/>
          </a:xfrm>
          <a:prstGeom prst="rect">
            <a:avLst/>
          </a:prstGeom>
          <a:noFill/>
          <a:ln/>
        </p:spPr>
        <p:txBody>
          <a:bodyPr wrap="square" lIns="0" tIns="0" rIns="0" bIns="0" rtlCol="0" anchor="ctr"/>
          <a:lstStyle/>
          <a:p>
            <a:pPr indent="0" marL="0">
              <a:buNone/>
            </a:pPr>
            <a:r>
              <a:rPr lang="en-US" sz="1250" dirty="0">
                <a:solidFill>
                  <a:srgbClr val="6B6B66"/>
                </a:solidFill>
                <a:latin typeface="Calibri" pitchFamily="34" charset="0"/>
                <a:ea typeface="Calibri" pitchFamily="34" charset="-122"/>
                <a:cs typeface="Calibri" pitchFamily="34" charset="-120"/>
              </a:rPr>
              <a:t>Personas que aún no buscan un proveedor, pero tienen un problema que Entrega del Chef puede resolver.</a:t>
            </a:r>
            <a:endParaRPr lang="en-US" sz="1250" dirty="0"/>
          </a:p>
        </p:txBody>
      </p:sp>
      <p:sp>
        <p:nvSpPr>
          <p:cNvPr id="14" name="Text 10"/>
          <p:cNvSpPr/>
          <p:nvPr/>
        </p:nvSpPr>
        <p:spPr>
          <a:xfrm>
            <a:off x="822960" y="4937760"/>
            <a:ext cx="10515600" cy="822960"/>
          </a:xfrm>
          <a:prstGeom prst="rect">
            <a:avLst/>
          </a:prstGeom>
          <a:noFill/>
          <a:ln/>
        </p:spPr>
        <p:txBody>
          <a:bodyPr wrap="square" lIns="0" tIns="0" rIns="0" bIns="0" rtlCol="0" anchor="ctr"/>
          <a:lstStyle/>
          <a:p>
            <a:pPr indent="0" marL="0">
              <a:buNone/>
            </a:pPr>
            <a:r>
              <a:rPr lang="en-US" sz="1250" i="1" dirty="0">
                <a:solidFill>
                  <a:srgbClr val="6B6B66"/>
                </a:solidFill>
                <a:latin typeface="Calibri" pitchFamily="34" charset="0"/>
                <a:ea typeface="Calibri" pitchFamily="34" charset="-122"/>
                <a:cs typeface="Calibri" pitchFamily="34" charset="-120"/>
              </a:rPr>
              <a:t>Advertencia: el modelo de último clic puede hacer que Google parezca más eficiente de lo que es — alguien descubre la marca en Meta y luego la busca en Google.</a:t>
            </a:r>
            <a:endParaRPr lang="en-US" sz="1250" dirty="0"/>
          </a:p>
        </p:txBody>
      </p:sp>
      <p:sp>
        <p:nvSpPr>
          <p:cNvPr id="15" name="Text 11"/>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EJECUCIÓN</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Hoja de ruta de 90 días</a:t>
            </a:r>
            <a:endParaRPr lang="en-US" sz="3000" dirty="0"/>
          </a:p>
        </p:txBody>
      </p:sp>
      <p:pic>
        <p:nvPicPr>
          <p:cNvPr id="4" name="Image 0" descr="/tmp/entregadelchef_build/icons/search_green.png">    </p:cNvPr>
          <p:cNvPicPr>
            <a:picLocks noChangeAspect="1"/>
          </p:cNvPicPr>
          <p:nvPr/>
        </p:nvPicPr>
        <p:blipFill>
          <a:blip r:embed="rId1"/>
          <a:stretch>
            <a:fillRect/>
          </a:stretch>
        </p:blipFill>
        <p:spPr>
          <a:xfrm>
            <a:off x="822960" y="2148840"/>
            <a:ext cx="384048" cy="384048"/>
          </a:xfrm>
          <a:prstGeom prst="rect">
            <a:avLst/>
          </a:prstGeom>
        </p:spPr>
      </p:pic>
      <p:sp>
        <p:nvSpPr>
          <p:cNvPr id="5" name="Text 2"/>
          <p:cNvSpPr/>
          <p:nvPr/>
        </p:nvSpPr>
        <p:spPr>
          <a:xfrm>
            <a:off x="822960" y="2651760"/>
            <a:ext cx="2514600" cy="36576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1. PREPARACIÓN</a:t>
            </a:r>
            <a:endParaRPr lang="en-US" sz="1250" dirty="0"/>
          </a:p>
        </p:txBody>
      </p:sp>
      <p:sp>
        <p:nvSpPr>
          <p:cNvPr id="6" name="Text 3"/>
          <p:cNvSpPr/>
          <p:nvPr/>
        </p:nvSpPr>
        <p:spPr>
          <a:xfrm>
            <a:off x="822960" y="3063240"/>
            <a:ext cx="2514600" cy="2011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Cliente ideal e información comercial</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Oferta B2B, ticket y margen</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Formulario y medición</a:t>
            </a:r>
            <a:endParaRPr lang="en-US" sz="1050" dirty="0"/>
          </a:p>
        </p:txBody>
      </p:sp>
      <p:pic>
        <p:nvPicPr>
          <p:cNvPr id="7" name="Image 1" descr="/tmp/entregadelchef_build/icons/play_green.png">    </p:cNvPr>
          <p:cNvPicPr>
            <a:picLocks noChangeAspect="1"/>
          </p:cNvPicPr>
          <p:nvPr/>
        </p:nvPicPr>
        <p:blipFill>
          <a:blip r:embed="rId2"/>
          <a:stretch>
            <a:fillRect/>
          </a:stretch>
        </p:blipFill>
        <p:spPr>
          <a:xfrm>
            <a:off x="3520440" y="2148840"/>
            <a:ext cx="384048" cy="384048"/>
          </a:xfrm>
          <a:prstGeom prst="rect">
            <a:avLst/>
          </a:prstGeom>
        </p:spPr>
      </p:pic>
      <p:sp>
        <p:nvSpPr>
          <p:cNvPr id="8" name="Text 4"/>
          <p:cNvSpPr/>
          <p:nvPr/>
        </p:nvSpPr>
        <p:spPr>
          <a:xfrm>
            <a:off x="3520440" y="2651760"/>
            <a:ext cx="2514600" cy="36576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2. LANZAMIENTO</a:t>
            </a:r>
            <a:endParaRPr lang="en-US" sz="1250" dirty="0"/>
          </a:p>
        </p:txBody>
      </p:sp>
      <p:sp>
        <p:nvSpPr>
          <p:cNvPr id="9" name="Text 5"/>
          <p:cNvSpPr/>
          <p:nvPr/>
        </p:nvSpPr>
        <p:spPr>
          <a:xfrm>
            <a:off x="3520440" y="3063240"/>
            <a:ext cx="2514600" cy="2011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Presentación y Evaluación HORECA</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Creativos, formularios y audiencias</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WhatsApp y seguimiento comercial</a:t>
            </a:r>
            <a:endParaRPr lang="en-US" sz="1050" dirty="0"/>
          </a:p>
        </p:txBody>
      </p:sp>
      <p:pic>
        <p:nvPicPr>
          <p:cNvPr id="10" name="Image 2" descr="/tmp/entregadelchef_build/icons/activity_green.png">    </p:cNvPr>
          <p:cNvPicPr>
            <a:picLocks noChangeAspect="1"/>
          </p:cNvPicPr>
          <p:nvPr/>
        </p:nvPicPr>
        <p:blipFill>
          <a:blip r:embed="rId3"/>
          <a:stretch>
            <a:fillRect/>
          </a:stretch>
        </p:blipFill>
        <p:spPr>
          <a:xfrm>
            <a:off x="6217920" y="2148840"/>
            <a:ext cx="384048" cy="384048"/>
          </a:xfrm>
          <a:prstGeom prst="rect">
            <a:avLst/>
          </a:prstGeom>
        </p:spPr>
      </p:pic>
      <p:sp>
        <p:nvSpPr>
          <p:cNvPr id="11" name="Text 6"/>
          <p:cNvSpPr/>
          <p:nvPr/>
        </p:nvSpPr>
        <p:spPr>
          <a:xfrm>
            <a:off x="6217920" y="2651760"/>
            <a:ext cx="2514600" cy="36576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3. APRENDIZAJE</a:t>
            </a:r>
            <a:endParaRPr lang="en-US" sz="1250" dirty="0"/>
          </a:p>
        </p:txBody>
      </p:sp>
      <p:sp>
        <p:nvSpPr>
          <p:cNvPr id="12" name="Text 7"/>
          <p:cNvSpPr/>
          <p:nvPr/>
        </p:nvSpPr>
        <p:spPr>
          <a:xfrm>
            <a:off x="6217920" y="3063240"/>
            <a:ext cx="2514600" cy="2011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Vertical, creativo, mensaje, audiencia</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Geografía y calidad del lead</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 de calificación</a:t>
            </a:r>
            <a:endParaRPr lang="en-US" sz="1050" dirty="0"/>
          </a:p>
        </p:txBody>
      </p:sp>
      <p:pic>
        <p:nvPicPr>
          <p:cNvPr id="13" name="Image 3" descr="/tmp/entregadelchef_build/icons/trendUp_green.png">    </p:cNvPr>
          <p:cNvPicPr>
            <a:picLocks noChangeAspect="1"/>
          </p:cNvPicPr>
          <p:nvPr/>
        </p:nvPicPr>
        <p:blipFill>
          <a:blip r:embed="rId4"/>
          <a:stretch>
            <a:fillRect/>
          </a:stretch>
        </p:blipFill>
        <p:spPr>
          <a:xfrm>
            <a:off x="8915400" y="2148840"/>
            <a:ext cx="384048" cy="384048"/>
          </a:xfrm>
          <a:prstGeom prst="rect">
            <a:avLst/>
          </a:prstGeom>
        </p:spPr>
      </p:pic>
      <p:sp>
        <p:nvSpPr>
          <p:cNvPr id="14" name="Text 8"/>
          <p:cNvSpPr/>
          <p:nvPr/>
        </p:nvSpPr>
        <p:spPr>
          <a:xfrm>
            <a:off x="8915400" y="2651760"/>
            <a:ext cx="2514600" cy="36576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4. OPTIMIZACIÓN</a:t>
            </a:r>
            <a:endParaRPr lang="en-US" sz="1250" dirty="0"/>
          </a:p>
        </p:txBody>
      </p:sp>
      <p:sp>
        <p:nvSpPr>
          <p:cNvPr id="15" name="Text 9"/>
          <p:cNvSpPr/>
          <p:nvPr/>
        </p:nvSpPr>
        <p:spPr>
          <a:xfrm>
            <a:off x="8915400" y="3063240"/>
            <a:ext cx="2514600" cy="2011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Redistribución de presupuesto</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Escalamiento y nuevos creativos</a:t>
            </a:r>
            <a:endParaRPr lang="en-US" sz="1050" dirty="0"/>
          </a:p>
          <a:p>
            <a:pPr marL="342900" indent="-342900">
              <a:spcAft>
                <a:spcPts val="600"/>
              </a:spcAft>
              <a:buSzPct val="100000"/>
              <a:buChar char="•"/>
            </a:pPr>
            <a:r>
              <a:rPr lang="en-US" sz="1050" dirty="0">
                <a:solidFill>
                  <a:srgbClr val="6B6B66"/>
                </a:solidFill>
                <a:latin typeface="Calibri" pitchFamily="34" charset="0"/>
                <a:ea typeface="Calibri" pitchFamily="34" charset="-122"/>
                <a:cs typeface="Calibri" pitchFamily="34" charset="-120"/>
              </a:rPr>
              <a:t>Activación progresiva de fases</a:t>
            </a:r>
            <a:endParaRPr lang="en-US" sz="1050" dirty="0"/>
          </a:p>
        </p:txBody>
      </p:sp>
      <p:sp>
        <p:nvSpPr>
          <p:cNvPr id="16" name="Text 10"/>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6F4"/>
        </a:solidFill>
      </p:bgPr>
    </p:bg>
    <p:spTree>
      <p:nvGrpSpPr>
        <p:cNvPr id="1" name=""/>
        <p:cNvGrpSpPr/>
        <p:nvPr/>
      </p:nvGrpSpPr>
      <p:grpSpPr>
        <a:xfrm>
          <a:off x="0" y="0"/>
          <a:ext cx="0" cy="0"/>
          <a:chOff x="0" y="0"/>
          <a:chExt cx="0" cy="0"/>
        </a:xfrm>
      </p:grpSpPr>
      <p:sp>
        <p:nvSpPr>
          <p:cNvPr id="2" name="Text 0"/>
          <p:cNvSpPr/>
          <p:nvPr/>
        </p:nvSpPr>
        <p:spPr>
          <a:xfrm>
            <a:off x="822960" y="502920"/>
            <a:ext cx="10515600" cy="320040"/>
          </a:xfrm>
          <a:prstGeom prst="rect">
            <a:avLst/>
          </a:prstGeom>
          <a:noFill/>
          <a:ln/>
        </p:spPr>
        <p:txBody>
          <a:bodyPr wrap="square" lIns="0" tIns="0" rIns="0" bIns="0" rtlCol="0" anchor="ctr"/>
          <a:lstStyle/>
          <a:p>
            <a:pPr indent="0" marL="0">
              <a:buNone/>
            </a:pPr>
            <a:r>
              <a:rPr lang="en-US" sz="1200" b="1" spc="200" kern="0" dirty="0">
                <a:solidFill>
                  <a:srgbClr val="1F4D3A"/>
                </a:solidFill>
                <a:latin typeface="Calibri" pitchFamily="34" charset="0"/>
                <a:ea typeface="Calibri" pitchFamily="34" charset="-122"/>
                <a:cs typeface="Calibri" pitchFamily="34" charset="-120"/>
              </a:rPr>
              <a:t>ANTES DE ESCALAR</a:t>
            </a:r>
            <a:endParaRPr lang="en-US" sz="1200" dirty="0"/>
          </a:p>
        </p:txBody>
      </p:sp>
      <p:sp>
        <p:nvSpPr>
          <p:cNvPr id="3" name="Text 1"/>
          <p:cNvSpPr/>
          <p:nvPr/>
        </p:nvSpPr>
        <p:spPr>
          <a:xfrm>
            <a:off x="822960" y="841248"/>
            <a:ext cx="10058400" cy="914400"/>
          </a:xfrm>
          <a:prstGeom prst="rect">
            <a:avLst/>
          </a:prstGeom>
          <a:noFill/>
          <a:ln/>
        </p:spPr>
        <p:txBody>
          <a:bodyPr wrap="square" lIns="0" tIns="0" rIns="0" bIns="0" rtlCol="0" anchor="ctr"/>
          <a:lstStyle/>
          <a:p>
            <a:pPr indent="0" marL="0">
              <a:lnSpc>
                <a:spcPct val="105000"/>
              </a:lnSpc>
              <a:buNone/>
            </a:pPr>
            <a:r>
              <a:rPr lang="en-US" sz="3000" b="1" dirty="0">
                <a:solidFill>
                  <a:srgbClr val="1A1A1A"/>
                </a:solidFill>
                <a:latin typeface="Cambria" pitchFamily="34" charset="0"/>
                <a:ea typeface="Cambria" pitchFamily="34" charset="-122"/>
                <a:cs typeface="Cambria" pitchFamily="34" charset="-120"/>
              </a:rPr>
              <a:t>Información que necesitamos de Entrega del Chef</a:t>
            </a:r>
            <a:endParaRPr lang="en-US" sz="3000" dirty="0"/>
          </a:p>
        </p:txBody>
      </p:sp>
      <p:pic>
        <p:nvPicPr>
          <p:cNvPr id="4" name="Image 0" descr="/tmp/entregadelchef_build/icons/help_green.png">    </p:cNvPr>
          <p:cNvPicPr>
            <a:picLocks noChangeAspect="1"/>
          </p:cNvPicPr>
          <p:nvPr/>
        </p:nvPicPr>
        <p:blipFill>
          <a:blip r:embed="rId1"/>
          <a:stretch>
            <a:fillRect/>
          </a:stretch>
        </p:blipFill>
        <p:spPr>
          <a:xfrm>
            <a:off x="822960" y="2194560"/>
            <a:ext cx="274320" cy="274320"/>
          </a:xfrm>
          <a:prstGeom prst="rect">
            <a:avLst/>
          </a:prstGeom>
        </p:spPr>
      </p:pic>
      <p:sp>
        <p:nvSpPr>
          <p:cNvPr id="5" name="Text 2"/>
          <p:cNvSpPr/>
          <p:nvPr/>
        </p:nvSpPr>
        <p:spPr>
          <a:xfrm>
            <a:off x="1234440" y="2157984"/>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Ticket promedio B2B y margen de contribución</a:t>
            </a:r>
            <a:endParaRPr lang="en-US" sz="1250" dirty="0"/>
          </a:p>
        </p:txBody>
      </p:sp>
      <p:pic>
        <p:nvPicPr>
          <p:cNvPr id="6" name="Image 1" descr="/tmp/entregadelchef_build/icons/help_green.png">    </p:cNvPr>
          <p:cNvPicPr>
            <a:picLocks noChangeAspect="1"/>
          </p:cNvPicPr>
          <p:nvPr/>
        </p:nvPicPr>
        <p:blipFill>
          <a:blip r:embed="rId2"/>
          <a:stretch>
            <a:fillRect/>
          </a:stretch>
        </p:blipFill>
        <p:spPr>
          <a:xfrm>
            <a:off x="822960" y="2852928"/>
            <a:ext cx="274320" cy="274320"/>
          </a:xfrm>
          <a:prstGeom prst="rect">
            <a:avLst/>
          </a:prstGeom>
        </p:spPr>
      </p:pic>
      <p:sp>
        <p:nvSpPr>
          <p:cNvPr id="7" name="Text 3"/>
          <p:cNvSpPr/>
          <p:nvPr/>
        </p:nvSpPr>
        <p:spPr>
          <a:xfrm>
            <a:off x="1234440" y="2816352"/>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Precio mayorista por producto/porción y pedido mínimo</a:t>
            </a:r>
            <a:endParaRPr lang="en-US" sz="1250" dirty="0"/>
          </a:p>
        </p:txBody>
      </p:sp>
      <p:pic>
        <p:nvPicPr>
          <p:cNvPr id="8" name="Image 2" descr="/tmp/entregadelchef_build/icons/help_green.png">    </p:cNvPr>
          <p:cNvPicPr>
            <a:picLocks noChangeAspect="1"/>
          </p:cNvPicPr>
          <p:nvPr/>
        </p:nvPicPr>
        <p:blipFill>
          <a:blip r:embed="rId3"/>
          <a:stretch>
            <a:fillRect/>
          </a:stretch>
        </p:blipFill>
        <p:spPr>
          <a:xfrm>
            <a:off x="822960" y="3511296"/>
            <a:ext cx="274320" cy="274320"/>
          </a:xfrm>
          <a:prstGeom prst="rect">
            <a:avLst/>
          </a:prstGeom>
        </p:spPr>
      </p:pic>
      <p:sp>
        <p:nvSpPr>
          <p:cNvPr id="9" name="Text 4"/>
          <p:cNvSpPr/>
          <p:nvPr/>
        </p:nvSpPr>
        <p:spPr>
          <a:xfrm>
            <a:off x="1234440" y="3474720"/>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Capacidad diaria de producción y capacidad disponible</a:t>
            </a:r>
            <a:endParaRPr lang="en-US" sz="1250" dirty="0"/>
          </a:p>
        </p:txBody>
      </p:sp>
      <p:pic>
        <p:nvPicPr>
          <p:cNvPr id="10" name="Image 3" descr="/tmp/entregadelchef_build/icons/help_green.png">    </p:cNvPr>
          <p:cNvPicPr>
            <a:picLocks noChangeAspect="1"/>
          </p:cNvPicPr>
          <p:nvPr/>
        </p:nvPicPr>
        <p:blipFill>
          <a:blip r:embed="rId4"/>
          <a:stretch>
            <a:fillRect/>
          </a:stretch>
        </p:blipFill>
        <p:spPr>
          <a:xfrm>
            <a:off x="822960" y="4169664"/>
            <a:ext cx="274320" cy="274320"/>
          </a:xfrm>
          <a:prstGeom prst="rect">
            <a:avLst/>
          </a:prstGeom>
        </p:spPr>
      </p:pic>
      <p:sp>
        <p:nvSpPr>
          <p:cNvPr id="11" name="Text 5"/>
          <p:cNvSpPr/>
          <p:nvPr/>
        </p:nvSpPr>
        <p:spPr>
          <a:xfrm>
            <a:off x="1234440" y="4133088"/>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Clientes HORECA actuales y su facturación aproximada</a:t>
            </a:r>
            <a:endParaRPr lang="en-US" sz="1250" dirty="0"/>
          </a:p>
        </p:txBody>
      </p:sp>
      <p:pic>
        <p:nvPicPr>
          <p:cNvPr id="12" name="Image 4" descr="/tmp/entregadelchef_build/icons/help_green.png">    </p:cNvPr>
          <p:cNvPicPr>
            <a:picLocks noChangeAspect="1"/>
          </p:cNvPicPr>
          <p:nvPr/>
        </p:nvPicPr>
        <p:blipFill>
          <a:blip r:embed="rId5"/>
          <a:stretch>
            <a:fillRect/>
          </a:stretch>
        </p:blipFill>
        <p:spPr>
          <a:xfrm>
            <a:off x="6309360" y="2194560"/>
            <a:ext cx="274320" cy="274320"/>
          </a:xfrm>
          <a:prstGeom prst="rect">
            <a:avLst/>
          </a:prstGeom>
        </p:spPr>
      </p:pic>
      <p:sp>
        <p:nvSpPr>
          <p:cNvPr id="13" name="Text 6"/>
          <p:cNvSpPr/>
          <p:nvPr/>
        </p:nvSpPr>
        <p:spPr>
          <a:xfrm>
            <a:off x="6720840" y="2157984"/>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Número de clientes recurrentes</a:t>
            </a:r>
            <a:endParaRPr lang="en-US" sz="1250" dirty="0"/>
          </a:p>
        </p:txBody>
      </p:sp>
      <p:pic>
        <p:nvPicPr>
          <p:cNvPr id="14" name="Image 5" descr="/tmp/entregadelchef_build/icons/help_green.png">    </p:cNvPr>
          <p:cNvPicPr>
            <a:picLocks noChangeAspect="1"/>
          </p:cNvPicPr>
          <p:nvPr/>
        </p:nvPicPr>
        <p:blipFill>
          <a:blip r:embed="rId6"/>
          <a:stretch>
            <a:fillRect/>
          </a:stretch>
        </p:blipFill>
        <p:spPr>
          <a:xfrm>
            <a:off x="6309360" y="2852928"/>
            <a:ext cx="274320" cy="274320"/>
          </a:xfrm>
          <a:prstGeom prst="rect">
            <a:avLst/>
          </a:prstGeom>
        </p:spPr>
      </p:pic>
      <p:sp>
        <p:nvSpPr>
          <p:cNvPr id="15" name="Text 7"/>
          <p:cNvSpPr/>
          <p:nvPr/>
        </p:nvSpPr>
        <p:spPr>
          <a:xfrm>
            <a:off x="6720840" y="2816352"/>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Tiempo promedio de cierre y tasa histórica de conversión</a:t>
            </a:r>
            <a:endParaRPr lang="en-US" sz="1250" dirty="0"/>
          </a:p>
        </p:txBody>
      </p:sp>
      <p:pic>
        <p:nvPicPr>
          <p:cNvPr id="16" name="Image 6" descr="/tmp/entregadelchef_build/icons/help_green.png">    </p:cNvPr>
          <p:cNvPicPr>
            <a:picLocks noChangeAspect="1"/>
          </p:cNvPicPr>
          <p:nvPr/>
        </p:nvPicPr>
        <p:blipFill>
          <a:blip r:embed="rId7"/>
          <a:stretch>
            <a:fillRect/>
          </a:stretch>
        </p:blipFill>
        <p:spPr>
          <a:xfrm>
            <a:off x="6309360" y="3511296"/>
            <a:ext cx="274320" cy="274320"/>
          </a:xfrm>
          <a:prstGeom prst="rect">
            <a:avLst/>
          </a:prstGeom>
        </p:spPr>
      </p:pic>
      <p:sp>
        <p:nvSpPr>
          <p:cNvPr id="17" name="Text 8"/>
          <p:cNvSpPr/>
          <p:nvPr/>
        </p:nvSpPr>
        <p:spPr>
          <a:xfrm>
            <a:off x="6720840" y="3474720"/>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Productos B2B prioritarios</a:t>
            </a:r>
            <a:endParaRPr lang="en-US" sz="1250" dirty="0"/>
          </a:p>
        </p:txBody>
      </p:sp>
      <p:pic>
        <p:nvPicPr>
          <p:cNvPr id="18" name="Image 7" descr="/tmp/entregadelchef_build/icons/help_green.png">    </p:cNvPr>
          <p:cNvPicPr>
            <a:picLocks noChangeAspect="1"/>
          </p:cNvPicPr>
          <p:nvPr/>
        </p:nvPicPr>
        <p:blipFill>
          <a:blip r:embed="rId8"/>
          <a:stretch>
            <a:fillRect/>
          </a:stretch>
        </p:blipFill>
        <p:spPr>
          <a:xfrm>
            <a:off x="6309360" y="4169664"/>
            <a:ext cx="274320" cy="274320"/>
          </a:xfrm>
          <a:prstGeom prst="rect">
            <a:avLst/>
          </a:prstGeom>
        </p:spPr>
      </p:pic>
      <p:sp>
        <p:nvSpPr>
          <p:cNvPr id="19" name="Text 9"/>
          <p:cNvSpPr/>
          <p:nvPr/>
        </p:nvSpPr>
        <p:spPr>
          <a:xfrm>
            <a:off x="6720840" y="4133088"/>
            <a:ext cx="470916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Ciudades o zonas donde quieren crecer</a:t>
            </a:r>
            <a:endParaRPr lang="en-US" sz="1250" dirty="0"/>
          </a:p>
        </p:txBody>
      </p:sp>
      <p:sp>
        <p:nvSpPr>
          <p:cNvPr id="20" name="Shape 10"/>
          <p:cNvSpPr/>
          <p:nvPr/>
        </p:nvSpPr>
        <p:spPr>
          <a:xfrm>
            <a:off x="822960" y="5120640"/>
            <a:ext cx="10515600" cy="822960"/>
          </a:xfrm>
          <a:prstGeom prst="roundRect">
            <a:avLst>
              <a:gd name="adj" fmla="val 6667"/>
            </a:avLst>
          </a:prstGeom>
          <a:solidFill>
            <a:srgbClr val="1A1A1A"/>
          </a:solidFill>
          <a:ln/>
        </p:spPr>
      </p:sp>
      <p:sp>
        <p:nvSpPr>
          <p:cNvPr id="21" name="Text 11"/>
          <p:cNvSpPr/>
          <p:nvPr/>
        </p:nvSpPr>
        <p:spPr>
          <a:xfrm>
            <a:off x="1188720" y="5120640"/>
            <a:ext cx="9784080" cy="822960"/>
          </a:xfrm>
          <a:prstGeom prst="rect">
            <a:avLst/>
          </a:prstGeom>
          <a:noFill/>
          <a:ln/>
        </p:spPr>
        <p:txBody>
          <a:bodyPr wrap="square" lIns="0" tIns="0" rIns="0" bIns="0" rtlCol="0" anchor="ctr"/>
          <a:lstStyle/>
          <a:p>
            <a:pPr indent="0" marL="0">
              <a:buNone/>
            </a:pPr>
            <a:r>
              <a:rPr lang="en-US" sz="1250" dirty="0">
                <a:solidFill>
                  <a:srgbClr val="E8F0EA"/>
                </a:solidFill>
                <a:latin typeface="Calibri" pitchFamily="34" charset="0"/>
                <a:ea typeface="Calibri" pitchFamily="34" charset="-122"/>
                <a:cs typeface="Calibri" pitchFamily="34" charset="-120"/>
              </a:rPr>
              <a:t>Con esta información se definirá: CPL objetivo → CPQL objetivo → CAC máximo → presupuesto escalable. Ningún número se establece todavía.</a:t>
            </a:r>
            <a:endParaRPr lang="en-US" sz="1250" dirty="0"/>
          </a:p>
        </p:txBody>
      </p:sp>
      <p:sp>
        <p:nvSpPr>
          <p:cNvPr id="22" name="Text 12"/>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1280160"/>
            <a:ext cx="9144000" cy="365760"/>
          </a:xfrm>
          <a:prstGeom prst="rect">
            <a:avLst/>
          </a:prstGeom>
          <a:noFill/>
          <a:ln/>
        </p:spPr>
        <p:txBody>
          <a:bodyPr wrap="square" lIns="0" tIns="0" rIns="0" bIns="0" rtlCol="0" anchor="ctr"/>
          <a:lstStyle/>
          <a:p>
            <a:pPr indent="0" marL="0">
              <a:buNone/>
            </a:pPr>
            <a:r>
              <a:rPr lang="en-US" sz="1300" b="1" spc="200" kern="0" dirty="0">
                <a:solidFill>
                  <a:srgbClr val="9FB8AA"/>
                </a:solidFill>
                <a:latin typeface="Calibri" pitchFamily="34" charset="0"/>
                <a:ea typeface="Calibri" pitchFamily="34" charset="-122"/>
                <a:cs typeface="Calibri" pitchFamily="34" charset="-120"/>
              </a:rPr>
              <a:t>MENSAJE FINAL</a:t>
            </a:r>
            <a:endParaRPr lang="en-US" sz="1300" dirty="0"/>
          </a:p>
        </p:txBody>
      </p:sp>
      <p:sp>
        <p:nvSpPr>
          <p:cNvPr id="3" name="Text 1"/>
          <p:cNvSpPr/>
          <p:nvPr/>
        </p:nvSpPr>
        <p:spPr>
          <a:xfrm>
            <a:off x="822960" y="1691640"/>
            <a:ext cx="10332720" cy="155448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De generar conversaciones</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a generar oportunidades comerciales</a:t>
            </a:r>
            <a:endParaRPr lang="en-US" sz="3200" dirty="0"/>
          </a:p>
        </p:txBody>
      </p:sp>
      <p:sp>
        <p:nvSpPr>
          <p:cNvPr id="4" name="Shape 2"/>
          <p:cNvSpPr/>
          <p:nvPr/>
        </p:nvSpPr>
        <p:spPr>
          <a:xfrm>
            <a:off x="822960" y="3429000"/>
            <a:ext cx="3200400" cy="0"/>
          </a:xfrm>
          <a:prstGeom prst="line">
            <a:avLst/>
          </a:prstGeom>
          <a:noFill/>
          <a:ln w="12700">
            <a:solidFill>
              <a:srgbClr val="E4E2DD"/>
            </a:solidFill>
            <a:prstDash val="solid"/>
          </a:ln>
        </p:spPr>
      </p:sp>
      <p:sp>
        <p:nvSpPr>
          <p:cNvPr id="5" name="Text 3"/>
          <p:cNvSpPr/>
          <p:nvPr/>
        </p:nvSpPr>
        <p:spPr>
          <a:xfrm>
            <a:off x="822960" y="3657600"/>
            <a:ext cx="9875520" cy="1097280"/>
          </a:xfrm>
          <a:prstGeom prst="rect">
            <a:avLst/>
          </a:prstGeom>
          <a:noFill/>
          <a:ln/>
        </p:spPr>
        <p:txBody>
          <a:bodyPr wrap="square" lIns="0" tIns="0" rIns="0" bIns="0" rtlCol="0" anchor="ctr"/>
          <a:lstStyle/>
          <a:p>
            <a:pPr indent="0" marL="0">
              <a:buNone/>
            </a:pPr>
            <a:r>
              <a:rPr lang="en-US" sz="1450" dirty="0">
                <a:solidFill>
                  <a:srgbClr val="C9CDD6"/>
                </a:solidFill>
                <a:latin typeface="Calibri" pitchFamily="34" charset="0"/>
                <a:ea typeface="Calibri" pitchFamily="34" charset="-122"/>
                <a:cs typeface="Calibri" pitchFamily="34" charset="-120"/>
              </a:rPr>
              <a:t>Entrega del Chef ya demostró que puede generar conversaciones mediante Meta Ads. El siguiente paso no es generar más — es construir un sistema que encuentre, atraiga, califique, contacte, convierta y retenga clientes HORECA.</a:t>
            </a:r>
            <a:endParaRPr lang="en-US" sz="1450" dirty="0"/>
          </a:p>
        </p:txBody>
      </p:sp>
      <p:sp>
        <p:nvSpPr>
          <p:cNvPr id="6" name="Text 4"/>
          <p:cNvSpPr/>
          <p:nvPr/>
        </p:nvSpPr>
        <p:spPr>
          <a:xfrm>
            <a:off x="822960" y="5120640"/>
            <a:ext cx="1033272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META ADS: </a:t>
            </a:r>
            <a:pPr indent="0" marL="0">
              <a:buNone/>
            </a:pPr>
            <a:r>
              <a:rPr lang="en-US" sz="1600" i="1" dirty="0">
                <a:solidFill>
                  <a:srgbClr val="9FB8AA"/>
                </a:solidFill>
                <a:latin typeface="Calibri" pitchFamily="34" charset="0"/>
                <a:ea typeface="Calibri" pitchFamily="34" charset="-122"/>
                <a:cs typeface="Calibri" pitchFamily="34" charset="-120"/>
              </a:rPr>
              <a:t>de canal de conversaciones a sistema de adquisición B2B</a:t>
            </a:r>
            <a:endParaRPr lang="en-US" sz="1600" dirty="0"/>
          </a:p>
        </p:txBody>
      </p:sp>
      <p:sp>
        <p:nvSpPr>
          <p:cNvPr id="7" name="Text 5"/>
          <p:cNvSpPr/>
          <p:nvPr/>
        </p:nvSpPr>
        <p:spPr>
          <a:xfrm>
            <a:off x="11505895" y="6355080"/>
            <a:ext cx="45720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2026-08-31T17:51:29Z</dcterms:created>
  <dcterms:modified xsi:type="dcterms:W3CDTF">2026-08-31T17:51:29Z</dcterms:modified>
</cp:coreProperties>
</file>