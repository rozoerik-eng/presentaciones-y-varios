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el marco general antes de entrar al diagnóstico.
MENSAJE PRINCIPAL: Esta es una estrategia comercial completa para Buenas Migas, no una tanda de anuncios.
QUÉ EXPLICAR: Portada de apertura; da paso al diagnóstico del estado actual de la cuenta.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Establecer el punto de partida real, reconociendo lo que ya existe antes de hablar de lo que falta.
MENSAJE PRINCIPAL: Buenas Migas ya tiene 24 años de trayectoria, dos sedes activas y una marca reconocida en Bogotá; lo que no tiene es un sistema de Meta Ads detrás de los 6 anuncios que corren hoy.
QUÉ EXPLICAR: Los 6 anuncios activos están mal estructurados y sin optimizar, ambas sedes comparten los mismos anuncios genéricos y no existe ninguna etapa de decisión del cliente cubierta.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Cambiar el modelo mental de 'anuncios sueltos' a 'sistema comercial'.
MENSAJE PRINCIPAL: El problema no es la calidad de los anuncios; es la ausencia de arquitectura detrás de la inversión.
QUÉ EXPLICAR: Contrastar cómo operan hoy los 6 anuncios (tácticos, dispersos) frente a cómo debería operar un sistema de 4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la metodología completa en una sola imagen antes de entrar en el detalle de cada etapa.
MENSAJE PRINCIPAL: Cada etapa cumple un rol distinto y prepara la siguiente; ninguna funciona aislada.
QUÉ EXPLICAR: Recorrer el journey completo: Presentación (descubrir Buenas Migas), Evaluación (confiar en la calidad artesanal), Conversión (comprar una caja o hacer un pedido), Ascensión (volver por la próxima ocasión).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Lograr que nuevas personas en Bogotá descubran Buenas Migas. Aquí no se vende, se despierta interés.
MENSAJE PRINCIPAL: En esta etapa no medimos pedidos; medimos alcance calificado en Chapinero, Chicó y el resto de Bogotá.
QUÉ EXPLICAR: Formatos de video mostrando el proceso artesanal; las cajas sorpresa como producto ancla; y que el éxito se mide en alcance, no en ventas inmediatas.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profundidad al contenido creativo de la etapa 1.
MENSAJE PRINCIPAL: No se trata de un anuncio genérico de panadería, sino de piezas que cubren distintos ángulos de decisión.
QUÉ EXPLICAR: Recorrer cada pilar. Las cajas y desayunos sorpresa son el producto más regalable y deben ser el ancla de descubrimiento; los 24 años de tradición artesanal dan autoridad; los pedidos institucionales abren la puerta a empresas.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Mover a quien ya conoce Buenas Migas hacia la intención de compra o regalo, resolviendo la duda natural sobre calidad y precio.
MENSAJE PRINCIPAL: Buenas Migas ya tiene prueba social real (4,4/5 en reseñas); hoy no se usa en ningún anuncio.
QUÉ EXPLICAR: Se activa remarketing sobre quienes vieron los anuncios de la etapa 1. El contenido cambia hacia reseñas reales, respaldo institucional y transparencia sobre el proceso artesanal.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una oportunidad concreta y medible que hoy no se aprovecha.
MENSAJE PRINCIPAL: Buenas Migas ya tiene una audiencia caliente construida por años (53.900 seguidores en Instagram, 4,4/5 en 629 reseñas); hoy Meta Ads no la usa.
QUÉ EXPLICAR: Cómo se crean públicos personalizados a partir de quienes interactúan con Instagram/Facebook, y cómo se les impacta con contenido de prueba social para moverlos hacia la etapa de conversión.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Convertir el interés calificado en pedidos reales de cajas, desayunos sorpresa o eventos institucionales.
MENSAJE PRINCIPAL: En conversión no buscamos alcance, buscamos precisión: solo se invierte en quien ya mostró interés real.
QUÉ EXPLICAR: Las audiencias se restringen a quienes vieron videos o interactuaron con los anuncios de confianza. El CTA es directo: pedir por WhatsApp, recoger o pedir entrega en Chapinero o Chicó.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el detalle táctico de optimización dentro de la etapa de conversión.
MENSAJE PRINCIPAL: Pequeños ajustes de oferta, ocasión y llamado a la acción mueven directamente la tasa de conversión.
QUÉ EXPLICAR: Ejemplo concreto: pasar de un anuncio genérico ('visítanos') a uno que nombra la ocasión (una caja ejecutiva para regalar en la oficina) y genera urgencia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Convertir una caja de regalo o un pedido puntual en una razón para volver durante todo el año.
MENSAJE PRINCIPAL: La etapa más rentable del sistema es la que hoy no existe en la cuenta.
QUÉ EXPLICAR: Cómo construir públicos personalizados de clientes anteriores segmentados por tiempo desde la última compra, y cómo cada fecha especial o pedido institucional se convierte en el gatillo de una campaña de reactivación.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Explicar el concepto de Lifetime Value aplicado a una panadería artesanal.
MENSAJE PRINCIPAL: No buscamos vender una caja una vez; buscamos construir la costumbre de comprar o regalar Buenas Migas durante todo el año.
QUÉ EXPLICAR: Cada gatillo (una fecha especial, una nueva caja de temporada, un referido, un nuevo pedido institucional) es una campaña de reactivación dirigida a un público ya construido en las etapas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Consolidar la visión completa antes de pasar al cierre de negocio.
MENSAJE PRINCIPAL: El sistema es un ciclo, no una línea recta; el cliente que recibe o compra una caja reingresa al ciclo en su siguiente ocasión.
QUÉ EXPLICAR: Cómo el dato de una etapa alimenta la audiencia de la siguiente. Reforzar que 6 anuncios sueltos no pueden sostener esta arquitectura.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el razonamiento económico del sistema sin prometer cifras específicas.
MENSAJE PRINCIPAL: El sistema reduce la dependencia de conseguir clientes nuevos cada vez y aumenta el valor de los que ya se ganaron.
QUÉ EXPLICAR: Por qué reimpactar cuesta menos que adquirir; por qué cada fecha especial y cada evento institucional suben la frecuencia de compra; por qué ofrecer cajas premium a la base existente sube el ticket promedio.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el diagnóstico con impacto, mostrando la brecha concreta entre el potencial de la marca y la ejecución publicitaria actual.
MENSAJE PRINCIPAL: Cada oportunidad está fundamentada en información real de Buenas Migas (Instagram, Facebook, Google/Restaurant Guru), no en suposiciones.
QUÉ EXPLICAR: Recorrer brevemente cada oportunidad conectándola con la etapa del sistema a la que pertenece. Cerrar señalando que ninguna de estas 10 oportunidades requiere más presupuesto: requieren 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un plan de trabajo concreto para los primeros 3 meses, conectando cada mes con un producto protagonista.
MENSAJE PRINCIPAL: La metodología de las 4 etapas se activa de forma progresiva mes a mes, empezando por las cajas sorpresa, siguiendo con pedidos institucionales, y cerrando con cajas premium.
QUÉ EXPLICAR: Mes 1 da a conocer las cajas sorpresa apoyado en video del proceso artesanal. Mes 2 construye confianza con reseñas y respaldo institucional, y abre las primeras conversiones por WhatsApp. Mes 3 escala lo que mejor funciona y presenta las cajas premium, arrancando ya la etapa de ascensión.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seguridad mostrando un cronograma detallado y realista para los primeros 3 meses.
MENSAJE PRINCIPAL: Cada quincena tiene un entregable concreto; no hay ambigüedad sobre qué se está haciendo en cada momento.
QUÉ EXPLICAR: Las dos primeras semanas son de base técnica (auditoría de la cuenta y de los 6 anuncios activos), no de campañas nuevas todavía. A partir de la semana 3 empieza la etapa de Presentación con las cajas sorpresa, y el sistema se va completando progresivamente hasta arrancar Ascensión al final del mes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con claridad las dos líneas de inversión necesarias para poner en marcha el sistema, sin mezclar honorarios de gestión con presupuesto publicitario.
MENSAJE PRINCIPAL: Son dos inversiones independientes: unos honorarios de gestión estratégica y un presupuesto de pauta que pertenece siempre a Buenas Migas.
QUÉ EXPLICAR: Los honorarios de gestión inician en $950.000 mensuales durante los primeros 3 meses como precio de lanzamiento, y pasan a la tarifa full de $1.300.000 mensuales desde el mes 4. Aparte, el presupuesto mínimo recomendado de pauta en Meta Ads es de $1.500.000 mensuales.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con una propuesta de acción clara, sin sonar comercial.
MENSAJE PRINCIPAL: El crecimiento no depende de invertir más; depende de darle estructura a los 6 anuncios que ya existen.
QUÉ EXPLICAR: Los tres pasos siguientes son concretos y secuenciales. La siguiente reunión debe definir el alcance y el cronograma de implementación de las cuatro campañas.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4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image" Target="../media/image-1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COMERCIAL · META ADS ·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Migas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33649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anuncios sueltos a un sistema de crecimiento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BEA7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a Panadería Buenas Migas · Bogotá, Colombia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Hoy, Buenas Migas pauta sin ningún sistema detrás.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anuncios activos, pero ninguno sabe para qué existe.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738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loretto/icons/bag_7A4A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3200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activos en la cuenta, mal estructurados y sin optimizar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6354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Presentaciones-y-varios/903c1196-30c4-57a8-b469-52313f1ce01c/scratchpad/loretto/icons/mapPin_7A4A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3200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sedes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48056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Chapinero y Chicó, hoy promocionadas con los mismos anuncios genéricos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02970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loretto/icons/target_7A4A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0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04672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 decisión del cliente cubiertas por la pauta actual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años de trayectoria, dos sedes activas y una marca reconocida en Bogotá ya existen. Falta el sistema que convierta cada peso invertido en un cliente que descubre, confía, compra y vuelve.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ESTRATÉGICO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 anuncios sueltos no es un sistema comercial.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F6F4F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 TÁCTICA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anuncios sin relación entre sí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público: todos por igual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251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recorrido: se impacta una sola vez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937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 qué anuncio funcione, por suerte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18132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COMERCIAL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objetivos de Meta Ads, uno por etapa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5661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por interés en repostería, regalos y eventos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4251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continuo: se impacta en el momento correcto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937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 la arquitectura, no del azar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Ads como sistema de ventas para Buenas Migas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etapas. Cada una prepara la siguiente.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6F4F2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60" dirty="0"/>
          </a:p>
        </p:txBody>
      </p:sp>
      <p:sp>
        <p:nvSpPr>
          <p:cNvPr id="8" name="Shape 6"/>
          <p:cNvSpPr/>
          <p:nvPr/>
        </p:nvSpPr>
        <p:spPr>
          <a:xfrm>
            <a:off x="159562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tmp/claude-0/-home-user-Presentaciones-y-varios/903c1196-30c4-57a8-b469-52313f1ce01c/scratchpad/loretto/icons/eye_7A4A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64" y="35753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</a:t>
            </a:r>
            <a:endParaRPr lang="en-US" sz="1200" dirty="0"/>
          </a:p>
        </p:txBody>
      </p:sp>
      <p:pic>
        <p:nvPicPr>
          <p:cNvPr id="12" name="Image 1" descr="/tmp/claude-0/-home-user-Presentaciones-y-varios/903c1196-30c4-57a8-b469-52313f1ce01c/scratchpad/loretto/icons/arrowRight_7A4A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977640"/>
            <a:ext cx="246888" cy="2468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1ECE7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910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15" name="Text 11"/>
          <p:cNvSpPr/>
          <p:nvPr/>
        </p:nvSpPr>
        <p:spPr>
          <a:xfrm>
            <a:off x="422910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60" dirty="0"/>
          </a:p>
        </p:txBody>
      </p:sp>
      <p:sp>
        <p:nvSpPr>
          <p:cNvPr id="16" name="Shape 12"/>
          <p:cNvSpPr/>
          <p:nvPr/>
        </p:nvSpPr>
        <p:spPr>
          <a:xfrm>
            <a:off x="424738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loretto/icons/star_7A4A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357530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6616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356616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</a:t>
            </a:r>
            <a:endParaRPr lang="en-US" sz="1200" dirty="0"/>
          </a:p>
        </p:txBody>
      </p:sp>
      <p:pic>
        <p:nvPicPr>
          <p:cNvPr id="20" name="Image 3" descr="/tmp/claude-0/-home-user-Presentaciones-y-varios/903c1196-30c4-57a8-b469-52313f1ce01c/scratchpad/loretto/icons/arrowRight_7A4A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977640"/>
            <a:ext cx="246888" cy="24688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8076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6F4F2"/>
          </a:solidFill>
          <a:ln/>
        </p:spPr>
      </p:sp>
      <p:sp>
        <p:nvSpPr>
          <p:cNvPr id="22" name="Shape 16"/>
          <p:cNvSpPr/>
          <p:nvPr/>
        </p:nvSpPr>
        <p:spPr>
          <a:xfrm>
            <a:off x="688086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23" name="Text 17"/>
          <p:cNvSpPr/>
          <p:nvPr/>
        </p:nvSpPr>
        <p:spPr>
          <a:xfrm>
            <a:off x="688086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60" dirty="0"/>
          </a:p>
        </p:txBody>
      </p:sp>
      <p:sp>
        <p:nvSpPr>
          <p:cNvPr id="24" name="Shape 18"/>
          <p:cNvSpPr/>
          <p:nvPr/>
        </p:nvSpPr>
        <p:spPr>
          <a:xfrm>
            <a:off x="689914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tmp/claude-0/-home-user-Presentaciones-y-varios/903c1196-30c4-57a8-b469-52313f1ce01c/scratchpad/loretto/icons/bag_7A4A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884" y="357530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1792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621792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1200" dirty="0"/>
          </a:p>
        </p:txBody>
      </p:sp>
      <p:pic>
        <p:nvPicPr>
          <p:cNvPr id="28" name="Image 5" descr="/tmp/claude-0/-home-user-Presentaciones-y-varios/903c1196-30c4-57a8-b469-52313f1ce01c/scratchpad/loretto/icons/arrowRight_7A4A1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3977640"/>
            <a:ext cx="246888" cy="24688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73252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1ECE7"/>
          </a:solidFill>
          <a:ln/>
        </p:spPr>
      </p:sp>
      <p:sp>
        <p:nvSpPr>
          <p:cNvPr id="30" name="Shape 22"/>
          <p:cNvSpPr/>
          <p:nvPr/>
        </p:nvSpPr>
        <p:spPr>
          <a:xfrm>
            <a:off x="953262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31" name="Text 23"/>
          <p:cNvSpPr/>
          <p:nvPr/>
        </p:nvSpPr>
        <p:spPr>
          <a:xfrm>
            <a:off x="953262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560" dirty="0"/>
          </a:p>
        </p:txBody>
      </p:sp>
      <p:sp>
        <p:nvSpPr>
          <p:cNvPr id="32" name="Shape 24"/>
          <p:cNvSpPr/>
          <p:nvPr/>
        </p:nvSpPr>
        <p:spPr>
          <a:xfrm>
            <a:off x="955090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/tmp/claude-0/-home-user-Presentaciones-y-varios/903c1196-30c4-57a8-b469-52313f1ce01c/scratchpad/loretto/icons/sync_7A4A1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644" y="3575304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86968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886968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no es más anuncios sueltos: es un cliente que descubre, confía, compra y vuelve por su próxima caja o evento.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BEA79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despertar interés en Buenas Migas, no vender todavía.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8" name="Image 0" descr="/tmp/claude-0/-home-user-Presentaciones-y-varios/903c1196-30c4-57a8-b469-52313f1ce01c/scratchpad/loretto/icons/mapPin_BEA7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Chapinero, Chicó y Bogotá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1" name="Image 1" descr="/tmp/claude-0/-home-user-Presentaciones-y-varios/903c1196-30c4-57a8-b469-52313f1ce01c/scratchpad/loretto/icons/bottle_BEA79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sorpresa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protagonista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4" name="Image 2" descr="/tmp/claude-0/-home-user-Presentaciones-y-varios/903c1196-30c4-57a8-b469-52313f1ce01c/scratchpad/loretto/icons/video_BEA7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artesanal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7" name="Image 3" descr="/tmp/claude-0/-home-user-Presentaciones-y-varios/903c1196-30c4-57a8-b469-52313f1ce01c/scratchpad/loretto/icons/leaf_BEA79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años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tradición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PRESENTACIÓN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cinco pilares del descubrimiento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pilar ataca una razón distinta de decisión.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loretto/icons/bottle_7A4A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7660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Cajas y desayunos sorpresa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73736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más regalable de la marca, listo para ser el anuncio ancla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Presentaciones-y-varios/903c1196-30c4-57a8-b469-52313f1ce01c/scratchpad/loretto/icons/leaf_7A4A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7660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 100% artesanal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39496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años de tradición horneando con las recetas del fundador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16" name="Shape 12"/>
          <p:cNvSpPr/>
          <p:nvPr/>
        </p:nvSpPr>
        <p:spPr>
          <a:xfrm>
            <a:off x="82753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loretto/icons/video_7A4A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27660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del proceso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05256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horneado y el armado de las cajas como espectáculo visual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6634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21" name="Shape 16"/>
          <p:cNvSpPr/>
          <p:nvPr/>
        </p:nvSpPr>
        <p:spPr>
          <a:xfrm>
            <a:off x="960120" y="4937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tmp/claude-0/-home-user-Presentaciones-y-varios/903c1196-30c4-57a8-b469-52313f1ce01c/scratchpad/loretto/icons/fruit_7A4A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50977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Repostería y postres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737360" y="5303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Tortas, pastelería y dulces para toda ocasión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97680" y="46634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26" name="Shape 20"/>
          <p:cNvSpPr/>
          <p:nvPr/>
        </p:nvSpPr>
        <p:spPr>
          <a:xfrm>
            <a:off x="4617720" y="4937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tmp/claude-0/-home-user-Presentaciones-y-varios/903c1196-30c4-57a8-b469-52313f1ce01c/scratchpad/loretto/icons/handshake_7A4A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50977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Pedidos institucionales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394960" y="5303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ya piden con nosotros desde 6 unidades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BEA79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quien ya vio Buenas Migas necesita confirmar que vale la pena comprar o regalar.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8" name="Image 0" descr="/tmp/claude-0/-home-user-Presentaciones-y-varios/903c1196-30c4-57a8-b469-52313f1ce01c/scratchpad/loretto/icons/star_BEA7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1" name="Image 1" descr="/tmp/claude-0/-home-user-Presentaciones-y-varios/903c1196-30c4-57a8-b469-52313f1ce01c/scratchpad/loretto/icons/handshake_BEA79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4" name="Image 2" descr="/tmp/claude-0/-home-user-Presentaciones-y-varios/903c1196-30c4-57a8-b469-52313f1ce01c/scratchpad/loretto/icons/sync_BEA7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interacción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7" name="Image 3" descr="/tmp/claude-0/-home-user-Presentaciones-y-varios/903c1196-30c4-57a8-b469-52313f1ce01c/scratchpad/loretto/icons/shield_BEA79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artesanal garantizada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 social que ya existe, sin explotar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1ECE7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606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Presentaciones-y-varios/903c1196-30c4-57a8-b469-52313f1ce01c/scratchpad/loretto/icons/handshake_7A4A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8117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53.900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965960" y="2880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en Instagram, hoy sin ninguna campaña de remarketing activa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1ECE7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606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laude-0/-home-user-Presentaciones-y-varios/903c1196-30c4-57a8-b469-52313f1ce01c/scratchpad/loretto/icons/star_7A4A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8117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4,4/5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532120" y="2880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629 reseñas públicas (Google y Restaurant Guru) no usadas como creativo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46304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15" name="Image 2" descr="/tmp/claude-0/-home-user-Presentaciones-y-varios/903c1196-30c4-57a8-b469-52313f1ce01c/scratchpad/loretto/icons/eye_7A4A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49834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9456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anuncio</a:t>
            </a:r>
            <a:endParaRPr lang="en-US" sz="1300" dirty="0"/>
          </a:p>
        </p:txBody>
      </p:sp>
      <p:pic>
        <p:nvPicPr>
          <p:cNvPr id="17" name="Image 3" descr="/tmp/claude-0/-home-user-Presentaciones-y-varios/903c1196-30c4-57a8-b469-52313f1ce01c/scratchpad/loretto/icons/arrowRight_7A4A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507492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1772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19" name="Image 4" descr="/tmp/claude-0/-home-user-Presentaciones-y-varios/903c1196-30c4-57a8-b469-52313f1ce01c/scratchpad/loretto/icons/filter_7A4A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98348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4924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</a:t>
            </a:r>
            <a:endParaRPr lang="en-US" sz="1300" dirty="0"/>
          </a:p>
        </p:txBody>
      </p:sp>
      <p:pic>
        <p:nvPicPr>
          <p:cNvPr id="21" name="Image 5" descr="/tmp/claude-0/-home-user-Presentaciones-y-varios/903c1196-30c4-57a8-b469-52313f1ce01c/scratchpad/loretto/icons/arrowRight_7A4A1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507492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77240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23" name="Image 6" descr="/tmp/claude-0/-home-user-Presentaciones-y-varios/903c1196-30c4-57a8-b469-52313f1ce01c/scratchpad/loretto/icons/shield_7A4A1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983480"/>
            <a:ext cx="411480" cy="4114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50392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social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BEA79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convertir el interés en un pedido real de cajas o evento.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8" name="Image 0" descr="/tmp/claude-0/-home-user-Presentaciones-y-varios/903c1196-30c4-57a8-b469-52313f1ce01c/scratchpad/loretto/icons/bag_BEA7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WhatsApp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1" name="Image 1" descr="/tmp/claude-0/-home-user-Presentaciones-y-varios/903c1196-30c4-57a8-b469-52313f1ce01c/scratchpad/loretto/icons/truck_BEA79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 recogida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Chapinero y Chicó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4" name="Image 2" descr="/tmp/claude-0/-home-user-Presentaciones-y-varios/903c1196-30c4-57a8-b469-52313f1ce01c/scratchpad/loretto/icons/bottle_BEA7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caja o combo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7" name="Image 3" descr="/tmp/claude-0/-home-user-Presentaciones-y-varios/903c1196-30c4-57a8-b469-52313f1ce01c/scratchpad/loretto/icons/route_BEA79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precisión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CONVERSIÓN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intención a la compra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público, dos formas de pedirle que actúe.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GENÉRICO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“Visítanos esta semana”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ocasión específica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urgencia real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público para todos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1813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POR OCASIÓN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788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“Sorprende a tu equipo con la Caja Ejecutiva Buenas Migas”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3703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Ocasión y audiencia específicas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206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y cupo con urgencia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4709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anuncio por tipo de caja o evento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BEA79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que una caja de regalo sea una razón para volver todo el año.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8" name="Image 0" descr="/tmp/claude-0/-home-user-Presentaciones-y-varios/903c1196-30c4-57a8-b469-52313f1ce01c/scratchpad/loretto/icons/sync_BEA7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cajas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1" name="Image 1" descr="/tmp/claude-0/-home-user-Presentaciones-y-varios/903c1196-30c4-57a8-b469-52313f1ce01c/scratchpad/loretto/icons/bag_BEA79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4" name="Image 2" descr="/tmp/claude-0/-home-user-Presentaciones-y-varios/903c1196-30c4-57a8-b469-52313f1ce01c/scratchpad/loretto/icons/heart_BEA7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Reimpactar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anteriores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7" name="Image 3" descr="/tmp/claude-0/-home-user-Presentaciones-y-varios/903c1196-30c4-57a8-b469-52313f1ce01c/scratchpad/loretto/icons/building_BEA79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repiten pedidos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ASCENSIÓN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una caja de regalo a un cliente que vuelve todo el año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PRINCIPIO: LIFETIME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caja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que llega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una campaña puntual</a:t>
            </a:r>
            <a:endParaRPr lang="en-US" sz="1150" dirty="0"/>
          </a:p>
        </p:txBody>
      </p:sp>
      <p:pic>
        <p:nvPicPr>
          <p:cNvPr id="8" name="Image 0" descr="/tmp/claude-0/-home-user-Presentaciones-y-varios/903c1196-30c4-57a8-b469-52313f1ce01c/scratchpad/loretto/icons/arrowRight_7A4A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338328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09360" y="2606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181321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834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recurrente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37960" y="3383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por fechas especiales, pide nuevas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y recomienda Buenas Migas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0525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6F4F2"/>
          </a:solidFill>
          <a:ln/>
        </p:spPr>
      </p:sp>
      <p:sp>
        <p:nvSpPr>
          <p:cNvPr id="13" name="Shape 10"/>
          <p:cNvSpPr/>
          <p:nvPr/>
        </p:nvSpPr>
        <p:spPr>
          <a:xfrm>
            <a:off x="117957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tmp/claude-0/-home-user-Presentaciones-y-varios/903c1196-30c4-57a8-b469-52313f1ce01c/scratchpad/loretto/icons/sync_7A4A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33" y="509663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6537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55701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1ECE7"/>
          </a:solidFill>
          <a:ln/>
        </p:spPr>
      </p:sp>
      <p:sp>
        <p:nvSpPr>
          <p:cNvPr id="17" name="Shape 13"/>
          <p:cNvSpPr/>
          <p:nvPr/>
        </p:nvSpPr>
        <p:spPr>
          <a:xfrm>
            <a:off x="383133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tmp/claude-0/-home-user-Presentaciones-y-varios/903c1196-30c4-57a8-b469-52313f1ce01c/scratchpad/loretto/icons/bag_7A4A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493" y="5096637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1713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0877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6F4F2"/>
          </a:solidFill>
          <a:ln/>
        </p:spPr>
      </p:sp>
      <p:sp>
        <p:nvSpPr>
          <p:cNvPr id="21" name="Shape 16"/>
          <p:cNvSpPr/>
          <p:nvPr/>
        </p:nvSpPr>
        <p:spPr>
          <a:xfrm>
            <a:off x="648309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tmp/claude-0/-home-user-Presentaciones-y-varios/903c1196-30c4-57a8-b469-52313f1ce01c/scratchpad/loretto/icons/thumbsup_7A4A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253" y="509663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6889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 de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86053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1ECE7"/>
          </a:solidFill>
          <a:ln/>
        </p:spPr>
      </p:sp>
      <p:sp>
        <p:nvSpPr>
          <p:cNvPr id="25" name="Shape 19"/>
          <p:cNvSpPr/>
          <p:nvPr/>
        </p:nvSpPr>
        <p:spPr>
          <a:xfrm>
            <a:off x="913485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tmp/claude-0/-home-user-Presentaciones-y-varios/903c1196-30c4-57a8-b469-52313f1ce01c/scratchpad/loretto/icons/building_7A4A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013" y="509663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065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pedidos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institucionales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CONSOLIDACIÓN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completo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etapa funciona sola. El valor está en la conexión.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2606040"/>
            <a:ext cx="1234440" cy="1234440"/>
          </a:xfrm>
          <a:prstGeom prst="ellipse">
            <a:avLst/>
          </a:prstGeom>
          <a:solidFill>
            <a:srgbClr val="35200D"/>
          </a:solidFill>
          <a:ln w="19050">
            <a:solidFill>
              <a:srgbClr val="BEA791"/>
            </a:solidFill>
            <a:prstDash val="solid"/>
          </a:ln>
        </p:spPr>
      </p:sp>
      <p:pic>
        <p:nvPicPr>
          <p:cNvPr id="6" name="Image 0" descr="/tmp/claude-0/-home-user-Presentaciones-y-varios/903c1196-30c4-57a8-b469-52313f1ce01c/scratchpad/loretto/icons/eye_BEA7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9763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500" dirty="0"/>
          </a:p>
        </p:txBody>
      </p:sp>
      <p:pic>
        <p:nvPicPr>
          <p:cNvPr id="9" name="Image 1" descr="/tmp/claude-0/-home-user-Presentaciones-y-varios/903c1196-30c4-57a8-b469-52313f1ce01c/scratchpad/loretto/icons/arrowRight_BEA79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095244"/>
            <a:ext cx="246888" cy="2468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77640" y="2606040"/>
            <a:ext cx="1234440" cy="1234440"/>
          </a:xfrm>
          <a:prstGeom prst="ellipse">
            <a:avLst/>
          </a:prstGeom>
          <a:solidFill>
            <a:srgbClr val="35200D"/>
          </a:solidFill>
          <a:ln w="19050">
            <a:solidFill>
              <a:srgbClr val="BEA791"/>
            </a:solidFill>
            <a:prstDash val="solid"/>
          </a:ln>
        </p:spPr>
      </p:sp>
      <p:pic>
        <p:nvPicPr>
          <p:cNvPr id="11" name="Image 2" descr="/tmp/claude-0/-home-user-Presentaciones-y-varios/903c1196-30c4-57a8-b469-52313f1ce01c/scratchpad/loretto/icons/star_BEA7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972" y="2976372"/>
            <a:ext cx="493776" cy="493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42900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500" dirty="0"/>
          </a:p>
        </p:txBody>
      </p:sp>
      <p:pic>
        <p:nvPicPr>
          <p:cNvPr id="14" name="Image 3" descr="/tmp/claude-0/-home-user-Presentaciones-y-varios/903c1196-30c4-57a8-b469-52313f1ce01c/scratchpad/loretto/icons/arrowRight_BEA79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095244"/>
            <a:ext cx="246888" cy="24688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629400" y="2606040"/>
            <a:ext cx="1234440" cy="1234440"/>
          </a:xfrm>
          <a:prstGeom prst="ellipse">
            <a:avLst/>
          </a:prstGeom>
          <a:solidFill>
            <a:srgbClr val="35200D"/>
          </a:solidFill>
          <a:ln w="19050">
            <a:solidFill>
              <a:srgbClr val="BEA791"/>
            </a:solidFill>
            <a:prstDash val="solid"/>
          </a:ln>
        </p:spPr>
      </p:sp>
      <p:pic>
        <p:nvPicPr>
          <p:cNvPr id="16" name="Image 4" descr="/tmp/claude-0/-home-user-Presentaciones-y-varios/903c1196-30c4-57a8-b469-52313f1ce01c/scratchpad/loretto/icons/bag_BEA79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732" y="2976372"/>
            <a:ext cx="493776" cy="4937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8076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08076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1500" dirty="0"/>
          </a:p>
        </p:txBody>
      </p:sp>
      <p:pic>
        <p:nvPicPr>
          <p:cNvPr id="19" name="Image 5" descr="/tmp/claude-0/-home-user-Presentaciones-y-varios/903c1196-30c4-57a8-b469-52313f1ce01c/scratchpad/loretto/icons/arrowRight_BEA79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3095244"/>
            <a:ext cx="246888" cy="24688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281160" y="2606040"/>
            <a:ext cx="1234440" cy="1234440"/>
          </a:xfrm>
          <a:prstGeom prst="ellipse">
            <a:avLst/>
          </a:prstGeom>
          <a:solidFill>
            <a:srgbClr val="35200D"/>
          </a:solidFill>
          <a:ln w="19050">
            <a:solidFill>
              <a:srgbClr val="BEA791"/>
            </a:solidFill>
            <a:prstDash val="solid"/>
          </a:ln>
        </p:spPr>
      </p:sp>
      <p:pic>
        <p:nvPicPr>
          <p:cNvPr id="21" name="Image 6" descr="/tmp/claude-0/-home-user-Presentaciones-y-varios/903c1196-30c4-57a8-b469-52313f1ce01c/scratchpad/loretto/icons/sync_BEA79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1492" y="2976372"/>
            <a:ext cx="493776" cy="49377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73252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873252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2103120" y="4800600"/>
            <a:ext cx="7955280" cy="868680"/>
          </a:xfrm>
          <a:prstGeom prst="roundRect">
            <a:avLst>
              <a:gd name="adj" fmla="val 10526"/>
            </a:avLst>
          </a:prstGeom>
          <a:solidFill>
            <a:srgbClr val="35200D"/>
          </a:solidFill>
          <a:ln/>
        </p:spPr>
      </p:sp>
      <p:sp>
        <p:nvSpPr>
          <p:cNvPr id="25" name="Shape 16"/>
          <p:cNvSpPr/>
          <p:nvPr/>
        </p:nvSpPr>
        <p:spPr>
          <a:xfrm>
            <a:off x="2377440" y="4960620"/>
            <a:ext cx="548640" cy="548640"/>
          </a:xfrm>
          <a:prstGeom prst="ellipse">
            <a:avLst/>
          </a:prstGeom>
          <a:solidFill>
            <a:srgbClr val="442911"/>
          </a:solidFill>
          <a:ln/>
        </p:spPr>
      </p:sp>
      <p:pic>
        <p:nvPicPr>
          <p:cNvPr id="26" name="Image 7" descr="/tmp/claude-0/-home-user-Presentaciones-y-varios/903c1196-30c4-57a8-b469-52313f1ce01c/scratchpad/loretto/icons/sync_BEA79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0884" y="5084064"/>
            <a:ext cx="301752" cy="30175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154680" y="480060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repite: quien recibe o compra una caja entra de nuevo por evaluación en su próxima ocasión.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RAZONAMIENTO ECONÓMICO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lógica de negocio detrás del 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4F2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Presentaciones-y-varios/903c1196-30c4-57a8-b469-52313f1ce01c/scratchpad/loretto/icons/dollar_7A4A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651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costo por cliente en el tiempo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Reimpactar a quien ya conoce Buenas Migas cuesta menos que conseguir a alguien nuevo.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4F2"/>
          </a:solidFill>
          <a:ln/>
        </p:spPr>
      </p:sp>
      <p:sp>
        <p:nvSpPr>
          <p:cNvPr id="10" name="Shape 7"/>
          <p:cNvSpPr/>
          <p:nvPr/>
        </p:nvSpPr>
        <p:spPr>
          <a:xfrm>
            <a:off x="587502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laude-0/-home-user-Presentaciones-y-varios/903c1196-30c4-57a8-b469-52313f1ce01c/scratchpad/loretto/icons/sync_7A4A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651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frecuencia de compra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80060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fecha especial y cada evento institucional reactivan a clientes existentes en lugar de dejarlos en silencio.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4F2"/>
          </a:solidFill>
          <a:ln/>
        </p:spPr>
      </p:sp>
      <p:sp>
        <p:nvSpPr>
          <p:cNvPr id="15" name="Shape 11"/>
          <p:cNvSpPr/>
          <p:nvPr/>
        </p:nvSpPr>
        <p:spPr>
          <a:xfrm>
            <a:off x="971550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tmp/claude-0/-home-user-Presentaciones-y-varios/903c1196-30c4-57a8-b469-52313f1ce01c/scratchpad/loretto/icons/bag_7A4A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0" y="2651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ticket promedio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4108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cajas premium y los pedidos institucionales se ofrecen a quien ya confía en la marca.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promete resultados garantizados. Reduce la dependencia de conseguir clientes nuevos cada vez y aumenta el valor de los que ya se ganaron.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DEL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oportunidades que hoy Buenas Migas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 dejando sobre la mesa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35200D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1929384"/>
            <a:ext cx="457200" cy="457200"/>
          </a:xfrm>
          <a:prstGeom prst="ellipse">
            <a:avLst/>
          </a:prstGeom>
          <a:solidFill>
            <a:srgbClr val="442911"/>
          </a:solidFill>
          <a:ln/>
        </p:spPr>
      </p:sp>
      <p:pic>
        <p:nvPicPr>
          <p:cNvPr id="6" name="Image 0" descr="/tmp/claude-0/-home-user-Presentaciones-y-varios/903c1196-30c4-57a8-b469-52313f1ce01c/scratchpad/loretto/icons/video_BEA7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862" y="2032254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379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Reestructurar los 6 anuncios activos en las 4 etapas del sistema, hoy sin ningún objetivo definido.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35200D"/>
          </a:solidFill>
          <a:ln/>
        </p:spPr>
      </p:sp>
      <p:sp>
        <p:nvSpPr>
          <p:cNvPr id="9" name="Shape 6"/>
          <p:cNvSpPr/>
          <p:nvPr/>
        </p:nvSpPr>
        <p:spPr>
          <a:xfrm>
            <a:off x="6656832" y="1929384"/>
            <a:ext cx="457200" cy="457200"/>
          </a:xfrm>
          <a:prstGeom prst="ellipse">
            <a:avLst/>
          </a:prstGeom>
          <a:solidFill>
            <a:srgbClr val="442911"/>
          </a:solidFill>
          <a:ln/>
        </p:spPr>
      </p:sp>
      <p:pic>
        <p:nvPicPr>
          <p:cNvPr id="10" name="Image 1" descr="/tmp/claude-0/-home-user-Presentaciones-y-varios/903c1196-30c4-57a8-b469-52313f1ce01c/scratchpad/loretto/icons/handshake_BEA79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702" y="2032254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379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remarketing sobre los 53.900 seguidores de Instagram, hoy sin ninguna campaña de reimpacto.</a:t>
            </a:r>
            <a:endParaRPr lang="en-US" sz="1020" dirty="0"/>
          </a:p>
        </p:txBody>
      </p:sp>
      <p:sp>
        <p:nvSpPr>
          <p:cNvPr id="12" name="Shape 8"/>
          <p:cNvSpPr/>
          <p:nvPr/>
        </p:nvSpPr>
        <p:spPr>
          <a:xfrm>
            <a:off x="640080" y="267919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35200D"/>
          </a:solidFill>
          <a:ln/>
        </p:spPr>
      </p:sp>
      <p:sp>
        <p:nvSpPr>
          <p:cNvPr id="13" name="Shape 9"/>
          <p:cNvSpPr/>
          <p:nvPr/>
        </p:nvSpPr>
        <p:spPr>
          <a:xfrm>
            <a:off x="1078992" y="2825496"/>
            <a:ext cx="457200" cy="457200"/>
          </a:xfrm>
          <a:prstGeom prst="ellipse">
            <a:avLst/>
          </a:prstGeom>
          <a:solidFill>
            <a:srgbClr val="442911"/>
          </a:solidFill>
          <a:ln/>
        </p:spPr>
      </p:sp>
      <p:pic>
        <p:nvPicPr>
          <p:cNvPr id="14" name="Image 2" descr="/tmp/claude-0/-home-user-Presentaciones-y-varios/903c1196-30c4-57a8-b469-52313f1ce01c/scratchpad/loretto/icons/bottle_BEA7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862" y="2928366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27340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las 629 reseñas (4,4/5) en creativos de prueba social para la etapa de evaluación.</a:t>
            </a:r>
            <a:endParaRPr lang="en-US" sz="1020" dirty="0"/>
          </a:p>
        </p:txBody>
      </p:sp>
      <p:sp>
        <p:nvSpPr>
          <p:cNvPr id="16" name="Shape 11"/>
          <p:cNvSpPr/>
          <p:nvPr/>
        </p:nvSpPr>
        <p:spPr>
          <a:xfrm>
            <a:off x="6217920" y="267919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35200D"/>
          </a:solidFill>
          <a:ln/>
        </p:spPr>
      </p:sp>
      <p:sp>
        <p:nvSpPr>
          <p:cNvPr id="17" name="Shape 12"/>
          <p:cNvSpPr/>
          <p:nvPr/>
        </p:nvSpPr>
        <p:spPr>
          <a:xfrm>
            <a:off x="6656832" y="2825496"/>
            <a:ext cx="457200" cy="457200"/>
          </a:xfrm>
          <a:prstGeom prst="ellipse">
            <a:avLst/>
          </a:prstGeom>
          <a:solidFill>
            <a:srgbClr val="442911"/>
          </a:solidFill>
          <a:ln/>
        </p:spPr>
      </p:sp>
      <p:pic>
        <p:nvPicPr>
          <p:cNvPr id="18" name="Image 3" descr="/tmp/claude-0/-home-user-Presentaciones-y-varios/903c1196-30c4-57a8-b469-52313f1ce01c/scratchpad/loretto/icons/truck_BEA79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702" y="2928366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27340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público de clientes con más de 90 días sin comprar, para campañas de reactivación.</a:t>
            </a:r>
            <a:endParaRPr lang="en-US" sz="1020" dirty="0"/>
          </a:p>
        </p:txBody>
      </p:sp>
      <p:sp>
        <p:nvSpPr>
          <p:cNvPr id="20" name="Shape 14"/>
          <p:cNvSpPr/>
          <p:nvPr/>
        </p:nvSpPr>
        <p:spPr>
          <a:xfrm>
            <a:off x="640080" y="357530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35200D"/>
          </a:solidFill>
          <a:ln/>
        </p:spPr>
      </p:sp>
      <p:sp>
        <p:nvSpPr>
          <p:cNvPr id="21" name="Shape 15"/>
          <p:cNvSpPr/>
          <p:nvPr/>
        </p:nvSpPr>
        <p:spPr>
          <a:xfrm>
            <a:off x="1078992" y="3721608"/>
            <a:ext cx="457200" cy="457200"/>
          </a:xfrm>
          <a:prstGeom prst="ellipse">
            <a:avLst/>
          </a:prstGeom>
          <a:solidFill>
            <a:srgbClr val="442911"/>
          </a:solidFill>
          <a:ln/>
        </p:spPr>
      </p:sp>
      <p:pic>
        <p:nvPicPr>
          <p:cNvPr id="22" name="Image 4" descr="/tmp/claude-0/-home-user-Presentaciones-y-varios/903c1196-30c4-57a8-b469-52313f1ce01c/scratchpad/loretto/icons/fruit_BEA79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862" y="3824478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36301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campaña de cajas de regalo en fechas clave: Navidad, Amor y Amistad, Día del Padre y de la Madre.</a:t>
            </a:r>
            <a:endParaRPr lang="en-US" sz="1020" dirty="0"/>
          </a:p>
        </p:txBody>
      </p:sp>
      <p:sp>
        <p:nvSpPr>
          <p:cNvPr id="24" name="Shape 17"/>
          <p:cNvSpPr/>
          <p:nvPr/>
        </p:nvSpPr>
        <p:spPr>
          <a:xfrm>
            <a:off x="6217920" y="357530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35200D"/>
          </a:solidFill>
          <a:ln/>
        </p:spPr>
      </p:sp>
      <p:sp>
        <p:nvSpPr>
          <p:cNvPr id="25" name="Shape 18"/>
          <p:cNvSpPr/>
          <p:nvPr/>
        </p:nvSpPr>
        <p:spPr>
          <a:xfrm>
            <a:off x="6656832" y="3721608"/>
            <a:ext cx="457200" cy="457200"/>
          </a:xfrm>
          <a:prstGeom prst="ellipse">
            <a:avLst/>
          </a:prstGeom>
          <a:solidFill>
            <a:srgbClr val="442911"/>
          </a:solidFill>
          <a:ln/>
        </p:spPr>
      </p:sp>
      <p:pic>
        <p:nvPicPr>
          <p:cNvPr id="26" name="Image 5" descr="/tmp/claude-0/-home-user-Presentaciones-y-varios/903c1196-30c4-57a8-b469-52313f1ce01c/scratchpad/loretto/icons/chart_BEA79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702" y="3824478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36301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embudo independiente para pedidos institucionales, separado del tráfico de personas naturales.</a:t>
            </a:r>
            <a:endParaRPr lang="en-US" sz="1020" dirty="0"/>
          </a:p>
        </p:txBody>
      </p:sp>
      <p:sp>
        <p:nvSpPr>
          <p:cNvPr id="28" name="Shape 20"/>
          <p:cNvSpPr/>
          <p:nvPr/>
        </p:nvSpPr>
        <p:spPr>
          <a:xfrm>
            <a:off x="640080" y="447141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35200D"/>
          </a:solidFill>
          <a:ln/>
        </p:spPr>
      </p:sp>
      <p:sp>
        <p:nvSpPr>
          <p:cNvPr id="29" name="Shape 21"/>
          <p:cNvSpPr/>
          <p:nvPr/>
        </p:nvSpPr>
        <p:spPr>
          <a:xfrm>
            <a:off x="1078992" y="4617720"/>
            <a:ext cx="457200" cy="457200"/>
          </a:xfrm>
          <a:prstGeom prst="ellipse">
            <a:avLst/>
          </a:prstGeom>
          <a:solidFill>
            <a:srgbClr val="442911"/>
          </a:solidFill>
          <a:ln/>
        </p:spPr>
      </p:sp>
      <p:pic>
        <p:nvPicPr>
          <p:cNvPr id="30" name="Image 6" descr="/tmp/claude-0/-home-user-Presentaciones-y-varios/903c1196-30c4-57a8-b469-52313f1ce01c/scratchpad/loretto/icons/building_BEA79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862" y="4720590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08760" y="4526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audiencias de alto poder adquisitivo como público prioritario para las cajas premium.</a:t>
            </a:r>
            <a:endParaRPr lang="en-US" sz="1020" dirty="0"/>
          </a:p>
        </p:txBody>
      </p:sp>
      <p:sp>
        <p:nvSpPr>
          <p:cNvPr id="32" name="Shape 23"/>
          <p:cNvSpPr/>
          <p:nvPr/>
        </p:nvSpPr>
        <p:spPr>
          <a:xfrm>
            <a:off x="6217920" y="447141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35200D"/>
          </a:solidFill>
          <a:ln/>
        </p:spPr>
      </p:sp>
      <p:sp>
        <p:nvSpPr>
          <p:cNvPr id="33" name="Shape 24"/>
          <p:cNvSpPr/>
          <p:nvPr/>
        </p:nvSpPr>
        <p:spPr>
          <a:xfrm>
            <a:off x="6656832" y="4617720"/>
            <a:ext cx="457200" cy="457200"/>
          </a:xfrm>
          <a:prstGeom prst="ellipse">
            <a:avLst/>
          </a:prstGeom>
          <a:solidFill>
            <a:srgbClr val="442911"/>
          </a:solidFill>
          <a:ln/>
        </p:spPr>
      </p:sp>
      <p:pic>
        <p:nvPicPr>
          <p:cNvPr id="34" name="Image 7" descr="/tmp/claude-0/-home-user-Presentaciones-y-varios/903c1196-30c4-57a8-b469-52313f1ce01c/scratchpad/loretto/icons/sync_BEA79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9702" y="4720590"/>
            <a:ext cx="251460" cy="2514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86600" y="4526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video del proceso artesanal como ancla de autoridad en las campañas de descubrimiento.</a:t>
            </a:r>
            <a:endParaRPr lang="en-US" sz="1020" dirty="0"/>
          </a:p>
        </p:txBody>
      </p:sp>
      <p:sp>
        <p:nvSpPr>
          <p:cNvPr id="36" name="Shape 26"/>
          <p:cNvSpPr/>
          <p:nvPr/>
        </p:nvSpPr>
        <p:spPr>
          <a:xfrm>
            <a:off x="640080" y="536752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35200D"/>
          </a:solidFill>
          <a:ln/>
        </p:spPr>
      </p:sp>
      <p:sp>
        <p:nvSpPr>
          <p:cNvPr id="37" name="Shape 27"/>
          <p:cNvSpPr/>
          <p:nvPr/>
        </p:nvSpPr>
        <p:spPr>
          <a:xfrm>
            <a:off x="1078992" y="5513832"/>
            <a:ext cx="457200" cy="457200"/>
          </a:xfrm>
          <a:prstGeom prst="ellipse">
            <a:avLst/>
          </a:prstGeom>
          <a:solidFill>
            <a:srgbClr val="442911"/>
          </a:solidFill>
          <a:ln/>
        </p:spPr>
      </p:sp>
      <p:pic>
        <p:nvPicPr>
          <p:cNvPr id="38" name="Image 8" descr="/tmp/claude-0/-home-user-Presentaciones-y-varios/903c1196-30c4-57a8-b469-52313f1ce01c/scratchpad/loretto/icons/bag_BEA79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862" y="5616702"/>
            <a:ext cx="251460" cy="25146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508760" y="54223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públicos personalizados por sede: Chapinero y Chicó.</a:t>
            </a:r>
            <a:endParaRPr lang="en-US" sz="1020" dirty="0"/>
          </a:p>
        </p:txBody>
      </p:sp>
      <p:sp>
        <p:nvSpPr>
          <p:cNvPr id="40" name="Shape 29"/>
          <p:cNvSpPr/>
          <p:nvPr/>
        </p:nvSpPr>
        <p:spPr>
          <a:xfrm>
            <a:off x="6217920" y="536752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35200D"/>
          </a:solidFill>
          <a:ln/>
        </p:spPr>
      </p:sp>
      <p:sp>
        <p:nvSpPr>
          <p:cNvPr id="41" name="Shape 30"/>
          <p:cNvSpPr/>
          <p:nvPr/>
        </p:nvSpPr>
        <p:spPr>
          <a:xfrm>
            <a:off x="6656832" y="5513832"/>
            <a:ext cx="457200" cy="457200"/>
          </a:xfrm>
          <a:prstGeom prst="ellipse">
            <a:avLst/>
          </a:prstGeom>
          <a:solidFill>
            <a:srgbClr val="442911"/>
          </a:solidFill>
          <a:ln/>
        </p:spPr>
      </p:sp>
      <p:pic>
        <p:nvPicPr>
          <p:cNvPr id="42" name="Image 9" descr="/tmp/claude-0/-home-user-Presentaciones-y-varios/903c1196-30c4-57a8-b469-52313f1ce01c/scratchpad/loretto/icons/shield_BEA79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9702" y="5616702"/>
            <a:ext cx="251460" cy="25146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86600" y="54223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Aprovechar los 6.800 seguidores de Facebook, hoy sin ninguna campaña de remarketing.</a:t>
            </a:r>
            <a:endParaRPr lang="en-US" sz="1020" dirty="0"/>
          </a:p>
        </p:txBody>
      </p:sp>
      <p:sp>
        <p:nvSpPr>
          <p:cNvPr id="4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primeros 3 meses: mes a 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activamos cada etapa con el producto protagonista de cada mes en Buenas Migas.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6F4F2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loretto/icons/bottle_7A4A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5831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83080" y="2679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Descubrimiento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012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protagonista: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y desayunos sorpresa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60120" y="4023360"/>
            <a:ext cx="288036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416052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mostrando el proceso artesanal y el armado de las cajas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960120" y="48188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reconocimiento dirigidas a Chapinero, Chicó y Bogotá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960120" y="547725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público de remarketing desde quienes interactúan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448056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81321"/>
          </a:solidFill>
          <a:ln/>
        </p:spPr>
      </p:sp>
      <p:sp>
        <p:nvSpPr>
          <p:cNvPr id="17" name="Shape 14"/>
          <p:cNvSpPr/>
          <p:nvPr/>
        </p:nvSpPr>
        <p:spPr>
          <a:xfrm>
            <a:off x="4846320" y="2423160"/>
            <a:ext cx="640080" cy="640080"/>
          </a:xfrm>
          <a:prstGeom prst="ellipse">
            <a:avLst/>
          </a:prstGeom>
          <a:solidFill>
            <a:srgbClr val="35200D"/>
          </a:solidFill>
          <a:ln/>
        </p:spPr>
      </p:sp>
      <p:pic>
        <p:nvPicPr>
          <p:cNvPr id="18" name="Image 1" descr="/tmp/claude-0/-home-user-Presentaciones-y-varios/903c1196-30c4-57a8-b469-52313f1ce01c/scratchpad/loretto/icons/shield_BEA79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58318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2356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623560" y="2679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Confianza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80060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Etapa: </a:t>
            </a:r>
            <a:pPr indent="0" marL="0">
              <a:buNone/>
            </a:pPr>
            <a:r>
              <a:rPr lang="en-US" sz="1050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+ arranque de Conversión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0060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protagonista: </a:t>
            </a:r>
            <a:pPr indent="0" marL="0">
              <a:buNone/>
            </a:pPr>
            <a:r>
              <a:rPr lang="en-US" sz="1050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institucionales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800600" y="4023360"/>
            <a:ext cx="2880360" cy="0"/>
          </a:xfrm>
          <a:prstGeom prst="line">
            <a:avLst/>
          </a:prstGeom>
          <a:noFill/>
          <a:ln w="12700">
            <a:solidFill>
              <a:srgbClr val="54331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00600" y="416052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reseñas reales (4,4/5) y el respaldo institucional como creativo</a:t>
            </a:r>
            <a:endParaRPr lang="en-US" sz="1030" dirty="0"/>
          </a:p>
        </p:txBody>
      </p:sp>
      <p:sp>
        <p:nvSpPr>
          <p:cNvPr id="25" name="Text 21"/>
          <p:cNvSpPr/>
          <p:nvPr/>
        </p:nvSpPr>
        <p:spPr>
          <a:xfrm>
            <a:off x="4800600" y="48188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campañas de conversión con pedido directo por WhatsApp</a:t>
            </a:r>
            <a:endParaRPr lang="en-US" sz="1030" dirty="0"/>
          </a:p>
        </p:txBody>
      </p:sp>
      <p:sp>
        <p:nvSpPr>
          <p:cNvPr id="26" name="Text 22"/>
          <p:cNvSpPr/>
          <p:nvPr/>
        </p:nvSpPr>
        <p:spPr>
          <a:xfrm>
            <a:off x="4800600" y="547725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pedidos y mensajes activo</a:t>
            </a:r>
            <a:endParaRPr lang="en-US" sz="1030" dirty="0"/>
          </a:p>
        </p:txBody>
      </p:sp>
      <p:sp>
        <p:nvSpPr>
          <p:cNvPr id="27" name="Shape 23"/>
          <p:cNvSpPr/>
          <p:nvPr/>
        </p:nvSpPr>
        <p:spPr>
          <a:xfrm>
            <a:off x="832104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6F4F2"/>
          </a:solidFill>
          <a:ln/>
        </p:spPr>
      </p:sp>
      <p:sp>
        <p:nvSpPr>
          <p:cNvPr id="28" name="Shape 24"/>
          <p:cNvSpPr/>
          <p:nvPr/>
        </p:nvSpPr>
        <p:spPr>
          <a:xfrm>
            <a:off x="868680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2" descr="/tmp/claude-0/-home-user-Presentaciones-y-varios/903c1196-30c4-57a8-b469-52313f1ce01c/scratchpad/loretto/icons/rocket_7A4A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20" y="2583180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46404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464040" y="2679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Consolidación</a:t>
            </a:r>
            <a:endParaRPr 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864108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escalada + arranque de Ascensión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64108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protagonista: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premium y de temporada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641080" y="4023360"/>
            <a:ext cx="288036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641080" y="416052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escalan las campañas de conversión con mejor desempeño</a:t>
            </a:r>
            <a:endParaRPr lang="en-US" sz="1030" dirty="0"/>
          </a:p>
        </p:txBody>
      </p:sp>
      <p:sp>
        <p:nvSpPr>
          <p:cNvPr id="36" name="Text 31"/>
          <p:cNvSpPr/>
          <p:nvPr/>
        </p:nvSpPr>
        <p:spPr>
          <a:xfrm>
            <a:off x="8641080" y="48188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cajas premium como oferta principal para subir el ticket</a:t>
            </a:r>
            <a:endParaRPr lang="en-US" sz="1030" dirty="0"/>
          </a:p>
        </p:txBody>
      </p:sp>
      <p:sp>
        <p:nvSpPr>
          <p:cNvPr id="37" name="Text 32"/>
          <p:cNvSpPr/>
          <p:nvPr/>
        </p:nvSpPr>
        <p:spPr>
          <a:xfrm>
            <a:off x="8641080" y="547725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público de recompra para clientes ya adquiridos</a:t>
            </a:r>
            <a:endParaRPr lang="en-US" sz="1030" dirty="0"/>
          </a:p>
        </p:txBody>
      </p:sp>
      <p:sp>
        <p:nvSpPr>
          <p:cNvPr id="38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semana a semana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ejecución detrás de cada 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233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la cuenta y de los 6 anuncios activos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2257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1ECE7"/>
          </a:solidFill>
          <a:ln/>
        </p:spPr>
      </p:sp>
      <p:sp>
        <p:nvSpPr>
          <p:cNvPr id="9" name="Text 7"/>
          <p:cNvSpPr/>
          <p:nvPr/>
        </p:nvSpPr>
        <p:spPr>
          <a:xfrm>
            <a:off x="245973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3-4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8716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 campañas de Presentación — cajas y desayuno sorpresa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4281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6F4F2"/>
          </a:solidFill>
          <a:ln/>
        </p:spPr>
      </p:sp>
      <p:sp>
        <p:nvSpPr>
          <p:cNvPr id="12" name="Text 10"/>
          <p:cNvSpPr/>
          <p:nvPr/>
        </p:nvSpPr>
        <p:spPr>
          <a:xfrm>
            <a:off x="437997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5-6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0740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y prueba social — reseñas y respaldo institucional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1ECE7"/>
          </a:solidFill>
          <a:ln/>
        </p:spPr>
      </p:sp>
      <p:sp>
        <p:nvSpPr>
          <p:cNvPr id="15" name="Text 13"/>
          <p:cNvSpPr/>
          <p:nvPr/>
        </p:nvSpPr>
        <p:spPr>
          <a:xfrm>
            <a:off x="630021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7-8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campañas de Conversión — pedido por WhatsApp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8329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6F4F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045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9-10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4788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campañas ganadoras — cajas premium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0353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7A4A1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069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11-12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16812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de Ascensión: primer público de recompra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del mes 3, el sistema completo está activo: descubrimiento, confianza, conversión y las primeras señales de recompra.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necesita para activar el sistema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líneas de inversión, independientes entre sí.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042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 DE GESTIÓN ESTRATÉGICA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 A 3 · PRECIO DE LANZAMIENTO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$950.000</a:t>
            </a:r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/mes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1005840" y="3840480"/>
            <a:ext cx="434340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050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MES 4 · TARIFA FULL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27939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$1.300.000</a:t>
            </a:r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/mes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005840" y="49194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estrategia, diseño de campañas, gestión y optimización continua de las 4 etapas del sistema.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01168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18132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3042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DE PAUTA EN META ADS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834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E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RECOMENDADO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108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$1.500.000</a:t>
            </a:r>
            <a:pPr indent="0" marL="0">
              <a:buNone/>
            </a:pPr>
            <a:r>
              <a:rPr lang="en-US" sz="1500" dirty="0">
                <a:solidFill>
                  <a:srgbClr val="CEBC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/mes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6537960" y="3840480"/>
            <a:ext cx="4343400" cy="0"/>
          </a:xfrm>
          <a:prstGeom prst="line">
            <a:avLst/>
          </a:prstGeom>
          <a:noFill/>
          <a:ln w="12700">
            <a:solidFill>
              <a:srgbClr val="503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97764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invierte 100% en la plataforma de Meta. Financia el alcance, la evaluación, la conversión y la reactivación de clientes en las 4 etapas del sistema.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honorarios cubren la estrategia y la ejecución; el presupuesto de pauta pertenece 100% a Buenas Migas y se administra directamente dentro de la cuenta publicitaria.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A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más anuncios sueltos.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 sistema de ventas para cada caja y cada evento.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BEA79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20" dirty="0"/>
          </a:p>
        </p:txBody>
      </p:sp>
      <p:sp>
        <p:nvSpPr>
          <p:cNvPr id="6" name="Text 4"/>
          <p:cNvSpPr/>
          <p:nvPr/>
        </p:nvSpPr>
        <p:spPr>
          <a:xfrm>
            <a:off x="77724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de cuenta y de los 6 anuncios activos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técnica de la configuración actual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3520440"/>
            <a:ext cx="548640" cy="548640"/>
          </a:xfrm>
          <a:prstGeom prst="ellipse">
            <a:avLst/>
          </a:prstGeom>
          <a:solidFill>
            <a:srgbClr val="BEA791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20" dirty="0"/>
          </a:p>
        </p:txBody>
      </p:sp>
      <p:sp>
        <p:nvSpPr>
          <p:cNvPr id="10" name="Text 8"/>
          <p:cNvSpPr/>
          <p:nvPr/>
        </p:nvSpPr>
        <p:spPr>
          <a:xfrm>
            <a:off x="448056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las 4 campañas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Presentación, Evaluación, Conversión, Ascensión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3520440"/>
            <a:ext cx="548640" cy="548640"/>
          </a:xfrm>
          <a:prstGeom prst="ellipse">
            <a:avLst/>
          </a:prstGeom>
          <a:solidFill>
            <a:srgbClr val="BEA791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20" dirty="0"/>
          </a:p>
        </p:txBody>
      </p:sp>
      <p:sp>
        <p:nvSpPr>
          <p:cNvPr id="14" name="Text 12"/>
          <p:cNvSpPr/>
          <p:nvPr/>
        </p:nvSpPr>
        <p:spPr>
          <a:xfrm>
            <a:off x="818388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Activación en Bogotá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388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base para escalar a nuevas fechas y eventos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Panadería Buenas Migas - Estrategia Meta Ads</dc:title>
  <dc:subject>Panadería Buenas Migas - Estrategia Meta Ads</dc:subject>
  <dc:creator>PptxGenJS</dc:creator>
  <cp:lastModifiedBy>PptxGenJS</cp:lastModifiedBy>
  <cp:revision>1</cp:revision>
  <dcterms:created xsi:type="dcterms:W3CDTF">2026-08-06T01:01:13Z</dcterms:created>
  <dcterms:modified xsi:type="dcterms:W3CDTF">2026-08-06T01:01:14Z</dcterms:modified>
</cp:coreProperties>
</file>