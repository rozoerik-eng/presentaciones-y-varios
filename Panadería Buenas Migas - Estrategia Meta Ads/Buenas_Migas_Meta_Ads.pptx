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marco general antes de entrar al diagnóstico.
MENSAJE PRINCIPAL: Esta es una estrategia comercial completa para Buenas Migas, no una tanda de anuncios.
QUÉ EXPLICAR: Portada de apertura; da paso al diagnóstico del estado actual de la cuenta.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Establecer el punto de partida real, reconociendo lo que ya existe antes de hablar de lo que falta.
MENSAJE PRINCIPAL: Buenas Migas ya tiene una marca reconocida en Bogotá y una audiencia real en redes (53.900 seguidores en Instagram); lo que no tiene es un sistema de Meta Ads detrás de los 6 anuncios que corren hoy.
QUÉ EXPLICAR: Los 6 anuncios activos están mal estructurados y sin optimizar, la audiencia en redes no tiene ningún sistema de remarketing detrás, y no existe ninguna etapa de decisión del cliente cubierta.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Cambiar el modelo mental de 'anuncios sueltos' a 'sistema comercial'.
MENSAJE PRINCIPAL: El problema no es la calidad de los anuncios; es la ausencia de arquitectura detrás de la inversión.
QUÉ EXPLICAR: Contrastar cómo operan hoy los 6 anuncios (tácticos, dispersos) frente a cómo debería operar un sistema de 4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la metodología completa en una sola imagen antes de entrar en el detalle de cada etapa.
MENSAJE PRINCIPAL: Cada etapa cumple un rol distinto y prepara la siguiente; ninguna funciona aislada.
QUÉ EXPLICAR: Recorrer el journey completo: Presentación (descubrir Buenas Migas), Evaluación (confiar en la calidad artesanal), Conversión (comprar una caja o hacer un pedido), Ascensión (volver por la próxima ocasión).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Lograr que nuevas personas en Bogotá descubran Buenas Migas. Aquí no se vende, se despierta interés.
MENSAJE PRINCIPAL: En esta etapa no medimos pedidos; medimos alcance calificado en Chapinero y el resto de Bogotá.
QUÉ EXPLICAR: Formatos de video mostrando el proceso artesanal; las cajas de regalo como producto ancla; y que el éxito se mide en alcance, no en ventas inmediatas.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profundidad al contenido creativo de la etapa 1.
MENSAJE PRINCIPAL: No se trata de un anuncio genérico de panadería, sino de piezas que cubren distintos ángulos de decisión.
QUÉ EXPLICAR: Recorrer cada pilar. Las cajas y desayunos de regalo son el producto más regalable y deben ser el ancla de descubrimiento; el carácter 100% artesanal da autoridad; los pedidos institucionales abren la puerta a empresas.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Mover a quien ya conoce Buenas Migas hacia la intención de compra o regalo, resolviendo la duda natural sobre calidad y precio.
MENSAJE PRINCIPAL: Buenas Migas ya tiene prueba social real (4,4/5 en reseñas); hoy no se usa en ningún anuncio.
QUÉ EXPLICAR: Se activa remarketing sobre quienes vieron los anuncios de la etapa 1. El contenido cambia hacia reseñas reales, respaldo institucional y transparencia sobre el proceso artesanal.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una oportunidad concreta y medible que hoy no se aprovecha.
MENSAJE PRINCIPAL: Buenas Migas ya tiene una audiencia caliente construida por años (53.900 seguidores en Instagram, 4,4/5 en 629 reseñas); hoy Meta Ads no la usa.
QUÉ EXPLICAR: Cómo se crean públicos personalizados a partir de quienes interactúan con Instagram/Facebook, y cómo se les impacta con contenido de prueba social para moverlos hacia la etapa de conversión.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Convertir el interés calificado en pedidos reales de cajas, desayunos de regalo o eventos institucionales.
MENSAJE PRINCIPAL: En conversión no buscamos alcance, buscamos precisión: solo se invierte en quien ya mostró interés real.
QUÉ EXPLICAR: Las audiencias se restringen a quienes vieron videos o interactuaron con los anuncios de confianza. El CTA es directo: pedir por WhatsApp, recoger o pedir entrega en el punto de venta.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el detalle táctico de optimización dentro de la etapa de conversión.
MENSAJE PRINCIPAL: Pequeños ajustes de oferta, ocasión y llamado a la acción mueven directamente la tasa de conversión.
QUÉ EXPLICAR: Ejemplo concreto: pasar de un anuncio genérico ('visítanos') a uno que nombra la ocasión (una caja ejecutiva para regalar en la oficina) y genera urgencia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DE LA ETAPA: Convertir una caja de regalo o un pedido puntual en una razón para volver durante todo el año.
MENSAJE PRINCIPAL: La etapa más rentable del sistema es la que hoy no existe en la cuenta.
QUÉ EXPLICAR: Cómo construir públicos personalizados de clientes anteriores segmentados por tiempo desde la última compra, y cómo cada fecha especial o pedido institucional se convierte en el gatillo de una campaña de reactivación.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Explicar el concepto de Lifetime Value aplicado a una panadería artesanal.
MENSAJE PRINCIPAL: No buscamos vender una caja una vez; buscamos construir la costumbre de comprar o regalar Buenas Migas durante todo el año.
QUÉ EXPLICAR: Cada gatillo (una fecha especial, una nueva caja de temporada, un referido, un nuevo pedido institucional) es una campaña de reactivación dirigida a un público ya construido en las etapas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Consolidar la visión completa antes de pasar al cierre de negocio.
MENSAJE PRINCIPAL: El sistema es un ciclo, no una línea recta; el cliente que recibe o compra una caja reingresa al ciclo en su siguiente ocasión.
QUÉ EXPLICAR: Cómo el dato de una etapa alimenta la audiencia de la siguiente. Reforzar que 6 anuncios sueltos no pueden sostener esta arquitectura.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el razonamiento económico del sistema sin prometer cifras específicas.
MENSAJE PRINCIPAL: El sistema reduce la dependencia de conseguir clientes nuevos cada vez y aumenta el valor de los que ya se ganaron.
QUÉ EXPLICAR: Por qué reimpactar cuesta menos que adquirir; por qué cada fecha especial y cada evento institucional suben la frecuencia de compra; por qué ofrecer cajas premium a la base existente sube el ticket promedio.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el diagnóstico con impacto, mostrando la brecha concreta entre el potencial de la marca y la ejecución publicitaria actual.
MENSAJE PRINCIPAL: Cada oportunidad está fundamentada en información real de Buenas Migas (Instagram, Facebook, Google/Restaurant Guru), no en suposiciones.
QUÉ EXPLICAR: Recorrer brevemente cada oportunidad conectándola con la etapa del sistema a la que pertenece. Cerrar señalando que ninguna de estas 10 oportunidades requiere más presupuesto: requieren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un plan de trabajo concreto para los primeros 3 meses, conectando cada mes con un producto protagonista.
MENSAJE PRINCIPAL: La metodología de las 4 etapas se activa de forma progresiva mes a mes, empezando por las cajas de regalo, siguiendo con pedidos institucionales, y cerrando con cajas premium.
QUÉ EXPLICAR: Mes 1 da a conocer las cajas de regalo apoyado en video del proceso artesanal. Mes 2 construye confianza con reseñas y respaldo institucional, y abre las primeras conversiones por WhatsApp. Mes 3 escala lo que mejor funciona y presenta las cajas premium, arrancando ya la etapa de ascensión.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Dar seguridad mostrando un cronograma detallado y realista para los primeros 3 meses.
MENSAJE PRINCIPAL: Cada quincena tiene un entregable concreto; no hay ambigüedad sobre qué se está haciendo en cada momento.
QUÉ EXPLICAR: Las dos primeras semanas son de base técnica (auditoría de la cuenta y de los 6 anuncios activos), no de campañas nuevas todavía. A partir de la semana 3 empieza la etapa de Presentación con las cajas de regalo, y el sistema se va completando progresivamente hasta arrancar Ascensión al final del mes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Presentar con claridad las dos líneas de inversión necesarias para poner en marcha el sistema, sin mezclar honorarios de gestión con presupuesto publicitario.
MENSAJE PRINCIPAL: Son dos inversiones independientes: unos honorarios de gestión estratégica y un presupuesto de pauta que pertenece siempre a Buenas Migas.
QUÉ EXPLICAR: Los honorarios de gestión inician en $950.000 mensuales durante los primeros 3 meses como precio de lanzamiento, y pasan a la tarifa full de $1.300.000 mensuales desde el mes 4. Aparte, el presupuesto mínimo recomendado de pauta en Meta Ads es de $1.500.000 mensuales.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Cerrar con una propuesta de acción clara, sin sonar comercial.
MENSAJE PRINCIPAL: El crecimiento no depende de invertir más; depende de darle estructura a los 6 anuncios que ya existen.
QUÉ EXPLICAR: Los tres pasos siguientes son concretos y secuenciales. La siguiente reunión debe definir el alcance y el cronograma de implementación de las cuatro campañas.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4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2.png"/><Relationship Id="rId5" Type="http://schemas.openxmlformats.org/officeDocument/2006/relationships/image" Target="../media/image-13-5.png"/><Relationship Id="rId6" Type="http://schemas.openxmlformats.org/officeDocument/2006/relationships/image" Target="../media/image-13-2.png"/><Relationship Id="rId7" Type="http://schemas.openxmlformats.org/officeDocument/2006/relationships/image" Target="../media/image-13-7.png"/><Relationship Id="rId8" Type="http://schemas.openxmlformats.org/officeDocument/2006/relationships/image" Target="../media/image-13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COMERCIAL · META ADS ·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Buenas Migas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anuncios sueltos a un sistema de crecimiento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25400">
            <a:solidFill>
              <a:srgbClr val="BEA7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a Panadería Buenas Migas · Bogotá, Colombia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Hoy, Buenas Migas pauta sin ningún sistema detrás.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anuncios activos, pero ninguno sabe para qué existe.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9738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loretto/icons/bag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260" y="32004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Anuncios activos en la cuenta, mal estructurados y sin optimizar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6354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Presentaciones-y-varios/903c1196-30c4-57a8-b469-52313f1ce01c/scratchpad/loretto/icons/mapPin_7A4A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3200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53.900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48056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en Instagram, sin ningún sistema de remarketing detrás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72400" y="2606040"/>
            <a:ext cx="3246120" cy="2880360"/>
          </a:xfrm>
          <a:prstGeom prst="roundRect">
            <a:avLst>
              <a:gd name="adj" fmla="val 2540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029700" y="301752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loretto/icons/target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0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772400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8046720" y="452628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decisión del cliente cubiertas por la pauta actual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marca ya reconocida en Bogotá, con una audiencia real en redes, ya existe. Falta el sistema que convierta cada peso invertido en un cliente que descubre, confía, compra y vuelve.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ESTRATÉGICO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 anuncios sueltos no es un sistema comercial.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F6F4F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86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PUBLICIDAD TÁCTICA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anuncios sin relación entre sí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35661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público: todos por igual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4251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recorrido: se impacta una sola vez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depende de qué anuncio funcione, por suerte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965960"/>
            <a:ext cx="5074920" cy="4114800"/>
          </a:xfrm>
          <a:prstGeom prst="roundRect">
            <a:avLst>
              <a:gd name="adj" fmla="val 1778"/>
            </a:avLst>
          </a:prstGeom>
          <a:solidFill>
            <a:srgbClr val="181321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860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COMERCIAL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28803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objetivos de Meta Ads, uno por etapa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 por interés en repostería, regalos y eventos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251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continuo: se impacta en el momento correcto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depende de la arquitectura, no del azar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Ads como sistema de ventas para Buenas Migas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etapas. Cada una prepara la siguiente.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6F4F2"/>
          </a:solidFill>
          <a:ln/>
        </p:spPr>
      </p:sp>
      <p:sp>
        <p:nvSpPr>
          <p:cNvPr id="6" name="Shape 4"/>
          <p:cNvSpPr/>
          <p:nvPr/>
        </p:nvSpPr>
        <p:spPr>
          <a:xfrm>
            <a:off x="157734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7" name="Text 5"/>
          <p:cNvSpPr/>
          <p:nvPr/>
        </p:nvSpPr>
        <p:spPr>
          <a:xfrm>
            <a:off x="157734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560" dirty="0"/>
          </a:p>
        </p:txBody>
      </p:sp>
      <p:sp>
        <p:nvSpPr>
          <p:cNvPr id="8" name="Shape 6"/>
          <p:cNvSpPr/>
          <p:nvPr/>
        </p:nvSpPr>
        <p:spPr>
          <a:xfrm>
            <a:off x="159562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/tmp/claude-0/-home-user-Presentaciones-y-varios/903c1196-30c4-57a8-b469-52313f1ce01c/scratchpad/loretto/icons/eye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364" y="357530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Descubrir</a:t>
            </a:r>
            <a:endParaRPr lang="en-US" sz="1200" dirty="0"/>
          </a:p>
        </p:txBody>
      </p:sp>
      <p:pic>
        <p:nvPicPr>
          <p:cNvPr id="12" name="Image 1" descr="/tmp/claude-0/-home-user-Presentaciones-y-varios/903c1196-30c4-57a8-b469-52313f1ce01c/scratchpad/loretto/icons/arrowRight_7A4A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977640"/>
            <a:ext cx="246888" cy="2468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2900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1ECE7"/>
          </a:solidFill>
          <a:ln/>
        </p:spPr>
      </p:sp>
      <p:sp>
        <p:nvSpPr>
          <p:cNvPr id="14" name="Shape 10"/>
          <p:cNvSpPr/>
          <p:nvPr/>
        </p:nvSpPr>
        <p:spPr>
          <a:xfrm>
            <a:off x="422910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15" name="Text 11"/>
          <p:cNvSpPr/>
          <p:nvPr/>
        </p:nvSpPr>
        <p:spPr>
          <a:xfrm>
            <a:off x="422910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560" dirty="0"/>
          </a:p>
        </p:txBody>
      </p:sp>
      <p:sp>
        <p:nvSpPr>
          <p:cNvPr id="16" name="Shape 12"/>
          <p:cNvSpPr/>
          <p:nvPr/>
        </p:nvSpPr>
        <p:spPr>
          <a:xfrm>
            <a:off x="424738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loretto/icons/star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124" y="357530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56616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356616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Confiar</a:t>
            </a:r>
            <a:endParaRPr lang="en-US" sz="1200" dirty="0"/>
          </a:p>
        </p:txBody>
      </p:sp>
      <p:pic>
        <p:nvPicPr>
          <p:cNvPr id="20" name="Image 3" descr="/tmp/claude-0/-home-user-Presentaciones-y-varios/903c1196-30c4-57a8-b469-52313f1ce01c/scratchpad/loretto/icons/arrowRight_7A4A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3977640"/>
            <a:ext cx="246888" cy="24688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08076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6F4F2"/>
          </a:solidFill>
          <a:ln/>
        </p:spPr>
      </p:sp>
      <p:sp>
        <p:nvSpPr>
          <p:cNvPr id="22" name="Shape 16"/>
          <p:cNvSpPr/>
          <p:nvPr/>
        </p:nvSpPr>
        <p:spPr>
          <a:xfrm>
            <a:off x="688086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23" name="Text 17"/>
          <p:cNvSpPr/>
          <p:nvPr/>
        </p:nvSpPr>
        <p:spPr>
          <a:xfrm>
            <a:off x="688086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560" dirty="0"/>
          </a:p>
        </p:txBody>
      </p:sp>
      <p:sp>
        <p:nvSpPr>
          <p:cNvPr id="24" name="Shape 18"/>
          <p:cNvSpPr/>
          <p:nvPr/>
        </p:nvSpPr>
        <p:spPr>
          <a:xfrm>
            <a:off x="689914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4" descr="/tmp/claude-0/-home-user-Presentaciones-y-varios/903c1196-30c4-57a8-b469-52313f1ce01c/scratchpad/loretto/icons/bag_7A4A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2884" y="3575304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1792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1700" dirty="0"/>
          </a:p>
        </p:txBody>
      </p:sp>
      <p:sp>
        <p:nvSpPr>
          <p:cNvPr id="27" name="Text 20"/>
          <p:cNvSpPr/>
          <p:nvPr/>
        </p:nvSpPr>
        <p:spPr>
          <a:xfrm>
            <a:off x="621792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</a:t>
            </a:r>
            <a:endParaRPr lang="en-US" sz="1200" dirty="0"/>
          </a:p>
        </p:txBody>
      </p:sp>
      <p:pic>
        <p:nvPicPr>
          <p:cNvPr id="28" name="Image 5" descr="/tmp/claude-0/-home-user-Presentaciones-y-varios/903c1196-30c4-57a8-b469-52313f1ce01c/scratchpad/loretto/icons/arrowRight_7A4A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3977640"/>
            <a:ext cx="246888" cy="246888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32520" y="2743200"/>
            <a:ext cx="2331720" cy="2834640"/>
          </a:xfrm>
          <a:prstGeom prst="roundRect">
            <a:avLst>
              <a:gd name="adj" fmla="val 3137"/>
            </a:avLst>
          </a:prstGeom>
          <a:solidFill>
            <a:srgbClr val="F1ECE7"/>
          </a:solidFill>
          <a:ln/>
        </p:spPr>
      </p:sp>
      <p:sp>
        <p:nvSpPr>
          <p:cNvPr id="30" name="Shape 22"/>
          <p:cNvSpPr/>
          <p:nvPr/>
        </p:nvSpPr>
        <p:spPr>
          <a:xfrm>
            <a:off x="9532620" y="1993392"/>
            <a:ext cx="731520" cy="731520"/>
          </a:xfrm>
          <a:prstGeom prst="ellipse">
            <a:avLst/>
          </a:prstGeom>
          <a:solidFill>
            <a:srgbClr val="181321"/>
          </a:solidFill>
          <a:ln/>
        </p:spPr>
      </p:sp>
      <p:sp>
        <p:nvSpPr>
          <p:cNvPr id="31" name="Text 23"/>
          <p:cNvSpPr/>
          <p:nvPr/>
        </p:nvSpPr>
        <p:spPr>
          <a:xfrm>
            <a:off x="9532620" y="1993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560" dirty="0"/>
          </a:p>
        </p:txBody>
      </p:sp>
      <p:sp>
        <p:nvSpPr>
          <p:cNvPr id="32" name="Shape 24"/>
          <p:cNvSpPr/>
          <p:nvPr/>
        </p:nvSpPr>
        <p:spPr>
          <a:xfrm>
            <a:off x="9550908" y="3401568"/>
            <a:ext cx="694944" cy="6949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6" descr="/tmp/claude-0/-home-user-Presentaciones-y-varios/903c1196-30c4-57a8-b469-52313f1ce01c/scratchpad/loretto/icons/sync_7A4A1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4644" y="3575304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8869680" y="42519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1700" dirty="0"/>
          </a:p>
        </p:txBody>
      </p:sp>
      <p:sp>
        <p:nvSpPr>
          <p:cNvPr id="35" name="Text 26"/>
          <p:cNvSpPr/>
          <p:nvPr/>
        </p:nvSpPr>
        <p:spPr>
          <a:xfrm>
            <a:off x="8869680" y="47091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Volver</a:t>
            </a:r>
            <a:endParaRPr lang="en-US" sz="1200" dirty="0"/>
          </a:p>
        </p:txBody>
      </p:sp>
      <p:sp>
        <p:nvSpPr>
          <p:cNvPr id="36" name="Text 2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no es más anuncios sueltos: es un cliente que descubre, confía, compra y vuelve por su próxima caja o evento.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01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despertar interés en Buenas Migas, no vender todavía.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8" name="Image 0" descr="/tmp/claude-0/-home-user-Presentaciones-y-varios/903c1196-30c4-57a8-b469-52313f1ce01c/scratchpad/loretto/icons/mapPin_BEA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Territorio: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Chapinero y Bogotá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1" name="Image 1" descr="/tmp/claude-0/-home-user-Presentaciones-y-varios/903c1196-30c4-57a8-b469-52313f1ce01c/scratchpad/loretto/icons/bottle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de regalo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protagonista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4" name="Image 2" descr="/tmp/claude-0/-home-user-Presentaciones-y-varios/903c1196-30c4-57a8-b469-52313f1ce01c/scratchpad/loretto/icons/video_BEA7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artesanal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7" name="Image 3" descr="/tmp/claude-0/-home-user-Presentaciones-y-varios/903c1196-30c4-57a8-b469-52313f1ce01c/scratchpad/loretto/icons/leaf_BEA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artesanal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PRESENTACIÓN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cinco pilares del descubrimiento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pilar ataca una razón distinta de decisión.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loretto/icons/bottle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7660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Cajas y desayunos de regalo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7373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más regalable de la marca, listo para ser el anuncio ancla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11" name="Shape 8"/>
          <p:cNvSpPr/>
          <p:nvPr/>
        </p:nvSpPr>
        <p:spPr>
          <a:xfrm>
            <a:off x="46177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tmp/claude-0/-home-user-Presentaciones-y-varios/903c1196-30c4-57a8-b469-52313f1ce01c/scratchpad/loretto/icons/leaf_7A4A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7660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 100% artesanal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3949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promesa de calidad artesanal que distingue a la marca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955280" y="233172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16" name="Shape 12"/>
          <p:cNvSpPr/>
          <p:nvPr/>
        </p:nvSpPr>
        <p:spPr>
          <a:xfrm>
            <a:off x="8275320" y="26060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/tmp/claude-0/-home-user-Presentaciones-y-varios/903c1196-30c4-57a8-b469-52313f1ce01c/scratchpad/loretto/icons/video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2766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52560" y="2560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del proceso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9052560" y="29718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horneado y el armado de las cajas como espectáculo visual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40080" y="46634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21" name="Shape 16"/>
          <p:cNvSpPr/>
          <p:nvPr/>
        </p:nvSpPr>
        <p:spPr>
          <a:xfrm>
            <a:off x="960120" y="49377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tmp/claude-0/-home-user-Presentaciones-y-varios/903c1196-30c4-57a8-b469-52313f1ce01c/scratchpad/loretto/icons/fruit_7A4A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" y="509778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737360" y="4892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Repostería y postres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1737360" y="5303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Tortas, pastelería y dulces para toda ocasión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297680" y="46634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6F4F2"/>
          </a:solidFill>
          <a:ln/>
        </p:spPr>
      </p:sp>
      <p:sp>
        <p:nvSpPr>
          <p:cNvPr id="26" name="Shape 20"/>
          <p:cNvSpPr/>
          <p:nvPr/>
        </p:nvSpPr>
        <p:spPr>
          <a:xfrm>
            <a:off x="4617720" y="49377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/tmp/claude-0/-home-user-Presentaciones-y-varios/903c1196-30c4-57a8-b469-52313f1ce01c/scratchpad/loretto/icons/handshake_7A4A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509778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94960" y="4892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Pedidos institucionales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5394960" y="53035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que ya piden con nosotros desde 6 unidades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02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quien ya vio Buenas Migas necesita confirmar que vale la pena comprar o regalar.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8" name="Image 0" descr="/tmp/claude-0/-home-user-Presentaciones-y-varios/903c1196-30c4-57a8-b469-52313f1ce01c/scratchpad/loretto/icons/star_BEA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Reseñas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1" name="Image 1" descr="/tmp/claude-0/-home-user-Presentaciones-y-varios/903c1196-30c4-57a8-b469-52313f1ce01c/scratchpad/loretto/icons/handshake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4" name="Image 2" descr="/tmp/claude-0/-home-user-Presentaciones-y-varios/903c1196-30c4-57a8-b469-52313f1ce01c/scratchpad/loretto/icons/sync_BEA7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interacción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7" name="Image 3" descr="/tmp/claude-0/-home-user-Presentaciones-y-varios/903c1196-30c4-57a8-b469-52313f1ce01c/scratchpad/loretto/icons/shield_BEA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artesanal garantizada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· EVALUACIÓN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prueba social que ya existe, sin explotar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1ECE7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Presentaciones-y-varios/903c1196-30c4-57a8-b469-52313f1ce01c/scratchpad/loretto/icons/handshake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8117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53.900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96596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en Instagram, hoy sin ninguna campaña de remarketing activa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965960"/>
            <a:ext cx="3200400" cy="2103120"/>
          </a:xfrm>
          <a:prstGeom prst="roundRect">
            <a:avLst>
              <a:gd name="adj" fmla="val 3478"/>
            </a:avLst>
          </a:prstGeom>
          <a:solidFill>
            <a:srgbClr val="F1ECE7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Presentaciones-y-varios/903c1196-30c4-57a8-b469-52313f1ce01c/scratchpad/loretto/icons/star_7A4A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28117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2240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4,4/5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5532120" y="28803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629 reseñas públicas (Google y Restaurant Guru) no usadas como creativo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46304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15" name="Image 2" descr="/tmp/claude-0/-home-user-Presentaciones-y-varios/903c1196-30c4-57a8-b469-52313f1ce01c/scratchpad/loretto/icons/eye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498348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9456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anuncio</a:t>
            </a:r>
            <a:endParaRPr lang="en-US" sz="1300" dirty="0"/>
          </a:p>
        </p:txBody>
      </p:sp>
      <p:pic>
        <p:nvPicPr>
          <p:cNvPr id="17" name="Image 3" descr="/tmp/claude-0/-home-user-Presentaciones-y-varios/903c1196-30c4-57a8-b469-52313f1ce01c/scratchpad/loretto/icons/arrowRight_7A4A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3088" y="507492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61772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19" name="Image 4" descr="/tmp/claude-0/-home-user-Presentaciones-y-varios/903c1196-30c4-57a8-b469-52313f1ce01c/scratchpad/loretto/icons/filter_7A4A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983480"/>
            <a:ext cx="411480" cy="41148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4924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personalizado</a:t>
            </a:r>
            <a:endParaRPr lang="en-US" sz="1300" dirty="0"/>
          </a:p>
        </p:txBody>
      </p:sp>
      <p:pic>
        <p:nvPicPr>
          <p:cNvPr id="21" name="Image 5" descr="/tmp/claude-0/-home-user-Presentaciones-y-varios/903c1196-30c4-57a8-b469-52313f1ce01c/scratchpad/loretto/icons/arrowRight_7A4A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5074920"/>
            <a:ext cx="274320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772400" y="4572000"/>
            <a:ext cx="2468880" cy="1234440"/>
          </a:xfrm>
          <a:prstGeom prst="roundRect">
            <a:avLst>
              <a:gd name="adj" fmla="val 5926"/>
            </a:avLst>
          </a:prstGeom>
          <a:solidFill>
            <a:srgbClr val="F6F4F2"/>
          </a:solidFill>
          <a:ln w="12700">
            <a:solidFill>
              <a:srgbClr val="E4E3DF"/>
            </a:solidFill>
            <a:prstDash val="solid"/>
          </a:ln>
        </p:spPr>
      </p:sp>
      <p:pic>
        <p:nvPicPr>
          <p:cNvPr id="23" name="Image 6" descr="/tmp/claude-0/-home-user-Presentaciones-y-varios/903c1196-30c4-57a8-b469-52313f1ce01c/scratchpad/loretto/icons/shield_7A4A1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4983480"/>
            <a:ext cx="411480" cy="4114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03920" y="457200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Anuncio de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social</a:t>
            </a:r>
            <a:endParaRPr lang="en-US" sz="1300" dirty="0"/>
          </a:p>
        </p:txBody>
      </p:sp>
      <p:sp>
        <p:nvSpPr>
          <p:cNvPr id="25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03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convertir el interés en un pedido real de cajas o evento.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8" name="Image 0" descr="/tmp/claude-0/-home-user-Presentaciones-y-varios/903c1196-30c4-57a8-b469-52313f1ce01c/scratchpad/loretto/icons/bag_BEA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WhatsApp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1" name="Image 1" descr="/tmp/claude-0/-home-user-Presentaciones-y-varios/903c1196-30c4-57a8-b469-52313f1ce01c/scratchpad/loretto/icons/truck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o recogida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punto de venta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4" name="Image 2" descr="/tmp/claude-0/-home-user-Presentaciones-y-varios/903c1196-30c4-57a8-b469-52313f1ce01c/scratchpad/loretto/icons/bottle_BEA7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caja o combo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7" name="Image 3" descr="/tmp/claude-0/-home-user-Presentaciones-y-varios/903c1196-30c4-57a8-b469-52313f1ce01c/scratchpad/loretto/icons/route_BEA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precisión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· CONVERSIÓN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intención a la compra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público, dos formas de pedirle que actúe.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074920" cy="3840480"/>
          </a:xfrm>
          <a:prstGeom prst="roundRect">
            <a:avLst>
              <a:gd name="adj" fmla="val 1905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77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GENÉRICO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“Visítanos esta semana”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ocasión específica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urgencia real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público para todos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103120"/>
            <a:ext cx="5074920" cy="3840480"/>
          </a:xfrm>
          <a:prstGeom prst="roundRect">
            <a:avLst>
              <a:gd name="adj" fmla="val 1905"/>
            </a:avLst>
          </a:prstGeom>
          <a:solidFill>
            <a:srgbClr val="1813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377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POR OCASIÓN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7889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“Sorprende a tu equipo con la Caja Ejecutiva Buenas Migas”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37960" y="37033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Ocasión y audiencia específicas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42062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y cupo con urgencia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47091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anuncio por tipo de caja o evento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04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77240" y="1440180"/>
            <a:ext cx="1051560" cy="105156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401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8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680" dirty="0"/>
          </a:p>
        </p:txBody>
      </p:sp>
      <p:sp>
        <p:nvSpPr>
          <p:cNvPr id="5" name="Text 3"/>
          <p:cNvSpPr/>
          <p:nvPr/>
        </p:nvSpPr>
        <p:spPr>
          <a:xfrm>
            <a:off x="2148840" y="14173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2167128" y="214884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que una caja de regalo sea una razón para volver todo el año.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714500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8" name="Image 0" descr="/tmp/claude-0/-home-user-Presentaciones-y-varios/903c1196-30c4-57a8-b469-52313f1ce01c/scratchpad/loretto/icons/sync_BEA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8119" y="3994099"/>
            <a:ext cx="332842" cy="33284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cajas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5132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1" name="Image 1" descr="/tmp/claude-0/-home-user-Presentaciones-y-varios/903c1196-30c4-57a8-b469-52313f1ce01c/scratchpad/loretto/icons/bag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751" y="39940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255764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4" name="Image 2" descr="/tmp/claude-0/-home-user-Presentaciones-y-varios/903c1196-30c4-57a8-b469-52313f1ce01c/scratchpad/loretto/icons/heart_BEA7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9383" y="3994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18504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Reimpactar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anteriores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10026396" y="384048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7" name="Image 3" descr="/tmp/claude-0/-home-user-Presentaciones-y-varios/903c1196-30c4-57a8-b469-52313f1ce01c/scratchpad/loretto/icons/building_BEA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15" y="39940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89136" y="46177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que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repiten pedidos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· ASCENSIÓN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una caja de regalo a un cliente que vuelve todo el año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PRINCIPIO: LIFETIME VALUE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834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caja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3383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que llega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una campaña puntual</a:t>
            </a:r>
            <a:endParaRPr lang="en-US" sz="1150" dirty="0"/>
          </a:p>
        </p:txBody>
      </p:sp>
      <p:pic>
        <p:nvPicPr>
          <p:cNvPr id="8" name="Image 0" descr="/tmp/claude-0/-home-user-Presentaciones-y-varios/903c1196-30c4-57a8-b469-52313f1ce01c/scratchpad/loretto/icons/arrowRight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383280"/>
            <a:ext cx="365760" cy="365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309360" y="2606040"/>
            <a:ext cx="5212080" cy="1737360"/>
          </a:xfrm>
          <a:prstGeom prst="roundRect">
            <a:avLst>
              <a:gd name="adj" fmla="val 4211"/>
            </a:avLst>
          </a:prstGeom>
          <a:solidFill>
            <a:srgbClr val="181321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2834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 recurrente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537960" y="33832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por fechas especiales, pide nuevas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y recomienda Buenas Migas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0525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6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117957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/tmp/claude-0/-home-user-Presentaciones-y-varios/903c1196-30c4-57a8-b469-52313f1ce01c/scratchpad/loretto/icons/sync_7A4A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733" y="5096637"/>
            <a:ext cx="276606" cy="2766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6537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55701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1ECE7"/>
          </a:solidFill>
          <a:ln/>
        </p:spPr>
      </p:sp>
      <p:sp>
        <p:nvSpPr>
          <p:cNvPr id="17" name="Shape 13"/>
          <p:cNvSpPr/>
          <p:nvPr/>
        </p:nvSpPr>
        <p:spPr>
          <a:xfrm>
            <a:off x="383133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/tmp/claude-0/-home-user-Presentaciones-y-varios/903c1196-30c4-57a8-b469-52313f1ce01c/scratchpad/loretto/icons/bag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493" y="5096637"/>
            <a:ext cx="276606" cy="2766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1713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temporada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0877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6F4F2"/>
          </a:solidFill>
          <a:ln/>
        </p:spPr>
      </p:sp>
      <p:sp>
        <p:nvSpPr>
          <p:cNvPr id="21" name="Shape 16"/>
          <p:cNvSpPr/>
          <p:nvPr/>
        </p:nvSpPr>
        <p:spPr>
          <a:xfrm>
            <a:off x="648309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/tmp/claude-0/-home-user-Presentaciones-y-varios/903c1196-30c4-57a8-b469-52313f1ce01c/scratchpad/loretto/icons/thumbsup_7A4A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253" y="5096637"/>
            <a:ext cx="276606" cy="2766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6889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 de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8860536" y="4709160"/>
            <a:ext cx="2423160" cy="1051560"/>
          </a:xfrm>
          <a:prstGeom prst="roundRect">
            <a:avLst>
              <a:gd name="adj" fmla="val 6957"/>
            </a:avLst>
          </a:prstGeom>
          <a:solidFill>
            <a:srgbClr val="F1ECE7"/>
          </a:solidFill>
          <a:ln/>
        </p:spPr>
      </p:sp>
      <p:sp>
        <p:nvSpPr>
          <p:cNvPr id="25" name="Shape 19"/>
          <p:cNvSpPr/>
          <p:nvPr/>
        </p:nvSpPr>
        <p:spPr>
          <a:xfrm>
            <a:off x="9134856" y="4983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/tmp/claude-0/-home-user-Presentaciones-y-varios/903c1196-30c4-57a8-b469-52313f1ce01c/scratchpad/loretto/icons/building_7A4A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013" y="5096637"/>
            <a:ext cx="276606" cy="27660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820656" y="47091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pedidos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institucionales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CONSOLIDACIÓN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completo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etapa funciona sola. El valor está en la conexión.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606040"/>
            <a:ext cx="1234440" cy="1234440"/>
          </a:xfrm>
          <a:prstGeom prst="ellipse">
            <a:avLst/>
          </a:prstGeom>
          <a:solidFill>
            <a:srgbClr val="35200D"/>
          </a:solidFill>
          <a:ln w="19050">
            <a:solidFill>
              <a:srgbClr val="BEA791"/>
            </a:solidFill>
            <a:prstDash val="solid"/>
          </a:ln>
        </p:spPr>
      </p:sp>
      <p:pic>
        <p:nvPicPr>
          <p:cNvPr id="6" name="Image 0" descr="/tmp/claude-0/-home-user-Presentaciones-y-varios/903c1196-30c4-57a8-b469-52313f1ce01c/scratchpad/loretto/icons/eye_BEA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212" y="297637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</a:t>
            </a:r>
            <a:endParaRPr lang="en-US" sz="1500" dirty="0"/>
          </a:p>
        </p:txBody>
      </p:sp>
      <p:pic>
        <p:nvPicPr>
          <p:cNvPr id="9" name="Image 1" descr="/tmp/claude-0/-home-user-Presentaciones-y-varios/903c1196-30c4-57a8-b469-52313f1ce01c/scratchpad/loretto/icons/arrowRight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5536" y="3095244"/>
            <a:ext cx="246888" cy="24688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77640" y="2606040"/>
            <a:ext cx="1234440" cy="1234440"/>
          </a:xfrm>
          <a:prstGeom prst="ellipse">
            <a:avLst/>
          </a:prstGeom>
          <a:solidFill>
            <a:srgbClr val="35200D"/>
          </a:solidFill>
          <a:ln w="19050">
            <a:solidFill>
              <a:srgbClr val="BEA791"/>
            </a:solidFill>
            <a:prstDash val="solid"/>
          </a:ln>
        </p:spPr>
      </p:sp>
      <p:pic>
        <p:nvPicPr>
          <p:cNvPr id="11" name="Image 2" descr="/tmp/claude-0/-home-user-Presentaciones-y-varios/903c1196-30c4-57a8-b469-52313f1ce01c/scratchpad/loretto/icons/star_BEA7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972" y="2976372"/>
            <a:ext cx="493776" cy="4937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42900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42900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Evaluación</a:t>
            </a:r>
            <a:endParaRPr lang="en-US" sz="1500" dirty="0"/>
          </a:p>
        </p:txBody>
      </p:sp>
      <p:pic>
        <p:nvPicPr>
          <p:cNvPr id="14" name="Image 3" descr="/tmp/claude-0/-home-user-Presentaciones-y-varios/903c1196-30c4-57a8-b469-52313f1ce01c/scratchpad/loretto/icons/arrowRight_BEA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296" y="3095244"/>
            <a:ext cx="246888" cy="24688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629400" y="2606040"/>
            <a:ext cx="1234440" cy="1234440"/>
          </a:xfrm>
          <a:prstGeom prst="ellipse">
            <a:avLst/>
          </a:prstGeom>
          <a:solidFill>
            <a:srgbClr val="35200D"/>
          </a:solidFill>
          <a:ln w="19050">
            <a:solidFill>
              <a:srgbClr val="BEA791"/>
            </a:solidFill>
            <a:prstDash val="solid"/>
          </a:ln>
        </p:spPr>
      </p:sp>
      <p:pic>
        <p:nvPicPr>
          <p:cNvPr id="16" name="Image 4" descr="/tmp/claude-0/-home-user-Presentaciones-y-varios/903c1196-30c4-57a8-b469-52313f1ce01c/scratchpad/loretto/icons/bag_BEA79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732" y="2976372"/>
            <a:ext cx="493776" cy="49377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08076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608076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Conversión</a:t>
            </a:r>
            <a:endParaRPr lang="en-US" sz="1500" dirty="0"/>
          </a:p>
        </p:txBody>
      </p:sp>
      <p:pic>
        <p:nvPicPr>
          <p:cNvPr id="19" name="Image 5" descr="/tmp/claude-0/-home-user-Presentaciones-y-varios/903c1196-30c4-57a8-b469-52313f1ce01c/scratchpad/loretto/icons/arrowRight_BEA79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3095244"/>
            <a:ext cx="246888" cy="24688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281160" y="2606040"/>
            <a:ext cx="1234440" cy="1234440"/>
          </a:xfrm>
          <a:prstGeom prst="ellipse">
            <a:avLst/>
          </a:prstGeom>
          <a:solidFill>
            <a:srgbClr val="35200D"/>
          </a:solidFill>
          <a:ln w="19050">
            <a:solidFill>
              <a:srgbClr val="BEA791"/>
            </a:solidFill>
            <a:prstDash val="solid"/>
          </a:ln>
        </p:spPr>
      </p:sp>
      <p:pic>
        <p:nvPicPr>
          <p:cNvPr id="21" name="Image 6" descr="/tmp/claude-0/-home-user-Presentaciones-y-varios/903c1196-30c4-57a8-b469-52313f1ce01c/scratchpad/loretto/icons/sync_BEA79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1492" y="2976372"/>
            <a:ext cx="493776" cy="49377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732520" y="3950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14"/>
          <p:cNvSpPr/>
          <p:nvPr/>
        </p:nvSpPr>
        <p:spPr>
          <a:xfrm>
            <a:off x="8732520" y="42245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Ascensión</a:t>
            </a:r>
            <a:endParaRPr lang="en-US" sz="1500" dirty="0"/>
          </a:p>
        </p:txBody>
      </p:sp>
      <p:sp>
        <p:nvSpPr>
          <p:cNvPr id="24" name="Shape 15"/>
          <p:cNvSpPr/>
          <p:nvPr/>
        </p:nvSpPr>
        <p:spPr>
          <a:xfrm>
            <a:off x="2103120" y="4800600"/>
            <a:ext cx="7955280" cy="868680"/>
          </a:xfrm>
          <a:prstGeom prst="roundRect">
            <a:avLst>
              <a:gd name="adj" fmla="val 10526"/>
            </a:avLst>
          </a:prstGeom>
          <a:solidFill>
            <a:srgbClr val="35200D"/>
          </a:solidFill>
          <a:ln/>
        </p:spPr>
      </p:sp>
      <p:sp>
        <p:nvSpPr>
          <p:cNvPr id="25" name="Shape 16"/>
          <p:cNvSpPr/>
          <p:nvPr/>
        </p:nvSpPr>
        <p:spPr>
          <a:xfrm>
            <a:off x="2377440" y="4960620"/>
            <a:ext cx="548640" cy="54864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26" name="Image 7" descr="/tmp/claude-0/-home-user-Presentaciones-y-varios/903c1196-30c4-57a8-b469-52313f1ce01c/scratchpad/loretto/icons/sync_BEA79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00884" y="5084064"/>
            <a:ext cx="301752" cy="30175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3154680" y="4800600"/>
            <a:ext cx="6720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se repite: quien recibe o compra una caja entra de nuevo por evaluación en su próxima ocasión.</a:t>
            </a:r>
            <a:endParaRPr lang="en-US" sz="1350" dirty="0"/>
          </a:p>
        </p:txBody>
      </p:sp>
      <p:sp>
        <p:nvSpPr>
          <p:cNvPr id="28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RAZONAMIENTO ECONÓMICO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lógica de negocio detrás del sistema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4F2"/>
          </a:solidFill>
          <a:ln/>
        </p:spPr>
      </p:sp>
      <p:sp>
        <p:nvSpPr>
          <p:cNvPr id="5" name="Shape 3"/>
          <p:cNvSpPr/>
          <p:nvPr/>
        </p:nvSpPr>
        <p:spPr>
          <a:xfrm>
            <a:off x="203454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tmp/claude-0/-home-user-Presentaciones-y-varios/903c1196-30c4-57a8-b469-52313f1ce01c/scratchpad/loretto/icons/dollar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7420" y="2651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costo por cliente en el tiempo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6012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Reimpactar a quien ya conoce Buenas Migas cuesta menos que conseguir a alguien nuevo.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8056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4F2"/>
          </a:solidFill>
          <a:ln/>
        </p:spPr>
      </p:sp>
      <p:sp>
        <p:nvSpPr>
          <p:cNvPr id="10" name="Shape 7"/>
          <p:cNvSpPr/>
          <p:nvPr/>
        </p:nvSpPr>
        <p:spPr>
          <a:xfrm>
            <a:off x="587502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/tmp/claude-0/-home-user-Presentaciones-y-varios/903c1196-30c4-57a8-b469-52313f1ce01c/scratchpad/loretto/icons/sync_7A4A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26517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Mayor frecuencia de compra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80060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fecha especial y cada evento institucional reactivan a clientes existentes en lugar de dejarlos en silencio.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321040" y="214884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4F2"/>
          </a:solidFill>
          <a:ln/>
        </p:spPr>
      </p:sp>
      <p:sp>
        <p:nvSpPr>
          <p:cNvPr id="15" name="Shape 11"/>
          <p:cNvSpPr/>
          <p:nvPr/>
        </p:nvSpPr>
        <p:spPr>
          <a:xfrm>
            <a:off x="9715500" y="24688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/tmp/claude-0/-home-user-Presentaciones-y-varios/903c1196-30c4-57a8-b469-52313f1ce01c/scratchpad/loretto/icons/bag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0" y="26517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595360" y="33832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Mayor ticket promedio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641080" y="41605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cajas premium y los pedidos institucionales se ofrecen a quien ya confía en la marca.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promete resultados garantizados. Reduce la dependencia de conseguir clientes nuevos cada vez y aumenta el valor de los que ya se ganaron.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DEL DIAGNÓSTICO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oportunidades que hoy Buenas Migas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está dejando sobre la mesa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5" name="Shape 3"/>
          <p:cNvSpPr/>
          <p:nvPr/>
        </p:nvSpPr>
        <p:spPr>
          <a:xfrm>
            <a:off x="1078992" y="1929384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6" name="Image 0" descr="/tmp/claude-0/-home-user-Presentaciones-y-varios/903c1196-30c4-57a8-b469-52313f1ce01c/scratchpad/loretto/icons/video_BEA7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862" y="2032254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3794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Reestructurar los 6 anuncios activos en las 4 etapas del sistema, hoy sin ningún objetivo definido.</a:t>
            </a:r>
            <a:endParaRPr lang="en-US" sz="1020" dirty="0"/>
          </a:p>
        </p:txBody>
      </p:sp>
      <p:sp>
        <p:nvSpPr>
          <p:cNvPr id="8" name="Shape 5"/>
          <p:cNvSpPr/>
          <p:nvPr/>
        </p:nvSpPr>
        <p:spPr>
          <a:xfrm>
            <a:off x="6217920" y="1783080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9" name="Shape 6"/>
          <p:cNvSpPr/>
          <p:nvPr/>
        </p:nvSpPr>
        <p:spPr>
          <a:xfrm>
            <a:off x="6656832" y="1929384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10" name="Image 1" descr="/tmp/claude-0/-home-user-Presentaciones-y-varios/903c1196-30c4-57a8-b469-52313f1ce01c/scratchpad/loretto/icons/handshake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702" y="2032254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83794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remarketing sobre los 53.900 seguidores de Instagram, hoy sin ninguna campaña de reimpacto.</a:t>
            </a:r>
            <a:endParaRPr lang="en-US" sz="1020" dirty="0"/>
          </a:p>
        </p:txBody>
      </p:sp>
      <p:sp>
        <p:nvSpPr>
          <p:cNvPr id="12" name="Shape 8"/>
          <p:cNvSpPr/>
          <p:nvPr/>
        </p:nvSpPr>
        <p:spPr>
          <a:xfrm>
            <a:off x="640080" y="2679192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13" name="Shape 9"/>
          <p:cNvSpPr/>
          <p:nvPr/>
        </p:nvSpPr>
        <p:spPr>
          <a:xfrm>
            <a:off x="1078992" y="2825496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14" name="Image 2" descr="/tmp/claude-0/-home-user-Presentaciones-y-varios/903c1196-30c4-57a8-b469-52313f1ce01c/scratchpad/loretto/icons/bottle_BEA79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862" y="2928366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273405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las 629 reseñas (4,4/5) en creativos de prueba social para la etapa de evaluación.</a:t>
            </a:r>
            <a:endParaRPr lang="en-US" sz="1020" dirty="0"/>
          </a:p>
        </p:txBody>
      </p:sp>
      <p:sp>
        <p:nvSpPr>
          <p:cNvPr id="16" name="Shape 11"/>
          <p:cNvSpPr/>
          <p:nvPr/>
        </p:nvSpPr>
        <p:spPr>
          <a:xfrm>
            <a:off x="6217920" y="2679192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17" name="Shape 12"/>
          <p:cNvSpPr/>
          <p:nvPr/>
        </p:nvSpPr>
        <p:spPr>
          <a:xfrm>
            <a:off x="6656832" y="2825496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18" name="Image 3" descr="/tmp/claude-0/-home-user-Presentaciones-y-varios/903c1196-30c4-57a8-b469-52313f1ce01c/scratchpad/loretto/icons/truck_BEA7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9702" y="2928366"/>
            <a:ext cx="251460" cy="251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086600" y="273405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público de clientes con más de 90 días sin comprar, para campañas de reactivación.</a:t>
            </a:r>
            <a:endParaRPr lang="en-US" sz="1020" dirty="0"/>
          </a:p>
        </p:txBody>
      </p:sp>
      <p:sp>
        <p:nvSpPr>
          <p:cNvPr id="20" name="Shape 14"/>
          <p:cNvSpPr/>
          <p:nvPr/>
        </p:nvSpPr>
        <p:spPr>
          <a:xfrm>
            <a:off x="640080" y="3575304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21" name="Shape 15"/>
          <p:cNvSpPr/>
          <p:nvPr/>
        </p:nvSpPr>
        <p:spPr>
          <a:xfrm>
            <a:off x="1078992" y="3721608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22" name="Image 4" descr="/tmp/claude-0/-home-user-Presentaciones-y-varios/903c1196-30c4-57a8-b469-52313f1ce01c/scratchpad/loretto/icons/fruit_BEA79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1862" y="3824478"/>
            <a:ext cx="251460" cy="2514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08760" y="363016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Lanzar campaña de cajas de regalo en fechas clave: Navidad, Amor y Amistad, Día del Padre y de la Madre.</a:t>
            </a:r>
            <a:endParaRPr lang="en-US" sz="1020" dirty="0"/>
          </a:p>
        </p:txBody>
      </p:sp>
      <p:sp>
        <p:nvSpPr>
          <p:cNvPr id="24" name="Shape 17"/>
          <p:cNvSpPr/>
          <p:nvPr/>
        </p:nvSpPr>
        <p:spPr>
          <a:xfrm>
            <a:off x="6217920" y="3575304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25" name="Shape 18"/>
          <p:cNvSpPr/>
          <p:nvPr/>
        </p:nvSpPr>
        <p:spPr>
          <a:xfrm>
            <a:off x="6656832" y="3721608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26" name="Image 5" descr="/tmp/claude-0/-home-user-Presentaciones-y-varios/903c1196-30c4-57a8-b469-52313f1ce01c/scratchpad/loretto/icons/chart_BEA79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9702" y="3824478"/>
            <a:ext cx="251460" cy="2514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086600" y="363016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embudo independiente para pedidos institucionales, separado del tráfico de personas naturales.</a:t>
            </a:r>
            <a:endParaRPr lang="en-US" sz="1020" dirty="0"/>
          </a:p>
        </p:txBody>
      </p:sp>
      <p:sp>
        <p:nvSpPr>
          <p:cNvPr id="28" name="Shape 20"/>
          <p:cNvSpPr/>
          <p:nvPr/>
        </p:nvSpPr>
        <p:spPr>
          <a:xfrm>
            <a:off x="640080" y="4471416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29" name="Shape 21"/>
          <p:cNvSpPr/>
          <p:nvPr/>
        </p:nvSpPr>
        <p:spPr>
          <a:xfrm>
            <a:off x="1078992" y="4617720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30" name="Image 6" descr="/tmp/claude-0/-home-user-Presentaciones-y-varios/903c1196-30c4-57a8-b469-52313f1ce01c/scratchpad/loretto/icons/building_BEA79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1862" y="4720590"/>
            <a:ext cx="251460" cy="25146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508760" y="4526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Segmentar audiencias de alto poder adquisitivo como público prioritario para las cajas premium.</a:t>
            </a:r>
            <a:endParaRPr lang="en-US" sz="1020" dirty="0"/>
          </a:p>
        </p:txBody>
      </p:sp>
      <p:sp>
        <p:nvSpPr>
          <p:cNvPr id="32" name="Shape 23"/>
          <p:cNvSpPr/>
          <p:nvPr/>
        </p:nvSpPr>
        <p:spPr>
          <a:xfrm>
            <a:off x="6217920" y="4471416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33" name="Shape 24"/>
          <p:cNvSpPr/>
          <p:nvPr/>
        </p:nvSpPr>
        <p:spPr>
          <a:xfrm>
            <a:off x="6656832" y="4617720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34" name="Image 7" descr="/tmp/claude-0/-home-user-Presentaciones-y-varios/903c1196-30c4-57a8-b469-52313f1ce01c/scratchpad/loretto/icons/sync_BEA79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9702" y="4720590"/>
            <a:ext cx="251460" cy="25146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86600" y="452628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el video del proceso artesanal como ancla de autoridad en las campañas de descubrimiento.</a:t>
            </a:r>
            <a:endParaRPr lang="en-US" sz="1020" dirty="0"/>
          </a:p>
        </p:txBody>
      </p:sp>
      <p:sp>
        <p:nvSpPr>
          <p:cNvPr id="36" name="Shape 26"/>
          <p:cNvSpPr/>
          <p:nvPr/>
        </p:nvSpPr>
        <p:spPr>
          <a:xfrm>
            <a:off x="640080" y="5367528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37" name="Shape 27"/>
          <p:cNvSpPr/>
          <p:nvPr/>
        </p:nvSpPr>
        <p:spPr>
          <a:xfrm>
            <a:off x="1078992" y="5513832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38" name="Image 8" descr="/tmp/claude-0/-home-user-Presentaciones-y-varios/903c1196-30c4-57a8-b469-52313f1ce01c/scratchpad/loretto/icons/bag_BEA79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1862" y="5616702"/>
            <a:ext cx="251460" cy="251460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1508760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 público personalizado por cercanía al punto de venta en la Carrera 7.</a:t>
            </a:r>
            <a:endParaRPr lang="en-US" sz="1020" dirty="0"/>
          </a:p>
        </p:txBody>
      </p:sp>
      <p:sp>
        <p:nvSpPr>
          <p:cNvPr id="40" name="Shape 29"/>
          <p:cNvSpPr/>
          <p:nvPr/>
        </p:nvSpPr>
        <p:spPr>
          <a:xfrm>
            <a:off x="6217920" y="5367528"/>
            <a:ext cx="5257800" cy="749808"/>
          </a:xfrm>
          <a:prstGeom prst="roundRect">
            <a:avLst>
              <a:gd name="adj" fmla="val 8537"/>
            </a:avLst>
          </a:prstGeom>
          <a:solidFill>
            <a:srgbClr val="35200D"/>
          </a:solidFill>
          <a:ln/>
        </p:spPr>
      </p:sp>
      <p:sp>
        <p:nvSpPr>
          <p:cNvPr id="41" name="Shape 30"/>
          <p:cNvSpPr/>
          <p:nvPr/>
        </p:nvSpPr>
        <p:spPr>
          <a:xfrm>
            <a:off x="6656832" y="5513832"/>
            <a:ext cx="457200" cy="457200"/>
          </a:xfrm>
          <a:prstGeom prst="ellipse">
            <a:avLst/>
          </a:prstGeom>
          <a:solidFill>
            <a:srgbClr val="442911"/>
          </a:solidFill>
          <a:ln/>
        </p:spPr>
      </p:sp>
      <p:pic>
        <p:nvPicPr>
          <p:cNvPr id="42" name="Image 9" descr="/tmp/claude-0/-home-user-Presentaciones-y-varios/903c1196-30c4-57a8-b469-52313f1ce01c/scratchpad/loretto/icons/shield_BEA79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59702" y="5616702"/>
            <a:ext cx="251460" cy="251460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7086600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Aprovechar los 6.800 seguidores de Facebook, hoy sin ninguna campaña de remarketing.</a:t>
            </a:r>
            <a:endParaRPr lang="en-US" sz="1020" dirty="0"/>
          </a:p>
        </p:txBody>
      </p:sp>
      <p:sp>
        <p:nvSpPr>
          <p:cNvPr id="44" name="Text 3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primeros 3 meses: mes a mes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activamos cada etapa con el producto protagonista de cada mes en Buenas Migas.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F6F4F2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/tmp/claude-0/-home-user-Presentaciones-y-varios/903c1196-30c4-57a8-b469-52313f1ce01c/scratchpad/loretto/icons/bottle_7A4A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5831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78308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Descubrimiento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96012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6012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protagonista: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y desayunos de regalo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60120" y="4023360"/>
            <a:ext cx="288036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41605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mostrando el proceso artesanal y el armado de las cajas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960120" y="4818888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Campañas de reconocimiento dirigidas a Bogotá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960120" y="5477256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público de remarketing desde quienes interactúan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4480560" y="21488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181321"/>
          </a:solidFill>
          <a:ln/>
        </p:spPr>
      </p:sp>
      <p:sp>
        <p:nvSpPr>
          <p:cNvPr id="17" name="Shape 14"/>
          <p:cNvSpPr/>
          <p:nvPr/>
        </p:nvSpPr>
        <p:spPr>
          <a:xfrm>
            <a:off x="4846320" y="2423160"/>
            <a:ext cx="640080" cy="640080"/>
          </a:xfrm>
          <a:prstGeom prst="ellipse">
            <a:avLst/>
          </a:prstGeom>
          <a:solidFill>
            <a:srgbClr val="35200D"/>
          </a:solidFill>
          <a:ln/>
        </p:spPr>
      </p:sp>
      <p:pic>
        <p:nvPicPr>
          <p:cNvPr id="18" name="Image 1" descr="/tmp/claude-0/-home-user-Presentaciones-y-varios/903c1196-30c4-57a8-b469-52313f1ce01c/scratchpad/loretto/icons/shield_BEA79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583180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62356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62356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Confianza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480060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Etapa: </a:t>
            </a:r>
            <a:pPr indent="0" marL="0">
              <a:buNone/>
            </a:pPr>
            <a:r>
              <a:rPr lang="en-US" sz="105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+ arranque de Conversión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80060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protagonista: </a:t>
            </a:r>
            <a:pPr indent="0" marL="0">
              <a:buNone/>
            </a:pPr>
            <a:r>
              <a:rPr lang="en-US" sz="105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institucionales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4800600" y="4023360"/>
            <a:ext cx="2880360" cy="0"/>
          </a:xfrm>
          <a:prstGeom prst="line">
            <a:avLst/>
          </a:prstGeom>
          <a:noFill/>
          <a:ln w="12700">
            <a:solidFill>
              <a:srgbClr val="54331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00600" y="41605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reseñas reales (4,4/5) y el respaldo institucional como creativo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4800600" y="4818888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campañas de conversión con pedido directo por WhatsApp</a:t>
            </a:r>
            <a:endParaRPr lang="en-US" sz="1030" dirty="0"/>
          </a:p>
        </p:txBody>
      </p:sp>
      <p:sp>
        <p:nvSpPr>
          <p:cNvPr id="26" name="Text 22"/>
          <p:cNvSpPr/>
          <p:nvPr/>
        </p:nvSpPr>
        <p:spPr>
          <a:xfrm>
            <a:off x="4800600" y="5477256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pedidos y mensajes activo</a:t>
            </a:r>
            <a:endParaRPr lang="en-US" sz="1030" dirty="0"/>
          </a:p>
        </p:txBody>
      </p:sp>
      <p:sp>
        <p:nvSpPr>
          <p:cNvPr id="27" name="Shape 23"/>
          <p:cNvSpPr/>
          <p:nvPr/>
        </p:nvSpPr>
        <p:spPr>
          <a:xfrm>
            <a:off x="8321040" y="2148840"/>
            <a:ext cx="3520440" cy="3977640"/>
          </a:xfrm>
          <a:prstGeom prst="roundRect">
            <a:avLst>
              <a:gd name="adj" fmla="val 2078"/>
            </a:avLst>
          </a:prstGeom>
          <a:solidFill>
            <a:srgbClr val="F6F4F2"/>
          </a:solidFill>
          <a:ln/>
        </p:spPr>
      </p:sp>
      <p:sp>
        <p:nvSpPr>
          <p:cNvPr id="28" name="Shape 24"/>
          <p:cNvSpPr/>
          <p:nvPr/>
        </p:nvSpPr>
        <p:spPr>
          <a:xfrm>
            <a:off x="8686800" y="2423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2" descr="/tmp/claude-0/-home-user-Presentaciones-y-varios/903c1196-30c4-57a8-b469-52313f1ce01c/scratchpad/loretto/icons/rocket_7A4A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6820" y="2583180"/>
            <a:ext cx="320040" cy="3200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464040" y="2423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3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9464040" y="26791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Consolidación</a:t>
            </a:r>
            <a:endParaRPr lang="en-US" sz="1700" dirty="0"/>
          </a:p>
        </p:txBody>
      </p:sp>
      <p:sp>
        <p:nvSpPr>
          <p:cNvPr id="32" name="Text 27"/>
          <p:cNvSpPr/>
          <p:nvPr/>
        </p:nvSpPr>
        <p:spPr>
          <a:xfrm>
            <a:off x="864108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escalada + arranque de Ascensión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6410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protagonista: </a:t>
            </a:r>
            <a:pPr indent="0" marL="0">
              <a:buNone/>
            </a:pPr>
            <a:r>
              <a:rPr lang="en-US" sz="105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premium y de temporada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641080" y="4023360"/>
            <a:ext cx="288036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641080" y="41605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escalan las campañas de conversión con mejor desempeño</a:t>
            </a:r>
            <a:endParaRPr lang="en-US" sz="1030" dirty="0"/>
          </a:p>
        </p:txBody>
      </p:sp>
      <p:sp>
        <p:nvSpPr>
          <p:cNvPr id="36" name="Text 31"/>
          <p:cNvSpPr/>
          <p:nvPr/>
        </p:nvSpPr>
        <p:spPr>
          <a:xfrm>
            <a:off x="8641080" y="4818888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cajas premium como oferta principal para subir el ticket</a:t>
            </a:r>
            <a:endParaRPr lang="en-US" sz="1030" dirty="0"/>
          </a:p>
        </p:txBody>
      </p:sp>
      <p:sp>
        <p:nvSpPr>
          <p:cNvPr id="37" name="Text 32"/>
          <p:cNvSpPr/>
          <p:nvPr/>
        </p:nvSpPr>
        <p:spPr>
          <a:xfrm>
            <a:off x="8641080" y="5477256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–"/>
            </a:pPr>
            <a:r>
              <a:rPr lang="en-US" sz="103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público de recompra para clientes ya adquiridos</a:t>
            </a:r>
            <a:endParaRPr lang="en-US" sz="1030" dirty="0"/>
          </a:p>
        </p:txBody>
      </p:sp>
      <p:sp>
        <p:nvSpPr>
          <p:cNvPr id="38" name="Text 3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TRABAJO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semana a semana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ejecución detrás de cada mes.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0233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1-2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la cuenta y de los 6 anuncios activos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2257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1ECE7"/>
          </a:solidFill>
          <a:ln/>
        </p:spPr>
      </p:sp>
      <p:sp>
        <p:nvSpPr>
          <p:cNvPr id="9" name="Text 7"/>
          <p:cNvSpPr/>
          <p:nvPr/>
        </p:nvSpPr>
        <p:spPr>
          <a:xfrm>
            <a:off x="245973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3-4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8716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 de campañas de Presentación — cajas y desayunos de regalo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4281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6F4F2"/>
          </a:solidFill>
          <a:ln/>
        </p:spPr>
      </p:sp>
      <p:sp>
        <p:nvSpPr>
          <p:cNvPr id="12" name="Text 10"/>
          <p:cNvSpPr/>
          <p:nvPr/>
        </p:nvSpPr>
        <p:spPr>
          <a:xfrm>
            <a:off x="437997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5-6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0740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y prueba social — reseñas y respaldo institucional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1E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7-8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2764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campañas de Conversión — pedido por WhatsApp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8329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F6F4F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045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9-10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4788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campañas ganadoras — cajas premium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003536" y="2377440"/>
            <a:ext cx="1783080" cy="2286000"/>
          </a:xfrm>
          <a:prstGeom prst="roundRect">
            <a:avLst>
              <a:gd name="adj" fmla="val 4103"/>
            </a:avLst>
          </a:prstGeom>
          <a:solidFill>
            <a:srgbClr val="7A4A1E"/>
          </a:solidFill>
          <a:ln/>
        </p:spPr>
      </p:sp>
      <p:sp>
        <p:nvSpPr>
          <p:cNvPr id="21" name="Text 19"/>
          <p:cNvSpPr/>
          <p:nvPr/>
        </p:nvSpPr>
        <p:spPr>
          <a:xfrm>
            <a:off x="10140696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Semana 11-12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168128" y="3063240"/>
            <a:ext cx="1453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 de Ascensión: primer público de recompra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5029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cierre del mes 3, el sistema completo está activo: descubrimiento, confianza, conversión y las primeras señales de recompra.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necesita para activar el sistema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de inversión, independientes entre sí.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F6F4F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3042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HONORARIOS DE GESTIÓN ESTRATÉGICA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7A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1 A 3 · PRECIO DE LANZAMIENTO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108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$950.000</a:t>
            </a:r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1005840" y="3840480"/>
            <a:ext cx="4343400" cy="0"/>
          </a:xfrm>
          <a:prstGeom prst="line">
            <a:avLst/>
          </a:prstGeom>
          <a:noFill/>
          <a:ln w="12700">
            <a:solidFill>
              <a:srgbClr val="E4E3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00507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EL MES 4 · TARIFA FULL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05840" y="427939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$1.300.000</a:t>
            </a:r>
            <a:pPr indent="0" marL="0">
              <a:buNone/>
            </a:pPr>
            <a:r>
              <a:rPr lang="en-US" sz="1500" dirty="0">
                <a:solidFill>
                  <a:srgbClr val="6B6B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005840" y="49194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estrategia, diseño de campañas, gestión y optimización continua de las 4 etapas del sistema.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074920" cy="3520440"/>
          </a:xfrm>
          <a:prstGeom prst="roundRect">
            <a:avLst>
              <a:gd name="adj" fmla="val 2078"/>
            </a:avLst>
          </a:prstGeom>
          <a:solidFill>
            <a:srgbClr val="181321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3042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DE PAUTA EN META ADS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37960" y="2834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CEB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RECOMENDADO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37960" y="31089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$1.500.000</a:t>
            </a:r>
            <a:pPr indent="0" marL="0">
              <a:buNone/>
            </a:pPr>
            <a:r>
              <a:rPr lang="en-US" sz="1500" dirty="0">
                <a:solidFill>
                  <a:srgbClr val="CEBC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/mes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6537960" y="3840480"/>
            <a:ext cx="4343400" cy="0"/>
          </a:xfrm>
          <a:prstGeom prst="line">
            <a:avLst/>
          </a:prstGeom>
          <a:noFill/>
          <a:ln w="12700">
            <a:solidFill>
              <a:srgbClr val="5030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977640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invierte 100% en la plataforma de Meta. Financia el alcance, la evaluación, la conversión y la reactivación de clientes en las 4 etapas del sistema.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81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honorarios cubren la estrategia y la ejecución; el presupuesto de pauta pertenece 100% a Buenas Migas y se administra directamente dentro de la cuenta publicitaria.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8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A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más anuncios sueltos.</a:t>
            </a:r>
            <a:endParaRPr lang="en-US" sz="3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un sistema de ventas para cada caja y cada evento.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20" dirty="0"/>
          </a:p>
        </p:txBody>
      </p:sp>
      <p:sp>
        <p:nvSpPr>
          <p:cNvPr id="6" name="Text 4"/>
          <p:cNvSpPr/>
          <p:nvPr/>
        </p:nvSpPr>
        <p:spPr>
          <a:xfrm>
            <a:off x="77724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Auditoría de cuenta y de los 6 anuncios activos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técnica de la configuración actual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3520440"/>
            <a:ext cx="548640" cy="54864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20" dirty="0"/>
          </a:p>
        </p:txBody>
      </p:sp>
      <p:sp>
        <p:nvSpPr>
          <p:cNvPr id="10" name="Text 8"/>
          <p:cNvSpPr/>
          <p:nvPr/>
        </p:nvSpPr>
        <p:spPr>
          <a:xfrm>
            <a:off x="448056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de las 4 campañas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Presentación, Evaluación, Conversión, Ascensión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3880" y="3520440"/>
            <a:ext cx="548640" cy="548640"/>
          </a:xfrm>
          <a:prstGeom prst="ellipse">
            <a:avLst/>
          </a:prstGeom>
          <a:solidFill>
            <a:srgbClr val="BEA791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520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181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20" dirty="0"/>
          </a:p>
        </p:txBody>
      </p:sp>
      <p:sp>
        <p:nvSpPr>
          <p:cNvPr id="14" name="Text 12"/>
          <p:cNvSpPr/>
          <p:nvPr/>
        </p:nvSpPr>
        <p:spPr>
          <a:xfrm>
            <a:off x="8183880" y="4480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Activación en Bogotá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3880" y="4937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C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base para escalar a nuevas fechas y eventos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7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Panadería Buenas Migas - Estrategia Meta Ads</dc:title>
  <dc:subject>Panadería Buenas Migas - Estrategia Meta Ads</dc:subject>
  <dc:creator>PptxGenJS</dc:creator>
  <cp:lastModifiedBy>PptxGenJS</cp:lastModifiedBy>
  <cp:revision>1</cp:revision>
  <dcterms:created xsi:type="dcterms:W3CDTF">2026-08-06T01:01:13Z</dcterms:created>
  <dcterms:modified xsi:type="dcterms:W3CDTF">2026-08-06T01:01:14Z</dcterms:modified>
</cp:coreProperties>
</file>