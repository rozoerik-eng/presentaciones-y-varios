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marco general antes de entrar al diagnóstico.
MENSAJE PRINCIPAL: Esta es una estrategia comercial completa para Casa Outlet, no una tanda de promociones.
QUÉ EXPLICAR: Portada de apertura; da paso al diagnóstico del estado actual de la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Establecer el punto de partida real, reconociendo lo que ya existe antes de hablar de lo que falta.
MENSAJE PRINCIPAL: Casa Outlet ya tiene una marca reconocida en Cali, buen producto, buenos precios y una audiencia real en redes (15.000 seguidores en Instagram); lo que no tiene es un sistema de Meta Ads detrás de los 3 anuncios que corren hoy.
QUÉ EXPLICAR: Los 3 anuncios activos son promociones sueltas sin estructura, la audiencia en redes no tiene ningún sistema de remarketing detrás, y no existe ninguna etapa de decisión del cliente cubierta.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Cambiar el modelo mental de 'promociones sueltas' a 'sistema comercial'.
MENSAJE PRINCIPAL: El problema no es la calidad de las promociones; es la ausencia de arquitectura detrás de la inversión.
QUÉ EXPLICAR: Contrastar cómo operan hoy los 3 anuncios (tácticos, dispersos) frente a cómo debería operar un sistema de 4 etapas.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la metodología completa en una sola imagen antes de entrar en el detalle de cada etapa.
MENSAJE PRINCIPAL: Cada etapa cumple un rol distinto y prepara la siguiente; ninguna funciona aislada.
QUÉ EXPLICAR: Recorrer el journey completo: Presentación (descubrir Casa Outlet), Evaluación (confiar en el producto y el servicio), Conversión (comprar un mueble o colchón), Ascensión (volver por el próximo).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Lograr que nuevas personas en Cali descubran Casa Outlet. Aquí no se vende, se despierta interés.
MENSAJE PRINCIPAL: En esta etapa no medimos pedidos; medimos alcance calificado en Cali, con miras a expandir a toda Colombia.
QUÉ EXPLICAR: Video del showroom mostrando camas y colchones; el buen precio como gancho; y que el éxito se mide en alcance, no en ventas inmediatas.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profundidad al contenido creativo de la etapa 1.
MENSAJE PRINCIPAL: No se trata de un anuncio genérico de muebles, sino de piezas que cubren distintos ángulos de decisión.
QUÉ EXPLICAR: Recorrer cada pilar. Camas y colchones son la categoría más buscada y deben ser el ancla de descubrimiento; el buen precio es el diferenciador frente a otros outlets; la atención y las entregas puntuales ya son valoradas por los clientes en sus reseñas.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Mover a quien ya conoce Casa Outlet hacia la intención de compra, resolviendo la duda natural sobre calidad y servicio.
MENSAJE PRINCIPAL: Casa Outlet ya tiene reseñas reales positivas; hoy no se usan en ningún anuncio.
QUÉ EXPLICAR: Se activa remarketing sobre quienes vieron los anuncios de la etapa 1. El contenido cambia hacia reseñas reales, respaldo de servicio y garantía del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una oportunidad concreta y medible que hoy no se aprovecha.
MENSAJE PRINCIPAL: Casa Outlet ya tiene una audiencia caliente construida por años (15.000 seguidores en Instagram) y reseñas reales positivas; hoy Meta Ads no las usa.
QUÉ EXPLICAR: Cómo se crean públicos personalizados a partir de quienes interactúan con Instagram, y cómo se les impacta con contenido de prueba social para moverlos hacia la etapa de conversión.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el interés calificado en compras reales de muebles y colchones.
MENSAJE PRINCIPAL: En conversión no buscamos alcance, buscamos precisión: solo se invierte en quien ya mostró interés real.
QUÉ EXPLICAR: Las audiencias se restringen a quienes vieron videos o interactuaron con los anuncios de confianza. El CTA es directo: pedir por WhatsApp, recoger o pedir entrega en el punto de venta.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el detalle táctico de optimización dentro de la etapa de conversión.
MENSAJE PRINCIPAL: Pequeños ajustes de oferta, ocasión y llamado a la acción mueven directamente la tasa de conversión.
QUÉ EXPLICAR: Ejemplo concreto: pasar de un anuncio genérico ('visítanos') a uno que nombra un combo específico (colchón + base) y genera urgencia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ETAPA: Convertir una compra puntual en el inicio de amoblar toda la casa.
MENSAJE PRINCIPAL: La etapa más rentable del sistema es la que hoy no existe en la cuenta.
QUÉ EXPLICAR: Cómo construir públicos personalizados de clientes anteriores segmentados por tiempo desde la última compra, y cómo cada nueva necesidad del hogar se convierte en el gatillo de una campaña de reactivación.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Explicar el concepto de Lifetime Value aplicado a una tienda de muebles y colchones.
MENSAJE PRINCIPAL: No buscamos vender un mueble una vez; buscamos acompañar a Casa Outlet en todo el proceso de amoblar la casa.
QUÉ EXPLICAR: Cada gatillo (un nuevo mueble, un colchón de reemplazo, un referido, la expansión a otras ciudades) es una campaña de reactivación dirigida a un público ya construido en las etapas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Consolidar la visión completa antes de pasar al cierre de negocio.
MENSAJE PRINCIPAL: El sistema es un ciclo, no una línea recta; el cliente que vuelve a comprar reingresa al ciclo en su siguiente ocasión.
QUÉ EXPLICAR: Cómo el dato de una etapa alimenta la audiencia de la siguiente. Reforzar que 3 anuncios sueltos no pueden sostener esta arquitectura.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el razonamiento económico del sistema sin prometer cifras específicas.
MENSAJE PRINCIPAL: El sistema reduce la dependencia de conseguir clientes nuevos cada vez y aumenta el valor de los que ya se ganaron.
QUÉ EXPLICAR: Por qué reimpactar cuesta menos que adquirir; por qué amoblar una casa es un proceso por etapas que sube la frecuencia de compra; por qué ofrecer combos y productos premium a la base existente sube el ticket promedio.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el diagnóstico con impacto, mostrando la brecha concreta entre el potencial de la marca y la ejecución publicitaria actual.
MENSAJE PRINCIPAL: Cada oportunidad está fundamentada en información real de Casa Outlet (Instagram, reseñas, catálogo web), no en suposiciones.
QUÉ EXPLICAR: Recorrer brevemente cada oportunidad conectándola con la etapa del sistema a la que pertenece. Cerrar señalando que ninguna de estas 10 oportunidades requiere más presupuesto: requieren estructura.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Mostrar un plan de trabajo concreto para los primeros 3 meses, conectando cada mes con un producto protagonista.
MENSAJE PRINCIPAL: La metodología de las 4 etapas se activa de forma progresiva mes a mes, empezando por camas y colchones, siguiendo con el combo colchón + base, y cerrando con muebles de sala y comedor.
QUÉ EXPLICAR: Mes 1 da a conocer camas y colchones apoyado en video del showroom. Mes 2 construye confianza con reseñas y respaldo de servicio, y abre las primeras conversiones por WhatsApp. Mes 3 escala lo que mejor funciona y presenta muebles de sala y comedor, arrancando ya la etapa de ascensión.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Dar seguridad mostrando un cronograma detallado y realista para los primeros 3 meses.
MENSAJE PRINCIPAL: Cada quincena tiene un entregable concreto; no hay ambigüedad sobre qué se está haciendo en cada momento.
QUÉ EXPLICAR: Las dos primeras semanas son de base técnica (auditoría de la cuenta y de los 3 anuncios activos), no de campañas nuevas todavía. A partir de la semana 3 empieza la etapa de Presentación con camas y colchones, y el sistema se va completando progresivamente hasta arrancar Ascensión al final del mes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Presentar con claridad las dos líneas de inversión necesarias para poner en marcha el sistema, sin mezclar honorarios de gestión con presupuesto publicitario.
MENSAJE PRINCIPAL: Son dos inversiones independientes: unos honorarios de gestión estratégica y un presupuesto de pauta que pertenece siempre a Casa Outlet.
QUÉ EXPLICAR: Los honorarios de gestión inician en $950.000 mensuales durante los primeros 3 meses como precio de lanzamiento, y pasan a la tarifa full de $1.300.000 mensuales desde el mes 4. Aparte, el presupuesto mínimo recomendado de pauta en Meta Ads es de $1.500.000 mensuales.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Cerrar con una propuesta de acción clara, sin sonar comercial.
MENSAJE PRINCIPAL: El crecimiento no depende de invertir más; depende de darle estructura a los 3 anuncios que ya existen.
QUÉ EXPLICAR: Los tres pasos siguientes son concretos y secuenciales. La siguiente reunión debe definir el alcance y el cronograma de implementación de las cuatro campañas, comenzando en Cali.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4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COMERCIAL · META ADS ·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Casa Outlet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promociones sueltas a un sistema de crecimiento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929F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 Casa Outlet · Cali, Colombia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Hoy, Casa Outlet pauta sin ningún sistema detrás.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anuncios activos, pero ninguno sabe para qué existe.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738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ag_1F3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activos en la cuenta, mal estructurados y sin optimizar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6354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loretto/icons/mapPin_1F3A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420" y="3200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15.000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48056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en Instagram, sin ningún sistema de remarketing detrás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2606040"/>
            <a:ext cx="3246120" cy="2880360"/>
          </a:xfrm>
          <a:prstGeom prst="roundRect">
            <a:avLst>
              <a:gd name="adj" fmla="val 2540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02970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target_1F3A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0" y="3840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046720" y="4526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decisión del cliente cubiertas por la pauta actual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marca ya reconocida en Cali, con buen producto, buenos precios y una audiencia real en redes, ya existe. Falta el sistema que convierta cada peso invertido en un cliente que descubre, confía, compra y vuelve.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ESTRATÉGICO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promociones sueltas no es un sistema comercial.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F6F4F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TÁCTICA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promociones sin relación entre sí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público: todos por igual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recorrido: se impacta una sola vez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qué promoción funcione, por suerte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074920" cy="4114800"/>
          </a:xfrm>
          <a:prstGeom prst="roundRect">
            <a:avLst>
              <a:gd name="adj" fmla="val 1778"/>
            </a:avLst>
          </a:prstGeom>
          <a:solidFill>
            <a:srgbClr val="18132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COMERCIAL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880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objetivos de Meta Ads, uno por etapa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5661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por interés en muebles, colchones y remodelación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251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continuo: se impacta en el momento correcto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9377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depende de la arquitectura, no del azar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 como sistema de ventas para Casa Outlet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etapas. Cada una prepara la siguiente.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157734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7" name="Text 5"/>
          <p:cNvSpPr/>
          <p:nvPr/>
        </p:nvSpPr>
        <p:spPr>
          <a:xfrm>
            <a:off x="157734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560" dirty="0"/>
          </a:p>
        </p:txBody>
      </p:sp>
      <p:sp>
        <p:nvSpPr>
          <p:cNvPr id="8" name="Shape 6"/>
          <p:cNvSpPr/>
          <p:nvPr/>
        </p:nvSpPr>
        <p:spPr>
          <a:xfrm>
            <a:off x="159562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tmp/claude-0/-home-user-Presentaciones-y-varios/903c1196-30c4-57a8-b469-52313f1ce01c/scratchpad/loretto/icons/eye_1F3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357530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</a:t>
            </a:r>
            <a:endParaRPr lang="en-US" sz="1200" dirty="0"/>
          </a:p>
        </p:txBody>
      </p:sp>
      <p:pic>
        <p:nvPicPr>
          <p:cNvPr id="12" name="Image 1" descr="/tmp/claude-0/-home-user-Presentaciones-y-varios/903c1196-30c4-57a8-b469-52313f1ce01c/scratchpad/loretto/icons/arrowRight_1F3A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977640"/>
            <a:ext cx="246888" cy="24688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8EAEE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910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15" name="Text 11"/>
          <p:cNvSpPr/>
          <p:nvPr/>
        </p:nvSpPr>
        <p:spPr>
          <a:xfrm>
            <a:off x="422910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560" dirty="0"/>
          </a:p>
        </p:txBody>
      </p:sp>
      <p:sp>
        <p:nvSpPr>
          <p:cNvPr id="16" name="Shape 12"/>
          <p:cNvSpPr/>
          <p:nvPr/>
        </p:nvSpPr>
        <p:spPr>
          <a:xfrm>
            <a:off x="424738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star_1F3A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24" y="35753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6616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56616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</a:t>
            </a:r>
            <a:endParaRPr lang="en-US" sz="1200" dirty="0"/>
          </a:p>
        </p:txBody>
      </p:sp>
      <p:pic>
        <p:nvPicPr>
          <p:cNvPr id="20" name="Image 3" descr="/tmp/claude-0/-home-user-Presentaciones-y-varios/903c1196-30c4-57a8-b469-52313f1ce01c/scratchpad/loretto/icons/arrowRight_1F3A5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977640"/>
            <a:ext cx="246888" cy="246888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08076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F6F4F2"/>
          </a:solidFill>
          <a:ln/>
        </p:spPr>
      </p:sp>
      <p:sp>
        <p:nvSpPr>
          <p:cNvPr id="22" name="Shape 16"/>
          <p:cNvSpPr/>
          <p:nvPr/>
        </p:nvSpPr>
        <p:spPr>
          <a:xfrm>
            <a:off x="688086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23" name="Text 17"/>
          <p:cNvSpPr/>
          <p:nvPr/>
        </p:nvSpPr>
        <p:spPr>
          <a:xfrm>
            <a:off x="688086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560" dirty="0"/>
          </a:p>
        </p:txBody>
      </p:sp>
      <p:sp>
        <p:nvSpPr>
          <p:cNvPr id="24" name="Shape 18"/>
          <p:cNvSpPr/>
          <p:nvPr/>
        </p:nvSpPr>
        <p:spPr>
          <a:xfrm>
            <a:off x="689914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tmp/claude-0/-home-user-Presentaciones-y-varios/903c1196-30c4-57a8-b469-52313f1ce01c/scratchpad/loretto/icons/bag_1F3A5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3575304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1792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621792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200" dirty="0"/>
          </a:p>
        </p:txBody>
      </p:sp>
      <p:pic>
        <p:nvPicPr>
          <p:cNvPr id="28" name="Image 5" descr="/tmp/claude-0/-home-user-Presentaciones-y-varios/903c1196-30c4-57a8-b469-52313f1ce01c/scratchpad/loretto/icons/arrowRight_1F3A5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977640"/>
            <a:ext cx="246888" cy="246888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8732520" y="2743200"/>
            <a:ext cx="2331720" cy="2834640"/>
          </a:xfrm>
          <a:prstGeom prst="roundRect">
            <a:avLst>
              <a:gd name="adj" fmla="val 3137"/>
            </a:avLst>
          </a:prstGeom>
          <a:solidFill>
            <a:srgbClr val="E8EAEE"/>
          </a:solidFill>
          <a:ln/>
        </p:spPr>
      </p:sp>
      <p:sp>
        <p:nvSpPr>
          <p:cNvPr id="30" name="Shape 22"/>
          <p:cNvSpPr/>
          <p:nvPr/>
        </p:nvSpPr>
        <p:spPr>
          <a:xfrm>
            <a:off x="9532620" y="1993392"/>
            <a:ext cx="731520" cy="731520"/>
          </a:xfrm>
          <a:prstGeom prst="ellipse">
            <a:avLst/>
          </a:prstGeom>
          <a:solidFill>
            <a:srgbClr val="181321"/>
          </a:solidFill>
          <a:ln/>
        </p:spPr>
      </p:sp>
      <p:sp>
        <p:nvSpPr>
          <p:cNvPr id="31" name="Text 23"/>
          <p:cNvSpPr/>
          <p:nvPr/>
        </p:nvSpPr>
        <p:spPr>
          <a:xfrm>
            <a:off x="9532620" y="19933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560" dirty="0"/>
          </a:p>
        </p:txBody>
      </p:sp>
      <p:sp>
        <p:nvSpPr>
          <p:cNvPr id="32" name="Shape 24"/>
          <p:cNvSpPr/>
          <p:nvPr/>
        </p:nvSpPr>
        <p:spPr>
          <a:xfrm>
            <a:off x="9550908" y="3401568"/>
            <a:ext cx="694944" cy="69494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/tmp/claude-0/-home-user-Presentaciones-y-varios/903c1196-30c4-57a8-b469-52313f1ce01c/scratchpad/loretto/icons/sync_1F3A5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644" y="3575304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69680" y="425196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700" dirty="0"/>
          </a:p>
        </p:txBody>
      </p:sp>
      <p:sp>
        <p:nvSpPr>
          <p:cNvPr id="35" name="Text 26"/>
          <p:cNvSpPr/>
          <p:nvPr/>
        </p:nvSpPr>
        <p:spPr>
          <a:xfrm>
            <a:off x="8869680" y="47091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es más promociones sueltas: es un cliente que descubre, confía, compra y vuelve por su próximo mueble o colchón.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01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929FB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despertar interés en Casa Outlet, no vender todavía.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8" name="Image 0" descr="/tmp/claude-0/-home-user-Presentaciones-y-varios/903c1196-30c4-57a8-b469-52313f1ce01c/scratchpad/loretto/icons/mapPin_929F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Territorio: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Cali, con miras a toda Colombia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1" name="Image 1" descr="/tmp/claude-0/-home-user-Presentaciones-y-varios/903c1196-30c4-57a8-b469-52313f1ce01c/scratchpad/loretto/icons/bottle_929F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Camas y colchones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protagonistas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4" name="Image 2" descr="/tmp/claude-0/-home-user-Presentaciones-y-varios/903c1196-30c4-57a8-b469-52313f1ce01c/scratchpad/loretto/icons/video_929F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showroom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7" name="Image 3" descr="/tmp/claude-0/-home-user-Presentaciones-y-varios/903c1196-30c4-57a8-b469-52313f1ce01c/scratchpad/loretto/icons/leaf_929F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producto,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precio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PRESENTACIÓN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cinco pilares del descubrimiento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pilar ataca una razón distinta de decisión.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ottle_1F3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76606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Camas y colchones, el producto más buscado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7373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con más demanda, lista para ser el anuncio ancla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11" name="Shape 8"/>
          <p:cNvSpPr/>
          <p:nvPr/>
        </p:nvSpPr>
        <p:spPr>
          <a:xfrm>
            <a:off x="46177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claude-0/-home-user-Presentaciones-y-varios/903c1196-30c4-57a8-b469-52313f1ce01c/scratchpad/loretto/icons/leaf_1F3A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7660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Buenos precios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3949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diferenciador claro frente a otros outlets de muebles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23317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6060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claude-0/-home-user-Presentaciones-y-varios/903c1196-30c4-57a8-b469-52313f1ce01c/scratchpad/loretto/icons/video_1F3A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7660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5603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del showroom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052560" y="29718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y la variedad como espectáculo visual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21" name="Shape 16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loretto/icons/fruit_1F3A5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" y="50977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Muebles de sala y comedor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737360" y="5303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 para amoblar la casa completa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97680" y="46634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6F4F2"/>
          </a:solidFill>
          <a:ln/>
        </p:spPr>
      </p:sp>
      <p:sp>
        <p:nvSpPr>
          <p:cNvPr id="26" name="Shape 20"/>
          <p:cNvSpPr/>
          <p:nvPr/>
        </p:nvSpPr>
        <p:spPr>
          <a:xfrm>
            <a:off x="4617720" y="4937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/tmp/claude-0/-home-user-Presentaciones-y-varios/903c1196-30c4-57a8-b469-52313f1ce01c/scratchpad/loretto/icons/handshake_1F3A5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50977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4892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 y entregas puntuales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5394960" y="530352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ya reconocido por los clientes en sus reseñas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929FB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quien ya vio Casa Outlet necesita confirmar que vale la pena comprar.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8" name="Image 0" descr="/tmp/claude-0/-home-user-Presentaciones-y-varios/903c1196-30c4-57a8-b469-52313f1ce01c/scratchpad/loretto/icons/star_929F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Reseñas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1" name="Image 1" descr="/tmp/claude-0/-home-user-Presentaciones-y-varios/903c1196-30c4-57a8-b469-52313f1ce01c/scratchpad/loretto/icons/handshake_929F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servicio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4" name="Image 2" descr="/tmp/claude-0/-home-user-Presentaciones-y-varios/903c1196-30c4-57a8-b469-52313f1ce01c/scratchpad/loretto/icons/sync_929F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interacción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7" name="Image 3" descr="/tmp/claude-0/-home-user-Presentaciones-y-varios/903c1196-30c4-57a8-b469-52313f1ce01c/scratchpad/loretto/icons/shield_929F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garantía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 social que ya existe, sin explotar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E8EAEE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loretto/icons/handshake_1F3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2811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15.000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96596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en Instagram, hoy sin ninguna campaña de remarketing activa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E8EAEE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6060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loretto/icons/star_1F3A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8117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Reseñas reales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5532120" y="28803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de clientes sobre atención y entregas puntuales, no usados como creativo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46304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5" name="Image 2" descr="/tmp/claude-0/-home-user-Presentaciones-y-varios/903c1196-30c4-57a8-b469-52313f1ce01c/scratchpad/loretto/icons/eye_1F3A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9834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456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anuncio</a:t>
            </a:r>
            <a:endParaRPr lang="en-US" sz="1300" dirty="0"/>
          </a:p>
        </p:txBody>
      </p:sp>
      <p:pic>
        <p:nvPicPr>
          <p:cNvPr id="17" name="Image 3" descr="/tmp/claude-0/-home-user-Presentaciones-y-varios/903c1196-30c4-57a8-b469-52313f1ce01c/scratchpad/loretto/icons/arrowRight_1F3A5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50749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1772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19" name="Image 4" descr="/tmp/claude-0/-home-user-Presentaciones-y-varios/903c1196-30c4-57a8-b469-52313f1ce01c/scratchpad/loretto/icons/filter_1F3A5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983480"/>
            <a:ext cx="411480" cy="4114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300" dirty="0"/>
          </a:p>
        </p:txBody>
      </p:sp>
      <p:pic>
        <p:nvPicPr>
          <p:cNvPr id="21" name="Image 5" descr="/tmp/claude-0/-home-user-Presentaciones-y-varios/903c1196-30c4-57a8-b469-52313f1ce01c/scratchpad/loretto/icons/arrowRight_1F3A5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5074920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772400" y="457200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6F4F2"/>
          </a:solidFill>
          <a:ln w="12700">
            <a:solidFill>
              <a:srgbClr val="E4E3DF"/>
            </a:solidFill>
            <a:prstDash val="solid"/>
          </a:ln>
        </p:spPr>
      </p:sp>
      <p:pic>
        <p:nvPicPr>
          <p:cNvPr id="23" name="Image 6" descr="/tmp/claude-0/-home-user-Presentaciones-y-varios/903c1196-30c4-57a8-b469-52313f1ce01c/scratchpad/loretto/icons/shield_1F3A5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4983480"/>
            <a:ext cx="411480" cy="4114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503920" y="457200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 de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social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929FB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convertir el interés en una compra real de muebles o colchones.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8" name="Image 0" descr="/tmp/claude-0/-home-user-Presentaciones-y-varios/903c1196-30c4-57a8-b469-52313f1ce01c/scratchpad/loretto/icons/bag_929F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WhatsApp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1" name="Image 1" descr="/tmp/claude-0/-home-user-Presentaciones-y-varios/903c1196-30c4-57a8-b469-52313f1ce01c/scratchpad/loretto/icons/truck_929F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o recogida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punto de venta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4" name="Image 2" descr="/tmp/claude-0/-home-user-Presentaciones-y-varios/903c1196-30c4-57a8-b469-52313f1ce01c/scratchpad/loretto/icons/bottle_929F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producto o combo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7" name="Image 3" descr="/tmp/claude-0/-home-user-Presentaciones-y-varios/903c1196-30c4-57a8-b469-52313f1ce01c/scratchpad/loretto/icons/route_929F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precisión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CONVERSIÓN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intención a la compra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público, dos formas de pedirle que actúe.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GENÉRICO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“Visítanos esta semana”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ocasión específica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urgencia real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público para todos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074920" cy="3840480"/>
          </a:xfrm>
          <a:prstGeom prst="roundRect">
            <a:avLst>
              <a:gd name="adj" fmla="val 1905"/>
            </a:avLst>
          </a:prstGeom>
          <a:solidFill>
            <a:srgbClr val="18132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3774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POR OCASIÓN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7889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“Arma tu cuarto con el Combo Colchón + Base Casa Outlet”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7033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Ocasión y audiencia específicas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4206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y cupo con urgencia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47091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anuncio por tipo de producto o combo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04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77240" y="1440180"/>
            <a:ext cx="1051560" cy="1051560"/>
          </a:xfrm>
          <a:prstGeom prst="ellipse">
            <a:avLst/>
          </a:prstGeom>
          <a:solidFill>
            <a:srgbClr val="929FB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401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8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680" dirty="0"/>
          </a:p>
        </p:txBody>
      </p:sp>
      <p:sp>
        <p:nvSpPr>
          <p:cNvPr id="5" name="Text 3"/>
          <p:cNvSpPr/>
          <p:nvPr/>
        </p:nvSpPr>
        <p:spPr>
          <a:xfrm>
            <a:off x="2148840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167128" y="214884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que una compra sea el inicio de amoblar toda la casa.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714500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8" name="Image 0" descr="/tmp/claude-0/-home-user-Presentaciones-y-varios/903c1196-30c4-57a8-b469-52313f1ce01c/scratchpad/loretto/icons/sync_929F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8119" y="399409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temporada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5132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1" name="Image 1" descr="/tmp/claude-0/-home-user-Presentaciones-y-varios/903c1196-30c4-57a8-b469-52313f1ce01c/scratchpad/loretto/icons/bag_929F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8751" y="39940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mueble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colchón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255764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4" name="Image 2" descr="/tmp/claude-0/-home-user-Presentaciones-y-varios/903c1196-30c4-57a8-b469-52313f1ce01c/scratchpad/loretto/icons/heart_929F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383" y="3994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18504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anteriores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10026396" y="384048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7" name="Image 3" descr="/tmp/claude-0/-home-user-Presentaciones-y-varios/903c1196-30c4-57a8-b469-52313f1ce01c/scratchpad/loretto/icons/building_929F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0015" y="399409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9136" y="461772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Colombia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ASCENSIÓN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una compra a una casa completamente amoblada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PRINCIPIO: LIFETIME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834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compra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que llega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una campaña puntual</a:t>
            </a:r>
            <a:endParaRPr lang="en-US" sz="1150" dirty="0"/>
          </a:p>
        </p:txBody>
      </p:sp>
      <p:pic>
        <p:nvPicPr>
          <p:cNvPr id="8" name="Image 0" descr="/tmp/claude-0/-home-user-Presentaciones-y-varios/903c1196-30c4-57a8-b469-52313f1ce01c/scratchpad/loretto/icons/arrowRight_1F3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3832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09360" y="2606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181321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recurrente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37960" y="33832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por su próximo mueble y recomienda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Outlet a familiares y amigos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90525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6F4F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7957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/tmp/claude-0/-home-user-Presentaciones-y-varios/903c1196-30c4-57a8-b469-52313f1ce01c/scratchpad/loretto/icons/sync_1F3A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33" y="509663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86537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etapas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55701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8EAEE"/>
          </a:solidFill>
          <a:ln/>
        </p:spPr>
      </p:sp>
      <p:sp>
        <p:nvSpPr>
          <p:cNvPr id="17" name="Shape 13"/>
          <p:cNvSpPr/>
          <p:nvPr/>
        </p:nvSpPr>
        <p:spPr>
          <a:xfrm>
            <a:off x="383133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claude-0/-home-user-Presentaciones-y-varios/903c1196-30c4-57a8-b469-52313f1ce01c/scratchpad/loretto/icons/bag_1F3A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93" y="5096637"/>
            <a:ext cx="276606" cy="2766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1713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mueble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colchón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0877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6F4F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8309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tmp/claude-0/-home-user-Presentaciones-y-varios/903c1196-30c4-57a8-b469-52313f1ce01c/scratchpad/loretto/icons/thumbsup_1F3A5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253" y="5096637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6889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 de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860536" y="47091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8EAEE"/>
          </a:solidFill>
          <a:ln/>
        </p:spPr>
      </p:sp>
      <p:sp>
        <p:nvSpPr>
          <p:cNvPr id="25" name="Shape 19"/>
          <p:cNvSpPr/>
          <p:nvPr/>
        </p:nvSpPr>
        <p:spPr>
          <a:xfrm>
            <a:off x="9134856" y="4983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tmp/claude-0/-home-user-Presentaciones-y-varios/903c1196-30c4-57a8-b469-52313f1ce01c/scratchpad/loretto/icons/building_1F3A5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013" y="509663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0656" y="47091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Colombia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CONSOLIDACIÓN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completo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etapa funciona sola. El valor está en la conexión.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2606040"/>
            <a:ext cx="1234440" cy="1234440"/>
          </a:xfrm>
          <a:prstGeom prst="ellipse">
            <a:avLst/>
          </a:prstGeom>
          <a:solidFill>
            <a:srgbClr val="0D1929"/>
          </a:solidFill>
          <a:ln w="19050">
            <a:solidFill>
              <a:srgbClr val="929FB1"/>
            </a:solidFill>
            <a:prstDash val="solid"/>
          </a:ln>
        </p:spPr>
      </p:sp>
      <p:pic>
        <p:nvPicPr>
          <p:cNvPr id="6" name="Image 0" descr="/tmp/claude-0/-home-user-Presentaciones-y-varios/903c1196-30c4-57a8-b469-52313f1ce01c/scratchpad/loretto/icons/eye_929F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6212" y="29763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500" dirty="0"/>
          </a:p>
        </p:txBody>
      </p:sp>
      <p:pic>
        <p:nvPicPr>
          <p:cNvPr id="9" name="Image 1" descr="/tmp/claude-0/-home-user-Presentaciones-y-varios/903c1196-30c4-57a8-b469-52313f1ce01c/scratchpad/loretto/icons/arrowRight_929F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3095244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77640" y="2606040"/>
            <a:ext cx="1234440" cy="1234440"/>
          </a:xfrm>
          <a:prstGeom prst="ellipse">
            <a:avLst/>
          </a:prstGeom>
          <a:solidFill>
            <a:srgbClr val="0D1929"/>
          </a:solidFill>
          <a:ln w="19050">
            <a:solidFill>
              <a:srgbClr val="929FB1"/>
            </a:solidFill>
            <a:prstDash val="solid"/>
          </a:ln>
        </p:spPr>
      </p:sp>
      <p:pic>
        <p:nvPicPr>
          <p:cNvPr id="11" name="Image 2" descr="/tmp/claude-0/-home-user-Presentaciones-y-varios/903c1196-30c4-57a8-b469-52313f1ce01c/scratchpad/loretto/icons/star_929F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972" y="297637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2900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42900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500" dirty="0"/>
          </a:p>
        </p:txBody>
      </p:sp>
      <p:pic>
        <p:nvPicPr>
          <p:cNvPr id="14" name="Image 3" descr="/tmp/claude-0/-home-user-Presentaciones-y-varios/903c1196-30c4-57a8-b469-52313f1ce01c/scratchpad/loretto/icons/arrowRight_929F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3095244"/>
            <a:ext cx="246888" cy="24688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629400" y="2606040"/>
            <a:ext cx="1234440" cy="1234440"/>
          </a:xfrm>
          <a:prstGeom prst="ellipse">
            <a:avLst/>
          </a:prstGeom>
          <a:solidFill>
            <a:srgbClr val="0D1929"/>
          </a:solidFill>
          <a:ln w="19050">
            <a:solidFill>
              <a:srgbClr val="929FB1"/>
            </a:solidFill>
            <a:prstDash val="solid"/>
          </a:ln>
        </p:spPr>
      </p:sp>
      <p:pic>
        <p:nvPicPr>
          <p:cNvPr id="16" name="Image 4" descr="/tmp/claude-0/-home-user-Presentaciones-y-varios/903c1196-30c4-57a8-b469-52313f1ce01c/scratchpad/loretto/icons/bag_929FB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32" y="2976372"/>
            <a:ext cx="493776" cy="4937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8076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608076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Conversión</a:t>
            </a:r>
            <a:endParaRPr lang="en-US" sz="1500" dirty="0"/>
          </a:p>
        </p:txBody>
      </p:sp>
      <p:pic>
        <p:nvPicPr>
          <p:cNvPr id="19" name="Image 5" descr="/tmp/claude-0/-home-user-Presentaciones-y-varios/903c1196-30c4-57a8-b469-52313f1ce01c/scratchpad/loretto/icons/arrowRight_929FB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3095244"/>
            <a:ext cx="246888" cy="24688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281160" y="2606040"/>
            <a:ext cx="1234440" cy="1234440"/>
          </a:xfrm>
          <a:prstGeom prst="ellipse">
            <a:avLst/>
          </a:prstGeom>
          <a:solidFill>
            <a:srgbClr val="0D1929"/>
          </a:solidFill>
          <a:ln w="19050">
            <a:solidFill>
              <a:srgbClr val="929FB1"/>
            </a:solidFill>
            <a:prstDash val="solid"/>
          </a:ln>
        </p:spPr>
      </p:sp>
      <p:pic>
        <p:nvPicPr>
          <p:cNvPr id="21" name="Image 6" descr="/tmp/claude-0/-home-user-Presentaciones-y-varios/903c1196-30c4-57a8-b469-52313f1ce01c/scratchpad/loretto/icons/sync_929FB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492" y="2976372"/>
            <a:ext cx="493776" cy="49377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732520" y="3950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14"/>
          <p:cNvSpPr/>
          <p:nvPr/>
        </p:nvSpPr>
        <p:spPr>
          <a:xfrm>
            <a:off x="8732520" y="42245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Ascensión</a:t>
            </a:r>
            <a:endParaRPr lang="en-US" sz="1500" dirty="0"/>
          </a:p>
        </p:txBody>
      </p:sp>
      <p:sp>
        <p:nvSpPr>
          <p:cNvPr id="24" name="Shape 15"/>
          <p:cNvSpPr/>
          <p:nvPr/>
        </p:nvSpPr>
        <p:spPr>
          <a:xfrm>
            <a:off x="2103120" y="4800600"/>
            <a:ext cx="7955280" cy="868680"/>
          </a:xfrm>
          <a:prstGeom prst="roundRect">
            <a:avLst>
              <a:gd name="adj" fmla="val 10526"/>
            </a:avLst>
          </a:prstGeom>
          <a:solidFill>
            <a:srgbClr val="0D1929"/>
          </a:solidFill>
          <a:ln/>
        </p:spPr>
      </p:sp>
      <p:sp>
        <p:nvSpPr>
          <p:cNvPr id="25" name="Shape 16"/>
          <p:cNvSpPr/>
          <p:nvPr/>
        </p:nvSpPr>
        <p:spPr>
          <a:xfrm>
            <a:off x="2377440" y="4960620"/>
            <a:ext cx="548640" cy="54864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26" name="Image 7" descr="/tmp/claude-0/-home-user-Presentaciones-y-varios/903c1196-30c4-57a8-b469-52313f1ce01c/scratchpad/loretto/icons/sync_929FB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884" y="5084064"/>
            <a:ext cx="301752" cy="30175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154680" y="4800600"/>
            <a:ext cx="6720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repite: quien vuelve a comprar entra de nuevo por evaluación en su próxima ocasión.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RAZONAMIENTO ECONÓMICO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lógica de negocio detrás del sistema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claude-0/-home-user-Presentaciones-y-varios/903c1196-30c4-57a8-b469-52313f1ce01c/scratchpad/loretto/icons/dollar_1F3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42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costo por cliente en el tiempo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Reimpactar a quien ya conoce Casa Outlet cuesta menos que conseguir a alguien nuevo.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10" name="Shape 7"/>
          <p:cNvSpPr/>
          <p:nvPr/>
        </p:nvSpPr>
        <p:spPr>
          <a:xfrm>
            <a:off x="587502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tmp/claude-0/-home-user-Presentaciones-y-varios/903c1196-30c4-57a8-b469-52313f1ce01c/scratchpad/loretto/icons/sync_1F3A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frecuencia de compra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80060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Amoblar una casa es un proceso por etapas: cada reactivación suma una nueva compra.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21488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6F4F2"/>
          </a:solidFill>
          <a:ln/>
        </p:spPr>
      </p:sp>
      <p:sp>
        <p:nvSpPr>
          <p:cNvPr id="15" name="Shape 11"/>
          <p:cNvSpPr/>
          <p:nvPr/>
        </p:nvSpPr>
        <p:spPr>
          <a:xfrm>
            <a:off x="9715500" y="24688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tmp/claude-0/-home-user-Presentaciones-y-varios/903c1196-30c4-57a8-b469-52313f1ce01c/scratchpad/loretto/icons/bag_1F3A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2651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3832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ticket promedio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641080" y="416052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combos y productos premium se ofrecen a quien ya confía en la marca.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promete resultados garantizados. Reduce la dependencia de conseguir clientes nuevos cada vez y aumenta el valor de los que ya se ganaron.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DEL 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oportunidades que hoy Casa Outlet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dejando sobre la mesa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929384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6" name="Image 0" descr="/tmp/claude-0/-home-user-Presentaciones-y-varios/903c1196-30c4-57a8-b469-52313f1ce01c/scratchpad/loretto/icons/video_929FB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862" y="2032254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Reestructurar los 3 anuncios activos en las 4 etapas del sistema, hoy sin ningún objetivo definido.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9" name="Shape 6"/>
          <p:cNvSpPr/>
          <p:nvPr/>
        </p:nvSpPr>
        <p:spPr>
          <a:xfrm>
            <a:off x="6656832" y="1929384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10" name="Image 1" descr="/tmp/claude-0/-home-user-Presentaciones-y-varios/903c1196-30c4-57a8-b469-52313f1ce01c/scratchpad/loretto/icons/handshake_929F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702" y="2032254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3794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remarketing sobre los 15.000 seguidores de Instagram, hoy sin ninguna campaña de reimpacto.</a:t>
            </a:r>
            <a:endParaRPr lang="en-US" sz="1020" dirty="0"/>
          </a:p>
        </p:txBody>
      </p:sp>
      <p:sp>
        <p:nvSpPr>
          <p:cNvPr id="12" name="Shape 8"/>
          <p:cNvSpPr/>
          <p:nvPr/>
        </p:nvSpPr>
        <p:spPr>
          <a:xfrm>
            <a:off x="64008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13" name="Shape 9"/>
          <p:cNvSpPr/>
          <p:nvPr/>
        </p:nvSpPr>
        <p:spPr>
          <a:xfrm>
            <a:off x="1078992" y="2825496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14" name="Image 2" descr="/tmp/claude-0/-home-user-Presentaciones-y-varios/903c1196-30c4-57a8-b469-52313f1ce01c/scratchpad/loretto/icons/bottle_929F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862" y="2928366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las reseñas reales sobre atención y entregas puntuales en creativos de prueba social.</a:t>
            </a:r>
            <a:endParaRPr lang="en-US" sz="1020" dirty="0"/>
          </a:p>
        </p:txBody>
      </p:sp>
      <p:sp>
        <p:nvSpPr>
          <p:cNvPr id="16" name="Shape 11"/>
          <p:cNvSpPr/>
          <p:nvPr/>
        </p:nvSpPr>
        <p:spPr>
          <a:xfrm>
            <a:off x="6217920" y="267919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17" name="Shape 12"/>
          <p:cNvSpPr/>
          <p:nvPr/>
        </p:nvSpPr>
        <p:spPr>
          <a:xfrm>
            <a:off x="6656832" y="2825496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18" name="Image 3" descr="/tmp/claude-0/-home-user-Presentaciones-y-varios/903c1196-30c4-57a8-b469-52313f1ce01c/scratchpad/loretto/icons/truck_929FB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702" y="2928366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273405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público de clientes con más de 90 días sin comprar, para campañas de reactivación.</a:t>
            </a:r>
            <a:endParaRPr lang="en-US" sz="1020" dirty="0"/>
          </a:p>
        </p:txBody>
      </p:sp>
      <p:sp>
        <p:nvSpPr>
          <p:cNvPr id="20" name="Shape 14"/>
          <p:cNvSpPr/>
          <p:nvPr/>
        </p:nvSpPr>
        <p:spPr>
          <a:xfrm>
            <a:off x="64008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21" name="Shape 15"/>
          <p:cNvSpPr/>
          <p:nvPr/>
        </p:nvSpPr>
        <p:spPr>
          <a:xfrm>
            <a:off x="1078992" y="3721608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22" name="Image 4" descr="/tmp/claude-0/-home-user-Presentaciones-y-varios/903c1196-30c4-57a8-b469-52313f1ce01c/scratchpad/loretto/icons/fruit_929FB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862" y="3824478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Anunciar la variedad de muebles de sala y comedor, hoy ausente en la pauta activa.</a:t>
            </a:r>
            <a:endParaRPr lang="en-US" sz="1020" dirty="0"/>
          </a:p>
        </p:txBody>
      </p:sp>
      <p:sp>
        <p:nvSpPr>
          <p:cNvPr id="24" name="Shape 17"/>
          <p:cNvSpPr/>
          <p:nvPr/>
        </p:nvSpPr>
        <p:spPr>
          <a:xfrm>
            <a:off x="6217920" y="357530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25" name="Shape 18"/>
          <p:cNvSpPr/>
          <p:nvPr/>
        </p:nvSpPr>
        <p:spPr>
          <a:xfrm>
            <a:off x="6656832" y="3721608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26" name="Image 5" descr="/tmp/claude-0/-home-user-Presentaciones-y-varios/903c1196-30c4-57a8-b469-52313f1ce01c/scratchpad/loretto/icons/chart_929FB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702" y="3824478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36301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tráfico al catálogo de casaoutlet.com.co, hoy sin ningún anuncio dirigido al sitio.</a:t>
            </a:r>
            <a:endParaRPr lang="en-US" sz="1020" dirty="0"/>
          </a:p>
        </p:txBody>
      </p:sp>
      <p:sp>
        <p:nvSpPr>
          <p:cNvPr id="28" name="Shape 20"/>
          <p:cNvSpPr/>
          <p:nvPr/>
        </p:nvSpPr>
        <p:spPr>
          <a:xfrm>
            <a:off x="64008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29" name="Shape 21"/>
          <p:cNvSpPr/>
          <p:nvPr/>
        </p:nvSpPr>
        <p:spPr>
          <a:xfrm>
            <a:off x="1078992" y="4617720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30" name="Image 6" descr="/tmp/claude-0/-home-user-Presentaciones-y-varios/903c1196-30c4-57a8-b469-52313f1ce01c/scratchpad/loretto/icons/building_929FB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862" y="4720590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públicos personalizados en otras ciudades de Colombia antes de invertir, usando el perfil validado en Cali.</a:t>
            </a:r>
            <a:endParaRPr lang="en-US" sz="1020" dirty="0"/>
          </a:p>
        </p:txBody>
      </p:sp>
      <p:sp>
        <p:nvSpPr>
          <p:cNvPr id="32" name="Shape 23"/>
          <p:cNvSpPr/>
          <p:nvPr/>
        </p:nvSpPr>
        <p:spPr>
          <a:xfrm>
            <a:off x="6217920" y="447141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33" name="Shape 24"/>
          <p:cNvSpPr/>
          <p:nvPr/>
        </p:nvSpPr>
        <p:spPr>
          <a:xfrm>
            <a:off x="6656832" y="4617720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34" name="Image 7" descr="/tmp/claude-0/-home-user-Presentaciones-y-varios/903c1196-30c4-57a8-b469-52313f1ce01c/scratchpad/loretto/icons/sync_929FB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702" y="4720590"/>
            <a:ext cx="251460" cy="2514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86600" y="452628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video del showroom como ancla de autoridad en las campañas de descubrimiento.</a:t>
            </a:r>
            <a:endParaRPr lang="en-US" sz="1020" dirty="0"/>
          </a:p>
        </p:txBody>
      </p:sp>
      <p:sp>
        <p:nvSpPr>
          <p:cNvPr id="36" name="Shape 26"/>
          <p:cNvSpPr/>
          <p:nvPr/>
        </p:nvSpPr>
        <p:spPr>
          <a:xfrm>
            <a:off x="64008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37" name="Shape 27"/>
          <p:cNvSpPr/>
          <p:nvPr/>
        </p:nvSpPr>
        <p:spPr>
          <a:xfrm>
            <a:off x="1078992" y="5513832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38" name="Image 8" descr="/tmp/claude-0/-home-user-Presentaciones-y-varios/903c1196-30c4-57a8-b469-52313f1ce01c/scratchpad/loretto/icons/bag_929FB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81862" y="5616702"/>
            <a:ext cx="251460" cy="25146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50876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público personalizado por cercanía al punto de venta en Nueva Tequendama.</a:t>
            </a:r>
            <a:endParaRPr lang="en-US" sz="1020" dirty="0"/>
          </a:p>
        </p:txBody>
      </p:sp>
      <p:sp>
        <p:nvSpPr>
          <p:cNvPr id="40" name="Shape 29"/>
          <p:cNvSpPr/>
          <p:nvPr/>
        </p:nvSpPr>
        <p:spPr>
          <a:xfrm>
            <a:off x="6217920" y="536752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0D1929"/>
          </a:solidFill>
          <a:ln/>
        </p:spPr>
      </p:sp>
      <p:sp>
        <p:nvSpPr>
          <p:cNvPr id="41" name="Shape 30"/>
          <p:cNvSpPr/>
          <p:nvPr/>
        </p:nvSpPr>
        <p:spPr>
          <a:xfrm>
            <a:off x="6656832" y="5513832"/>
            <a:ext cx="457200" cy="457200"/>
          </a:xfrm>
          <a:prstGeom prst="ellipse">
            <a:avLst/>
          </a:prstGeom>
          <a:solidFill>
            <a:srgbClr val="112035"/>
          </a:solidFill>
          <a:ln/>
        </p:spPr>
      </p:sp>
      <p:pic>
        <p:nvPicPr>
          <p:cNvPr id="42" name="Image 9" descr="/tmp/claude-0/-home-user-Presentaciones-y-varios/903c1196-30c4-57a8-b469-52313f1ce01c/scratchpad/loretto/icons/shield_929FB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9702" y="5616702"/>
            <a:ext cx="251460" cy="25146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7086600" y="54223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oferta de Combo Colchón + Base como producto ancla de conversión.</a:t>
            </a:r>
            <a:endParaRPr lang="en-US" sz="1020" dirty="0"/>
          </a:p>
        </p:txBody>
      </p:sp>
      <p:sp>
        <p:nvSpPr>
          <p:cNvPr id="4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primeros 3 meses: mes a 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activamos cada etapa con el producto protagonista de cada mes en Casa Outlet.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claude-0/-home-user-Presentaciones-y-varios/903c1196-30c4-57a8-b469-52313f1ce01c/scratchpad/loretto/icons/bottle_1F3A5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25831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8308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Descubrimiento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6012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Camas y colchones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60120" y="402336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showroom y la variedad de camas y colchones</a:t>
            </a:r>
            <a:endParaRPr lang="en-US" sz="1030" dirty="0"/>
          </a:p>
        </p:txBody>
      </p:sp>
      <p:sp>
        <p:nvSpPr>
          <p:cNvPr id="14" name="Text 11"/>
          <p:cNvSpPr/>
          <p:nvPr/>
        </p:nvSpPr>
        <p:spPr>
          <a:xfrm>
            <a:off x="96012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reconocimiento dirigidas a Cali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96012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remarketing desde quienes interactúan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448056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181321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0" y="2423160"/>
            <a:ext cx="640080" cy="640080"/>
          </a:xfrm>
          <a:prstGeom prst="ellipse">
            <a:avLst/>
          </a:prstGeom>
          <a:solidFill>
            <a:srgbClr val="0D1929"/>
          </a:solidFill>
          <a:ln/>
        </p:spPr>
      </p:sp>
      <p:pic>
        <p:nvPicPr>
          <p:cNvPr id="18" name="Image 1" descr="/tmp/claude-0/-home-user-Presentaciones-y-varios/903c1196-30c4-57a8-b469-52313f1ce01c/scratchpad/loretto/icons/shield_929FB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25831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62356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62356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Confianza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80060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+ arranque de Conversión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0060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Colchón + Base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800600" y="4023360"/>
            <a:ext cx="2880360" cy="0"/>
          </a:xfrm>
          <a:prstGeom prst="line">
            <a:avLst/>
          </a:prstGeom>
          <a:noFill/>
          <a:ln w="12700">
            <a:solidFill>
              <a:srgbClr val="15284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0060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reseñas reales y el respaldo de servicio como creativo</a:t>
            </a:r>
            <a:endParaRPr lang="en-US" sz="1030" dirty="0"/>
          </a:p>
        </p:txBody>
      </p:sp>
      <p:sp>
        <p:nvSpPr>
          <p:cNvPr id="25" name="Text 21"/>
          <p:cNvSpPr/>
          <p:nvPr/>
        </p:nvSpPr>
        <p:spPr>
          <a:xfrm>
            <a:off x="480060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con pedido directo por WhatsApp</a:t>
            </a:r>
            <a:endParaRPr lang="en-US" sz="1030" dirty="0"/>
          </a:p>
        </p:txBody>
      </p:sp>
      <p:sp>
        <p:nvSpPr>
          <p:cNvPr id="26" name="Text 22"/>
          <p:cNvSpPr/>
          <p:nvPr/>
        </p:nvSpPr>
        <p:spPr>
          <a:xfrm>
            <a:off x="480060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pedidos y mensajes activo</a:t>
            </a:r>
            <a:endParaRPr lang="en-US" sz="1030" dirty="0"/>
          </a:p>
        </p:txBody>
      </p:sp>
      <p:sp>
        <p:nvSpPr>
          <p:cNvPr id="27" name="Shape 23"/>
          <p:cNvSpPr/>
          <p:nvPr/>
        </p:nvSpPr>
        <p:spPr>
          <a:xfrm>
            <a:off x="8321040" y="214884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28" name="Shape 24"/>
          <p:cNvSpPr/>
          <p:nvPr/>
        </p:nvSpPr>
        <p:spPr>
          <a:xfrm>
            <a:off x="8686800" y="2423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/tmp/claude-0/-home-user-Presentaciones-y-varios/903c1196-30c4-57a8-b469-52313f1ce01c/scratchpad/loretto/icons/rocket_1F3A5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820" y="2583180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464040" y="2423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9464040" y="26791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Consolidación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864108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escalada + arranque de Ascensión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8641080" y="36118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protagonista: </a:t>
            </a:r>
            <a:pPr indent="0" marL="0">
              <a:buNone/>
            </a:pPr>
            <a:r>
              <a:rPr lang="en-US" sz="105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Muebles de sala y comedor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8641080" y="4023360"/>
            <a:ext cx="288036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641080" y="416052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escalan las campañas de conversión con mejor desempeño</a:t>
            </a:r>
            <a:endParaRPr lang="en-US" sz="1030" dirty="0"/>
          </a:p>
        </p:txBody>
      </p:sp>
      <p:sp>
        <p:nvSpPr>
          <p:cNvPr id="36" name="Text 31"/>
          <p:cNvSpPr/>
          <p:nvPr/>
        </p:nvSpPr>
        <p:spPr>
          <a:xfrm>
            <a:off x="8641080" y="481888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muebles de sala y comedor como oferta principal para subir el ticket</a:t>
            </a:r>
            <a:endParaRPr lang="en-US" sz="1030" dirty="0"/>
          </a:p>
        </p:txBody>
      </p:sp>
      <p:sp>
        <p:nvSpPr>
          <p:cNvPr id="37" name="Text 32"/>
          <p:cNvSpPr/>
          <p:nvPr/>
        </p:nvSpPr>
        <p:spPr>
          <a:xfrm>
            <a:off x="8641080" y="54772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03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público de recompra para clientes ya adquiridos</a:t>
            </a:r>
            <a:endParaRPr lang="en-US" sz="1030" dirty="0"/>
          </a:p>
        </p:txBody>
      </p:sp>
      <p:sp>
        <p:nvSpPr>
          <p:cNvPr id="38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TRABAJO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semana a semana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ejecución detrás de cada 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233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la cuenta y de los 3 anuncios activos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2257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E8EAEE"/>
          </a:solidFill>
          <a:ln/>
        </p:spPr>
      </p:sp>
      <p:sp>
        <p:nvSpPr>
          <p:cNvPr id="9" name="Text 7"/>
          <p:cNvSpPr/>
          <p:nvPr/>
        </p:nvSpPr>
        <p:spPr>
          <a:xfrm>
            <a:off x="245973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3-4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8716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campañas de Presentación — camas y colchones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4281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12" name="Text 10"/>
          <p:cNvSpPr/>
          <p:nvPr/>
        </p:nvSpPr>
        <p:spPr>
          <a:xfrm>
            <a:off x="437997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5-6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0740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y prueba social — reseñas y respaldo de servicio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E8EAEE"/>
          </a:solidFill>
          <a:ln/>
        </p:spPr>
      </p:sp>
      <p:sp>
        <p:nvSpPr>
          <p:cNvPr id="15" name="Text 13"/>
          <p:cNvSpPr/>
          <p:nvPr/>
        </p:nvSpPr>
        <p:spPr>
          <a:xfrm>
            <a:off x="630021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7-8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campañas de Conversión — pedido por WhatsApp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8329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F6F4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045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9-10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4788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 campañas ganadoras — muebles de sala y comedor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003536" y="2377440"/>
            <a:ext cx="1783080" cy="2286000"/>
          </a:xfrm>
          <a:prstGeom prst="roundRect">
            <a:avLst>
              <a:gd name="adj" fmla="val 4103"/>
            </a:avLst>
          </a:prstGeom>
          <a:solidFill>
            <a:srgbClr val="1F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0140696" y="2606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11-12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168128" y="3063240"/>
            <a:ext cx="14538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C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de Ascensión: primer público de recompra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del mes 3, el sistema completo está activo: descubrimiento, confianza, conversión y las primeras señales de recompra.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necesita para activar el sistema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líneas de inversión, independientes entre sí.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6F4F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04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 DE GESTIÓN ESTRATÉGICA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A 3 · PRECIO DE LANZAMIENTO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$950.000</a:t>
            </a:r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005840" y="3840480"/>
            <a:ext cx="4343400" cy="0"/>
          </a:xfrm>
          <a:prstGeom prst="line">
            <a:avLst/>
          </a:prstGeom>
          <a:noFill/>
          <a:ln w="12700">
            <a:solidFill>
              <a:srgbClr val="E4E3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050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MES 4 · TARIFA FULL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2793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$1.300.000</a:t>
            </a:r>
            <a:pPr indent="0" marL="0">
              <a:buNone/>
            </a:pPr>
            <a:r>
              <a:rPr lang="en-US" sz="1500" dirty="0">
                <a:solidFill>
                  <a:srgbClr val="6B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005840" y="49194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estrategia, diseño de campañas, gestión y optimización continua de las 4 etapas del sistema.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11680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18132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30428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DE PAUTA EN META ADS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AC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RECOMENDADO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37960" y="31089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$1.500.000</a:t>
            </a:r>
            <a:pPr indent="0" marL="0">
              <a:buNone/>
            </a:pPr>
            <a:r>
              <a:rPr lang="en-US" sz="1500" dirty="0">
                <a:solidFill>
                  <a:srgbClr val="AC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/mes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6537960" y="3840480"/>
            <a:ext cx="4343400" cy="0"/>
          </a:xfrm>
          <a:prstGeom prst="line">
            <a:avLst/>
          </a:prstGeom>
          <a:noFill/>
          <a:ln w="12700">
            <a:solidFill>
              <a:srgbClr val="1426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977640"/>
            <a:ext cx="4343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invierte 100% en la plataforma de Meta. Financia el alcance, la evaluación, la conversión y la reactivación de clientes en las 4 etapas del sistema.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8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honorarios cubren la estrategia y la ejecución; el presupuesto de pauta pertenece 100% a Casa Outlet y se administra directamente dentro de la cuenta publicitaria.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29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SIGUIENTE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 más promociones sueltas.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sistema de ventas para cada mueble y cada colchón.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929FB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77724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cuenta y de los 3 anuncios activos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técnica de la configuración actual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3520440"/>
            <a:ext cx="548640" cy="548640"/>
          </a:xfrm>
          <a:prstGeom prst="ellipse">
            <a:avLst/>
          </a:prstGeom>
          <a:solidFill>
            <a:srgbClr val="929FB1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20" dirty="0"/>
          </a:p>
        </p:txBody>
      </p:sp>
      <p:sp>
        <p:nvSpPr>
          <p:cNvPr id="10" name="Text 8"/>
          <p:cNvSpPr/>
          <p:nvPr/>
        </p:nvSpPr>
        <p:spPr>
          <a:xfrm>
            <a:off x="448056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las 4 campañas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Presentación, Evaluación, Conversión, Ascensión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3520440"/>
            <a:ext cx="548640" cy="548640"/>
          </a:xfrm>
          <a:prstGeom prst="ellipse">
            <a:avLst/>
          </a:prstGeom>
          <a:solidFill>
            <a:srgbClr val="929FB1"/>
          </a:solidFill>
          <a:ln/>
        </p:spPr>
      </p:sp>
      <p:sp>
        <p:nvSpPr>
          <p:cNvPr id="13" name="Text 11"/>
          <p:cNvSpPr/>
          <p:nvPr/>
        </p:nvSpPr>
        <p:spPr>
          <a:xfrm>
            <a:off x="818388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20" b="1" dirty="0">
                <a:solidFill>
                  <a:srgbClr val="181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20" dirty="0"/>
          </a:p>
        </p:txBody>
      </p:sp>
      <p:sp>
        <p:nvSpPr>
          <p:cNvPr id="14" name="Text 12"/>
          <p:cNvSpPr/>
          <p:nvPr/>
        </p:nvSpPr>
        <p:spPr>
          <a:xfrm>
            <a:off x="818388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Activación en Cali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83880" y="4937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base para expandir a toda Colombia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7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Casa Outlet - Estrategia Meta Ads</dc:title>
  <dc:subject>Casa Outlet - Estrategia Meta Ads</dc:subject>
  <dc:creator>PptxGenJS</dc:creator>
  <cp:lastModifiedBy>PptxGenJS</cp:lastModifiedBy>
  <cp:revision>1</cp:revision>
  <dcterms:created xsi:type="dcterms:W3CDTF">2026-08-06T01:01:13Z</dcterms:created>
  <dcterms:modified xsi:type="dcterms:W3CDTF">2026-08-06T01:01:14Z</dcterms:modified>
</cp:coreProperties>
</file>