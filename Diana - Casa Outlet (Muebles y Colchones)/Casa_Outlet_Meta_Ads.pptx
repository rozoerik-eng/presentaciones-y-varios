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Presentar el marco general antes de entrar al diagnóstico.
MENSAJE PRINCIPAL: Esta es una estrategia comercial completa para Casa Outlet, no una tanda de promociones.
QUÉ EXPLICAR: Portada de apertura; da paso al diagnóstico del estado actual de la cuenta.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Establecer el punto de partida real, reconociendo lo que ya existe antes de hablar de lo que falta.
MENSAJE PRINCIPAL: Casa Outlet ya tiene una marca reconocida en Cali, buen producto, buenos precios y una audiencia real en redes (15.000 seguidores en Instagram); lo que no tiene es un sistema de Meta Ads detrás de los 3 anuncios que corren hoy.
QUÉ EXPLICAR: Los 3 anuncios activos son promociones sueltas sin estructura, la audiencia en redes no tiene ningún sistema de remarketing detrás, y no existe ninguna etapa de decisión del cliente cubierta.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Cambiar el modelo mental de 'promociones sueltas' a 'sistema comercial'.
MENSAJE PRINCIPAL: El problema no es la calidad de las promociones; es la ausencia de arquitectura detrás de la inversión.
QUÉ EXPLICAR: Contrastar cómo operan hoy los 3 anuncios (tácticos, dispersos) frente a cómo debería operar un sistema de 4 etapas.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Presentar la metodología completa en una sola imagen antes de entrar en el detalle de cada etapa.
MENSAJE PRINCIPAL: Cada etapa cumple un rol distinto y prepara la siguiente; ninguna funciona aislada.
QUÉ EXPLICAR: Recorrer el journey completo: Presentación (descubrir Casa Outlet), Evaluación (confiar en el producto y el servicio), Conversión (comprar un mueble o colchón), Ascensión (volver por el próximo).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 DE LA ETAPA: Lograr que nuevas personas en Cali descubran Casa Outlet. Aquí no se vende, se despierta interés.
MENSAJE PRINCIPAL: En esta etapa no medimos pedidos; medimos alcance calificado en Cali, con miras a expandir a toda Colombia.
QUÉ EXPLICAR: Video del showroom mostrando camas y colchones; el buen precio como gancho; y que el éxito se mide en alcance, no en ventas inmediatas.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Dar profundidad al contenido creativo de la etapa 1.
MENSAJE PRINCIPAL: No se trata de un anuncio genérico de muebles, sino de piezas que cubren distintos ángulos de decisión.
QUÉ EXPLICAR: Recorrer cada pilar. Camas y colchones son la categoría más buscada y deben ser el ancla de descubrimiento; el buen precio es el diferenciador frente a otros outlets; la atención y las entregas puntuales ya son valoradas por los clientes en sus reseñas.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 DE LA ETAPA: Mover a quien ya conoce Casa Outlet hacia la intención de compra, resolviendo la duda natural sobre calidad y servicio.
MENSAJE PRINCIPAL: Casa Outlet ya tiene reseñas reales positivas; hoy no se usan en ningún anuncio.
QUÉ EXPLICAR: Se activa remarketing sobre quienes vieron los anuncios de la etapa 1. El contenido cambia hacia reseñas reales, respaldo de servicio y garantía del producto.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Mostrar una oportunidad concreta y medible que hoy no se aprovecha.
MENSAJE PRINCIPAL: Casa Outlet ya tiene una audiencia caliente construida por años (15.000 seguidores en Instagram) y reseñas reales positivas; hoy Meta Ads no las usa.
QUÉ EXPLICAR: Cómo se crean públicos personalizados a partir de quienes interactúan con Instagram, y cómo se les impacta con contenido de prueba social para moverlos hacia la etapa de conversión.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 DE LA ETAPA: Convertir el interés calificado en compras reales de muebles y colchones.
MENSAJE PRINCIPAL: En conversión no buscamos alcance, buscamos precisión: solo se invierte en quien ya mostró interés real.
QUÉ EXPLICAR: Las audiencias se restringen a quienes vieron videos o interactuaron con los anuncios de confianza. El CTA es directo: pedir por WhatsApp, recoger o pedir entrega en el punto de venta.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Mostrar el detalle táctico de optimización dentro de la etapa de conversión.
MENSAJE PRINCIPAL: Pequeños ajustes de oferta, ocasión y llamado a la acción mueven directamente la tasa de conversión.
QUÉ EXPLICAR: Ejemplo concreto: pasar de un anuncio genérico ('visítanos') a uno que nombra un combo específico (colchón + base) y genera urgencia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 DE LA ETAPA: Convertir una compra puntual en el inicio de amoblar toda la casa.
MENSAJE PRINCIPAL: La etapa más rentable del sistema es la que hoy no existe en la cuenta.
QUÉ EXPLICAR: Cómo construir públicos personalizados de clientes anteriores segmentados por tiempo desde la última compra, y cómo cada nueva necesidad del hogar se convierte en el gatillo de una campaña de reactivación.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Explicar el concepto de Lifetime Value aplicado a una tienda de muebles y colchones.
MENSAJE PRINCIPAL: No buscamos vender un mueble una vez; buscamos acompañar a Casa Outlet en todo el proceso de amoblar la casa.
QUÉ EXPLICAR: Cada gatillo (un nuevo mueble, un colchón de reemplazo, un referido, la expansión a otras ciudades) es una campaña de reactivación dirigida a un público ya construido en las etapas anteriores.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Consolidar la visión completa antes de pasar al cierre de negocio.
MENSAJE PRINCIPAL: El sistema es un ciclo, no una línea recta; el cliente que vuelve a comprar reingresa al ciclo en su siguiente ocasión.
QUÉ EXPLICAR: Cómo el dato de una etapa alimenta la audiencia de la siguiente. Reforzar que 3 anuncios sueltos no pueden sostener esta arquitectura.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Presentar el razonamiento económico del sistema sin prometer cifras específicas.
MENSAJE PRINCIPAL: El sistema reduce la dependencia de conseguir clientes nuevos cada vez y aumenta el valor de los que ya se ganaron.
QUÉ EXPLICAR: Por qué reimpactar cuesta menos que adquirir; por qué amoblar una casa es un proceso por etapas que sube la frecuencia de compra; por qué ofrecer combos y productos premium a la base existente sube el ticket promedio.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Cerrar el diagnóstico con impacto, mostrando la brecha concreta entre el potencial de la marca y la ejecución publicitaria actual.
MENSAJE PRINCIPAL: Cada oportunidad está fundamentada en información real de Casa Outlet (Instagram, reseñas, catálogo web), no en suposiciones.
QUÉ EXPLICAR: Recorrer brevemente cada oportunidad conectándola con la etapa del sistema a la que pertenece. Cerrar señalando que ninguna de estas 10 oportunidades requiere más presupuesto: requieren estructura.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Mostrar un plan de trabajo concreto para los primeros 3 meses, conectando cada mes con un producto protagonista.
MENSAJE PRINCIPAL: La metodología de las 4 etapas se activa de forma progresiva mes a mes, empezando por camas y colchones, siguiendo con el combo colchón + base, y cerrando con muebles de sala y comedor.
QUÉ EXPLICAR: Mes 1 da a conocer camas y colchones apoyado en video del showroom. Mes 2 construye confianza con reseñas y respaldo de servicio, y abre las primeras conversiones por WhatsApp. Mes 3 escala lo que mejor funciona y presenta muebles de sala y comedor, arrancando ya la etapa de ascensión.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Dar seguridad mostrando un cronograma detallado y realista para los primeros 3 meses.
MENSAJE PRINCIPAL: Cada quincena tiene un entregable concreto; no hay ambigüedad sobre qué se está haciendo en cada momento.
QUÉ EXPLICAR: Las dos primeras semanas son de base técnica (auditoría de la cuenta y de los 3 anuncios activos), no de campañas nuevas todavía. A partir de la semana 3 empieza la etapa de Presentación con camas y colchones, y el sistema se va completando progresivamente hasta arrancar Ascensión al final del mes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Presentar con claridad las dos líneas de inversión necesarias para poner en marcha el sistema, sin mezclar honorarios de gestión con presupuesto publicitario.
MENSAJE PRINCIPAL: Son dos inversiones independientes: unos honorarios de gestión estratégica y un presupuesto de pauta que pertenece siempre a Casa Outlet.
QUÉ EXPLICAR: Los honorarios de gestión inician en $1.100.000 mensuales durante los primeros 3 meses como precio de lanzamiento, y pasan a la tarifa full de $1.300.000 mensuales desde el mes 4. Aparte, el presupuesto mínimo recomendado de pauta en Meta Ads es de $1.500.000 mensuales.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Cerrar con una propuesta de acción clara, sin sonar comercial.
MENSAJE PRINCIPAL: El crecimiento no depende de invertir más; depende de darle estructura a los 3 anuncios que ya existen.
QUÉ EXPLICAR: Los tres pasos siguientes son concretos y secuenciales. La siguiente reunión debe definir el alcance y el cronograma de implementación de las cuatro campañas, comenzando en Cali.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2.png"/><Relationship Id="rId5" Type="http://schemas.openxmlformats.org/officeDocument/2006/relationships/image" Target="../media/image-4-5.png"/><Relationship Id="rId6" Type="http://schemas.openxmlformats.org/officeDocument/2006/relationships/image" Target="../media/image-4-2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4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2.png"/><Relationship Id="rId5" Type="http://schemas.openxmlformats.org/officeDocument/2006/relationships/image" Target="../media/image-13-5.png"/><Relationship Id="rId6" Type="http://schemas.openxmlformats.org/officeDocument/2006/relationships/image" Target="../media/image-13-2.png"/><Relationship Id="rId7" Type="http://schemas.openxmlformats.org/officeDocument/2006/relationships/image" Target="../media/image-13-7.png"/><Relationship Id="rId8" Type="http://schemas.openxmlformats.org/officeDocument/2006/relationships/image" Target="../media/image-13-7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8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74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29F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ESTRATEGIA COMERCIAL · META ADS · 2026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Casa Outlet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822960" y="3364992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promociones sueltas a un sistema de crecimiento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822960" y="4114800"/>
            <a:ext cx="2011680" cy="0"/>
          </a:xfrm>
          <a:prstGeom prst="line">
            <a:avLst/>
          </a:prstGeom>
          <a:noFill/>
          <a:ln w="25400">
            <a:solidFill>
              <a:srgbClr val="929FB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6126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Presentado a Casa Outlet · Cali, Colombia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DE PARTIDA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Hoy, Casa Outlet pauta sin ningún sistema detrás.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anuncios activos, pero ninguno sabe para qué existe.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3246120" cy="2880360"/>
          </a:xfrm>
          <a:prstGeom prst="roundRect">
            <a:avLst>
              <a:gd name="adj" fmla="val 2540"/>
            </a:avLst>
          </a:prstGeom>
          <a:solidFill>
            <a:srgbClr val="F6F4F2"/>
          </a:solidFill>
          <a:ln w="12700">
            <a:solidFill>
              <a:srgbClr val="E4E3D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97380" y="301752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/tmp/claude-0/-home-user-Presentaciones-y-varios/903c1196-30c4-57a8-b469-52313f1ce01c/scratchpad/loretto/icons/bag_1F3A5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0260" y="320040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914400" y="4526280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Anuncios activos en la cuenta, mal estructurados y sin optimizar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206240" y="2606040"/>
            <a:ext cx="3246120" cy="2880360"/>
          </a:xfrm>
          <a:prstGeom prst="roundRect">
            <a:avLst>
              <a:gd name="adj" fmla="val 2540"/>
            </a:avLst>
          </a:prstGeom>
          <a:solidFill>
            <a:srgbClr val="F6F4F2"/>
          </a:solidFill>
          <a:ln w="12700">
            <a:solidFill>
              <a:srgbClr val="E4E3D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463540" y="301752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/tmp/claude-0/-home-user-Presentaciones-y-varios/903c1196-30c4-57a8-b469-52313f1ce01c/scratchpad/loretto/icons/mapPin_1F3A5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6420" y="320040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206240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15.000</a:t>
            </a:r>
            <a:endParaRPr lang="en-US" sz="2200" dirty="0"/>
          </a:p>
        </p:txBody>
      </p:sp>
      <p:sp>
        <p:nvSpPr>
          <p:cNvPr id="14" name="Text 10"/>
          <p:cNvSpPr/>
          <p:nvPr/>
        </p:nvSpPr>
        <p:spPr>
          <a:xfrm>
            <a:off x="4480560" y="4526280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Seguidores en Instagram, sin ningún sistema de remarketing detrás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7772400" y="2606040"/>
            <a:ext cx="3246120" cy="2880360"/>
          </a:xfrm>
          <a:prstGeom prst="roundRect">
            <a:avLst>
              <a:gd name="adj" fmla="val 2540"/>
            </a:avLst>
          </a:prstGeom>
          <a:solidFill>
            <a:srgbClr val="F6F4F2"/>
          </a:solidFill>
          <a:ln w="12700">
            <a:solidFill>
              <a:srgbClr val="E4E3DF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9029700" y="301752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7" name="Image 2" descr="/tmp/claude-0/-home-user-Presentaciones-y-varios/903c1196-30c4-57a8-b469-52313f1ce01c/scratchpad/loretto/icons/target_1F3A5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2580" y="320040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772400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200" dirty="0"/>
          </a:p>
        </p:txBody>
      </p:sp>
      <p:sp>
        <p:nvSpPr>
          <p:cNvPr id="19" name="Text 14"/>
          <p:cNvSpPr/>
          <p:nvPr/>
        </p:nvSpPr>
        <p:spPr>
          <a:xfrm>
            <a:off x="8046720" y="4526280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Etapas de decisión del cliente cubiertas por la pauta actual</a:t>
            </a:r>
            <a:endParaRPr lang="en-US" sz="1150" dirty="0"/>
          </a:p>
        </p:txBody>
      </p:sp>
      <p:sp>
        <p:nvSpPr>
          <p:cNvPr id="20" name="Text 15"/>
          <p:cNvSpPr/>
          <p:nvPr/>
        </p:nvSpPr>
        <p:spPr>
          <a:xfrm>
            <a:off x="640080" y="58064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8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marca ya reconocida en Cali, con buen producto, buenos precios y una audiencia real en redes, ya existe. Falta el sistema que convierta cada peso invertido en un cliente que descubre, confía, compra y vuelve.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DIAGNÓSTICO ESTRATÉGICO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Publicar promociones sueltas no es un sistema comercial.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074920" cy="4114800"/>
          </a:xfrm>
          <a:prstGeom prst="roundRect">
            <a:avLst>
              <a:gd name="adj" fmla="val 1778"/>
            </a:avLst>
          </a:prstGeom>
          <a:solidFill>
            <a:srgbClr val="F6F4F2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228600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PUBLICIDAD TÁCTICA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05840" y="288036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–"/>
            </a:pPr>
            <a:r>
              <a:rPr lang="en-US" sz="1500" dirty="0">
                <a:solidFill>
                  <a:srgbClr val="18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promociones sin relación entre sí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05840" y="356616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–"/>
            </a:pPr>
            <a:r>
              <a:rPr lang="en-US" sz="1500" dirty="0">
                <a:solidFill>
                  <a:srgbClr val="18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público: todos por igual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05840" y="425196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–"/>
            </a:pPr>
            <a:r>
              <a:rPr lang="en-US" sz="1500" dirty="0">
                <a:solidFill>
                  <a:srgbClr val="18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recorrido: se impacta una sola vez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05840" y="493776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–"/>
            </a:pPr>
            <a:r>
              <a:rPr lang="en-US" sz="1500" dirty="0">
                <a:solidFill>
                  <a:srgbClr val="18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resultado depende de qué promoción funcione, por suerte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72200" y="1965960"/>
            <a:ext cx="5074920" cy="4114800"/>
          </a:xfrm>
          <a:prstGeom prst="roundRect">
            <a:avLst>
              <a:gd name="adj" fmla="val 1778"/>
            </a:avLst>
          </a:prstGeom>
          <a:solidFill>
            <a:srgbClr val="181321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28600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929F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COMERCIAL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37960" y="288036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–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objetivos de Meta Ads, uno por etapa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7960" y="356616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–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Audiencias por interés en muebles, colchones y remodelación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537960" y="425196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–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Recorrido continuo: se impacta en el momento correcto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37960" y="493776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–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resultado depende de la arquitectura, no del azar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PROPUESTA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 Ads como sistema de ventas para Casa Outlet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etapas. Cada una prepara la siguiente.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7240" y="2743200"/>
            <a:ext cx="2331720" cy="2834640"/>
          </a:xfrm>
          <a:prstGeom prst="roundRect">
            <a:avLst>
              <a:gd name="adj" fmla="val 3137"/>
            </a:avLst>
          </a:prstGeom>
          <a:solidFill>
            <a:srgbClr val="F6F4F2"/>
          </a:solidFill>
          <a:ln/>
        </p:spPr>
      </p:sp>
      <p:sp>
        <p:nvSpPr>
          <p:cNvPr id="6" name="Shape 4"/>
          <p:cNvSpPr/>
          <p:nvPr/>
        </p:nvSpPr>
        <p:spPr>
          <a:xfrm>
            <a:off x="1577340" y="1993392"/>
            <a:ext cx="731520" cy="731520"/>
          </a:xfrm>
          <a:prstGeom prst="ellipse">
            <a:avLst/>
          </a:prstGeom>
          <a:solidFill>
            <a:srgbClr val="181321"/>
          </a:solidFill>
          <a:ln/>
        </p:spPr>
      </p:sp>
      <p:sp>
        <p:nvSpPr>
          <p:cNvPr id="7" name="Text 5"/>
          <p:cNvSpPr/>
          <p:nvPr/>
        </p:nvSpPr>
        <p:spPr>
          <a:xfrm>
            <a:off x="1577340" y="199339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560" dirty="0"/>
          </a:p>
        </p:txBody>
      </p:sp>
      <p:sp>
        <p:nvSpPr>
          <p:cNvPr id="8" name="Shape 6"/>
          <p:cNvSpPr/>
          <p:nvPr/>
        </p:nvSpPr>
        <p:spPr>
          <a:xfrm>
            <a:off x="1595628" y="3401568"/>
            <a:ext cx="694944" cy="69494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9" name="Image 0" descr="/tmp/claude-0/-home-user-Presentaciones-y-varios/903c1196-30c4-57a8-b469-52313f1ce01c/scratchpad/loretto/icons/eye_1F3A5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9364" y="3575304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14400" y="425196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Presentación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914400" y="47091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Descubrir</a:t>
            </a:r>
            <a:endParaRPr lang="en-US" sz="1200" dirty="0"/>
          </a:p>
        </p:txBody>
      </p:sp>
      <p:pic>
        <p:nvPicPr>
          <p:cNvPr id="12" name="Image 1" descr="/tmp/claude-0/-home-user-Presentaciones-y-varios/903c1196-30c4-57a8-b469-52313f1ce01c/scratchpad/loretto/icons/arrowRight_1F3A5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5536" y="3977640"/>
            <a:ext cx="246888" cy="246888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3429000" y="2743200"/>
            <a:ext cx="2331720" cy="2834640"/>
          </a:xfrm>
          <a:prstGeom prst="roundRect">
            <a:avLst>
              <a:gd name="adj" fmla="val 3137"/>
            </a:avLst>
          </a:prstGeom>
          <a:solidFill>
            <a:srgbClr val="E8EAEE"/>
          </a:solidFill>
          <a:ln/>
        </p:spPr>
      </p:sp>
      <p:sp>
        <p:nvSpPr>
          <p:cNvPr id="14" name="Shape 10"/>
          <p:cNvSpPr/>
          <p:nvPr/>
        </p:nvSpPr>
        <p:spPr>
          <a:xfrm>
            <a:off x="4229100" y="1993392"/>
            <a:ext cx="731520" cy="731520"/>
          </a:xfrm>
          <a:prstGeom prst="ellipse">
            <a:avLst/>
          </a:prstGeom>
          <a:solidFill>
            <a:srgbClr val="181321"/>
          </a:solidFill>
          <a:ln/>
        </p:spPr>
      </p:sp>
      <p:sp>
        <p:nvSpPr>
          <p:cNvPr id="15" name="Text 11"/>
          <p:cNvSpPr/>
          <p:nvPr/>
        </p:nvSpPr>
        <p:spPr>
          <a:xfrm>
            <a:off x="4229100" y="199339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560" dirty="0"/>
          </a:p>
        </p:txBody>
      </p:sp>
      <p:sp>
        <p:nvSpPr>
          <p:cNvPr id="16" name="Shape 12"/>
          <p:cNvSpPr/>
          <p:nvPr/>
        </p:nvSpPr>
        <p:spPr>
          <a:xfrm>
            <a:off x="4247388" y="3401568"/>
            <a:ext cx="694944" cy="69494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7" name="Image 2" descr="/tmp/claude-0/-home-user-Presentaciones-y-varios/903c1196-30c4-57a8-b469-52313f1ce01c/scratchpad/loretto/icons/star_1F3A5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1124" y="3575304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3566160" y="425196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Evaluación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3566160" y="47091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Confiar</a:t>
            </a:r>
            <a:endParaRPr lang="en-US" sz="1200" dirty="0"/>
          </a:p>
        </p:txBody>
      </p:sp>
      <p:pic>
        <p:nvPicPr>
          <p:cNvPr id="20" name="Image 3" descr="/tmp/claude-0/-home-user-Presentaciones-y-varios/903c1196-30c4-57a8-b469-52313f1ce01c/scratchpad/loretto/icons/arrowRight_1F3A5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7296" y="3977640"/>
            <a:ext cx="246888" cy="246888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6080760" y="2743200"/>
            <a:ext cx="2331720" cy="2834640"/>
          </a:xfrm>
          <a:prstGeom prst="roundRect">
            <a:avLst>
              <a:gd name="adj" fmla="val 3137"/>
            </a:avLst>
          </a:prstGeom>
          <a:solidFill>
            <a:srgbClr val="F6F4F2"/>
          </a:solidFill>
          <a:ln/>
        </p:spPr>
      </p:sp>
      <p:sp>
        <p:nvSpPr>
          <p:cNvPr id="22" name="Shape 16"/>
          <p:cNvSpPr/>
          <p:nvPr/>
        </p:nvSpPr>
        <p:spPr>
          <a:xfrm>
            <a:off x="6880860" y="1993392"/>
            <a:ext cx="731520" cy="731520"/>
          </a:xfrm>
          <a:prstGeom prst="ellipse">
            <a:avLst/>
          </a:prstGeom>
          <a:solidFill>
            <a:srgbClr val="181321"/>
          </a:solidFill>
          <a:ln/>
        </p:spPr>
      </p:sp>
      <p:sp>
        <p:nvSpPr>
          <p:cNvPr id="23" name="Text 17"/>
          <p:cNvSpPr/>
          <p:nvPr/>
        </p:nvSpPr>
        <p:spPr>
          <a:xfrm>
            <a:off x="6880860" y="199339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560" dirty="0"/>
          </a:p>
        </p:txBody>
      </p:sp>
      <p:sp>
        <p:nvSpPr>
          <p:cNvPr id="24" name="Shape 18"/>
          <p:cNvSpPr/>
          <p:nvPr/>
        </p:nvSpPr>
        <p:spPr>
          <a:xfrm>
            <a:off x="6899148" y="3401568"/>
            <a:ext cx="694944" cy="69494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5" name="Image 4" descr="/tmp/claude-0/-home-user-Presentaciones-y-varios/903c1196-30c4-57a8-b469-52313f1ce01c/scratchpad/loretto/icons/bag_1F3A5F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72884" y="3575304"/>
            <a:ext cx="347472" cy="34747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6217920" y="425196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Conversión</a:t>
            </a:r>
            <a:endParaRPr lang="en-US" sz="1700" dirty="0"/>
          </a:p>
        </p:txBody>
      </p:sp>
      <p:sp>
        <p:nvSpPr>
          <p:cNvPr id="27" name="Text 20"/>
          <p:cNvSpPr/>
          <p:nvPr/>
        </p:nvSpPr>
        <p:spPr>
          <a:xfrm>
            <a:off x="6217920" y="47091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Comprar</a:t>
            </a:r>
            <a:endParaRPr lang="en-US" sz="1200" dirty="0"/>
          </a:p>
        </p:txBody>
      </p:sp>
      <p:pic>
        <p:nvPicPr>
          <p:cNvPr id="28" name="Image 5" descr="/tmp/claude-0/-home-user-Presentaciones-y-varios/903c1196-30c4-57a8-b469-52313f1ce01c/scratchpad/loretto/icons/arrowRight_1F3A5F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9056" y="3977640"/>
            <a:ext cx="246888" cy="246888"/>
          </a:xfrm>
          <a:prstGeom prst="rect">
            <a:avLst/>
          </a:prstGeom>
        </p:spPr>
      </p:pic>
      <p:sp>
        <p:nvSpPr>
          <p:cNvPr id="29" name="Shape 21"/>
          <p:cNvSpPr/>
          <p:nvPr/>
        </p:nvSpPr>
        <p:spPr>
          <a:xfrm>
            <a:off x="8732520" y="2743200"/>
            <a:ext cx="2331720" cy="2834640"/>
          </a:xfrm>
          <a:prstGeom prst="roundRect">
            <a:avLst>
              <a:gd name="adj" fmla="val 3137"/>
            </a:avLst>
          </a:prstGeom>
          <a:solidFill>
            <a:srgbClr val="E8EAEE"/>
          </a:solidFill>
          <a:ln/>
        </p:spPr>
      </p:sp>
      <p:sp>
        <p:nvSpPr>
          <p:cNvPr id="30" name="Shape 22"/>
          <p:cNvSpPr/>
          <p:nvPr/>
        </p:nvSpPr>
        <p:spPr>
          <a:xfrm>
            <a:off x="9532620" y="1993392"/>
            <a:ext cx="731520" cy="731520"/>
          </a:xfrm>
          <a:prstGeom prst="ellipse">
            <a:avLst/>
          </a:prstGeom>
          <a:solidFill>
            <a:srgbClr val="181321"/>
          </a:solidFill>
          <a:ln/>
        </p:spPr>
      </p:sp>
      <p:sp>
        <p:nvSpPr>
          <p:cNvPr id="31" name="Text 23"/>
          <p:cNvSpPr/>
          <p:nvPr/>
        </p:nvSpPr>
        <p:spPr>
          <a:xfrm>
            <a:off x="9532620" y="199339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560" dirty="0"/>
          </a:p>
        </p:txBody>
      </p:sp>
      <p:sp>
        <p:nvSpPr>
          <p:cNvPr id="32" name="Shape 24"/>
          <p:cNvSpPr/>
          <p:nvPr/>
        </p:nvSpPr>
        <p:spPr>
          <a:xfrm>
            <a:off x="9550908" y="3401568"/>
            <a:ext cx="694944" cy="69494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3" name="Image 6" descr="/tmp/claude-0/-home-user-Presentaciones-y-varios/903c1196-30c4-57a8-b469-52313f1ce01c/scratchpad/loretto/icons/sync_1F3A5F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24644" y="3575304"/>
            <a:ext cx="347472" cy="347472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8869680" y="425196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Ascensión</a:t>
            </a:r>
            <a:endParaRPr lang="en-US" sz="1700" dirty="0"/>
          </a:p>
        </p:txBody>
      </p:sp>
      <p:sp>
        <p:nvSpPr>
          <p:cNvPr id="35" name="Text 26"/>
          <p:cNvSpPr/>
          <p:nvPr/>
        </p:nvSpPr>
        <p:spPr>
          <a:xfrm>
            <a:off x="8869680" y="47091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Volver</a:t>
            </a:r>
            <a:endParaRPr lang="en-US" sz="1200" dirty="0"/>
          </a:p>
        </p:txBody>
      </p:sp>
      <p:sp>
        <p:nvSpPr>
          <p:cNvPr id="36" name="Text 27"/>
          <p:cNvSpPr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8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resultado no es más promociones sueltas: es un cliente que descubre, confía, compra y vuelve por su próximo mueble o colchón.</a:t>
            </a:r>
            <a:endParaRPr lang="en-US" sz="1350" dirty="0"/>
          </a:p>
        </p:txBody>
      </p:sp>
      <p:sp>
        <p:nvSpPr>
          <p:cNvPr id="37" name="Text 28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8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777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929F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01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777240" y="1440180"/>
            <a:ext cx="1051560" cy="1051560"/>
          </a:xfrm>
          <a:prstGeom prst="ellipse">
            <a:avLst/>
          </a:prstGeom>
          <a:solidFill>
            <a:srgbClr val="929FB1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44018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8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680" dirty="0"/>
          </a:p>
        </p:txBody>
      </p:sp>
      <p:sp>
        <p:nvSpPr>
          <p:cNvPr id="5" name="Text 3"/>
          <p:cNvSpPr/>
          <p:nvPr/>
        </p:nvSpPr>
        <p:spPr>
          <a:xfrm>
            <a:off x="2148840" y="141732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Presentación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2167128" y="2148840"/>
            <a:ext cx="8778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i="1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despertar interés en Casa Outlet, no vender todavía.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1714500" y="3840480"/>
            <a:ext cx="640080" cy="640080"/>
          </a:xfrm>
          <a:prstGeom prst="ellipse">
            <a:avLst/>
          </a:prstGeom>
          <a:solidFill>
            <a:srgbClr val="0D1929"/>
          </a:solidFill>
          <a:ln/>
        </p:spPr>
      </p:sp>
      <p:pic>
        <p:nvPicPr>
          <p:cNvPr id="8" name="Image 0" descr="/tmp/claude-0/-home-user-Presentaciones-y-varios/903c1196-30c4-57a8-b469-52313f1ce01c/scratchpad/loretto/icons/mapPin_929FB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68119" y="3994099"/>
            <a:ext cx="332842" cy="33284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77240" y="461772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Territorio: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Cali, con miras a toda Colombia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485132" y="3840480"/>
            <a:ext cx="640080" cy="640080"/>
          </a:xfrm>
          <a:prstGeom prst="ellipse">
            <a:avLst/>
          </a:prstGeom>
          <a:solidFill>
            <a:srgbClr val="0D1929"/>
          </a:solidFill>
          <a:ln/>
        </p:spPr>
      </p:sp>
      <p:pic>
        <p:nvPicPr>
          <p:cNvPr id="11" name="Image 1" descr="/tmp/claude-0/-home-user-Presentaciones-y-varios/903c1196-30c4-57a8-b469-52313f1ce01c/scratchpad/loretto/icons/bottle_929FB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8751" y="399409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47872" y="461772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Camas y colchones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protagonistas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7255764" y="3840480"/>
            <a:ext cx="640080" cy="640080"/>
          </a:xfrm>
          <a:prstGeom prst="ellipse">
            <a:avLst/>
          </a:prstGeom>
          <a:solidFill>
            <a:srgbClr val="0D1929"/>
          </a:solidFill>
          <a:ln/>
        </p:spPr>
      </p:sp>
      <p:pic>
        <p:nvPicPr>
          <p:cNvPr id="14" name="Image 2" descr="/tmp/claude-0/-home-user-Presentaciones-y-varios/903c1196-30c4-57a8-b469-52313f1ce01c/scratchpad/loretto/icons/video_929FB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9383" y="3994099"/>
            <a:ext cx="332842" cy="33284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318504" y="461772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del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showroom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10026396" y="3840480"/>
            <a:ext cx="640080" cy="640080"/>
          </a:xfrm>
          <a:prstGeom prst="ellipse">
            <a:avLst/>
          </a:prstGeom>
          <a:solidFill>
            <a:srgbClr val="0D1929"/>
          </a:solidFill>
          <a:ln/>
        </p:spPr>
      </p:sp>
      <p:pic>
        <p:nvPicPr>
          <p:cNvPr id="17" name="Image 3" descr="/tmp/claude-0/-home-user-Presentaciones-y-varios/903c1196-30c4-57a8-b469-52313f1ce01c/scratchpad/loretto/icons/leaf_929FB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80015" y="3994099"/>
            <a:ext cx="332842" cy="33284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089136" y="461772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 producto,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 precio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D70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1 · PRESENTACIÓN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cinco pilares del descubrimiento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pilar ataca una razón distinta de decisión.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6F4F2"/>
          </a:solidFill>
          <a:ln/>
        </p:spPr>
      </p:sp>
      <p:sp>
        <p:nvSpPr>
          <p:cNvPr id="6" name="Shape 4"/>
          <p:cNvSpPr/>
          <p:nvPr/>
        </p:nvSpPr>
        <p:spPr>
          <a:xfrm>
            <a:off x="960120" y="260604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/tmp/claude-0/-home-user-Presentaciones-y-varios/903c1196-30c4-57a8-b469-52313f1ce01c/scratchpad/loretto/icons/bottle_1F3A5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766060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737360" y="2560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Camas y colchones, el producto más buscado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1737360" y="297180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categoría con más demanda, lista para ser el anuncio ancla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297680" y="233172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6F4F2"/>
          </a:solidFill>
          <a:ln/>
        </p:spPr>
      </p:sp>
      <p:sp>
        <p:nvSpPr>
          <p:cNvPr id="11" name="Shape 8"/>
          <p:cNvSpPr/>
          <p:nvPr/>
        </p:nvSpPr>
        <p:spPr>
          <a:xfrm>
            <a:off x="4617720" y="260604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/tmp/claude-0/-home-user-Presentaciones-y-varios/903c1196-30c4-57a8-b469-52313f1ce01c/scratchpad/loretto/icons/leaf_1F3A5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7740" y="276606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94960" y="2560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Buenos precios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5394960" y="297180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diferenciador claro frente a otros outlets de muebles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7955280" y="233172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6F4F2"/>
          </a:solidFill>
          <a:ln/>
        </p:spPr>
      </p:sp>
      <p:sp>
        <p:nvSpPr>
          <p:cNvPr id="16" name="Shape 12"/>
          <p:cNvSpPr/>
          <p:nvPr/>
        </p:nvSpPr>
        <p:spPr>
          <a:xfrm>
            <a:off x="8275320" y="260604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7" name="Image 2" descr="/tmp/claude-0/-home-user-Presentaciones-y-varios/903c1196-30c4-57a8-b469-52313f1ce01c/scratchpad/loretto/icons/video_1F3A5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5340" y="2766060"/>
            <a:ext cx="320040" cy="3200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052560" y="2560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Video del showroom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9052560" y="297180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espacio y la variedad como espectáculo visual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640080" y="466344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6F4F2"/>
          </a:solidFill>
          <a:ln/>
        </p:spPr>
      </p:sp>
      <p:sp>
        <p:nvSpPr>
          <p:cNvPr id="21" name="Shape 16"/>
          <p:cNvSpPr/>
          <p:nvPr/>
        </p:nvSpPr>
        <p:spPr>
          <a:xfrm>
            <a:off x="960120" y="493776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2" name="Image 3" descr="/tmp/claude-0/-home-user-Presentaciones-y-varios/903c1196-30c4-57a8-b469-52313f1ce01c/scratchpad/loretto/icons/fruit_1F3A5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0140" y="5097780"/>
            <a:ext cx="320040" cy="32004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737360" y="4892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Muebles de sala y comedor</a:t>
            </a:r>
            <a:endParaRPr lang="en-US" sz="1450" dirty="0"/>
          </a:p>
        </p:txBody>
      </p:sp>
      <p:sp>
        <p:nvSpPr>
          <p:cNvPr id="24" name="Text 18"/>
          <p:cNvSpPr/>
          <p:nvPr/>
        </p:nvSpPr>
        <p:spPr>
          <a:xfrm>
            <a:off x="1737360" y="530352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Variedad para amoblar la casa completa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4297680" y="466344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6F4F2"/>
          </a:solidFill>
          <a:ln/>
        </p:spPr>
      </p:sp>
      <p:sp>
        <p:nvSpPr>
          <p:cNvPr id="26" name="Shape 20"/>
          <p:cNvSpPr/>
          <p:nvPr/>
        </p:nvSpPr>
        <p:spPr>
          <a:xfrm>
            <a:off x="4617720" y="493776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7" name="Image 4" descr="/tmp/claude-0/-home-user-Presentaciones-y-varios/903c1196-30c4-57a8-b469-52313f1ce01c/scratchpad/loretto/icons/handshake_1F3A5F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7740" y="5097780"/>
            <a:ext cx="320040" cy="32004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5394960" y="4892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Atención y entregas puntuales</a:t>
            </a:r>
            <a:endParaRPr lang="en-US" sz="1450" dirty="0"/>
          </a:p>
        </p:txBody>
      </p:sp>
      <p:sp>
        <p:nvSpPr>
          <p:cNvPr id="29" name="Text 22"/>
          <p:cNvSpPr/>
          <p:nvPr/>
        </p:nvSpPr>
        <p:spPr>
          <a:xfrm>
            <a:off x="5394960" y="530352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servicio ya reconocido por los clientes en sus reseñas</a:t>
            </a:r>
            <a:endParaRPr lang="en-US" sz="1150" dirty="0"/>
          </a:p>
        </p:txBody>
      </p:sp>
      <p:sp>
        <p:nvSpPr>
          <p:cNvPr id="30" name="Text 23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8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777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929F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02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777240" y="1440180"/>
            <a:ext cx="1051560" cy="1051560"/>
          </a:xfrm>
          <a:prstGeom prst="ellipse">
            <a:avLst/>
          </a:prstGeom>
          <a:solidFill>
            <a:srgbClr val="929FB1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44018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8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680" dirty="0"/>
          </a:p>
        </p:txBody>
      </p:sp>
      <p:sp>
        <p:nvSpPr>
          <p:cNvPr id="5" name="Text 3"/>
          <p:cNvSpPr/>
          <p:nvPr/>
        </p:nvSpPr>
        <p:spPr>
          <a:xfrm>
            <a:off x="2148840" y="141732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Evaluación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2167128" y="2148840"/>
            <a:ext cx="8778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i="1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quien ya vio Casa Outlet necesita confirmar que vale la pena comprar.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1714500" y="3840480"/>
            <a:ext cx="640080" cy="640080"/>
          </a:xfrm>
          <a:prstGeom prst="ellipse">
            <a:avLst/>
          </a:prstGeom>
          <a:solidFill>
            <a:srgbClr val="0D1929"/>
          </a:solidFill>
          <a:ln/>
        </p:spPr>
      </p:sp>
      <p:pic>
        <p:nvPicPr>
          <p:cNvPr id="8" name="Image 0" descr="/tmp/claude-0/-home-user-Presentaciones-y-varios/903c1196-30c4-57a8-b469-52313f1ce01c/scratchpad/loretto/icons/star_929FB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68119" y="3994099"/>
            <a:ext cx="332842" cy="33284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77240" y="461772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Reseñas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reales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485132" y="3840480"/>
            <a:ext cx="640080" cy="640080"/>
          </a:xfrm>
          <a:prstGeom prst="ellipse">
            <a:avLst/>
          </a:prstGeom>
          <a:solidFill>
            <a:srgbClr val="0D1929"/>
          </a:solidFill>
          <a:ln/>
        </p:spPr>
      </p:sp>
      <p:pic>
        <p:nvPicPr>
          <p:cNvPr id="11" name="Image 1" descr="/tmp/claude-0/-home-user-Presentaciones-y-varios/903c1196-30c4-57a8-b469-52313f1ce01c/scratchpad/loretto/icons/handshake_929FB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8751" y="399409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47872" y="461772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Respaldo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servicio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7255764" y="3840480"/>
            <a:ext cx="640080" cy="640080"/>
          </a:xfrm>
          <a:prstGeom prst="ellipse">
            <a:avLst/>
          </a:prstGeom>
          <a:solidFill>
            <a:srgbClr val="0D1929"/>
          </a:solidFill>
          <a:ln/>
        </p:spPr>
      </p:sp>
      <p:pic>
        <p:nvPicPr>
          <p:cNvPr id="14" name="Image 2" descr="/tmp/claude-0/-home-user-Presentaciones-y-varios/903c1196-30c4-57a8-b469-52313f1ce01c/scratchpad/loretto/icons/sync_929FB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9383" y="3994099"/>
            <a:ext cx="332842" cy="33284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318504" y="461772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Remarketing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interacción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10026396" y="3840480"/>
            <a:ext cx="640080" cy="640080"/>
          </a:xfrm>
          <a:prstGeom prst="ellipse">
            <a:avLst/>
          </a:prstGeom>
          <a:solidFill>
            <a:srgbClr val="0D1929"/>
          </a:solidFill>
          <a:ln/>
        </p:spPr>
      </p:sp>
      <p:pic>
        <p:nvPicPr>
          <p:cNvPr id="17" name="Image 3" descr="/tmp/claude-0/-home-user-Presentaciones-y-varios/903c1196-30c4-57a8-b469-52313f1ce01c/scratchpad/loretto/icons/shield_929FB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80015" y="3994099"/>
            <a:ext cx="332842" cy="33284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089136" y="461772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garantía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D70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2 · EVALUACIÓN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prueba social que ya existe, sin explotar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200400" cy="2103120"/>
          </a:xfrm>
          <a:prstGeom prst="roundRect">
            <a:avLst>
              <a:gd name="adj" fmla="val 3478"/>
            </a:avLst>
          </a:prstGeom>
          <a:solidFill>
            <a:srgbClr val="E8EAEE"/>
          </a:solidFill>
          <a:ln/>
        </p:spPr>
      </p:sp>
      <p:sp>
        <p:nvSpPr>
          <p:cNvPr id="5" name="Shape 3"/>
          <p:cNvSpPr/>
          <p:nvPr/>
        </p:nvSpPr>
        <p:spPr>
          <a:xfrm>
            <a:off x="1005840" y="2606040"/>
            <a:ext cx="822960" cy="8229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tmp/claude-0/-home-user-Presentaciones-y-varios/903c1196-30c4-57a8-b469-52313f1ce01c/scratchpad/loretto/icons/handshake_1F3A5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1580" y="281178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965960" y="2240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15.000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1965960" y="288036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Seguidores en Instagram, hoy sin ninguna campaña de remarketing activa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206240" y="1965960"/>
            <a:ext cx="3200400" cy="2103120"/>
          </a:xfrm>
          <a:prstGeom prst="roundRect">
            <a:avLst>
              <a:gd name="adj" fmla="val 3478"/>
            </a:avLst>
          </a:prstGeom>
          <a:solidFill>
            <a:srgbClr val="E8EAEE"/>
          </a:solidFill>
          <a:ln/>
        </p:spPr>
      </p:sp>
      <p:sp>
        <p:nvSpPr>
          <p:cNvPr id="10" name="Shape 7"/>
          <p:cNvSpPr/>
          <p:nvPr/>
        </p:nvSpPr>
        <p:spPr>
          <a:xfrm>
            <a:off x="4572000" y="2606040"/>
            <a:ext cx="822960" cy="8229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/tmp/claude-0/-home-user-Presentaciones-y-varios/903c1196-30c4-57a8-b469-52313f1ce01c/scratchpad/loretto/icons/star_1F3A5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7740" y="2811780"/>
            <a:ext cx="411480" cy="4114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32120" y="2240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Reseñas reales</a:t>
            </a:r>
            <a:endParaRPr lang="en-US" sz="2100" dirty="0"/>
          </a:p>
        </p:txBody>
      </p:sp>
      <p:sp>
        <p:nvSpPr>
          <p:cNvPr id="13" name="Text 9"/>
          <p:cNvSpPr/>
          <p:nvPr/>
        </p:nvSpPr>
        <p:spPr>
          <a:xfrm>
            <a:off x="5532120" y="288036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Comentarios de clientes sobre atención y entregas puntuales, no usados como creativo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1463040" y="4572000"/>
            <a:ext cx="2468880" cy="1234440"/>
          </a:xfrm>
          <a:prstGeom prst="roundRect">
            <a:avLst>
              <a:gd name="adj" fmla="val 5926"/>
            </a:avLst>
          </a:prstGeom>
          <a:solidFill>
            <a:srgbClr val="F6F4F2"/>
          </a:solidFill>
          <a:ln w="12700">
            <a:solidFill>
              <a:srgbClr val="E4E3DF"/>
            </a:solidFill>
            <a:prstDash val="solid"/>
          </a:ln>
        </p:spPr>
      </p:sp>
      <p:pic>
        <p:nvPicPr>
          <p:cNvPr id="15" name="Image 2" descr="/tmp/claude-0/-home-user-Presentaciones-y-varios/903c1196-30c4-57a8-b469-52313f1ce01c/scratchpad/loretto/icons/eye_1F3A5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1640" y="4983480"/>
            <a:ext cx="411480" cy="41148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194560" y="4572000"/>
            <a:ext cx="1600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Interacción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8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el anuncio</a:t>
            </a:r>
            <a:endParaRPr lang="en-US" sz="1300" dirty="0"/>
          </a:p>
        </p:txBody>
      </p:sp>
      <p:pic>
        <p:nvPicPr>
          <p:cNvPr id="17" name="Image 3" descr="/tmp/claude-0/-home-user-Presentaciones-y-varios/903c1196-30c4-57a8-b469-52313f1ce01c/scratchpad/loretto/icons/arrowRight_1F3A5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3088" y="5074920"/>
            <a:ext cx="274320" cy="27432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4617720" y="4572000"/>
            <a:ext cx="2468880" cy="1234440"/>
          </a:xfrm>
          <a:prstGeom prst="roundRect">
            <a:avLst>
              <a:gd name="adj" fmla="val 5926"/>
            </a:avLst>
          </a:prstGeom>
          <a:solidFill>
            <a:srgbClr val="F6F4F2"/>
          </a:solidFill>
          <a:ln w="12700">
            <a:solidFill>
              <a:srgbClr val="E4E3DF"/>
            </a:solidFill>
            <a:prstDash val="solid"/>
          </a:ln>
        </p:spPr>
      </p:sp>
      <p:pic>
        <p:nvPicPr>
          <p:cNvPr id="19" name="Image 4" descr="/tmp/claude-0/-home-user-Presentaciones-y-varios/903c1196-30c4-57a8-b469-52313f1ce01c/scratchpad/loretto/icons/filter_1F3A5F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0" y="4983480"/>
            <a:ext cx="411480" cy="41148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5349240" y="4572000"/>
            <a:ext cx="1600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8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personalizado</a:t>
            </a:r>
            <a:endParaRPr lang="en-US" sz="1300" dirty="0"/>
          </a:p>
        </p:txBody>
      </p:sp>
      <p:pic>
        <p:nvPicPr>
          <p:cNvPr id="21" name="Image 5" descr="/tmp/claude-0/-home-user-Presentaciones-y-varios/903c1196-30c4-57a8-b469-52313f1ce01c/scratchpad/loretto/icons/arrowRight_1F3A5F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7768" y="5074920"/>
            <a:ext cx="274320" cy="2743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7772400" y="4572000"/>
            <a:ext cx="2468880" cy="1234440"/>
          </a:xfrm>
          <a:prstGeom prst="roundRect">
            <a:avLst>
              <a:gd name="adj" fmla="val 5926"/>
            </a:avLst>
          </a:prstGeom>
          <a:solidFill>
            <a:srgbClr val="F6F4F2"/>
          </a:solidFill>
          <a:ln w="12700">
            <a:solidFill>
              <a:srgbClr val="E4E3DF"/>
            </a:solidFill>
            <a:prstDash val="solid"/>
          </a:ln>
        </p:spPr>
      </p:sp>
      <p:pic>
        <p:nvPicPr>
          <p:cNvPr id="23" name="Image 6" descr="/tmp/claude-0/-home-user-Presentaciones-y-varios/903c1196-30c4-57a8-b469-52313f1ce01c/scratchpad/loretto/icons/shield_1F3A5F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1000" y="4983480"/>
            <a:ext cx="411480" cy="411480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8503920" y="4572000"/>
            <a:ext cx="1600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Anuncio de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8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social</a:t>
            </a:r>
            <a:endParaRPr lang="en-US" sz="1300" dirty="0"/>
          </a:p>
        </p:txBody>
      </p:sp>
      <p:sp>
        <p:nvSpPr>
          <p:cNvPr id="25" name="Text 16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8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777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929F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03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777240" y="1440180"/>
            <a:ext cx="1051560" cy="1051560"/>
          </a:xfrm>
          <a:prstGeom prst="ellipse">
            <a:avLst/>
          </a:prstGeom>
          <a:solidFill>
            <a:srgbClr val="929FB1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44018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8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680" dirty="0"/>
          </a:p>
        </p:txBody>
      </p:sp>
      <p:sp>
        <p:nvSpPr>
          <p:cNvPr id="5" name="Text 3"/>
          <p:cNvSpPr/>
          <p:nvPr/>
        </p:nvSpPr>
        <p:spPr>
          <a:xfrm>
            <a:off x="2148840" y="141732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Conversión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2167128" y="2148840"/>
            <a:ext cx="8778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i="1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convertir el interés en una compra real de muebles o colchones.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1714500" y="3840480"/>
            <a:ext cx="640080" cy="640080"/>
          </a:xfrm>
          <a:prstGeom prst="ellipse">
            <a:avLst/>
          </a:prstGeom>
          <a:solidFill>
            <a:srgbClr val="0D1929"/>
          </a:solidFill>
          <a:ln/>
        </p:spPr>
      </p:sp>
      <p:pic>
        <p:nvPicPr>
          <p:cNvPr id="8" name="Image 0" descr="/tmp/claude-0/-home-user-Presentaciones-y-varios/903c1196-30c4-57a8-b469-52313f1ce01c/scratchpad/loretto/icons/bag_929FB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68119" y="3994099"/>
            <a:ext cx="332842" cy="33284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77240" y="461772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WhatsApp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485132" y="3840480"/>
            <a:ext cx="640080" cy="640080"/>
          </a:xfrm>
          <a:prstGeom prst="ellipse">
            <a:avLst/>
          </a:prstGeom>
          <a:solidFill>
            <a:srgbClr val="0D1929"/>
          </a:solidFill>
          <a:ln/>
        </p:spPr>
      </p:sp>
      <p:pic>
        <p:nvPicPr>
          <p:cNvPr id="11" name="Image 1" descr="/tmp/claude-0/-home-user-Presentaciones-y-varios/903c1196-30c4-57a8-b469-52313f1ce01c/scratchpad/loretto/icons/truck_929FB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8751" y="399409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47872" y="461772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o recogida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punto de venta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7255764" y="3840480"/>
            <a:ext cx="640080" cy="640080"/>
          </a:xfrm>
          <a:prstGeom prst="ellipse">
            <a:avLst/>
          </a:prstGeom>
          <a:solidFill>
            <a:srgbClr val="0D1929"/>
          </a:solidFill>
          <a:ln/>
        </p:spPr>
      </p:sp>
      <p:pic>
        <p:nvPicPr>
          <p:cNvPr id="14" name="Image 2" descr="/tmp/claude-0/-home-user-Presentaciones-y-varios/903c1196-30c4-57a8-b469-52313f1ce01c/scratchpad/loretto/icons/bottle_929FB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9383" y="3994099"/>
            <a:ext cx="332842" cy="33284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318504" y="461772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producto o combo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10026396" y="3840480"/>
            <a:ext cx="640080" cy="640080"/>
          </a:xfrm>
          <a:prstGeom prst="ellipse">
            <a:avLst/>
          </a:prstGeom>
          <a:solidFill>
            <a:srgbClr val="0D1929"/>
          </a:solidFill>
          <a:ln/>
        </p:spPr>
      </p:sp>
      <p:pic>
        <p:nvPicPr>
          <p:cNvPr id="17" name="Image 3" descr="/tmp/claude-0/-home-user-Presentaciones-y-varios/903c1196-30c4-57a8-b469-52313f1ce01c/scratchpad/loretto/icons/route_929FB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80015" y="3994099"/>
            <a:ext cx="332842" cy="33284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089136" y="461772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Audiencias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precisión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D70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3 · CONVERSIÓN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la intención a la compra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mismo público, dos formas de pedirle que actúe.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5074920" cy="3840480"/>
          </a:xfrm>
          <a:prstGeom prst="roundRect">
            <a:avLst>
              <a:gd name="adj" fmla="val 1905"/>
            </a:avLst>
          </a:prstGeom>
          <a:solidFill>
            <a:srgbClr val="F6F4F2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377440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CTA GENÉRICO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05840" y="278892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“Visítanos esta semana”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5840" y="356616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–"/>
            </a:pPr>
            <a:r>
              <a:rPr lang="en-US" sz="14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ocasión específica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406908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–"/>
            </a:pPr>
            <a:r>
              <a:rPr lang="en-US" sz="14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urgencia real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05840" y="457200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–"/>
            </a:pPr>
            <a:r>
              <a:rPr lang="en-US" sz="14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público para todos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72200" y="2103120"/>
            <a:ext cx="5074920" cy="3840480"/>
          </a:xfrm>
          <a:prstGeom prst="roundRect">
            <a:avLst>
              <a:gd name="adj" fmla="val 1905"/>
            </a:avLst>
          </a:prstGeom>
          <a:solidFill>
            <a:srgbClr val="181321"/>
          </a:solidFill>
          <a:ln/>
        </p:spPr>
      </p:sp>
      <p:sp>
        <p:nvSpPr>
          <p:cNvPr id="12" name="Text 10"/>
          <p:cNvSpPr/>
          <p:nvPr/>
        </p:nvSpPr>
        <p:spPr>
          <a:xfrm>
            <a:off x="6537960" y="2377440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929F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CTA POR OCASIÓN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37960" y="278892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“Arma tu cuarto con el Combo Colchón + Base Casa Outlet”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537960" y="37033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–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Ocasión y audiencia específicas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37960" y="420624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–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 y cupo con urgencia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537960" y="470916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–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anuncio por tipo de producto o combo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8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777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929F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04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777240" y="1440180"/>
            <a:ext cx="1051560" cy="1051560"/>
          </a:xfrm>
          <a:prstGeom prst="ellipse">
            <a:avLst/>
          </a:prstGeom>
          <a:solidFill>
            <a:srgbClr val="929FB1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44018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8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680" dirty="0"/>
          </a:p>
        </p:txBody>
      </p:sp>
      <p:sp>
        <p:nvSpPr>
          <p:cNvPr id="5" name="Text 3"/>
          <p:cNvSpPr/>
          <p:nvPr/>
        </p:nvSpPr>
        <p:spPr>
          <a:xfrm>
            <a:off x="2148840" y="141732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Ascensión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2167128" y="2148840"/>
            <a:ext cx="8778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i="1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que una compra sea el inicio de amoblar toda la casa.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1714500" y="3840480"/>
            <a:ext cx="640080" cy="640080"/>
          </a:xfrm>
          <a:prstGeom prst="ellipse">
            <a:avLst/>
          </a:prstGeom>
          <a:solidFill>
            <a:srgbClr val="0D1929"/>
          </a:solidFill>
          <a:ln/>
        </p:spPr>
      </p:sp>
      <p:pic>
        <p:nvPicPr>
          <p:cNvPr id="8" name="Image 0" descr="/tmp/claude-0/-home-user-Presentaciones-y-varios/903c1196-30c4-57a8-b469-52313f1ce01c/scratchpad/loretto/icons/sync_929FB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68119" y="3994099"/>
            <a:ext cx="332842" cy="33284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77240" y="461772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Recompra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temporada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485132" y="3840480"/>
            <a:ext cx="640080" cy="640080"/>
          </a:xfrm>
          <a:prstGeom prst="ellipse">
            <a:avLst/>
          </a:prstGeom>
          <a:solidFill>
            <a:srgbClr val="0D1929"/>
          </a:solidFill>
          <a:ln/>
        </p:spPr>
      </p:sp>
      <p:pic>
        <p:nvPicPr>
          <p:cNvPr id="11" name="Image 1" descr="/tmp/claude-0/-home-user-Presentaciones-y-varios/903c1196-30c4-57a8-b469-52313f1ce01c/scratchpad/loretto/icons/bag_929FB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8751" y="399409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47872" y="461772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mueble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colchón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7255764" y="3840480"/>
            <a:ext cx="640080" cy="640080"/>
          </a:xfrm>
          <a:prstGeom prst="ellipse">
            <a:avLst/>
          </a:prstGeom>
          <a:solidFill>
            <a:srgbClr val="0D1929"/>
          </a:solidFill>
          <a:ln/>
        </p:spPr>
      </p:sp>
      <p:pic>
        <p:nvPicPr>
          <p:cNvPr id="14" name="Image 2" descr="/tmp/claude-0/-home-user-Presentaciones-y-varios/903c1196-30c4-57a8-b469-52313f1ce01c/scratchpad/loretto/icons/heart_929FB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9383" y="3994099"/>
            <a:ext cx="332842" cy="33284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318504" y="461772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Reimpactar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anteriores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10026396" y="3840480"/>
            <a:ext cx="640080" cy="640080"/>
          </a:xfrm>
          <a:prstGeom prst="ellipse">
            <a:avLst/>
          </a:prstGeom>
          <a:solidFill>
            <a:srgbClr val="0D1929"/>
          </a:solidFill>
          <a:ln/>
        </p:spPr>
      </p:sp>
      <p:pic>
        <p:nvPicPr>
          <p:cNvPr id="17" name="Image 3" descr="/tmp/claude-0/-home-user-Presentaciones-y-varios/903c1196-30c4-57a8-b469-52313f1ce01c/scratchpad/loretto/icons/building_929FB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80015" y="3994099"/>
            <a:ext cx="332842" cy="33284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089136" y="461772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Expansión 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Colombia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D70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4 · ASCENSIÓN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una compra a una casa completamente amoblada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21945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PRINCIPIO: LIFETIME VALUE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4937760" cy="1737360"/>
          </a:xfrm>
          <a:prstGeom prst="roundRect">
            <a:avLst>
              <a:gd name="adj" fmla="val 4211"/>
            </a:avLst>
          </a:prstGeom>
          <a:solidFill>
            <a:srgbClr val="F6F4F2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8346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compra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68680" y="338328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que llega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una campaña puntual</a:t>
            </a:r>
            <a:endParaRPr lang="en-US" sz="1150" dirty="0"/>
          </a:p>
        </p:txBody>
      </p:sp>
      <p:pic>
        <p:nvPicPr>
          <p:cNvPr id="8" name="Image 0" descr="/tmp/claude-0/-home-user-Presentaciones-y-varios/903c1196-30c4-57a8-b469-52313f1ce01c/scratchpad/loretto/icons/arrowRight_1F3A5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3383280"/>
            <a:ext cx="365760" cy="36576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309360" y="2606040"/>
            <a:ext cx="5212080" cy="1737360"/>
          </a:xfrm>
          <a:prstGeom prst="roundRect">
            <a:avLst>
              <a:gd name="adj" fmla="val 4211"/>
            </a:avLst>
          </a:prstGeom>
          <a:solidFill>
            <a:srgbClr val="181321"/>
          </a:solidFill>
          <a:ln/>
        </p:spPr>
      </p:sp>
      <p:sp>
        <p:nvSpPr>
          <p:cNvPr id="10" name="Text 7"/>
          <p:cNvSpPr/>
          <p:nvPr/>
        </p:nvSpPr>
        <p:spPr>
          <a:xfrm>
            <a:off x="6537960" y="28346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Cliente recurrente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6537960" y="338328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Vuelve por su próximo mueble y recomienda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Casa Outlet a familiares y amigos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905256" y="4709160"/>
            <a:ext cx="2423160" cy="1051560"/>
          </a:xfrm>
          <a:prstGeom prst="roundRect">
            <a:avLst>
              <a:gd name="adj" fmla="val 6957"/>
            </a:avLst>
          </a:prstGeom>
          <a:solidFill>
            <a:srgbClr val="F6F4F2"/>
          </a:solidFill>
          <a:ln/>
        </p:spPr>
      </p:sp>
      <p:sp>
        <p:nvSpPr>
          <p:cNvPr id="13" name="Shape 10"/>
          <p:cNvSpPr/>
          <p:nvPr/>
        </p:nvSpPr>
        <p:spPr>
          <a:xfrm>
            <a:off x="1179576" y="49834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1" descr="/tmp/claude-0/-home-user-Presentaciones-y-varios/903c1196-30c4-57a8-b469-52313f1ce01c/scratchpad/loretto/icons/sync_1F3A5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2733" y="5096637"/>
            <a:ext cx="276606" cy="27660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865376" y="4709160"/>
            <a:ext cx="1280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8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Recompra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18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etapas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3557016" y="4709160"/>
            <a:ext cx="2423160" cy="1051560"/>
          </a:xfrm>
          <a:prstGeom prst="roundRect">
            <a:avLst>
              <a:gd name="adj" fmla="val 6957"/>
            </a:avLst>
          </a:prstGeom>
          <a:solidFill>
            <a:srgbClr val="E8EAEE"/>
          </a:solidFill>
          <a:ln/>
        </p:spPr>
      </p:sp>
      <p:sp>
        <p:nvSpPr>
          <p:cNvPr id="17" name="Shape 13"/>
          <p:cNvSpPr/>
          <p:nvPr/>
        </p:nvSpPr>
        <p:spPr>
          <a:xfrm>
            <a:off x="3831336" y="49834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2" descr="/tmp/claude-0/-home-user-Presentaciones-y-varios/903c1196-30c4-57a8-b469-52313f1ce01c/scratchpad/loretto/icons/bag_1F3A5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4493" y="5096637"/>
            <a:ext cx="276606" cy="27660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517136" y="4709160"/>
            <a:ext cx="1280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8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mueble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18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colchón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6208776" y="4709160"/>
            <a:ext cx="2423160" cy="1051560"/>
          </a:xfrm>
          <a:prstGeom prst="roundRect">
            <a:avLst>
              <a:gd name="adj" fmla="val 6957"/>
            </a:avLst>
          </a:prstGeom>
          <a:solidFill>
            <a:srgbClr val="F6F4F2"/>
          </a:solidFill>
          <a:ln/>
        </p:spPr>
      </p:sp>
      <p:sp>
        <p:nvSpPr>
          <p:cNvPr id="21" name="Shape 16"/>
          <p:cNvSpPr/>
          <p:nvPr/>
        </p:nvSpPr>
        <p:spPr>
          <a:xfrm>
            <a:off x="6483096" y="49834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2" name="Image 3" descr="/tmp/claude-0/-home-user-Presentaciones-y-varios/903c1196-30c4-57a8-b469-52313f1ce01c/scratchpad/loretto/icons/thumbsup_1F3A5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6253" y="5096637"/>
            <a:ext cx="276606" cy="27660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168896" y="4709160"/>
            <a:ext cx="1280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8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Referido de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18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confianza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8860536" y="4709160"/>
            <a:ext cx="2423160" cy="1051560"/>
          </a:xfrm>
          <a:prstGeom prst="roundRect">
            <a:avLst>
              <a:gd name="adj" fmla="val 6957"/>
            </a:avLst>
          </a:prstGeom>
          <a:solidFill>
            <a:srgbClr val="E8EAEE"/>
          </a:solidFill>
          <a:ln/>
        </p:spPr>
      </p:sp>
      <p:sp>
        <p:nvSpPr>
          <p:cNvPr id="25" name="Shape 19"/>
          <p:cNvSpPr/>
          <p:nvPr/>
        </p:nvSpPr>
        <p:spPr>
          <a:xfrm>
            <a:off x="9134856" y="49834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6" name="Image 4" descr="/tmp/claude-0/-home-user-Presentaciones-y-varios/903c1196-30c4-57a8-b469-52313f1ce01c/scratchpad/loretto/icons/building_1F3A5F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8013" y="5096637"/>
            <a:ext cx="276606" cy="276606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9820656" y="4709160"/>
            <a:ext cx="1280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8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Expansión a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18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Colombia</a:t>
            </a:r>
            <a:endParaRPr lang="en-US" sz="1150" dirty="0"/>
          </a:p>
        </p:txBody>
      </p:sp>
      <p:sp>
        <p:nvSpPr>
          <p:cNvPr id="28" name="Text 21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8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29F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CONSOLIDACIÓN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sistema completo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etapa funciona sola. El valor está en la conexión.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325880" y="2606040"/>
            <a:ext cx="1234440" cy="1234440"/>
          </a:xfrm>
          <a:prstGeom prst="ellipse">
            <a:avLst/>
          </a:prstGeom>
          <a:solidFill>
            <a:srgbClr val="0D1929"/>
          </a:solidFill>
          <a:ln w="19050">
            <a:solidFill>
              <a:srgbClr val="929FB1"/>
            </a:solidFill>
            <a:prstDash val="solid"/>
          </a:ln>
        </p:spPr>
      </p:sp>
      <p:pic>
        <p:nvPicPr>
          <p:cNvPr id="6" name="Image 0" descr="/tmp/claude-0/-home-user-Presentaciones-y-varios/903c1196-30c4-57a8-b469-52313f1ce01c/scratchpad/loretto/icons/eye_929FB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6212" y="297637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395020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29F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77240" y="422452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Presentación</a:t>
            </a:r>
            <a:endParaRPr lang="en-US" sz="1500" dirty="0"/>
          </a:p>
        </p:txBody>
      </p:sp>
      <p:pic>
        <p:nvPicPr>
          <p:cNvPr id="9" name="Image 1" descr="/tmp/claude-0/-home-user-Presentaciones-y-varios/903c1196-30c4-57a8-b469-52313f1ce01c/scratchpad/loretto/icons/arrowRight_929FB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5536" y="3095244"/>
            <a:ext cx="246888" cy="24688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977640" y="2606040"/>
            <a:ext cx="1234440" cy="1234440"/>
          </a:xfrm>
          <a:prstGeom prst="ellipse">
            <a:avLst/>
          </a:prstGeom>
          <a:solidFill>
            <a:srgbClr val="0D1929"/>
          </a:solidFill>
          <a:ln w="19050">
            <a:solidFill>
              <a:srgbClr val="929FB1"/>
            </a:solidFill>
            <a:prstDash val="solid"/>
          </a:ln>
        </p:spPr>
      </p:sp>
      <p:pic>
        <p:nvPicPr>
          <p:cNvPr id="11" name="Image 2" descr="/tmp/claude-0/-home-user-Presentaciones-y-varios/903c1196-30c4-57a8-b469-52313f1ce01c/scratchpad/loretto/icons/star_929FB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972" y="2976372"/>
            <a:ext cx="493776" cy="49377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3429000" y="395020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29F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3429000" y="422452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Evaluación</a:t>
            </a:r>
            <a:endParaRPr lang="en-US" sz="1500" dirty="0"/>
          </a:p>
        </p:txBody>
      </p:sp>
      <p:pic>
        <p:nvPicPr>
          <p:cNvPr id="14" name="Image 3" descr="/tmp/claude-0/-home-user-Presentaciones-y-varios/903c1196-30c4-57a8-b469-52313f1ce01c/scratchpad/loretto/icons/arrowRight_929FB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7296" y="3095244"/>
            <a:ext cx="246888" cy="246888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6629400" y="2606040"/>
            <a:ext cx="1234440" cy="1234440"/>
          </a:xfrm>
          <a:prstGeom prst="ellipse">
            <a:avLst/>
          </a:prstGeom>
          <a:solidFill>
            <a:srgbClr val="0D1929"/>
          </a:solidFill>
          <a:ln w="19050">
            <a:solidFill>
              <a:srgbClr val="929FB1"/>
            </a:solidFill>
            <a:prstDash val="solid"/>
          </a:ln>
        </p:spPr>
      </p:sp>
      <p:pic>
        <p:nvPicPr>
          <p:cNvPr id="16" name="Image 4" descr="/tmp/claude-0/-home-user-Presentaciones-y-varios/903c1196-30c4-57a8-b469-52313f1ce01c/scratchpad/loretto/icons/bag_929FB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9732" y="2976372"/>
            <a:ext cx="493776" cy="493776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6080760" y="395020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29F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1"/>
          <p:cNvSpPr/>
          <p:nvPr/>
        </p:nvSpPr>
        <p:spPr>
          <a:xfrm>
            <a:off x="6080760" y="422452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Conversión</a:t>
            </a:r>
            <a:endParaRPr lang="en-US" sz="1500" dirty="0"/>
          </a:p>
        </p:txBody>
      </p:sp>
      <p:pic>
        <p:nvPicPr>
          <p:cNvPr id="19" name="Image 5" descr="/tmp/claude-0/-home-user-Presentaciones-y-varios/903c1196-30c4-57a8-b469-52313f1ce01c/scratchpad/loretto/icons/arrowRight_929FB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9056" y="3095244"/>
            <a:ext cx="246888" cy="246888"/>
          </a:xfrm>
          <a:prstGeom prst="rect">
            <a:avLst/>
          </a:prstGeom>
        </p:spPr>
      </p:pic>
      <p:sp>
        <p:nvSpPr>
          <p:cNvPr id="20" name="Shape 12"/>
          <p:cNvSpPr/>
          <p:nvPr/>
        </p:nvSpPr>
        <p:spPr>
          <a:xfrm>
            <a:off x="9281160" y="2606040"/>
            <a:ext cx="1234440" cy="1234440"/>
          </a:xfrm>
          <a:prstGeom prst="ellipse">
            <a:avLst/>
          </a:prstGeom>
          <a:solidFill>
            <a:srgbClr val="0D1929"/>
          </a:solidFill>
          <a:ln w="19050">
            <a:solidFill>
              <a:srgbClr val="929FB1"/>
            </a:solidFill>
            <a:prstDash val="solid"/>
          </a:ln>
        </p:spPr>
      </p:sp>
      <p:pic>
        <p:nvPicPr>
          <p:cNvPr id="21" name="Image 6" descr="/tmp/claude-0/-home-user-Presentaciones-y-varios/903c1196-30c4-57a8-b469-52313f1ce01c/scratchpad/loretto/icons/sync_929FB1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51492" y="2976372"/>
            <a:ext cx="493776" cy="493776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8732520" y="395020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29F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14"/>
          <p:cNvSpPr/>
          <p:nvPr/>
        </p:nvSpPr>
        <p:spPr>
          <a:xfrm>
            <a:off x="8732520" y="422452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Ascensión</a:t>
            </a:r>
            <a:endParaRPr lang="en-US" sz="1500" dirty="0"/>
          </a:p>
        </p:txBody>
      </p:sp>
      <p:sp>
        <p:nvSpPr>
          <p:cNvPr id="24" name="Shape 15"/>
          <p:cNvSpPr/>
          <p:nvPr/>
        </p:nvSpPr>
        <p:spPr>
          <a:xfrm>
            <a:off x="2103120" y="4800600"/>
            <a:ext cx="7955280" cy="868680"/>
          </a:xfrm>
          <a:prstGeom prst="roundRect">
            <a:avLst>
              <a:gd name="adj" fmla="val 10526"/>
            </a:avLst>
          </a:prstGeom>
          <a:solidFill>
            <a:srgbClr val="0D1929"/>
          </a:solidFill>
          <a:ln/>
        </p:spPr>
      </p:sp>
      <p:sp>
        <p:nvSpPr>
          <p:cNvPr id="25" name="Shape 16"/>
          <p:cNvSpPr/>
          <p:nvPr/>
        </p:nvSpPr>
        <p:spPr>
          <a:xfrm>
            <a:off x="2377440" y="4960620"/>
            <a:ext cx="548640" cy="548640"/>
          </a:xfrm>
          <a:prstGeom prst="ellipse">
            <a:avLst/>
          </a:prstGeom>
          <a:solidFill>
            <a:srgbClr val="112035"/>
          </a:solidFill>
          <a:ln/>
        </p:spPr>
      </p:sp>
      <p:pic>
        <p:nvPicPr>
          <p:cNvPr id="26" name="Image 7" descr="/tmp/claude-0/-home-user-Presentaciones-y-varios/903c1196-30c4-57a8-b469-52313f1ce01c/scratchpad/loretto/icons/sync_929FB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00884" y="5084064"/>
            <a:ext cx="301752" cy="301752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3154680" y="4800600"/>
            <a:ext cx="6720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ciclo se repite: quien vuelve a comprar entra de nuevo por evaluación en su próxima ocasión.</a:t>
            </a:r>
            <a:endParaRPr lang="en-US" sz="1350" dirty="0"/>
          </a:p>
        </p:txBody>
      </p:sp>
      <p:sp>
        <p:nvSpPr>
          <p:cNvPr id="28" name="Text 18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D70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RAZONAMIENTO ECONÓMICO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lógica de negocio detrás del sistema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F6F4F2"/>
          </a:solidFill>
          <a:ln/>
        </p:spPr>
      </p:sp>
      <p:sp>
        <p:nvSpPr>
          <p:cNvPr id="5" name="Shape 3"/>
          <p:cNvSpPr/>
          <p:nvPr/>
        </p:nvSpPr>
        <p:spPr>
          <a:xfrm>
            <a:off x="2034540" y="246888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tmp/claude-0/-home-user-Presentaciones-y-varios/903c1196-30c4-57a8-b469-52313f1ce01c/scratchpad/loretto/icons/dollar_1F3A5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17420" y="265176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38328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Menor costo por cliente en el tiempo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960120" y="416052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Reimpactar a quien ya conoce Casa Outlet cuesta menos que conseguir a alguien nuevo.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480560" y="214884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F6F4F2"/>
          </a:solidFill>
          <a:ln/>
        </p:spPr>
      </p:sp>
      <p:sp>
        <p:nvSpPr>
          <p:cNvPr id="10" name="Shape 7"/>
          <p:cNvSpPr/>
          <p:nvPr/>
        </p:nvSpPr>
        <p:spPr>
          <a:xfrm>
            <a:off x="5875020" y="246888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/tmp/claude-0/-home-user-Presentaciones-y-varios/903c1196-30c4-57a8-b469-52313f1ce01c/scratchpad/loretto/icons/sync_1F3A5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7900" y="265176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54880" y="338328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Mayor frecuencia de compra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4800600" y="416052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Amoblar una casa es un proceso por etapas: cada reactivación suma una nueva compra.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321040" y="214884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F6F4F2"/>
          </a:solidFill>
          <a:ln/>
        </p:spPr>
      </p:sp>
      <p:sp>
        <p:nvSpPr>
          <p:cNvPr id="15" name="Shape 11"/>
          <p:cNvSpPr/>
          <p:nvPr/>
        </p:nvSpPr>
        <p:spPr>
          <a:xfrm>
            <a:off x="9715500" y="246888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/tmp/claude-0/-home-user-Presentaciones-y-varios/903c1196-30c4-57a8-b469-52313f1ce01c/scratchpad/loretto/icons/bag_1F3A5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98380" y="2651760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595360" y="338328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Mayor ticket promedio</a:t>
            </a:r>
            <a:endParaRPr lang="en-US" sz="1550" dirty="0"/>
          </a:p>
        </p:txBody>
      </p:sp>
      <p:sp>
        <p:nvSpPr>
          <p:cNvPr id="18" name="Text 13"/>
          <p:cNvSpPr/>
          <p:nvPr/>
        </p:nvSpPr>
        <p:spPr>
          <a:xfrm>
            <a:off x="8641080" y="416052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combos y productos premium se ofrecen a quien ya confía en la marca.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640080" y="57607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8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no promete resultados garantizados. Reduce la dependencia de conseguir clientes nuevos cada vez y aumenta el valor de los que ya se ganaron.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8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29F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CIERRE DEL DIAGNÓSTICO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oportunidades que hoy Casa Outlet</a:t>
            </a:r>
            <a:endParaRPr lang="en-US" sz="2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está dejando sobre la mesa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57800" cy="749808"/>
          </a:xfrm>
          <a:prstGeom prst="roundRect">
            <a:avLst>
              <a:gd name="adj" fmla="val 8537"/>
            </a:avLst>
          </a:prstGeom>
          <a:solidFill>
            <a:srgbClr val="0D1929"/>
          </a:solidFill>
          <a:ln/>
        </p:spPr>
      </p:sp>
      <p:sp>
        <p:nvSpPr>
          <p:cNvPr id="5" name="Shape 3"/>
          <p:cNvSpPr/>
          <p:nvPr/>
        </p:nvSpPr>
        <p:spPr>
          <a:xfrm>
            <a:off x="1078992" y="1929384"/>
            <a:ext cx="457200" cy="457200"/>
          </a:xfrm>
          <a:prstGeom prst="ellipse">
            <a:avLst/>
          </a:prstGeom>
          <a:solidFill>
            <a:srgbClr val="112035"/>
          </a:solidFill>
          <a:ln/>
        </p:spPr>
      </p:sp>
      <p:pic>
        <p:nvPicPr>
          <p:cNvPr id="6" name="Image 0" descr="/tmp/claude-0/-home-user-Presentaciones-y-varios/903c1196-30c4-57a8-b469-52313f1ce01c/scratchpad/loretto/icons/video_929FB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1862" y="2032254"/>
            <a:ext cx="251460" cy="2514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837944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Reestructurar los 3 anuncios activos en las 4 etapas del sistema, hoy sin ningún objetivo definido.</a:t>
            </a:r>
            <a:endParaRPr lang="en-US" sz="1020" dirty="0"/>
          </a:p>
        </p:txBody>
      </p:sp>
      <p:sp>
        <p:nvSpPr>
          <p:cNvPr id="8" name="Shape 5"/>
          <p:cNvSpPr/>
          <p:nvPr/>
        </p:nvSpPr>
        <p:spPr>
          <a:xfrm>
            <a:off x="6217920" y="1783080"/>
            <a:ext cx="5257800" cy="749808"/>
          </a:xfrm>
          <a:prstGeom prst="roundRect">
            <a:avLst>
              <a:gd name="adj" fmla="val 8537"/>
            </a:avLst>
          </a:prstGeom>
          <a:solidFill>
            <a:srgbClr val="0D1929"/>
          </a:solidFill>
          <a:ln/>
        </p:spPr>
      </p:sp>
      <p:sp>
        <p:nvSpPr>
          <p:cNvPr id="9" name="Shape 6"/>
          <p:cNvSpPr/>
          <p:nvPr/>
        </p:nvSpPr>
        <p:spPr>
          <a:xfrm>
            <a:off x="6656832" y="1929384"/>
            <a:ext cx="457200" cy="457200"/>
          </a:xfrm>
          <a:prstGeom prst="ellipse">
            <a:avLst/>
          </a:prstGeom>
          <a:solidFill>
            <a:srgbClr val="112035"/>
          </a:solidFill>
          <a:ln/>
        </p:spPr>
      </p:sp>
      <p:pic>
        <p:nvPicPr>
          <p:cNvPr id="10" name="Image 1" descr="/tmp/claude-0/-home-user-Presentaciones-y-varios/903c1196-30c4-57a8-b469-52313f1ce01c/scratchpad/loretto/icons/handshake_929FB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9702" y="2032254"/>
            <a:ext cx="251460" cy="2514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086600" y="1837944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Activar remarketing sobre los 15.000 seguidores de Instagram, hoy sin ninguna campaña de reimpacto.</a:t>
            </a:r>
            <a:endParaRPr lang="en-US" sz="1020" dirty="0"/>
          </a:p>
        </p:txBody>
      </p:sp>
      <p:sp>
        <p:nvSpPr>
          <p:cNvPr id="12" name="Shape 8"/>
          <p:cNvSpPr/>
          <p:nvPr/>
        </p:nvSpPr>
        <p:spPr>
          <a:xfrm>
            <a:off x="640080" y="2679192"/>
            <a:ext cx="5257800" cy="749808"/>
          </a:xfrm>
          <a:prstGeom prst="roundRect">
            <a:avLst>
              <a:gd name="adj" fmla="val 8537"/>
            </a:avLst>
          </a:prstGeom>
          <a:solidFill>
            <a:srgbClr val="0D1929"/>
          </a:solidFill>
          <a:ln/>
        </p:spPr>
      </p:sp>
      <p:sp>
        <p:nvSpPr>
          <p:cNvPr id="13" name="Shape 9"/>
          <p:cNvSpPr/>
          <p:nvPr/>
        </p:nvSpPr>
        <p:spPr>
          <a:xfrm>
            <a:off x="1078992" y="2825496"/>
            <a:ext cx="457200" cy="457200"/>
          </a:xfrm>
          <a:prstGeom prst="ellipse">
            <a:avLst/>
          </a:prstGeom>
          <a:solidFill>
            <a:srgbClr val="112035"/>
          </a:solidFill>
          <a:ln/>
        </p:spPr>
      </p:sp>
      <p:pic>
        <p:nvPicPr>
          <p:cNvPr id="14" name="Image 2" descr="/tmp/claude-0/-home-user-Presentaciones-y-varios/903c1196-30c4-57a8-b469-52313f1ce01c/scratchpad/loretto/icons/bottle_929FB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1862" y="2928366"/>
            <a:ext cx="251460" cy="25146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508760" y="2734056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Convertir las reseñas reales sobre atención y entregas puntuales en creativos de prueba social.</a:t>
            </a:r>
            <a:endParaRPr lang="en-US" sz="1020" dirty="0"/>
          </a:p>
        </p:txBody>
      </p:sp>
      <p:sp>
        <p:nvSpPr>
          <p:cNvPr id="16" name="Shape 11"/>
          <p:cNvSpPr/>
          <p:nvPr/>
        </p:nvSpPr>
        <p:spPr>
          <a:xfrm>
            <a:off x="6217920" y="2679192"/>
            <a:ext cx="5257800" cy="749808"/>
          </a:xfrm>
          <a:prstGeom prst="roundRect">
            <a:avLst>
              <a:gd name="adj" fmla="val 8537"/>
            </a:avLst>
          </a:prstGeom>
          <a:solidFill>
            <a:srgbClr val="0D1929"/>
          </a:solidFill>
          <a:ln/>
        </p:spPr>
      </p:sp>
      <p:sp>
        <p:nvSpPr>
          <p:cNvPr id="17" name="Shape 12"/>
          <p:cNvSpPr/>
          <p:nvPr/>
        </p:nvSpPr>
        <p:spPr>
          <a:xfrm>
            <a:off x="6656832" y="2825496"/>
            <a:ext cx="457200" cy="457200"/>
          </a:xfrm>
          <a:prstGeom prst="ellipse">
            <a:avLst/>
          </a:prstGeom>
          <a:solidFill>
            <a:srgbClr val="112035"/>
          </a:solidFill>
          <a:ln/>
        </p:spPr>
      </p:sp>
      <p:pic>
        <p:nvPicPr>
          <p:cNvPr id="18" name="Image 3" descr="/tmp/claude-0/-home-user-Presentaciones-y-varios/903c1196-30c4-57a8-b469-52313f1ce01c/scratchpad/loretto/icons/truck_929FB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9702" y="2928366"/>
            <a:ext cx="251460" cy="25146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7086600" y="2734056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un público de clientes con más de 90 días sin comprar, para campañas de reactivación.</a:t>
            </a:r>
            <a:endParaRPr lang="en-US" sz="1020" dirty="0"/>
          </a:p>
        </p:txBody>
      </p:sp>
      <p:sp>
        <p:nvSpPr>
          <p:cNvPr id="20" name="Shape 14"/>
          <p:cNvSpPr/>
          <p:nvPr/>
        </p:nvSpPr>
        <p:spPr>
          <a:xfrm>
            <a:off x="640080" y="3575304"/>
            <a:ext cx="5257800" cy="749808"/>
          </a:xfrm>
          <a:prstGeom prst="roundRect">
            <a:avLst>
              <a:gd name="adj" fmla="val 8537"/>
            </a:avLst>
          </a:prstGeom>
          <a:solidFill>
            <a:srgbClr val="0D1929"/>
          </a:solidFill>
          <a:ln/>
        </p:spPr>
      </p:sp>
      <p:sp>
        <p:nvSpPr>
          <p:cNvPr id="21" name="Shape 15"/>
          <p:cNvSpPr/>
          <p:nvPr/>
        </p:nvSpPr>
        <p:spPr>
          <a:xfrm>
            <a:off x="1078992" y="3721608"/>
            <a:ext cx="457200" cy="457200"/>
          </a:xfrm>
          <a:prstGeom prst="ellipse">
            <a:avLst/>
          </a:prstGeom>
          <a:solidFill>
            <a:srgbClr val="112035"/>
          </a:solidFill>
          <a:ln/>
        </p:spPr>
      </p:sp>
      <p:pic>
        <p:nvPicPr>
          <p:cNvPr id="22" name="Image 4" descr="/tmp/claude-0/-home-user-Presentaciones-y-varios/903c1196-30c4-57a8-b469-52313f1ce01c/scratchpad/loretto/icons/fruit_929FB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1862" y="3824478"/>
            <a:ext cx="251460" cy="25146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508760" y="3630168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Anunciar la variedad de muebles de sala y comedor, hoy ausente en la pauta activa.</a:t>
            </a:r>
            <a:endParaRPr lang="en-US" sz="1020" dirty="0"/>
          </a:p>
        </p:txBody>
      </p:sp>
      <p:sp>
        <p:nvSpPr>
          <p:cNvPr id="24" name="Shape 17"/>
          <p:cNvSpPr/>
          <p:nvPr/>
        </p:nvSpPr>
        <p:spPr>
          <a:xfrm>
            <a:off x="6217920" y="3575304"/>
            <a:ext cx="5257800" cy="749808"/>
          </a:xfrm>
          <a:prstGeom prst="roundRect">
            <a:avLst>
              <a:gd name="adj" fmla="val 8537"/>
            </a:avLst>
          </a:prstGeom>
          <a:solidFill>
            <a:srgbClr val="0D1929"/>
          </a:solidFill>
          <a:ln/>
        </p:spPr>
      </p:sp>
      <p:sp>
        <p:nvSpPr>
          <p:cNvPr id="25" name="Shape 18"/>
          <p:cNvSpPr/>
          <p:nvPr/>
        </p:nvSpPr>
        <p:spPr>
          <a:xfrm>
            <a:off x="6656832" y="3721608"/>
            <a:ext cx="457200" cy="457200"/>
          </a:xfrm>
          <a:prstGeom prst="ellipse">
            <a:avLst/>
          </a:prstGeom>
          <a:solidFill>
            <a:srgbClr val="112035"/>
          </a:solidFill>
          <a:ln/>
        </p:spPr>
      </p:sp>
      <p:pic>
        <p:nvPicPr>
          <p:cNvPr id="26" name="Image 5" descr="/tmp/claude-0/-home-user-Presentaciones-y-varios/903c1196-30c4-57a8-b469-52313f1ce01c/scratchpad/loretto/icons/chart_929FB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59702" y="3824478"/>
            <a:ext cx="251460" cy="25146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7086600" y="3630168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Llevar tráfico al catálogo de casaoutlet.com.co, hoy sin ningún anuncio dirigido al sitio.</a:t>
            </a:r>
            <a:endParaRPr lang="en-US" sz="1020" dirty="0"/>
          </a:p>
        </p:txBody>
      </p:sp>
      <p:sp>
        <p:nvSpPr>
          <p:cNvPr id="28" name="Shape 20"/>
          <p:cNvSpPr/>
          <p:nvPr/>
        </p:nvSpPr>
        <p:spPr>
          <a:xfrm>
            <a:off x="640080" y="4471416"/>
            <a:ext cx="5257800" cy="749808"/>
          </a:xfrm>
          <a:prstGeom prst="roundRect">
            <a:avLst>
              <a:gd name="adj" fmla="val 8537"/>
            </a:avLst>
          </a:prstGeom>
          <a:solidFill>
            <a:srgbClr val="0D1929"/>
          </a:solidFill>
          <a:ln/>
        </p:spPr>
      </p:sp>
      <p:sp>
        <p:nvSpPr>
          <p:cNvPr id="29" name="Shape 21"/>
          <p:cNvSpPr/>
          <p:nvPr/>
        </p:nvSpPr>
        <p:spPr>
          <a:xfrm>
            <a:off x="1078992" y="4617720"/>
            <a:ext cx="457200" cy="457200"/>
          </a:xfrm>
          <a:prstGeom prst="ellipse">
            <a:avLst/>
          </a:prstGeom>
          <a:solidFill>
            <a:srgbClr val="112035"/>
          </a:solidFill>
          <a:ln/>
        </p:spPr>
      </p:sp>
      <p:pic>
        <p:nvPicPr>
          <p:cNvPr id="30" name="Image 6" descr="/tmp/claude-0/-home-user-Presentaciones-y-varios/903c1196-30c4-57a8-b469-52313f1ce01c/scratchpad/loretto/icons/building_929FB1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1862" y="4720590"/>
            <a:ext cx="251460" cy="251460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1508760" y="4526280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Preparar públicos personalizados en otras ciudades de Colombia antes de invertir, usando el perfil validado en Cali.</a:t>
            </a:r>
            <a:endParaRPr lang="en-US" sz="1020" dirty="0"/>
          </a:p>
        </p:txBody>
      </p:sp>
      <p:sp>
        <p:nvSpPr>
          <p:cNvPr id="32" name="Shape 23"/>
          <p:cNvSpPr/>
          <p:nvPr/>
        </p:nvSpPr>
        <p:spPr>
          <a:xfrm>
            <a:off x="6217920" y="4471416"/>
            <a:ext cx="5257800" cy="749808"/>
          </a:xfrm>
          <a:prstGeom prst="roundRect">
            <a:avLst>
              <a:gd name="adj" fmla="val 8537"/>
            </a:avLst>
          </a:prstGeom>
          <a:solidFill>
            <a:srgbClr val="0D1929"/>
          </a:solidFill>
          <a:ln/>
        </p:spPr>
      </p:sp>
      <p:sp>
        <p:nvSpPr>
          <p:cNvPr id="33" name="Shape 24"/>
          <p:cNvSpPr/>
          <p:nvPr/>
        </p:nvSpPr>
        <p:spPr>
          <a:xfrm>
            <a:off x="6656832" y="4617720"/>
            <a:ext cx="457200" cy="457200"/>
          </a:xfrm>
          <a:prstGeom prst="ellipse">
            <a:avLst/>
          </a:prstGeom>
          <a:solidFill>
            <a:srgbClr val="112035"/>
          </a:solidFill>
          <a:ln/>
        </p:spPr>
      </p:sp>
      <p:pic>
        <p:nvPicPr>
          <p:cNvPr id="34" name="Image 7" descr="/tmp/claude-0/-home-user-Presentaciones-y-varios/903c1196-30c4-57a8-b469-52313f1ce01c/scratchpad/loretto/icons/sync_929FB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59702" y="4720590"/>
            <a:ext cx="251460" cy="251460"/>
          </a:xfrm>
          <a:prstGeom prst="rect">
            <a:avLst/>
          </a:prstGeom>
        </p:spPr>
      </p:pic>
      <p:sp>
        <p:nvSpPr>
          <p:cNvPr id="35" name="Text 25"/>
          <p:cNvSpPr/>
          <p:nvPr/>
        </p:nvSpPr>
        <p:spPr>
          <a:xfrm>
            <a:off x="7086600" y="4526280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el video del showroom como ancla de autoridad en las campañas de descubrimiento.</a:t>
            </a:r>
            <a:endParaRPr lang="en-US" sz="1020" dirty="0"/>
          </a:p>
        </p:txBody>
      </p:sp>
      <p:sp>
        <p:nvSpPr>
          <p:cNvPr id="36" name="Shape 26"/>
          <p:cNvSpPr/>
          <p:nvPr/>
        </p:nvSpPr>
        <p:spPr>
          <a:xfrm>
            <a:off x="640080" y="5367528"/>
            <a:ext cx="5257800" cy="749808"/>
          </a:xfrm>
          <a:prstGeom prst="roundRect">
            <a:avLst>
              <a:gd name="adj" fmla="val 8537"/>
            </a:avLst>
          </a:prstGeom>
          <a:solidFill>
            <a:srgbClr val="0D1929"/>
          </a:solidFill>
          <a:ln/>
        </p:spPr>
      </p:sp>
      <p:sp>
        <p:nvSpPr>
          <p:cNvPr id="37" name="Shape 27"/>
          <p:cNvSpPr/>
          <p:nvPr/>
        </p:nvSpPr>
        <p:spPr>
          <a:xfrm>
            <a:off x="1078992" y="5513832"/>
            <a:ext cx="457200" cy="457200"/>
          </a:xfrm>
          <a:prstGeom prst="ellipse">
            <a:avLst/>
          </a:prstGeom>
          <a:solidFill>
            <a:srgbClr val="112035"/>
          </a:solidFill>
          <a:ln/>
        </p:spPr>
      </p:sp>
      <p:pic>
        <p:nvPicPr>
          <p:cNvPr id="38" name="Image 8" descr="/tmp/claude-0/-home-user-Presentaciones-y-varios/903c1196-30c4-57a8-b469-52313f1ce01c/scratchpad/loretto/icons/bag_929FB1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81862" y="5616702"/>
            <a:ext cx="251460" cy="251460"/>
          </a:xfrm>
          <a:prstGeom prst="rect">
            <a:avLst/>
          </a:prstGeom>
        </p:spPr>
      </p:pic>
      <p:sp>
        <p:nvSpPr>
          <p:cNvPr id="39" name="Text 28"/>
          <p:cNvSpPr/>
          <p:nvPr/>
        </p:nvSpPr>
        <p:spPr>
          <a:xfrm>
            <a:off x="1508760" y="5422392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un público personalizado por cercanía al punto de venta en Nueva Tequendama.</a:t>
            </a:r>
            <a:endParaRPr lang="en-US" sz="1020" dirty="0"/>
          </a:p>
        </p:txBody>
      </p:sp>
      <p:sp>
        <p:nvSpPr>
          <p:cNvPr id="40" name="Shape 29"/>
          <p:cNvSpPr/>
          <p:nvPr/>
        </p:nvSpPr>
        <p:spPr>
          <a:xfrm>
            <a:off x="6217920" y="5367528"/>
            <a:ext cx="5257800" cy="749808"/>
          </a:xfrm>
          <a:prstGeom prst="roundRect">
            <a:avLst>
              <a:gd name="adj" fmla="val 8537"/>
            </a:avLst>
          </a:prstGeom>
          <a:solidFill>
            <a:srgbClr val="0D1929"/>
          </a:solidFill>
          <a:ln/>
        </p:spPr>
      </p:sp>
      <p:sp>
        <p:nvSpPr>
          <p:cNvPr id="41" name="Shape 30"/>
          <p:cNvSpPr/>
          <p:nvPr/>
        </p:nvSpPr>
        <p:spPr>
          <a:xfrm>
            <a:off x="6656832" y="5513832"/>
            <a:ext cx="457200" cy="457200"/>
          </a:xfrm>
          <a:prstGeom prst="ellipse">
            <a:avLst/>
          </a:prstGeom>
          <a:solidFill>
            <a:srgbClr val="112035"/>
          </a:solidFill>
          <a:ln/>
        </p:spPr>
      </p:sp>
      <p:pic>
        <p:nvPicPr>
          <p:cNvPr id="42" name="Image 9" descr="/tmp/claude-0/-home-user-Presentaciones-y-varios/903c1196-30c4-57a8-b469-52313f1ce01c/scratchpad/loretto/icons/shield_929FB1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59702" y="5616702"/>
            <a:ext cx="251460" cy="251460"/>
          </a:xfrm>
          <a:prstGeom prst="rect">
            <a:avLst/>
          </a:prstGeom>
        </p:spPr>
      </p:pic>
      <p:sp>
        <p:nvSpPr>
          <p:cNvPr id="43" name="Text 31"/>
          <p:cNvSpPr/>
          <p:nvPr/>
        </p:nvSpPr>
        <p:spPr>
          <a:xfrm>
            <a:off x="7086600" y="5422392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la oferta de Combo Colchón + Base como producto ancla de conversión.</a:t>
            </a:r>
            <a:endParaRPr lang="en-US" sz="1020" dirty="0"/>
          </a:p>
        </p:txBody>
      </p:sp>
      <p:sp>
        <p:nvSpPr>
          <p:cNvPr id="44" name="Text 32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D70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PLAN DE TRABAJO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primeros 3 meses: mes a mes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activamos cada etapa con el producto protagonista de cada mes en Casa Outlet.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3520440" cy="3977640"/>
          </a:xfrm>
          <a:prstGeom prst="roundRect">
            <a:avLst>
              <a:gd name="adj" fmla="val 2078"/>
            </a:avLst>
          </a:prstGeom>
          <a:solidFill>
            <a:srgbClr val="F6F4F2"/>
          </a:solidFill>
          <a:ln/>
        </p:spPr>
      </p:sp>
      <p:sp>
        <p:nvSpPr>
          <p:cNvPr id="6" name="Shape 4"/>
          <p:cNvSpPr/>
          <p:nvPr/>
        </p:nvSpPr>
        <p:spPr>
          <a:xfrm>
            <a:off x="1005840" y="242316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/tmp/claude-0/-home-user-Presentaciones-y-varios/903c1196-30c4-57a8-b469-52313f1ce01c/scratchpad/loretto/icons/bottle_1F3A5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5860" y="2583180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783080" y="24231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 1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783080" y="2679192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Descubrimiento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960120" y="320040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Etapa: </a:t>
            </a:r>
            <a:pPr indent="0" marL="0">
              <a:buNone/>
            </a:pPr>
            <a:r>
              <a:rPr lang="en-US" sz="10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960120" y="361188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protagonista: </a:t>
            </a:r>
            <a:pPr indent="0" marL="0">
              <a:buNone/>
            </a:pPr>
            <a:r>
              <a:rPr lang="en-US" sz="10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Camas y colchones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960120" y="4023360"/>
            <a:ext cx="2880360" cy="0"/>
          </a:xfrm>
          <a:prstGeom prst="line">
            <a:avLst/>
          </a:prstGeom>
          <a:noFill/>
          <a:ln w="12700">
            <a:solidFill>
              <a:srgbClr val="E4E3D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60120" y="4160520"/>
            <a:ext cx="2880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–"/>
            </a:pPr>
            <a:r>
              <a:rPr lang="en-US" sz="1030" dirty="0">
                <a:solidFill>
                  <a:srgbClr val="18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del showroom y la variedad de camas y colchones</a:t>
            </a:r>
            <a:endParaRPr lang="en-US" sz="1030" dirty="0"/>
          </a:p>
        </p:txBody>
      </p:sp>
      <p:sp>
        <p:nvSpPr>
          <p:cNvPr id="14" name="Text 11"/>
          <p:cNvSpPr/>
          <p:nvPr/>
        </p:nvSpPr>
        <p:spPr>
          <a:xfrm>
            <a:off x="960120" y="4818888"/>
            <a:ext cx="2880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–"/>
            </a:pPr>
            <a:r>
              <a:rPr lang="en-US" sz="1030" dirty="0">
                <a:solidFill>
                  <a:srgbClr val="18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Campañas de reconocimiento dirigidas a Cali</a:t>
            </a:r>
            <a:endParaRPr lang="en-US" sz="1030" dirty="0"/>
          </a:p>
        </p:txBody>
      </p:sp>
      <p:sp>
        <p:nvSpPr>
          <p:cNvPr id="15" name="Text 12"/>
          <p:cNvSpPr/>
          <p:nvPr/>
        </p:nvSpPr>
        <p:spPr>
          <a:xfrm>
            <a:off x="960120" y="5477256"/>
            <a:ext cx="2880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–"/>
            </a:pPr>
            <a:r>
              <a:rPr lang="en-US" sz="1030" dirty="0">
                <a:solidFill>
                  <a:srgbClr val="18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público de remarketing desde quienes interactúan</a:t>
            </a:r>
            <a:endParaRPr lang="en-US" sz="1030" dirty="0"/>
          </a:p>
        </p:txBody>
      </p:sp>
      <p:sp>
        <p:nvSpPr>
          <p:cNvPr id="16" name="Shape 13"/>
          <p:cNvSpPr/>
          <p:nvPr/>
        </p:nvSpPr>
        <p:spPr>
          <a:xfrm>
            <a:off x="4480560" y="2148840"/>
            <a:ext cx="3520440" cy="3977640"/>
          </a:xfrm>
          <a:prstGeom prst="roundRect">
            <a:avLst>
              <a:gd name="adj" fmla="val 2078"/>
            </a:avLst>
          </a:prstGeom>
          <a:solidFill>
            <a:srgbClr val="181321"/>
          </a:solidFill>
          <a:ln/>
        </p:spPr>
      </p:sp>
      <p:sp>
        <p:nvSpPr>
          <p:cNvPr id="17" name="Shape 14"/>
          <p:cNvSpPr/>
          <p:nvPr/>
        </p:nvSpPr>
        <p:spPr>
          <a:xfrm>
            <a:off x="4846320" y="2423160"/>
            <a:ext cx="640080" cy="640080"/>
          </a:xfrm>
          <a:prstGeom prst="ellipse">
            <a:avLst/>
          </a:prstGeom>
          <a:solidFill>
            <a:srgbClr val="0D1929"/>
          </a:solidFill>
          <a:ln/>
        </p:spPr>
      </p:sp>
      <p:pic>
        <p:nvPicPr>
          <p:cNvPr id="18" name="Image 1" descr="/tmp/claude-0/-home-user-Presentaciones-y-varios/903c1196-30c4-57a8-b469-52313f1ce01c/scratchpad/loretto/icons/shield_929FB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2583180"/>
            <a:ext cx="320040" cy="32004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5623560" y="24231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929F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 2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5623560" y="2679192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Confianza</a:t>
            </a:r>
            <a:endParaRPr lang="en-US" sz="1700" dirty="0"/>
          </a:p>
        </p:txBody>
      </p:sp>
      <p:sp>
        <p:nvSpPr>
          <p:cNvPr id="21" name="Text 17"/>
          <p:cNvSpPr/>
          <p:nvPr/>
        </p:nvSpPr>
        <p:spPr>
          <a:xfrm>
            <a:off x="4800600" y="320040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Etapa: </a:t>
            </a:r>
            <a:pPr indent="0" marL="0">
              <a:buNone/>
            </a:pPr>
            <a:r>
              <a:rPr lang="en-US" sz="105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+ arranque de Conversión</a:t>
            </a:r>
            <a:endParaRPr lang="en-US" sz="1050" dirty="0"/>
          </a:p>
        </p:txBody>
      </p:sp>
      <p:sp>
        <p:nvSpPr>
          <p:cNvPr id="22" name="Text 18"/>
          <p:cNvSpPr/>
          <p:nvPr/>
        </p:nvSpPr>
        <p:spPr>
          <a:xfrm>
            <a:off x="4800600" y="361188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protagonista: </a:t>
            </a:r>
            <a:pPr indent="0" marL="0">
              <a:buNone/>
            </a:pPr>
            <a:r>
              <a:rPr lang="en-US" sz="105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Combo Colchón + Base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4800600" y="4023360"/>
            <a:ext cx="2880360" cy="0"/>
          </a:xfrm>
          <a:prstGeom prst="line">
            <a:avLst/>
          </a:prstGeom>
          <a:noFill/>
          <a:ln w="12700">
            <a:solidFill>
              <a:srgbClr val="152842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4800600" y="4160520"/>
            <a:ext cx="2880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–"/>
            </a:pPr>
            <a:r>
              <a:rPr lang="en-US" sz="10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reseñas reales y el respaldo de servicio como creativo</a:t>
            </a:r>
            <a:endParaRPr lang="en-US" sz="1030" dirty="0"/>
          </a:p>
        </p:txBody>
      </p:sp>
      <p:sp>
        <p:nvSpPr>
          <p:cNvPr id="25" name="Text 21"/>
          <p:cNvSpPr/>
          <p:nvPr/>
        </p:nvSpPr>
        <p:spPr>
          <a:xfrm>
            <a:off x="4800600" y="4818888"/>
            <a:ext cx="2880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–"/>
            </a:pPr>
            <a:r>
              <a:rPr lang="en-US" sz="10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Primeras campañas de conversión con pedido directo por WhatsApp</a:t>
            </a:r>
            <a:endParaRPr lang="en-US" sz="1030" dirty="0"/>
          </a:p>
        </p:txBody>
      </p:sp>
      <p:sp>
        <p:nvSpPr>
          <p:cNvPr id="26" name="Text 22"/>
          <p:cNvSpPr/>
          <p:nvPr/>
        </p:nvSpPr>
        <p:spPr>
          <a:xfrm>
            <a:off x="4800600" y="5477256"/>
            <a:ext cx="2880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–"/>
            </a:pPr>
            <a:r>
              <a:rPr lang="en-US" sz="10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de pedidos y mensajes activo</a:t>
            </a:r>
            <a:endParaRPr lang="en-US" sz="1030" dirty="0"/>
          </a:p>
        </p:txBody>
      </p:sp>
      <p:sp>
        <p:nvSpPr>
          <p:cNvPr id="27" name="Shape 23"/>
          <p:cNvSpPr/>
          <p:nvPr/>
        </p:nvSpPr>
        <p:spPr>
          <a:xfrm>
            <a:off x="8321040" y="2148840"/>
            <a:ext cx="3520440" cy="3977640"/>
          </a:xfrm>
          <a:prstGeom prst="roundRect">
            <a:avLst>
              <a:gd name="adj" fmla="val 2078"/>
            </a:avLst>
          </a:prstGeom>
          <a:solidFill>
            <a:srgbClr val="F6F4F2"/>
          </a:solidFill>
          <a:ln/>
        </p:spPr>
      </p:sp>
      <p:sp>
        <p:nvSpPr>
          <p:cNvPr id="28" name="Shape 24"/>
          <p:cNvSpPr/>
          <p:nvPr/>
        </p:nvSpPr>
        <p:spPr>
          <a:xfrm>
            <a:off x="8686800" y="242316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9" name="Image 2" descr="/tmp/claude-0/-home-user-Presentaciones-y-varios/903c1196-30c4-57a8-b469-52313f1ce01c/scratchpad/loretto/icons/rocket_1F3A5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6820" y="2583180"/>
            <a:ext cx="320040" cy="320040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9464040" y="24231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 3</a:t>
            </a:r>
            <a:endParaRPr lang="en-US" sz="1100" dirty="0"/>
          </a:p>
        </p:txBody>
      </p:sp>
      <p:sp>
        <p:nvSpPr>
          <p:cNvPr id="31" name="Text 26"/>
          <p:cNvSpPr/>
          <p:nvPr/>
        </p:nvSpPr>
        <p:spPr>
          <a:xfrm>
            <a:off x="9464040" y="2679192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Consolidación</a:t>
            </a:r>
            <a:endParaRPr lang="en-US" sz="1700" dirty="0"/>
          </a:p>
        </p:txBody>
      </p:sp>
      <p:sp>
        <p:nvSpPr>
          <p:cNvPr id="32" name="Text 27"/>
          <p:cNvSpPr/>
          <p:nvPr/>
        </p:nvSpPr>
        <p:spPr>
          <a:xfrm>
            <a:off x="8641080" y="320040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Etapa: </a:t>
            </a:r>
            <a:pPr indent="0" marL="0">
              <a:buNone/>
            </a:pPr>
            <a:r>
              <a:rPr lang="en-US" sz="10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Conversión escalada + arranque de Ascensión</a:t>
            </a:r>
            <a:endParaRPr lang="en-US" sz="1050" dirty="0"/>
          </a:p>
        </p:txBody>
      </p:sp>
      <p:sp>
        <p:nvSpPr>
          <p:cNvPr id="33" name="Text 28"/>
          <p:cNvSpPr/>
          <p:nvPr/>
        </p:nvSpPr>
        <p:spPr>
          <a:xfrm>
            <a:off x="8641080" y="361188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protagonista: </a:t>
            </a:r>
            <a:pPr indent="0" marL="0">
              <a:buNone/>
            </a:pPr>
            <a:r>
              <a:rPr lang="en-US" sz="10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Muebles de sala y comedor</a:t>
            </a:r>
            <a:endParaRPr lang="en-US" sz="1050" dirty="0"/>
          </a:p>
        </p:txBody>
      </p:sp>
      <p:sp>
        <p:nvSpPr>
          <p:cNvPr id="34" name="Shape 29"/>
          <p:cNvSpPr/>
          <p:nvPr/>
        </p:nvSpPr>
        <p:spPr>
          <a:xfrm>
            <a:off x="8641080" y="4023360"/>
            <a:ext cx="2880360" cy="0"/>
          </a:xfrm>
          <a:prstGeom prst="line">
            <a:avLst/>
          </a:prstGeom>
          <a:noFill/>
          <a:ln w="12700">
            <a:solidFill>
              <a:srgbClr val="E4E3DF"/>
            </a:solidFill>
            <a:prstDash val="solid"/>
          </a:ln>
        </p:spPr>
      </p:sp>
      <p:sp>
        <p:nvSpPr>
          <p:cNvPr id="35" name="Text 30"/>
          <p:cNvSpPr/>
          <p:nvPr/>
        </p:nvSpPr>
        <p:spPr>
          <a:xfrm>
            <a:off x="8641080" y="4160520"/>
            <a:ext cx="2880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–"/>
            </a:pPr>
            <a:r>
              <a:rPr lang="en-US" sz="1030" dirty="0">
                <a:solidFill>
                  <a:srgbClr val="18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escalan las campañas de conversión con mejor desempeño</a:t>
            </a:r>
            <a:endParaRPr lang="en-US" sz="1030" dirty="0"/>
          </a:p>
        </p:txBody>
      </p:sp>
      <p:sp>
        <p:nvSpPr>
          <p:cNvPr id="36" name="Text 31"/>
          <p:cNvSpPr/>
          <p:nvPr/>
        </p:nvSpPr>
        <p:spPr>
          <a:xfrm>
            <a:off x="8641080" y="4818888"/>
            <a:ext cx="2880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–"/>
            </a:pPr>
            <a:r>
              <a:rPr lang="en-US" sz="1030" dirty="0">
                <a:solidFill>
                  <a:srgbClr val="18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muebles de sala y comedor como oferta principal para subir el ticket</a:t>
            </a:r>
            <a:endParaRPr lang="en-US" sz="1030" dirty="0"/>
          </a:p>
        </p:txBody>
      </p:sp>
      <p:sp>
        <p:nvSpPr>
          <p:cNvPr id="37" name="Text 32"/>
          <p:cNvSpPr/>
          <p:nvPr/>
        </p:nvSpPr>
        <p:spPr>
          <a:xfrm>
            <a:off x="8641080" y="5477256"/>
            <a:ext cx="2880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–"/>
            </a:pPr>
            <a:r>
              <a:rPr lang="en-US" sz="1030" dirty="0">
                <a:solidFill>
                  <a:srgbClr val="18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público de recompra para clientes ya adquiridos</a:t>
            </a:r>
            <a:endParaRPr lang="en-US" sz="1030" dirty="0"/>
          </a:p>
        </p:txBody>
      </p:sp>
      <p:sp>
        <p:nvSpPr>
          <p:cNvPr id="38" name="Text 33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PLAN DE TRABAJO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Cronograma semana a semana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ejecución detrás de cada mes.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02336" y="2377440"/>
            <a:ext cx="1783080" cy="2286000"/>
          </a:xfrm>
          <a:prstGeom prst="roundRect">
            <a:avLst>
              <a:gd name="adj" fmla="val 4103"/>
            </a:avLst>
          </a:prstGeom>
          <a:solidFill>
            <a:srgbClr val="F6F4F2"/>
          </a:solidFill>
          <a:ln/>
        </p:spPr>
      </p:sp>
      <p:sp>
        <p:nvSpPr>
          <p:cNvPr id="6" name="Text 4"/>
          <p:cNvSpPr/>
          <p:nvPr/>
        </p:nvSpPr>
        <p:spPr>
          <a:xfrm>
            <a:off x="539496" y="26060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Semana 1-2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66928" y="3063240"/>
            <a:ext cx="1453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8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Auditoría de la cuenta y de los 3 anuncios activos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322576" y="2377440"/>
            <a:ext cx="1783080" cy="2286000"/>
          </a:xfrm>
          <a:prstGeom prst="roundRect">
            <a:avLst>
              <a:gd name="adj" fmla="val 4103"/>
            </a:avLst>
          </a:prstGeom>
          <a:solidFill>
            <a:srgbClr val="E8EAEE"/>
          </a:solidFill>
          <a:ln/>
        </p:spPr>
      </p:sp>
      <p:sp>
        <p:nvSpPr>
          <p:cNvPr id="9" name="Text 7"/>
          <p:cNvSpPr/>
          <p:nvPr/>
        </p:nvSpPr>
        <p:spPr>
          <a:xfrm>
            <a:off x="2459736" y="26060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Semana 3-4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487168" y="3063240"/>
            <a:ext cx="1453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8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Lanzamiento de campañas de Presentación — camas y colchones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242816" y="2377440"/>
            <a:ext cx="1783080" cy="2286000"/>
          </a:xfrm>
          <a:prstGeom prst="roundRect">
            <a:avLst>
              <a:gd name="adj" fmla="val 4103"/>
            </a:avLst>
          </a:prstGeom>
          <a:solidFill>
            <a:srgbClr val="F6F4F2"/>
          </a:solidFill>
          <a:ln/>
        </p:spPr>
      </p:sp>
      <p:sp>
        <p:nvSpPr>
          <p:cNvPr id="12" name="Text 10"/>
          <p:cNvSpPr/>
          <p:nvPr/>
        </p:nvSpPr>
        <p:spPr>
          <a:xfrm>
            <a:off x="4379976" y="26060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Semana 5-6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407408" y="3063240"/>
            <a:ext cx="1453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8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Remarketing y prueba social — reseñas y respaldo de servicio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63056" y="2377440"/>
            <a:ext cx="1783080" cy="2286000"/>
          </a:xfrm>
          <a:prstGeom prst="roundRect">
            <a:avLst>
              <a:gd name="adj" fmla="val 4103"/>
            </a:avLst>
          </a:prstGeom>
          <a:solidFill>
            <a:srgbClr val="E8EAEE"/>
          </a:solidFill>
          <a:ln/>
        </p:spPr>
      </p:sp>
      <p:sp>
        <p:nvSpPr>
          <p:cNvPr id="15" name="Text 13"/>
          <p:cNvSpPr/>
          <p:nvPr/>
        </p:nvSpPr>
        <p:spPr>
          <a:xfrm>
            <a:off x="6300216" y="26060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Semana 7-8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327648" y="3063240"/>
            <a:ext cx="1453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8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Primeras campañas de Conversión — pedido por WhatsApp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83296" y="2377440"/>
            <a:ext cx="1783080" cy="2286000"/>
          </a:xfrm>
          <a:prstGeom prst="roundRect">
            <a:avLst>
              <a:gd name="adj" fmla="val 4103"/>
            </a:avLst>
          </a:prstGeom>
          <a:solidFill>
            <a:srgbClr val="F6F4F2"/>
          </a:solidFill>
          <a:ln/>
        </p:spPr>
      </p:sp>
      <p:sp>
        <p:nvSpPr>
          <p:cNvPr id="18" name="Text 16"/>
          <p:cNvSpPr/>
          <p:nvPr/>
        </p:nvSpPr>
        <p:spPr>
          <a:xfrm>
            <a:off x="8220456" y="26060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Semana 9-10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47888" y="3063240"/>
            <a:ext cx="1453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8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Optimización de campañas ganadoras — muebles de sala y comedor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0003536" y="2377440"/>
            <a:ext cx="1783080" cy="2286000"/>
          </a:xfrm>
          <a:prstGeom prst="roundRect">
            <a:avLst>
              <a:gd name="adj" fmla="val 4103"/>
            </a:avLst>
          </a:prstGeom>
          <a:solidFill>
            <a:srgbClr val="1F3A5F"/>
          </a:solidFill>
          <a:ln/>
        </p:spPr>
      </p:sp>
      <p:sp>
        <p:nvSpPr>
          <p:cNvPr id="21" name="Text 19"/>
          <p:cNvSpPr/>
          <p:nvPr/>
        </p:nvSpPr>
        <p:spPr>
          <a:xfrm>
            <a:off x="10140696" y="26060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Semana 11-12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168128" y="3063240"/>
            <a:ext cx="1453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CEE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Arranque de Ascensión: primer público de recompra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0080" y="50292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8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cierre del mes 3, el sistema completo está activo: descubrimiento, confianza, conversión y las primeras señales de recompra.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INVERSIÓN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se necesita para activar el sistema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líneas de inversión, independientes entre sí.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5074920" cy="3520440"/>
          </a:xfrm>
          <a:prstGeom prst="roundRect">
            <a:avLst>
              <a:gd name="adj" fmla="val 2078"/>
            </a:avLst>
          </a:prstGeom>
          <a:solidFill>
            <a:srgbClr val="F6F4F2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30428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HONORARIOS DE GESTIÓN ESTRATÉGICA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1005840" y="283464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MESES 1 A 3 · PRECIO DE LANZAMIENTO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05840" y="310896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$1.100.000</a:t>
            </a:r>
            <a:pPr indent="0" marL="0">
              <a:buNone/>
            </a:pPr>
            <a:r>
              <a:rPr lang="en-US" sz="1500" dirty="0">
                <a:solidFill>
                  <a:srgbClr val="6B6B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/mes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1005840" y="3840480"/>
            <a:ext cx="4343400" cy="0"/>
          </a:xfrm>
          <a:prstGeom prst="line">
            <a:avLst/>
          </a:prstGeom>
          <a:noFill/>
          <a:ln w="12700">
            <a:solidFill>
              <a:srgbClr val="E4E3D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4005072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EL MES 4 · TARIFA FULL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005840" y="4279392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$1.300.000</a:t>
            </a:r>
            <a:pPr indent="0" marL="0">
              <a:buNone/>
            </a:pPr>
            <a:r>
              <a:rPr lang="en-US" sz="1500" dirty="0">
                <a:solidFill>
                  <a:srgbClr val="6B6B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/mes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1005840" y="4919472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estrategia, diseño de campañas, gestión y optimización continua de las 4 etapas del sistema.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72200" y="2011680"/>
            <a:ext cx="5074920" cy="3520440"/>
          </a:xfrm>
          <a:prstGeom prst="roundRect">
            <a:avLst>
              <a:gd name="adj" fmla="val 2078"/>
            </a:avLst>
          </a:prstGeom>
          <a:solidFill>
            <a:srgbClr val="181321"/>
          </a:solidFill>
          <a:ln/>
        </p:spPr>
      </p:sp>
      <p:sp>
        <p:nvSpPr>
          <p:cNvPr id="14" name="Text 12"/>
          <p:cNvSpPr/>
          <p:nvPr/>
        </p:nvSpPr>
        <p:spPr>
          <a:xfrm>
            <a:off x="6537960" y="230428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929F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DE PAUTA EN META ADS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537960" y="283464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AC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MÍNIMO RECOMENDADO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37960" y="310896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$1.500.000</a:t>
            </a:r>
            <a:pPr indent="0" marL="0">
              <a:buNone/>
            </a:pPr>
            <a:r>
              <a:rPr lang="en-US" sz="1500" dirty="0">
                <a:solidFill>
                  <a:srgbClr val="ACB6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/mes</a:t>
            </a:r>
            <a:endParaRPr lang="en-US" sz="3400" dirty="0"/>
          </a:p>
        </p:txBody>
      </p:sp>
      <p:sp>
        <p:nvSpPr>
          <p:cNvPr id="17" name="Shape 15"/>
          <p:cNvSpPr/>
          <p:nvPr/>
        </p:nvSpPr>
        <p:spPr>
          <a:xfrm>
            <a:off x="6537960" y="3840480"/>
            <a:ext cx="4343400" cy="0"/>
          </a:xfrm>
          <a:prstGeom prst="line">
            <a:avLst/>
          </a:prstGeom>
          <a:noFill/>
          <a:ln w="12700">
            <a:solidFill>
              <a:srgbClr val="14263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37960" y="3977640"/>
            <a:ext cx="4343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invierte 100% en la plataforma de Meta. Financia el alcance, la evaluación, la conversión y la reactivación de clientes en las 4 etapas del sistema.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8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honorarios cubren la estrategia y la ejecución; el presupuesto de pauta pertenece 100% a Casa Outlet y se administra directamente dentro de la cuenta publicitaria.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8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29F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SIGUIENTE PASO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1600200"/>
            <a:ext cx="10424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es más promociones sueltas.</a:t>
            </a:r>
            <a:endParaRPr lang="en-US" sz="30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 un sistema de ventas para cada mueble y cada colchón.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3520440"/>
            <a:ext cx="548640" cy="548640"/>
          </a:xfrm>
          <a:prstGeom prst="ellipse">
            <a:avLst/>
          </a:prstGeom>
          <a:solidFill>
            <a:srgbClr val="929FB1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3520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2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20" dirty="0"/>
          </a:p>
        </p:txBody>
      </p:sp>
      <p:sp>
        <p:nvSpPr>
          <p:cNvPr id="6" name="Text 4"/>
          <p:cNvSpPr/>
          <p:nvPr/>
        </p:nvSpPr>
        <p:spPr>
          <a:xfrm>
            <a:off x="777240" y="44805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Auditoría de cuenta y de los 3 anuncios activos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49377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técnica de la configuración actual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480560" y="3520440"/>
            <a:ext cx="548640" cy="548640"/>
          </a:xfrm>
          <a:prstGeom prst="ellipse">
            <a:avLst/>
          </a:prstGeom>
          <a:solidFill>
            <a:srgbClr val="929FB1"/>
          </a:solidFill>
          <a:ln/>
        </p:spPr>
      </p:sp>
      <p:sp>
        <p:nvSpPr>
          <p:cNvPr id="9" name="Text 7"/>
          <p:cNvSpPr/>
          <p:nvPr/>
        </p:nvSpPr>
        <p:spPr>
          <a:xfrm>
            <a:off x="4480560" y="3520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2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20" dirty="0"/>
          </a:p>
        </p:txBody>
      </p:sp>
      <p:sp>
        <p:nvSpPr>
          <p:cNvPr id="10" name="Text 8"/>
          <p:cNvSpPr/>
          <p:nvPr/>
        </p:nvSpPr>
        <p:spPr>
          <a:xfrm>
            <a:off x="4480560" y="44805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Diseño de las 4 campañas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480560" y="49377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Presentación, Evaluación, Conversión, Ascensión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83880" y="3520440"/>
            <a:ext cx="548640" cy="548640"/>
          </a:xfrm>
          <a:prstGeom prst="ellipse">
            <a:avLst/>
          </a:prstGeom>
          <a:solidFill>
            <a:srgbClr val="929FB1"/>
          </a:solidFill>
          <a:ln/>
        </p:spPr>
      </p:sp>
      <p:sp>
        <p:nvSpPr>
          <p:cNvPr id="13" name="Text 11"/>
          <p:cNvSpPr/>
          <p:nvPr/>
        </p:nvSpPr>
        <p:spPr>
          <a:xfrm>
            <a:off x="8183880" y="3520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2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20" dirty="0"/>
          </a:p>
        </p:txBody>
      </p:sp>
      <p:sp>
        <p:nvSpPr>
          <p:cNvPr id="14" name="Text 12"/>
          <p:cNvSpPr/>
          <p:nvPr/>
        </p:nvSpPr>
        <p:spPr>
          <a:xfrm>
            <a:off x="8183880" y="44805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Activación en Cali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183880" y="49377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base para expandir a toda Colombia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D70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Casa Outlet - Estrategia Meta Ads</dc:title>
  <dc:subject>Casa Outlet - Estrategia Meta Ads</dc:subject>
  <dc:creator>PptxGenJS</dc:creator>
  <cp:lastModifiedBy>PptxGenJS</cp:lastModifiedBy>
  <cp:revision>1</cp:revision>
  <dcterms:created xsi:type="dcterms:W3CDTF">2026-08-06T01:01:13Z</dcterms:created>
  <dcterms:modified xsi:type="dcterms:W3CDTF">2026-08-06T01:01:14Z</dcterms:modified>
</cp:coreProperties>
</file>