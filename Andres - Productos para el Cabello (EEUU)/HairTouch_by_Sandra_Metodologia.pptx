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Establecer el punto de partida real, reconociendo lo que ya existe antes de hablar de lo que falta.
MENSAJE PRINCIPAL: Hair Touch by Sandra ya tiene autoridad, contenido y prueba social; lo que no tiene todavía es un sistema de Meta Ads que convierta eso en clientes nuevos de forma constante en todo Estados Unidos.
QUÉ EXPLICAR: El crecimiento actual depende del boca a boca y del alcance orgánico del salón físico en Los Ángeles. Ese modelo tiene techo geográfico; Meta Ads es el mecanismo para romper ese techo sin perder lo que ya funciona.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Cambiar el modelo mental de 'publicar y promocionar' a 'sistema de adquisición'.
MENSAJE PRINCIPAL: El problema no es la calidad del contenido; es la ausencia de una arquitectura de campañas detrás de él.
QUÉ EXPLICAR: Contrastar cómo funciona hoy la presencia digital (orgánica, dispersa) frente a cómo debería operar un sistema de Meta Ads (secuencial, medible, con propósito por etapa).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la metodología completa en una sola imagen antes de entrar en el detalle de cada etapa.
MENSAJE PRINCIPAL: Cada etapa de Meta Ads cumple un rol distinto y prepara la siguiente; ninguna funciona aislada.
QUÉ EXPLICAR: Recorrer el journey completo: Presentación (descubrir la marca), Evaluación (confiar en el producto), Conversión (comprar en línea), Ascensión (volver a comprar). Esta estructura reemplaza la publicación esporádica de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Lograr que miles de personas nuevas en Estados Unidos descubran Hair Touch by Sandra. Aquí no se vende, se despierta interés.
MENSAJE PRINCIPAL: El objetivo se mide en alcance calificado y frecuencia de exposición, no en ventas inmediatas.
QUÉ EXPLICAR: Objetivos de Meta recomendados (reconocimiento, interacción, reproducciones de video); territorio de targeting (Estados Unidos, con énfasis en audiencia bicultural); y por qué la autoridad de Sandra como periodista es un ángulo creativo que pocas marcas de haircare pueden usar.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Dar profundidad al contenido creativo de la etapa 1.
MENSAJE PRINCIPAL: No se trata de un anuncio genérico de producto, sino de piezas que cubren distintos ángulos emocionales y de credibilidad.
QUÉ EXPLICAR: Recorrer cada pilar. La autoridad de Sandra como periodista es especialmente valiosa porque trae una credibilidad que ninguna marca nueva de haircare puede comprar. El aceite de romero conecta con una tendencia de búsqueda real en EE.UU.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Mover a quien ya conoce la marca hacia la intención de compra, resolviendo la duda.
MENSAJE PRINCIPAL: Aquí no se busca alcance nuevo; se busca profundizar la confianza en quienes ya mostraron interés.
QUÉ EXPLICAR: Se activa remarketing sobre quienes vieron los videos o interactuaron con Instagram y TikTok. El contenido cambia hacia prueba social: reseñas reales, testimonios, comparativas de antes y después del uso del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una oportunidad concreta y medible que hoy no se aprovecha.
MENSAJE PRINCIPAL: Hair Touch by Sandra ya tiene una audiencia caliente construida por años (585 reseñas, 5.500+ publicaciones); hoy Meta Ads no la usa.
QUÉ EXPLICAR: Cómo se crean públicos personalizados a partir de quienes interactúan con Instagram o TikTok o ven los videos de la etapa 1, y cómo se les impacta con contenido de prueba social para moverlos hacia la etapa de conversión.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el interés calificado en compras reales dentro de hairtouchbysandra.com.
MENSAJE PRINCIPAL: En conversión no buscamos alcance, buscamos precisión: solo se invierte en quien ya mostró interés real.
QUÉ EXPLICAR: Las audiencias se restringen a quienes vieron videos, interactuaron con la página o visitaron el sitio. El objetivo de Meta cambia a conversiones de compra. El CTA es directo: comprar el producto, con envío a todo Estados Unidos.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el detalle táctico de optimización dentro de la etapa de conversión.
MENSAJE PRINCIPAL: Pequeños ajustes de oferta, producto y llamado a la acción mueven directamente la tasa de conversión.
QUÉ EXPLICAR: Ejemplo concreto: pasar de un anuncio genérico de marca a un anuncio que nombra el producto, su beneficio y el envío a nivel nacional. Cada línea de producto puede tener su propio creativo y oferta.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 LA ETAPA: Convertir una clienta que ya compró una vez en una clienta recurrente.
MENSAJE PRINCIPAL: La etapa más rentable del sistema es la que hoy no existe en la cuenta.
QUÉ EXPLICAR: El haircare es una categoría de consumo recurrente por naturaleza: el shampoo y el leave-in se terminan y se vuelven a comprar. Cómo construir públicos personalizados de compradoras anteriores y reimpactarlas con recordatorios de recompra y nuevos lanzamientos.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Explicar el concepto de Lifetime Value aplicado a una marca de haircare.
MENSAJE PRINCIPAL: No buscamos vender una vez; buscamos construir frecuencia de recompra durante todo el año.
QUÉ EXPLICAR: Cada fecha o gatillo (recompra natural del producto, un nuevo lanzamiento, Día de la Madre, el aniversario de la marca) es una campaña de reactivación dirigida a un público ya construido en las etapas anteriores. Esto multiplica el valor de cada clienta adquirida.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Consolidar la visión completa antes de pasar al cierre.
MENSAJE PRINCIPAL: El sistema es un ciclo, no una línea recta; la clienta que vuelve a comprar reingresa al ciclo en su siguiente decisión.
QUÉ EXPLICAR: Cómo el dato de una etapa (quién vio el video, quién interactuó, quién compró) alimenta la audiencia de la siguiente. Reforzar que una publicación esporádica no puede sostener esta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Presentar el razonamiento económico del sistema sin prometer cifras específicas.
MENSAJE PRINCIPAL: El sistema reduce la dependencia de adquisición constante de clientas nuevas y aumenta el valor de las ya conseguidas.
QUÉ EXPLICAR: Por qué reimpactar cuesta menos que adquirir; por qué el haircare, al ser un producto de consumo recurrente, se presta naturalmente a un sistema de recompra; por qué ofrecer rutinas completas o nuevos lanzamientos a la base existente sube el ticket promedio.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el diagnóstico con impacto, mostrando la brecha concreta entre el potencial de la marca y la ejecución publicitaria actual.
MENSAJE PRINCIPAL: Cada oportunidad está fundamentada en información pública real de Hair Touch by Sandra (Instagram, TikTok, Yelp, trayectoria de Sandra), no en suposiciones.
QUÉ EXPLICAR: Recorrer brevemente cada oportunidad conectándola con la etapa del sistema a la que pertenece. Cerrar señalando que estas oportunidades ya existen dentro de la marca: el sistema es lo que falta para activarlas.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Mostrar un plan de trabajo concreto para los primeros 3 meses, conectando cada mes con un producto protagonista y con la autoridad de Sandra.
MENSAJE PRINCIPAL: La metodología de las 4 etapas no es teórica: se activa de forma progresiva mes a mes, empezando por el aceite de romero, siguiendo con el shampoo y cerrando con la rutina completa.
QUÉ EXPLICAR: Mes 1 se enfoca en dar a conocer el aceite de romero apoyado en la autoridad de Sandra. Mes 2 construye confianza alrededor del shampoo con prueba social y abre las primeras campañas de conversión. Mes 3 escala lo que mejor funciona y presenta la rutina completa, arrancando ya la etapa de ascensión con las primeras clientas.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Dar seguridad mostrando un cronograma detallado y realista para los primeros 3 meses.
MENSAJE PRINCIPAL: Cada quincena tiene un entregable concreto; no hay ambigüedad sobre qué se está haciendo en cada momento.
QUÉ EXPLICAR: Las dos primeras semanas son de base técnica (auditoría, píxel), no de campañas activas todavía. A partir de la semana 3 empieza la etapa de Presentación con el aceite de romero, y el sistema se va completando progresivamente hasta arrancar Ascensión al final del mes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Cerrar con una propuesta de acción clara, sin sonar comercial.
MENSAJE PRINCIPAL: El crecimiento no depende de publicar más; depende de darle estructura a lo que ya existe.
QUÉ EXPLICAR: Los tres pasos siguientes son concretos y secuenciales. La siguiente conversación debe definir el alcance y el cronograma de implementación de las cuatro campañas para el mercado de Estados Unidos.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4.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7.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822960" y="1874520"/>
            <a:ext cx="10058400" cy="365760"/>
          </a:xfrm>
          <a:prstGeom prst="rect">
            <a:avLst/>
          </a:prstGeom>
          <a:noFill/>
          <a:ln/>
        </p:spPr>
        <p:txBody>
          <a:bodyPr wrap="square" lIns="0" tIns="0" rIns="0" bIns="0" rtlCol="0" anchor="ctr"/>
          <a:lstStyle/>
          <a:p>
            <a:pPr indent="0" marL="0">
              <a:buNone/>
            </a:pPr>
            <a:r>
              <a:rPr lang="en-US" sz="1300" b="1" spc="200" kern="0" dirty="0">
                <a:solidFill>
                  <a:srgbClr val="6FA98A"/>
                </a:solidFill>
                <a:latin typeface="Calibri" pitchFamily="34" charset="0"/>
                <a:ea typeface="Calibri" pitchFamily="34" charset="-122"/>
                <a:cs typeface="Calibri" pitchFamily="34" charset="-120"/>
              </a:rPr>
              <a:t>ESTRATEGIA DE ADQUISICIÓN DE CLIENTES · META ADS · ESTADOS UNIDOS · 2026</a:t>
            </a:r>
            <a:endParaRPr lang="en-US" sz="1300" dirty="0"/>
          </a:p>
        </p:txBody>
      </p:sp>
      <p:sp>
        <p:nvSpPr>
          <p:cNvPr id="3" name="Text 1"/>
          <p:cNvSpPr/>
          <p:nvPr/>
        </p:nvSpPr>
        <p:spPr>
          <a:xfrm>
            <a:off x="777240" y="2286000"/>
            <a:ext cx="10515600" cy="118872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Hair Touch by Sandra</a:t>
            </a:r>
            <a:endParaRPr lang="en-US" sz="5000" dirty="0"/>
          </a:p>
        </p:txBody>
      </p:sp>
      <p:sp>
        <p:nvSpPr>
          <p:cNvPr id="4" name="Text 2"/>
          <p:cNvSpPr/>
          <p:nvPr/>
        </p:nvSpPr>
        <p:spPr>
          <a:xfrm>
            <a:off x="822960" y="3364992"/>
            <a:ext cx="9966960" cy="640080"/>
          </a:xfrm>
          <a:prstGeom prst="rect">
            <a:avLst/>
          </a:prstGeom>
          <a:noFill/>
          <a:ln/>
        </p:spPr>
        <p:txBody>
          <a:bodyPr wrap="square" lIns="0" tIns="0" rIns="0" bIns="0" rtlCol="0" anchor="ctr"/>
          <a:lstStyle/>
          <a:p>
            <a:pPr indent="0" marL="0">
              <a:buNone/>
            </a:pPr>
            <a:r>
              <a:rPr lang="en-US" sz="1900" i="1" dirty="0">
                <a:solidFill>
                  <a:srgbClr val="D6D4CE"/>
                </a:solidFill>
                <a:latin typeface="Calibri" pitchFamily="34" charset="0"/>
                <a:ea typeface="Calibri" pitchFamily="34" charset="-122"/>
                <a:cs typeface="Calibri" pitchFamily="34" charset="-120"/>
              </a:rPr>
              <a:t>De un producto que ya funciona a un sistema de adquisición de clientes con Meta Ads</a:t>
            </a:r>
            <a:endParaRPr lang="en-US" sz="1900" dirty="0"/>
          </a:p>
        </p:txBody>
      </p:sp>
      <p:sp>
        <p:nvSpPr>
          <p:cNvPr id="5" name="Shape 3"/>
          <p:cNvSpPr/>
          <p:nvPr/>
        </p:nvSpPr>
        <p:spPr>
          <a:xfrm>
            <a:off x="822960" y="4114800"/>
            <a:ext cx="2011680" cy="0"/>
          </a:xfrm>
          <a:prstGeom prst="line">
            <a:avLst/>
          </a:prstGeom>
          <a:noFill/>
          <a:ln w="25400">
            <a:solidFill>
              <a:srgbClr val="6FA98A"/>
            </a:solidFill>
            <a:prstDash val="solid"/>
          </a:ln>
        </p:spPr>
      </p:sp>
      <p:sp>
        <p:nvSpPr>
          <p:cNvPr id="6" name="Text 4"/>
          <p:cNvSpPr/>
          <p:nvPr/>
        </p:nvSpPr>
        <p:spPr>
          <a:xfrm>
            <a:off x="822960" y="6126480"/>
            <a:ext cx="8229600" cy="365760"/>
          </a:xfrm>
          <a:prstGeom prst="rect">
            <a:avLst/>
          </a:prstGeom>
          <a:noFill/>
          <a:ln/>
        </p:spPr>
        <p:txBody>
          <a:bodyPr wrap="square" lIns="0" tIns="0" rIns="0" bIns="0" rtlCol="0" anchor="ctr"/>
          <a:lstStyle/>
          <a:p>
            <a:pPr indent="0" marL="0">
              <a:buNone/>
            </a:pPr>
            <a:r>
              <a:rPr lang="en-US" sz="1200" dirty="0">
                <a:solidFill>
                  <a:srgbClr val="9B9994"/>
                </a:solidFill>
                <a:latin typeface="Calibri" pitchFamily="34" charset="0"/>
                <a:ea typeface="Calibri" pitchFamily="34" charset="-122"/>
                <a:cs typeface="Calibri" pitchFamily="34" charset="-120"/>
              </a:rPr>
              <a:t>Preparado para Andrés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PUNTO DE PARTIDA</a:t>
            </a:r>
            <a:endParaRPr lang="en-US" sz="1200" dirty="0"/>
          </a:p>
        </p:txBody>
      </p:sp>
      <p:sp>
        <p:nvSpPr>
          <p:cNvPr id="3" name="Text 1"/>
          <p:cNvSpPr/>
          <p:nvPr/>
        </p:nvSpPr>
        <p:spPr>
          <a:xfrm>
            <a:off x="640080" y="841248"/>
            <a:ext cx="10698480" cy="1234440"/>
          </a:xfrm>
          <a:prstGeom prst="rect">
            <a:avLst/>
          </a:prstGeom>
          <a:noFill/>
          <a:ln/>
        </p:spPr>
        <p:txBody>
          <a:bodyPr wrap="square" lIns="0" tIns="0" rIns="0" bIns="0" rtlCol="0" anchor="ctr"/>
          <a:lstStyle/>
          <a:p>
            <a:pPr algn="l" indent="0" marL="0">
              <a:buNone/>
            </a:pPr>
            <a:r>
              <a:rPr lang="en-US" sz="2700" b="1" dirty="0">
                <a:solidFill>
                  <a:srgbClr val="141412"/>
                </a:solidFill>
                <a:latin typeface="Cambria" pitchFamily="34" charset="0"/>
                <a:ea typeface="Cambria" pitchFamily="34" charset="-122"/>
                <a:cs typeface="Cambria" pitchFamily="34" charset="-120"/>
              </a:rPr>
              <a:t>Hoy, el crecimiento depende del alcance orgánico.</a:t>
            </a:r>
            <a:endParaRPr lang="en-US" sz="2700" dirty="0"/>
          </a:p>
        </p:txBody>
      </p:sp>
      <p:sp>
        <p:nvSpPr>
          <p:cNvPr id="4" name="Text 2"/>
          <p:cNvSpPr/>
          <p:nvPr/>
        </p:nvSpPr>
        <p:spPr>
          <a:xfrm>
            <a:off x="640080" y="1847088"/>
            <a:ext cx="9144000" cy="457200"/>
          </a:xfrm>
          <a:prstGeom prst="rect">
            <a:avLst/>
          </a:prstGeom>
          <a:noFill/>
          <a:ln/>
        </p:spPr>
        <p:txBody>
          <a:bodyPr wrap="square" lIns="0" tIns="0" rIns="0" bIns="0" rtlCol="0" anchor="ctr"/>
          <a:lstStyle/>
          <a:p>
            <a:pPr indent="0" marL="0">
              <a:buNone/>
            </a:pPr>
            <a:r>
              <a:rPr lang="en-US" sz="1800" i="1" dirty="0">
                <a:solidFill>
                  <a:srgbClr val="1F4A3C"/>
                </a:solidFill>
                <a:latin typeface="Cambria" pitchFamily="34" charset="0"/>
                <a:ea typeface="Cambria" pitchFamily="34" charset="-122"/>
                <a:cs typeface="Cambria" pitchFamily="34" charset="-120"/>
              </a:rPr>
              <a:t>No de un sistema de adquisición.</a:t>
            </a:r>
            <a:endParaRPr lang="en-US" sz="1800" dirty="0"/>
          </a:p>
        </p:txBody>
      </p:sp>
      <p:sp>
        <p:nvSpPr>
          <p:cNvPr id="5" name="Shape 3"/>
          <p:cNvSpPr/>
          <p:nvPr/>
        </p:nvSpPr>
        <p:spPr>
          <a:xfrm>
            <a:off x="640080" y="2697480"/>
            <a:ext cx="3246120" cy="2834640"/>
          </a:xfrm>
          <a:prstGeom prst="roundRect">
            <a:avLst>
              <a:gd name="adj" fmla="val 2581"/>
            </a:avLst>
          </a:prstGeom>
          <a:solidFill>
            <a:srgbClr val="F5F5F3"/>
          </a:solidFill>
          <a:ln w="12700">
            <a:solidFill>
              <a:srgbClr val="E4E3DF"/>
            </a:solidFill>
            <a:prstDash val="solid"/>
          </a:ln>
        </p:spPr>
      </p:sp>
      <p:sp>
        <p:nvSpPr>
          <p:cNvPr id="6" name="Shape 4"/>
          <p:cNvSpPr/>
          <p:nvPr/>
        </p:nvSpPr>
        <p:spPr>
          <a:xfrm>
            <a:off x="1897380" y="3108960"/>
            <a:ext cx="731520" cy="731520"/>
          </a:xfrm>
          <a:prstGeom prst="ellipse">
            <a:avLst/>
          </a:prstGeom>
          <a:solidFill>
            <a:srgbClr val="FFFFFF"/>
          </a:solidFill>
          <a:ln/>
        </p:spPr>
      </p:sp>
      <p:pic>
        <p:nvPicPr>
          <p:cNvPr id="7" name="Image 0" descr="/tmp/claude-0/-home-user-Presentaciones-y-varios/903c1196-30c4-57a8-b469-52313f1ce01c/scratchpad/andres/icons/instagram_1F4A3C.png">    </p:cNvPr>
          <p:cNvPicPr>
            <a:picLocks noChangeAspect="1"/>
          </p:cNvPicPr>
          <p:nvPr/>
        </p:nvPicPr>
        <p:blipFill>
          <a:blip r:embed="rId1"/>
          <a:stretch>
            <a:fillRect/>
          </a:stretch>
        </p:blipFill>
        <p:spPr>
          <a:xfrm>
            <a:off x="2080260" y="3291840"/>
            <a:ext cx="365760" cy="365760"/>
          </a:xfrm>
          <a:prstGeom prst="rect">
            <a:avLst/>
          </a:prstGeom>
        </p:spPr>
      </p:pic>
      <p:sp>
        <p:nvSpPr>
          <p:cNvPr id="8" name="Text 5"/>
          <p:cNvSpPr/>
          <p:nvPr/>
        </p:nvSpPr>
        <p:spPr>
          <a:xfrm>
            <a:off x="640080" y="3931920"/>
            <a:ext cx="3246120" cy="777240"/>
          </a:xfrm>
          <a:prstGeom prst="rect">
            <a:avLst/>
          </a:prstGeom>
          <a:noFill/>
          <a:ln/>
        </p:spPr>
        <p:txBody>
          <a:bodyPr wrap="square" lIns="0" tIns="0" rIns="0" bIns="0" rtlCol="0" anchor="ctr"/>
          <a:lstStyle/>
          <a:p>
            <a:pPr algn="ctr" indent="0" marL="0">
              <a:buNone/>
            </a:pPr>
            <a:r>
              <a:rPr lang="en-US" sz="3000" b="1" dirty="0">
                <a:solidFill>
                  <a:srgbClr val="141412"/>
                </a:solidFill>
                <a:latin typeface="Cambria" pitchFamily="34" charset="0"/>
                <a:ea typeface="Cambria" pitchFamily="34" charset="-122"/>
                <a:cs typeface="Cambria" pitchFamily="34" charset="-120"/>
              </a:rPr>
              <a:t>5.500+</a:t>
            </a:r>
            <a:endParaRPr lang="en-US" sz="3000" dirty="0"/>
          </a:p>
        </p:txBody>
      </p:sp>
      <p:sp>
        <p:nvSpPr>
          <p:cNvPr id="9" name="Text 6"/>
          <p:cNvSpPr/>
          <p:nvPr/>
        </p:nvSpPr>
        <p:spPr>
          <a:xfrm>
            <a:off x="914400" y="4663440"/>
            <a:ext cx="2697480" cy="777240"/>
          </a:xfrm>
          <a:prstGeom prst="rect">
            <a:avLst/>
          </a:prstGeom>
          <a:noFill/>
          <a:ln/>
        </p:spPr>
        <p:txBody>
          <a:bodyPr wrap="square" lIns="0" tIns="0" rIns="0" bIns="0" rtlCol="0" anchor="ctr"/>
          <a:lstStyle/>
          <a:p>
            <a:pPr algn="ctr" indent="0" marL="0">
              <a:buNone/>
            </a:pPr>
            <a:r>
              <a:rPr lang="en-US" sz="1150" dirty="0">
                <a:solidFill>
                  <a:srgbClr val="6B6B66"/>
                </a:solidFill>
                <a:latin typeface="Calibri" pitchFamily="34" charset="0"/>
                <a:ea typeface="Calibri" pitchFamily="34" charset="-122"/>
                <a:cs typeface="Calibri" pitchFamily="34" charset="-120"/>
              </a:rPr>
              <a:t>Publicaciones orgánicas ya creadas, sin un sistema de pauta que las capitalice</a:t>
            </a:r>
            <a:endParaRPr lang="en-US" sz="1150" dirty="0"/>
          </a:p>
        </p:txBody>
      </p:sp>
      <p:sp>
        <p:nvSpPr>
          <p:cNvPr id="10" name="Shape 7"/>
          <p:cNvSpPr/>
          <p:nvPr/>
        </p:nvSpPr>
        <p:spPr>
          <a:xfrm>
            <a:off x="4206240" y="2697480"/>
            <a:ext cx="3246120" cy="2834640"/>
          </a:xfrm>
          <a:prstGeom prst="roundRect">
            <a:avLst>
              <a:gd name="adj" fmla="val 2581"/>
            </a:avLst>
          </a:prstGeom>
          <a:solidFill>
            <a:srgbClr val="F5F5F3"/>
          </a:solidFill>
          <a:ln w="12700">
            <a:solidFill>
              <a:srgbClr val="E4E3DF"/>
            </a:solidFill>
            <a:prstDash val="solid"/>
          </a:ln>
        </p:spPr>
      </p:sp>
      <p:sp>
        <p:nvSpPr>
          <p:cNvPr id="11" name="Shape 8"/>
          <p:cNvSpPr/>
          <p:nvPr/>
        </p:nvSpPr>
        <p:spPr>
          <a:xfrm>
            <a:off x="5463540" y="3108960"/>
            <a:ext cx="731520" cy="731520"/>
          </a:xfrm>
          <a:prstGeom prst="ellipse">
            <a:avLst/>
          </a:prstGeom>
          <a:solidFill>
            <a:srgbClr val="FFFFFF"/>
          </a:solidFill>
          <a:ln/>
        </p:spPr>
      </p:sp>
      <p:pic>
        <p:nvPicPr>
          <p:cNvPr id="12" name="Image 1" descr="/tmp/claude-0/-home-user-Presentaciones-y-varios/903c1196-30c4-57a8-b469-52313f1ce01c/scratchpad/andres/icons/mapPin_1F4A3C.png">    </p:cNvPr>
          <p:cNvPicPr>
            <a:picLocks noChangeAspect="1"/>
          </p:cNvPicPr>
          <p:nvPr/>
        </p:nvPicPr>
        <p:blipFill>
          <a:blip r:embed="rId2"/>
          <a:stretch>
            <a:fillRect/>
          </a:stretch>
        </p:blipFill>
        <p:spPr>
          <a:xfrm>
            <a:off x="5646420" y="3291840"/>
            <a:ext cx="365760" cy="365760"/>
          </a:xfrm>
          <a:prstGeom prst="rect">
            <a:avLst/>
          </a:prstGeom>
        </p:spPr>
      </p:pic>
      <p:sp>
        <p:nvSpPr>
          <p:cNvPr id="13" name="Text 9"/>
          <p:cNvSpPr/>
          <p:nvPr/>
        </p:nvSpPr>
        <p:spPr>
          <a:xfrm>
            <a:off x="4206240" y="3931920"/>
            <a:ext cx="3246120" cy="777240"/>
          </a:xfrm>
          <a:prstGeom prst="rect">
            <a:avLst/>
          </a:prstGeom>
          <a:noFill/>
          <a:ln/>
        </p:spPr>
        <p:txBody>
          <a:bodyPr wrap="square" lIns="0" tIns="0" rIns="0" bIns="0" rtlCol="0" anchor="ctr"/>
          <a:lstStyle/>
          <a:p>
            <a:pPr algn="ctr" indent="0" marL="0">
              <a:buNone/>
            </a:pPr>
            <a:r>
              <a:rPr lang="en-US" sz="3000" b="1" dirty="0">
                <a:solidFill>
                  <a:srgbClr val="141412"/>
                </a:solidFill>
                <a:latin typeface="Cambria" pitchFamily="34" charset="0"/>
                <a:ea typeface="Cambria" pitchFamily="34" charset="-122"/>
                <a:cs typeface="Cambria" pitchFamily="34" charset="-120"/>
              </a:rPr>
              <a:t>1 ciudad</a:t>
            </a:r>
            <a:endParaRPr lang="en-US" sz="3000" dirty="0"/>
          </a:p>
        </p:txBody>
      </p:sp>
      <p:sp>
        <p:nvSpPr>
          <p:cNvPr id="14" name="Text 10"/>
          <p:cNvSpPr/>
          <p:nvPr/>
        </p:nvSpPr>
        <p:spPr>
          <a:xfrm>
            <a:off x="4480560" y="4663440"/>
            <a:ext cx="2697480" cy="777240"/>
          </a:xfrm>
          <a:prstGeom prst="rect">
            <a:avLst/>
          </a:prstGeom>
          <a:noFill/>
          <a:ln/>
        </p:spPr>
        <p:txBody>
          <a:bodyPr wrap="square" lIns="0" tIns="0" rIns="0" bIns="0" rtlCol="0" anchor="ctr"/>
          <a:lstStyle/>
          <a:p>
            <a:pPr algn="ctr" indent="0" marL="0">
              <a:buNone/>
            </a:pPr>
            <a:r>
              <a:rPr lang="en-US" sz="1150" dirty="0">
                <a:solidFill>
                  <a:srgbClr val="6B6B66"/>
                </a:solidFill>
                <a:latin typeface="Calibri" pitchFamily="34" charset="0"/>
                <a:ea typeface="Calibri" pitchFamily="34" charset="-122"/>
                <a:cs typeface="Calibri" pitchFamily="34" charset="-120"/>
              </a:rPr>
              <a:t>Alcance hoy concentrado en Los Ángeles, frente a todo Estados Unidos por explotar</a:t>
            </a:r>
            <a:endParaRPr lang="en-US" sz="1150" dirty="0"/>
          </a:p>
        </p:txBody>
      </p:sp>
      <p:sp>
        <p:nvSpPr>
          <p:cNvPr id="15" name="Shape 11"/>
          <p:cNvSpPr/>
          <p:nvPr/>
        </p:nvSpPr>
        <p:spPr>
          <a:xfrm>
            <a:off x="7772400" y="2697480"/>
            <a:ext cx="3246120" cy="2834640"/>
          </a:xfrm>
          <a:prstGeom prst="roundRect">
            <a:avLst>
              <a:gd name="adj" fmla="val 2581"/>
            </a:avLst>
          </a:prstGeom>
          <a:solidFill>
            <a:srgbClr val="F5F5F3"/>
          </a:solidFill>
          <a:ln w="12700">
            <a:solidFill>
              <a:srgbClr val="E4E3DF"/>
            </a:solidFill>
            <a:prstDash val="solid"/>
          </a:ln>
        </p:spPr>
      </p:sp>
      <p:sp>
        <p:nvSpPr>
          <p:cNvPr id="16" name="Shape 12"/>
          <p:cNvSpPr/>
          <p:nvPr/>
        </p:nvSpPr>
        <p:spPr>
          <a:xfrm>
            <a:off x="9029700" y="3108960"/>
            <a:ext cx="731520" cy="731520"/>
          </a:xfrm>
          <a:prstGeom prst="ellipse">
            <a:avLst/>
          </a:prstGeom>
          <a:solidFill>
            <a:srgbClr val="FFFFFF"/>
          </a:solidFill>
          <a:ln/>
        </p:spPr>
      </p:sp>
      <p:pic>
        <p:nvPicPr>
          <p:cNvPr id="17" name="Image 2" descr="/tmp/claude-0/-home-user-Presentaciones-y-varios/903c1196-30c4-57a8-b469-52313f1ce01c/scratchpad/andres/icons/target_1F4A3C.png">    </p:cNvPr>
          <p:cNvPicPr>
            <a:picLocks noChangeAspect="1"/>
          </p:cNvPicPr>
          <p:nvPr/>
        </p:nvPicPr>
        <p:blipFill>
          <a:blip r:embed="rId3"/>
          <a:stretch>
            <a:fillRect/>
          </a:stretch>
        </p:blipFill>
        <p:spPr>
          <a:xfrm>
            <a:off x="9212580" y="3291840"/>
            <a:ext cx="365760" cy="365760"/>
          </a:xfrm>
          <a:prstGeom prst="rect">
            <a:avLst/>
          </a:prstGeom>
        </p:spPr>
      </p:pic>
      <p:sp>
        <p:nvSpPr>
          <p:cNvPr id="18" name="Text 13"/>
          <p:cNvSpPr/>
          <p:nvPr/>
        </p:nvSpPr>
        <p:spPr>
          <a:xfrm>
            <a:off x="7772400" y="3931920"/>
            <a:ext cx="3246120" cy="777240"/>
          </a:xfrm>
          <a:prstGeom prst="rect">
            <a:avLst/>
          </a:prstGeom>
          <a:noFill/>
          <a:ln/>
        </p:spPr>
        <p:txBody>
          <a:bodyPr wrap="square" lIns="0" tIns="0" rIns="0" bIns="0" rtlCol="0" anchor="ctr"/>
          <a:lstStyle/>
          <a:p>
            <a:pPr algn="ctr" indent="0" marL="0">
              <a:buNone/>
            </a:pPr>
            <a:r>
              <a:rPr lang="en-US" sz="3000" b="1" dirty="0">
                <a:solidFill>
                  <a:srgbClr val="141412"/>
                </a:solidFill>
                <a:latin typeface="Cambria" pitchFamily="34" charset="0"/>
                <a:ea typeface="Cambria" pitchFamily="34" charset="-122"/>
                <a:cs typeface="Cambria" pitchFamily="34" charset="-120"/>
              </a:rPr>
              <a:t>0</a:t>
            </a:r>
            <a:endParaRPr lang="en-US" sz="3000" dirty="0"/>
          </a:p>
        </p:txBody>
      </p:sp>
      <p:sp>
        <p:nvSpPr>
          <p:cNvPr id="19" name="Text 14"/>
          <p:cNvSpPr/>
          <p:nvPr/>
        </p:nvSpPr>
        <p:spPr>
          <a:xfrm>
            <a:off x="8046720" y="4663440"/>
            <a:ext cx="2697480" cy="777240"/>
          </a:xfrm>
          <a:prstGeom prst="rect">
            <a:avLst/>
          </a:prstGeom>
          <a:noFill/>
          <a:ln/>
        </p:spPr>
        <p:txBody>
          <a:bodyPr wrap="square" lIns="0" tIns="0" rIns="0" bIns="0" rtlCol="0" anchor="ctr"/>
          <a:lstStyle/>
          <a:p>
            <a:pPr algn="ctr" indent="0" marL="0">
              <a:buNone/>
            </a:pPr>
            <a:r>
              <a:rPr lang="en-US" sz="1150" dirty="0">
                <a:solidFill>
                  <a:srgbClr val="6B6B66"/>
                </a:solidFill>
                <a:latin typeface="Calibri" pitchFamily="34" charset="0"/>
                <a:ea typeface="Calibri" pitchFamily="34" charset="-122"/>
                <a:cs typeface="Calibri" pitchFamily="34" charset="-120"/>
              </a:rPr>
              <a:t>Campañas de Meta Ads estructuradas para adquirir clientes de forma constante</a:t>
            </a:r>
            <a:endParaRPr lang="en-US" sz="1150" dirty="0"/>
          </a:p>
        </p:txBody>
      </p:sp>
      <p:sp>
        <p:nvSpPr>
          <p:cNvPr id="20" name="Text 15"/>
          <p:cNvSpPr/>
          <p:nvPr/>
        </p:nvSpPr>
        <p:spPr>
          <a:xfrm>
            <a:off x="640080" y="5806440"/>
            <a:ext cx="10881360" cy="548640"/>
          </a:xfrm>
          <a:prstGeom prst="rect">
            <a:avLst/>
          </a:prstGeom>
          <a:noFill/>
          <a:ln/>
        </p:spPr>
        <p:txBody>
          <a:bodyPr wrap="square" lIns="0" tIns="0" rIns="0" bIns="0" rtlCol="0" anchor="ctr"/>
          <a:lstStyle/>
          <a:p>
            <a:pPr indent="0" marL="0">
              <a:buNone/>
            </a:pPr>
            <a:r>
              <a:rPr lang="en-US" sz="1350" i="1" dirty="0">
                <a:solidFill>
                  <a:srgbClr val="141412"/>
                </a:solidFill>
                <a:latin typeface="Calibri" pitchFamily="34" charset="0"/>
                <a:ea typeface="Calibri" pitchFamily="34" charset="-122"/>
                <a:cs typeface="Calibri" pitchFamily="34" charset="-120"/>
              </a:rPr>
              <a:t>La marca ya generó autoridad y contenido. Falta el sistema que convierta ese alcance en clientes en todo el país.</a:t>
            </a:r>
            <a:endParaRPr lang="en-US" sz="1350" dirty="0"/>
          </a:p>
        </p:txBody>
      </p:sp>
      <p:sp>
        <p:nvSpPr>
          <p:cNvPr id="21"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EL DIAGNÓSTICO ESTRATÉGICO</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Una publicación no es un sistema de adquisición.</a:t>
            </a:r>
            <a:endParaRPr lang="en-US" sz="3200" dirty="0"/>
          </a:p>
        </p:txBody>
      </p:sp>
      <p:sp>
        <p:nvSpPr>
          <p:cNvPr id="4" name="Shape 2"/>
          <p:cNvSpPr/>
          <p:nvPr/>
        </p:nvSpPr>
        <p:spPr>
          <a:xfrm>
            <a:off x="640080" y="1965960"/>
            <a:ext cx="5074920" cy="4114800"/>
          </a:xfrm>
          <a:prstGeom prst="roundRect">
            <a:avLst>
              <a:gd name="adj" fmla="val 1778"/>
            </a:avLst>
          </a:prstGeom>
          <a:solidFill>
            <a:srgbClr val="F5F5F3"/>
          </a:solidFill>
          <a:ln/>
        </p:spPr>
      </p:sp>
      <p:sp>
        <p:nvSpPr>
          <p:cNvPr id="5" name="Text 3"/>
          <p:cNvSpPr/>
          <p:nvPr/>
        </p:nvSpPr>
        <p:spPr>
          <a:xfrm>
            <a:off x="1005840" y="2286000"/>
            <a:ext cx="4343400" cy="365760"/>
          </a:xfrm>
          <a:prstGeom prst="rect">
            <a:avLst/>
          </a:prstGeom>
          <a:noFill/>
          <a:ln/>
        </p:spPr>
        <p:txBody>
          <a:bodyPr wrap="square" lIns="0" tIns="0" rIns="0" bIns="0" rtlCol="0" anchor="ctr"/>
          <a:lstStyle/>
          <a:p>
            <a:pPr indent="0" marL="0">
              <a:buNone/>
            </a:pPr>
            <a:r>
              <a:rPr lang="en-US" sz="1400" b="1" spc="150" kern="0" dirty="0">
                <a:solidFill>
                  <a:srgbClr val="6B6B66"/>
                </a:solidFill>
                <a:latin typeface="Calibri" pitchFamily="34" charset="0"/>
                <a:ea typeface="Calibri" pitchFamily="34" charset="-122"/>
                <a:cs typeface="Calibri" pitchFamily="34" charset="-120"/>
              </a:rPr>
              <a:t>PUBLICIDAD TÁCTICA</a:t>
            </a:r>
            <a:endParaRPr lang="en-US" sz="1400" dirty="0"/>
          </a:p>
        </p:txBody>
      </p:sp>
      <p:sp>
        <p:nvSpPr>
          <p:cNvPr id="6" name="Text 4"/>
          <p:cNvSpPr/>
          <p:nvPr/>
        </p:nvSpPr>
        <p:spPr>
          <a:xfrm>
            <a:off x="100584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41412"/>
                </a:solidFill>
                <a:latin typeface="Calibri" pitchFamily="34" charset="0"/>
                <a:ea typeface="Calibri" pitchFamily="34" charset="-122"/>
                <a:cs typeface="Calibri" pitchFamily="34" charset="-120"/>
              </a:rPr>
              <a:t>Promoción esporádica de publicaciones</a:t>
            </a:r>
            <a:endParaRPr lang="en-US" sz="1500" dirty="0"/>
          </a:p>
        </p:txBody>
      </p:sp>
      <p:sp>
        <p:nvSpPr>
          <p:cNvPr id="7" name="Text 5"/>
          <p:cNvSpPr/>
          <p:nvPr/>
        </p:nvSpPr>
        <p:spPr>
          <a:xfrm>
            <a:off x="100584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41412"/>
                </a:solidFill>
                <a:latin typeface="Calibri" pitchFamily="34" charset="0"/>
                <a:ea typeface="Calibri" pitchFamily="34" charset="-122"/>
                <a:cs typeface="Calibri" pitchFamily="34" charset="-120"/>
              </a:rPr>
              <a:t>Un solo público: todos a la vez</a:t>
            </a:r>
            <a:endParaRPr lang="en-US" sz="1500" dirty="0"/>
          </a:p>
        </p:txBody>
      </p:sp>
      <p:sp>
        <p:nvSpPr>
          <p:cNvPr id="8" name="Text 6"/>
          <p:cNvSpPr/>
          <p:nvPr/>
        </p:nvSpPr>
        <p:spPr>
          <a:xfrm>
            <a:off x="100584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41412"/>
                </a:solidFill>
                <a:latin typeface="Calibri" pitchFamily="34" charset="0"/>
                <a:ea typeface="Calibri" pitchFamily="34" charset="-122"/>
                <a:cs typeface="Calibri" pitchFamily="34" charset="-120"/>
              </a:rPr>
              <a:t>Sin recorrido: se impacta una sola vez</a:t>
            </a:r>
            <a:endParaRPr lang="en-US" sz="1500" dirty="0"/>
          </a:p>
        </p:txBody>
      </p:sp>
      <p:sp>
        <p:nvSpPr>
          <p:cNvPr id="9" name="Text 7"/>
          <p:cNvSpPr/>
          <p:nvPr/>
        </p:nvSpPr>
        <p:spPr>
          <a:xfrm>
            <a:off x="100584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141412"/>
                </a:solidFill>
                <a:latin typeface="Calibri" pitchFamily="34" charset="0"/>
                <a:ea typeface="Calibri" pitchFamily="34" charset="-122"/>
                <a:cs typeface="Calibri" pitchFamily="34" charset="-120"/>
              </a:rPr>
              <a:t>El resultado depende del algoritmo</a:t>
            </a:r>
            <a:endParaRPr lang="en-US" sz="1500" dirty="0"/>
          </a:p>
        </p:txBody>
      </p:sp>
      <p:sp>
        <p:nvSpPr>
          <p:cNvPr id="10" name="Shape 8"/>
          <p:cNvSpPr/>
          <p:nvPr/>
        </p:nvSpPr>
        <p:spPr>
          <a:xfrm>
            <a:off x="6172200" y="1965960"/>
            <a:ext cx="5074920" cy="4114800"/>
          </a:xfrm>
          <a:prstGeom prst="roundRect">
            <a:avLst>
              <a:gd name="adj" fmla="val 1778"/>
            </a:avLst>
          </a:prstGeom>
          <a:solidFill>
            <a:srgbClr val="141412"/>
          </a:solidFill>
          <a:ln/>
        </p:spPr>
      </p:sp>
      <p:sp>
        <p:nvSpPr>
          <p:cNvPr id="11" name="Text 9"/>
          <p:cNvSpPr/>
          <p:nvPr/>
        </p:nvSpPr>
        <p:spPr>
          <a:xfrm>
            <a:off x="6537960" y="2286000"/>
            <a:ext cx="4343400" cy="365760"/>
          </a:xfrm>
          <a:prstGeom prst="rect">
            <a:avLst/>
          </a:prstGeom>
          <a:noFill/>
          <a:ln/>
        </p:spPr>
        <p:txBody>
          <a:bodyPr wrap="square" lIns="0" tIns="0" rIns="0" bIns="0" rtlCol="0" anchor="ctr"/>
          <a:lstStyle/>
          <a:p>
            <a:pPr indent="0" marL="0">
              <a:buNone/>
            </a:pPr>
            <a:r>
              <a:rPr lang="en-US" sz="1400" b="1" spc="150" kern="0" dirty="0">
                <a:solidFill>
                  <a:srgbClr val="6FA98A"/>
                </a:solidFill>
                <a:latin typeface="Calibri" pitchFamily="34" charset="0"/>
                <a:ea typeface="Calibri" pitchFamily="34" charset="-122"/>
                <a:cs typeface="Calibri" pitchFamily="34" charset="-120"/>
              </a:rPr>
              <a:t>SISTEMA DE ADQUISICIÓN</a:t>
            </a:r>
            <a:endParaRPr lang="en-US" sz="1400" dirty="0"/>
          </a:p>
        </p:txBody>
      </p:sp>
      <p:sp>
        <p:nvSpPr>
          <p:cNvPr id="12" name="Text 10"/>
          <p:cNvSpPr/>
          <p:nvPr/>
        </p:nvSpPr>
        <p:spPr>
          <a:xfrm>
            <a:off x="6537960" y="28803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Cuatro objetivos de Meta Ads, uno por etapa</a:t>
            </a:r>
            <a:endParaRPr lang="en-US" sz="1500" dirty="0"/>
          </a:p>
        </p:txBody>
      </p:sp>
      <p:sp>
        <p:nvSpPr>
          <p:cNvPr id="13" name="Text 11"/>
          <p:cNvSpPr/>
          <p:nvPr/>
        </p:nvSpPr>
        <p:spPr>
          <a:xfrm>
            <a:off x="6537960" y="35661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Audiencias que cambian según su comportamiento</a:t>
            </a:r>
            <a:endParaRPr lang="en-US" sz="1500" dirty="0"/>
          </a:p>
        </p:txBody>
      </p:sp>
      <p:sp>
        <p:nvSpPr>
          <p:cNvPr id="14" name="Text 12"/>
          <p:cNvSpPr/>
          <p:nvPr/>
        </p:nvSpPr>
        <p:spPr>
          <a:xfrm>
            <a:off x="6537960" y="42519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Recorrido continuo en todo Estados Unidos</a:t>
            </a:r>
            <a:endParaRPr lang="en-US" sz="1500" dirty="0"/>
          </a:p>
        </p:txBody>
      </p:sp>
      <p:sp>
        <p:nvSpPr>
          <p:cNvPr id="15" name="Text 13"/>
          <p:cNvSpPr/>
          <p:nvPr/>
        </p:nvSpPr>
        <p:spPr>
          <a:xfrm>
            <a:off x="6537960" y="4937760"/>
            <a:ext cx="4343400" cy="548640"/>
          </a:xfrm>
          <a:prstGeom prst="rect">
            <a:avLst/>
          </a:prstGeom>
          <a:noFill/>
          <a:ln/>
        </p:spPr>
        <p:txBody>
          <a:bodyPr wrap="square" lIns="0" tIns="0" rIns="0" bIns="0" rtlCol="0" anchor="ctr"/>
          <a:lstStyle/>
          <a:p>
            <a:pPr marL="342900" indent="-342900">
              <a:buSzPct val="100000"/>
              <a:buChar char="–"/>
            </a:pPr>
            <a:r>
              <a:rPr lang="en-US" sz="1500" dirty="0">
                <a:solidFill>
                  <a:srgbClr val="FFFFFF"/>
                </a:solidFill>
                <a:latin typeface="Calibri" pitchFamily="34" charset="0"/>
                <a:ea typeface="Calibri" pitchFamily="34" charset="-122"/>
                <a:cs typeface="Calibri" pitchFamily="34" charset="-120"/>
              </a:rPr>
              <a:t>El resultado depende de la arquitectura, no del azar</a:t>
            </a:r>
            <a:endParaRPr lang="en-US" sz="15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LA PROPUESTA</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Meta Ads como motor de adquisición nacional</a:t>
            </a:r>
            <a:endParaRPr lang="en-US" sz="32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Cuatro etapas. Cada una prepara la siguiente.</a:t>
            </a:r>
            <a:endParaRPr lang="en-US" sz="1500" dirty="0"/>
          </a:p>
        </p:txBody>
      </p:sp>
      <p:sp>
        <p:nvSpPr>
          <p:cNvPr id="5" name="Shape 3"/>
          <p:cNvSpPr/>
          <p:nvPr/>
        </p:nvSpPr>
        <p:spPr>
          <a:xfrm>
            <a:off x="777240" y="2743200"/>
            <a:ext cx="2331720" cy="2834640"/>
          </a:xfrm>
          <a:prstGeom prst="roundRect">
            <a:avLst>
              <a:gd name="adj" fmla="val 3137"/>
            </a:avLst>
          </a:prstGeom>
          <a:solidFill>
            <a:srgbClr val="F5F5F3"/>
          </a:solidFill>
          <a:ln/>
        </p:spPr>
      </p:sp>
      <p:sp>
        <p:nvSpPr>
          <p:cNvPr id="6" name="Shape 4"/>
          <p:cNvSpPr/>
          <p:nvPr/>
        </p:nvSpPr>
        <p:spPr>
          <a:xfrm>
            <a:off x="1577340" y="1993392"/>
            <a:ext cx="731520" cy="731520"/>
          </a:xfrm>
          <a:prstGeom prst="ellipse">
            <a:avLst/>
          </a:prstGeom>
          <a:solidFill>
            <a:srgbClr val="141412"/>
          </a:solidFill>
          <a:ln/>
        </p:spPr>
      </p:sp>
      <p:sp>
        <p:nvSpPr>
          <p:cNvPr id="7" name="Text 5"/>
          <p:cNvSpPr/>
          <p:nvPr/>
        </p:nvSpPr>
        <p:spPr>
          <a:xfrm>
            <a:off x="1577340" y="1993392"/>
            <a:ext cx="731520" cy="731520"/>
          </a:xfrm>
          <a:prstGeom prst="rect">
            <a:avLst/>
          </a:prstGeom>
          <a:noFill/>
          <a:ln/>
        </p:spPr>
        <p:txBody>
          <a:bodyPr wrap="square" lIns="0" tIns="0" rIns="0" bIns="0" rtlCol="0" anchor="ctr"/>
          <a:lstStyle/>
          <a:p>
            <a:pPr algn="ctr" indent="0" marL="0">
              <a:buNone/>
            </a:pPr>
            <a:r>
              <a:rPr lang="en-US" sz="2560" b="1" dirty="0">
                <a:solidFill>
                  <a:srgbClr val="FFFFFF"/>
                </a:solidFill>
                <a:latin typeface="Cambria" pitchFamily="34" charset="0"/>
                <a:ea typeface="Cambria" pitchFamily="34" charset="-122"/>
                <a:cs typeface="Cambria" pitchFamily="34" charset="-120"/>
              </a:rPr>
              <a:t>01</a:t>
            </a:r>
            <a:endParaRPr lang="en-US" sz="2560" dirty="0"/>
          </a:p>
        </p:txBody>
      </p:sp>
      <p:sp>
        <p:nvSpPr>
          <p:cNvPr id="8" name="Shape 6"/>
          <p:cNvSpPr/>
          <p:nvPr/>
        </p:nvSpPr>
        <p:spPr>
          <a:xfrm>
            <a:off x="1595628" y="3401568"/>
            <a:ext cx="694944" cy="694944"/>
          </a:xfrm>
          <a:prstGeom prst="ellipse">
            <a:avLst/>
          </a:prstGeom>
          <a:solidFill>
            <a:srgbClr val="FFFFFF"/>
          </a:solidFill>
          <a:ln/>
        </p:spPr>
      </p:sp>
      <p:pic>
        <p:nvPicPr>
          <p:cNvPr id="9" name="Image 0" descr="/tmp/claude-0/-home-user-Presentaciones-y-varios/903c1196-30c4-57a8-b469-52313f1ce01c/scratchpad/andres/icons/eye_1F4A3C.png">    </p:cNvPr>
          <p:cNvPicPr>
            <a:picLocks noChangeAspect="1"/>
          </p:cNvPicPr>
          <p:nvPr/>
        </p:nvPicPr>
        <p:blipFill>
          <a:blip r:embed="rId1"/>
          <a:stretch>
            <a:fillRect/>
          </a:stretch>
        </p:blipFill>
        <p:spPr>
          <a:xfrm>
            <a:off x="1769364" y="3575304"/>
            <a:ext cx="347472" cy="347472"/>
          </a:xfrm>
          <a:prstGeom prst="rect">
            <a:avLst/>
          </a:prstGeom>
        </p:spPr>
      </p:pic>
      <p:sp>
        <p:nvSpPr>
          <p:cNvPr id="10" name="Text 7"/>
          <p:cNvSpPr/>
          <p:nvPr/>
        </p:nvSpPr>
        <p:spPr>
          <a:xfrm>
            <a:off x="914400" y="4251960"/>
            <a:ext cx="2057400" cy="411480"/>
          </a:xfrm>
          <a:prstGeom prst="rect">
            <a:avLst/>
          </a:prstGeom>
          <a:noFill/>
          <a:ln/>
        </p:spPr>
        <p:txBody>
          <a:bodyPr wrap="square" lIns="0" tIns="0" rIns="0" bIns="0" rtlCol="0" anchor="ctr"/>
          <a:lstStyle/>
          <a:p>
            <a:pPr algn="ctr" indent="0" marL="0">
              <a:buNone/>
            </a:pPr>
            <a:r>
              <a:rPr lang="en-US" sz="1700" b="1" dirty="0">
                <a:solidFill>
                  <a:srgbClr val="141412"/>
                </a:solidFill>
                <a:latin typeface="Cambria" pitchFamily="34" charset="0"/>
                <a:ea typeface="Cambria" pitchFamily="34" charset="-122"/>
                <a:cs typeface="Cambria" pitchFamily="34" charset="-120"/>
              </a:rPr>
              <a:t>Presentación</a:t>
            </a:r>
            <a:endParaRPr lang="en-US" sz="1700" dirty="0"/>
          </a:p>
        </p:txBody>
      </p:sp>
      <p:sp>
        <p:nvSpPr>
          <p:cNvPr id="11" name="Text 8"/>
          <p:cNvSpPr/>
          <p:nvPr/>
        </p:nvSpPr>
        <p:spPr>
          <a:xfrm>
            <a:off x="91440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Descubrir</a:t>
            </a:r>
            <a:endParaRPr lang="en-US" sz="1200" dirty="0"/>
          </a:p>
        </p:txBody>
      </p:sp>
      <p:pic>
        <p:nvPicPr>
          <p:cNvPr id="12" name="Image 1" descr="/tmp/claude-0/-home-user-Presentaciones-y-varios/903c1196-30c4-57a8-b469-52313f1ce01c/scratchpad/andres/icons/arrowRight_1F4A3C.png">    </p:cNvPr>
          <p:cNvPicPr>
            <a:picLocks noChangeAspect="1"/>
          </p:cNvPicPr>
          <p:nvPr/>
        </p:nvPicPr>
        <p:blipFill>
          <a:blip r:embed="rId2"/>
          <a:stretch>
            <a:fillRect/>
          </a:stretch>
        </p:blipFill>
        <p:spPr>
          <a:xfrm>
            <a:off x="3145536" y="3977640"/>
            <a:ext cx="246888" cy="246888"/>
          </a:xfrm>
          <a:prstGeom prst="rect">
            <a:avLst/>
          </a:prstGeom>
        </p:spPr>
      </p:pic>
      <p:sp>
        <p:nvSpPr>
          <p:cNvPr id="13" name="Shape 9"/>
          <p:cNvSpPr/>
          <p:nvPr/>
        </p:nvSpPr>
        <p:spPr>
          <a:xfrm>
            <a:off x="3429000" y="2743200"/>
            <a:ext cx="2331720" cy="2834640"/>
          </a:xfrm>
          <a:prstGeom prst="roundRect">
            <a:avLst>
              <a:gd name="adj" fmla="val 3137"/>
            </a:avLst>
          </a:prstGeom>
          <a:solidFill>
            <a:srgbClr val="E9EFEA"/>
          </a:solidFill>
          <a:ln/>
        </p:spPr>
      </p:sp>
      <p:sp>
        <p:nvSpPr>
          <p:cNvPr id="14" name="Shape 10"/>
          <p:cNvSpPr/>
          <p:nvPr/>
        </p:nvSpPr>
        <p:spPr>
          <a:xfrm>
            <a:off x="4229100" y="1993392"/>
            <a:ext cx="731520" cy="731520"/>
          </a:xfrm>
          <a:prstGeom prst="ellipse">
            <a:avLst/>
          </a:prstGeom>
          <a:solidFill>
            <a:srgbClr val="141412"/>
          </a:solidFill>
          <a:ln/>
        </p:spPr>
      </p:sp>
      <p:sp>
        <p:nvSpPr>
          <p:cNvPr id="15" name="Text 11"/>
          <p:cNvSpPr/>
          <p:nvPr/>
        </p:nvSpPr>
        <p:spPr>
          <a:xfrm>
            <a:off x="4229100" y="1993392"/>
            <a:ext cx="731520" cy="731520"/>
          </a:xfrm>
          <a:prstGeom prst="rect">
            <a:avLst/>
          </a:prstGeom>
          <a:noFill/>
          <a:ln/>
        </p:spPr>
        <p:txBody>
          <a:bodyPr wrap="square" lIns="0" tIns="0" rIns="0" bIns="0" rtlCol="0" anchor="ctr"/>
          <a:lstStyle/>
          <a:p>
            <a:pPr algn="ctr" indent="0" marL="0">
              <a:buNone/>
            </a:pPr>
            <a:r>
              <a:rPr lang="en-US" sz="2560" b="1" dirty="0">
                <a:solidFill>
                  <a:srgbClr val="FFFFFF"/>
                </a:solidFill>
                <a:latin typeface="Cambria" pitchFamily="34" charset="0"/>
                <a:ea typeface="Cambria" pitchFamily="34" charset="-122"/>
                <a:cs typeface="Cambria" pitchFamily="34" charset="-120"/>
              </a:rPr>
              <a:t>02</a:t>
            </a:r>
            <a:endParaRPr lang="en-US" sz="2560" dirty="0"/>
          </a:p>
        </p:txBody>
      </p:sp>
      <p:sp>
        <p:nvSpPr>
          <p:cNvPr id="16" name="Shape 12"/>
          <p:cNvSpPr/>
          <p:nvPr/>
        </p:nvSpPr>
        <p:spPr>
          <a:xfrm>
            <a:off x="4247388" y="3401568"/>
            <a:ext cx="694944" cy="694944"/>
          </a:xfrm>
          <a:prstGeom prst="ellipse">
            <a:avLst/>
          </a:prstGeom>
          <a:solidFill>
            <a:srgbClr val="FFFFFF"/>
          </a:solidFill>
          <a:ln/>
        </p:spPr>
      </p:sp>
      <p:pic>
        <p:nvPicPr>
          <p:cNvPr id="17" name="Image 2" descr="/tmp/claude-0/-home-user-Presentaciones-y-varios/903c1196-30c4-57a8-b469-52313f1ce01c/scratchpad/andres/icons/star_1F4A3C.png">    </p:cNvPr>
          <p:cNvPicPr>
            <a:picLocks noChangeAspect="1"/>
          </p:cNvPicPr>
          <p:nvPr/>
        </p:nvPicPr>
        <p:blipFill>
          <a:blip r:embed="rId3"/>
          <a:stretch>
            <a:fillRect/>
          </a:stretch>
        </p:blipFill>
        <p:spPr>
          <a:xfrm>
            <a:off x="4421124" y="3575304"/>
            <a:ext cx="347472" cy="347472"/>
          </a:xfrm>
          <a:prstGeom prst="rect">
            <a:avLst/>
          </a:prstGeom>
        </p:spPr>
      </p:pic>
      <p:sp>
        <p:nvSpPr>
          <p:cNvPr id="18" name="Text 13"/>
          <p:cNvSpPr/>
          <p:nvPr/>
        </p:nvSpPr>
        <p:spPr>
          <a:xfrm>
            <a:off x="3566160" y="4251960"/>
            <a:ext cx="2057400" cy="411480"/>
          </a:xfrm>
          <a:prstGeom prst="rect">
            <a:avLst/>
          </a:prstGeom>
          <a:noFill/>
          <a:ln/>
        </p:spPr>
        <p:txBody>
          <a:bodyPr wrap="square" lIns="0" tIns="0" rIns="0" bIns="0" rtlCol="0" anchor="ctr"/>
          <a:lstStyle/>
          <a:p>
            <a:pPr algn="ctr" indent="0" marL="0">
              <a:buNone/>
            </a:pPr>
            <a:r>
              <a:rPr lang="en-US" sz="1700" b="1" dirty="0">
                <a:solidFill>
                  <a:srgbClr val="141412"/>
                </a:solidFill>
                <a:latin typeface="Cambria" pitchFamily="34" charset="0"/>
                <a:ea typeface="Cambria" pitchFamily="34" charset="-122"/>
                <a:cs typeface="Cambria" pitchFamily="34" charset="-120"/>
              </a:rPr>
              <a:t>Evaluación</a:t>
            </a:r>
            <a:endParaRPr lang="en-US" sz="1700" dirty="0"/>
          </a:p>
        </p:txBody>
      </p:sp>
      <p:sp>
        <p:nvSpPr>
          <p:cNvPr id="19" name="Text 14"/>
          <p:cNvSpPr/>
          <p:nvPr/>
        </p:nvSpPr>
        <p:spPr>
          <a:xfrm>
            <a:off x="356616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Confiar</a:t>
            </a:r>
            <a:endParaRPr lang="en-US" sz="1200" dirty="0"/>
          </a:p>
        </p:txBody>
      </p:sp>
      <p:pic>
        <p:nvPicPr>
          <p:cNvPr id="20" name="Image 3" descr="/tmp/claude-0/-home-user-Presentaciones-y-varios/903c1196-30c4-57a8-b469-52313f1ce01c/scratchpad/andres/icons/arrowRight_1F4A3C.png">    </p:cNvPr>
          <p:cNvPicPr>
            <a:picLocks noChangeAspect="1"/>
          </p:cNvPicPr>
          <p:nvPr/>
        </p:nvPicPr>
        <p:blipFill>
          <a:blip r:embed="rId4"/>
          <a:stretch>
            <a:fillRect/>
          </a:stretch>
        </p:blipFill>
        <p:spPr>
          <a:xfrm>
            <a:off x="5797296" y="3977640"/>
            <a:ext cx="246888" cy="246888"/>
          </a:xfrm>
          <a:prstGeom prst="rect">
            <a:avLst/>
          </a:prstGeom>
        </p:spPr>
      </p:pic>
      <p:sp>
        <p:nvSpPr>
          <p:cNvPr id="21" name="Shape 15"/>
          <p:cNvSpPr/>
          <p:nvPr/>
        </p:nvSpPr>
        <p:spPr>
          <a:xfrm>
            <a:off x="6080760" y="2743200"/>
            <a:ext cx="2331720" cy="2834640"/>
          </a:xfrm>
          <a:prstGeom prst="roundRect">
            <a:avLst>
              <a:gd name="adj" fmla="val 3137"/>
            </a:avLst>
          </a:prstGeom>
          <a:solidFill>
            <a:srgbClr val="F5F5F3"/>
          </a:solidFill>
          <a:ln/>
        </p:spPr>
      </p:sp>
      <p:sp>
        <p:nvSpPr>
          <p:cNvPr id="22" name="Shape 16"/>
          <p:cNvSpPr/>
          <p:nvPr/>
        </p:nvSpPr>
        <p:spPr>
          <a:xfrm>
            <a:off x="6880860" y="1993392"/>
            <a:ext cx="731520" cy="731520"/>
          </a:xfrm>
          <a:prstGeom prst="ellipse">
            <a:avLst/>
          </a:prstGeom>
          <a:solidFill>
            <a:srgbClr val="141412"/>
          </a:solidFill>
          <a:ln/>
        </p:spPr>
      </p:sp>
      <p:sp>
        <p:nvSpPr>
          <p:cNvPr id="23" name="Text 17"/>
          <p:cNvSpPr/>
          <p:nvPr/>
        </p:nvSpPr>
        <p:spPr>
          <a:xfrm>
            <a:off x="6880860" y="1993392"/>
            <a:ext cx="731520" cy="731520"/>
          </a:xfrm>
          <a:prstGeom prst="rect">
            <a:avLst/>
          </a:prstGeom>
          <a:noFill/>
          <a:ln/>
        </p:spPr>
        <p:txBody>
          <a:bodyPr wrap="square" lIns="0" tIns="0" rIns="0" bIns="0" rtlCol="0" anchor="ctr"/>
          <a:lstStyle/>
          <a:p>
            <a:pPr algn="ctr" indent="0" marL="0">
              <a:buNone/>
            </a:pPr>
            <a:r>
              <a:rPr lang="en-US" sz="2560" b="1" dirty="0">
                <a:solidFill>
                  <a:srgbClr val="FFFFFF"/>
                </a:solidFill>
                <a:latin typeface="Cambria" pitchFamily="34" charset="0"/>
                <a:ea typeface="Cambria" pitchFamily="34" charset="-122"/>
                <a:cs typeface="Cambria" pitchFamily="34" charset="-120"/>
              </a:rPr>
              <a:t>03</a:t>
            </a:r>
            <a:endParaRPr lang="en-US" sz="2560" dirty="0"/>
          </a:p>
        </p:txBody>
      </p:sp>
      <p:sp>
        <p:nvSpPr>
          <p:cNvPr id="24" name="Shape 18"/>
          <p:cNvSpPr/>
          <p:nvPr/>
        </p:nvSpPr>
        <p:spPr>
          <a:xfrm>
            <a:off x="6899148" y="3401568"/>
            <a:ext cx="694944" cy="694944"/>
          </a:xfrm>
          <a:prstGeom prst="ellipse">
            <a:avLst/>
          </a:prstGeom>
          <a:solidFill>
            <a:srgbClr val="FFFFFF"/>
          </a:solidFill>
          <a:ln/>
        </p:spPr>
      </p:sp>
      <p:pic>
        <p:nvPicPr>
          <p:cNvPr id="25" name="Image 4" descr="/tmp/claude-0/-home-user-Presentaciones-y-varios/903c1196-30c4-57a8-b469-52313f1ce01c/scratchpad/andres/icons/bag_1F4A3C.png">    </p:cNvPr>
          <p:cNvPicPr>
            <a:picLocks noChangeAspect="1"/>
          </p:cNvPicPr>
          <p:nvPr/>
        </p:nvPicPr>
        <p:blipFill>
          <a:blip r:embed="rId5"/>
          <a:stretch>
            <a:fillRect/>
          </a:stretch>
        </p:blipFill>
        <p:spPr>
          <a:xfrm>
            <a:off x="7072884" y="3575304"/>
            <a:ext cx="347472" cy="347472"/>
          </a:xfrm>
          <a:prstGeom prst="rect">
            <a:avLst/>
          </a:prstGeom>
        </p:spPr>
      </p:pic>
      <p:sp>
        <p:nvSpPr>
          <p:cNvPr id="26" name="Text 19"/>
          <p:cNvSpPr/>
          <p:nvPr/>
        </p:nvSpPr>
        <p:spPr>
          <a:xfrm>
            <a:off x="6217920" y="4251960"/>
            <a:ext cx="2057400" cy="411480"/>
          </a:xfrm>
          <a:prstGeom prst="rect">
            <a:avLst/>
          </a:prstGeom>
          <a:noFill/>
          <a:ln/>
        </p:spPr>
        <p:txBody>
          <a:bodyPr wrap="square" lIns="0" tIns="0" rIns="0" bIns="0" rtlCol="0" anchor="ctr"/>
          <a:lstStyle/>
          <a:p>
            <a:pPr algn="ctr" indent="0" marL="0">
              <a:buNone/>
            </a:pPr>
            <a:r>
              <a:rPr lang="en-US" sz="1700" b="1" dirty="0">
                <a:solidFill>
                  <a:srgbClr val="141412"/>
                </a:solidFill>
                <a:latin typeface="Cambria" pitchFamily="34" charset="0"/>
                <a:ea typeface="Cambria" pitchFamily="34" charset="-122"/>
                <a:cs typeface="Cambria" pitchFamily="34" charset="-120"/>
              </a:rPr>
              <a:t>Conversión</a:t>
            </a:r>
            <a:endParaRPr lang="en-US" sz="1700" dirty="0"/>
          </a:p>
        </p:txBody>
      </p:sp>
      <p:sp>
        <p:nvSpPr>
          <p:cNvPr id="27" name="Text 20"/>
          <p:cNvSpPr/>
          <p:nvPr/>
        </p:nvSpPr>
        <p:spPr>
          <a:xfrm>
            <a:off x="621792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Comprar</a:t>
            </a:r>
            <a:endParaRPr lang="en-US" sz="1200" dirty="0"/>
          </a:p>
        </p:txBody>
      </p:sp>
      <p:pic>
        <p:nvPicPr>
          <p:cNvPr id="28" name="Image 5" descr="/tmp/claude-0/-home-user-Presentaciones-y-varios/903c1196-30c4-57a8-b469-52313f1ce01c/scratchpad/andres/icons/arrowRight_1F4A3C.png">    </p:cNvPr>
          <p:cNvPicPr>
            <a:picLocks noChangeAspect="1"/>
          </p:cNvPicPr>
          <p:nvPr/>
        </p:nvPicPr>
        <p:blipFill>
          <a:blip r:embed="rId6"/>
          <a:stretch>
            <a:fillRect/>
          </a:stretch>
        </p:blipFill>
        <p:spPr>
          <a:xfrm>
            <a:off x="8449056" y="3977640"/>
            <a:ext cx="246888" cy="246888"/>
          </a:xfrm>
          <a:prstGeom prst="rect">
            <a:avLst/>
          </a:prstGeom>
        </p:spPr>
      </p:pic>
      <p:sp>
        <p:nvSpPr>
          <p:cNvPr id="29" name="Shape 21"/>
          <p:cNvSpPr/>
          <p:nvPr/>
        </p:nvSpPr>
        <p:spPr>
          <a:xfrm>
            <a:off x="8732520" y="2743200"/>
            <a:ext cx="2331720" cy="2834640"/>
          </a:xfrm>
          <a:prstGeom prst="roundRect">
            <a:avLst>
              <a:gd name="adj" fmla="val 3137"/>
            </a:avLst>
          </a:prstGeom>
          <a:solidFill>
            <a:srgbClr val="E9EFEA"/>
          </a:solidFill>
          <a:ln/>
        </p:spPr>
      </p:sp>
      <p:sp>
        <p:nvSpPr>
          <p:cNvPr id="30" name="Shape 22"/>
          <p:cNvSpPr/>
          <p:nvPr/>
        </p:nvSpPr>
        <p:spPr>
          <a:xfrm>
            <a:off x="9532620" y="1993392"/>
            <a:ext cx="731520" cy="731520"/>
          </a:xfrm>
          <a:prstGeom prst="ellipse">
            <a:avLst/>
          </a:prstGeom>
          <a:solidFill>
            <a:srgbClr val="141412"/>
          </a:solidFill>
          <a:ln/>
        </p:spPr>
      </p:sp>
      <p:sp>
        <p:nvSpPr>
          <p:cNvPr id="31" name="Text 23"/>
          <p:cNvSpPr/>
          <p:nvPr/>
        </p:nvSpPr>
        <p:spPr>
          <a:xfrm>
            <a:off x="9532620" y="1993392"/>
            <a:ext cx="731520" cy="731520"/>
          </a:xfrm>
          <a:prstGeom prst="rect">
            <a:avLst/>
          </a:prstGeom>
          <a:noFill/>
          <a:ln/>
        </p:spPr>
        <p:txBody>
          <a:bodyPr wrap="square" lIns="0" tIns="0" rIns="0" bIns="0" rtlCol="0" anchor="ctr"/>
          <a:lstStyle/>
          <a:p>
            <a:pPr algn="ctr" indent="0" marL="0">
              <a:buNone/>
            </a:pPr>
            <a:r>
              <a:rPr lang="en-US" sz="2560" b="1" dirty="0">
                <a:solidFill>
                  <a:srgbClr val="FFFFFF"/>
                </a:solidFill>
                <a:latin typeface="Cambria" pitchFamily="34" charset="0"/>
                <a:ea typeface="Cambria" pitchFamily="34" charset="-122"/>
                <a:cs typeface="Cambria" pitchFamily="34" charset="-120"/>
              </a:rPr>
              <a:t>04</a:t>
            </a:r>
            <a:endParaRPr lang="en-US" sz="2560" dirty="0"/>
          </a:p>
        </p:txBody>
      </p:sp>
      <p:sp>
        <p:nvSpPr>
          <p:cNvPr id="32" name="Shape 24"/>
          <p:cNvSpPr/>
          <p:nvPr/>
        </p:nvSpPr>
        <p:spPr>
          <a:xfrm>
            <a:off x="9550908" y="3401568"/>
            <a:ext cx="694944" cy="694944"/>
          </a:xfrm>
          <a:prstGeom prst="ellipse">
            <a:avLst/>
          </a:prstGeom>
          <a:solidFill>
            <a:srgbClr val="FFFFFF"/>
          </a:solidFill>
          <a:ln/>
        </p:spPr>
      </p:sp>
      <p:pic>
        <p:nvPicPr>
          <p:cNvPr id="33" name="Image 6" descr="/tmp/claude-0/-home-user-Presentaciones-y-varios/903c1196-30c4-57a8-b469-52313f1ce01c/scratchpad/andres/icons/sync_1F4A3C.png">    </p:cNvPr>
          <p:cNvPicPr>
            <a:picLocks noChangeAspect="1"/>
          </p:cNvPicPr>
          <p:nvPr/>
        </p:nvPicPr>
        <p:blipFill>
          <a:blip r:embed="rId7"/>
          <a:stretch>
            <a:fillRect/>
          </a:stretch>
        </p:blipFill>
        <p:spPr>
          <a:xfrm>
            <a:off x="9724644" y="3575304"/>
            <a:ext cx="347472" cy="347472"/>
          </a:xfrm>
          <a:prstGeom prst="rect">
            <a:avLst/>
          </a:prstGeom>
        </p:spPr>
      </p:pic>
      <p:sp>
        <p:nvSpPr>
          <p:cNvPr id="34" name="Text 25"/>
          <p:cNvSpPr/>
          <p:nvPr/>
        </p:nvSpPr>
        <p:spPr>
          <a:xfrm>
            <a:off x="8869680" y="4251960"/>
            <a:ext cx="2057400" cy="411480"/>
          </a:xfrm>
          <a:prstGeom prst="rect">
            <a:avLst/>
          </a:prstGeom>
          <a:noFill/>
          <a:ln/>
        </p:spPr>
        <p:txBody>
          <a:bodyPr wrap="square" lIns="0" tIns="0" rIns="0" bIns="0" rtlCol="0" anchor="ctr"/>
          <a:lstStyle/>
          <a:p>
            <a:pPr algn="ctr" indent="0" marL="0">
              <a:buNone/>
            </a:pPr>
            <a:r>
              <a:rPr lang="en-US" sz="1700" b="1" dirty="0">
                <a:solidFill>
                  <a:srgbClr val="141412"/>
                </a:solidFill>
                <a:latin typeface="Cambria" pitchFamily="34" charset="0"/>
                <a:ea typeface="Cambria" pitchFamily="34" charset="-122"/>
                <a:cs typeface="Cambria" pitchFamily="34" charset="-120"/>
              </a:rPr>
              <a:t>Ascensión</a:t>
            </a:r>
            <a:endParaRPr lang="en-US" sz="1700" dirty="0"/>
          </a:p>
        </p:txBody>
      </p:sp>
      <p:sp>
        <p:nvSpPr>
          <p:cNvPr id="35" name="Text 26"/>
          <p:cNvSpPr/>
          <p:nvPr/>
        </p:nvSpPr>
        <p:spPr>
          <a:xfrm>
            <a:off x="8869680" y="4709160"/>
            <a:ext cx="2057400" cy="365760"/>
          </a:xfrm>
          <a:prstGeom prst="rect">
            <a:avLst/>
          </a:prstGeom>
          <a:noFill/>
          <a:ln/>
        </p:spPr>
        <p:txBody>
          <a:bodyPr wrap="square" lIns="0" tIns="0" rIns="0" bIns="0" rtlCol="0" anchor="ctr"/>
          <a:lstStyle/>
          <a:p>
            <a:pPr algn="ctr" indent="0" marL="0">
              <a:buNone/>
            </a:pPr>
            <a:r>
              <a:rPr lang="en-US" sz="1200" i="1" dirty="0">
                <a:solidFill>
                  <a:srgbClr val="6B6B66"/>
                </a:solidFill>
                <a:latin typeface="Calibri" pitchFamily="34" charset="0"/>
                <a:ea typeface="Calibri" pitchFamily="34" charset="-122"/>
                <a:cs typeface="Calibri" pitchFamily="34" charset="-120"/>
              </a:rPr>
              <a:t>Volver</a:t>
            </a:r>
            <a:endParaRPr lang="en-US" sz="1200" dirty="0"/>
          </a:p>
        </p:txBody>
      </p:sp>
      <p:sp>
        <p:nvSpPr>
          <p:cNvPr id="36" name="Text 27"/>
          <p:cNvSpPr/>
          <p:nvPr/>
        </p:nvSpPr>
        <p:spPr>
          <a:xfrm>
            <a:off x="640080" y="5989320"/>
            <a:ext cx="10881360" cy="457200"/>
          </a:xfrm>
          <a:prstGeom prst="rect">
            <a:avLst/>
          </a:prstGeom>
          <a:noFill/>
          <a:ln/>
        </p:spPr>
        <p:txBody>
          <a:bodyPr wrap="square" lIns="0" tIns="0" rIns="0" bIns="0" rtlCol="0" anchor="ctr"/>
          <a:lstStyle/>
          <a:p>
            <a:pPr indent="0" marL="0">
              <a:buNone/>
            </a:pPr>
            <a:r>
              <a:rPr lang="en-US" sz="1350" i="1" dirty="0">
                <a:solidFill>
                  <a:srgbClr val="141412"/>
                </a:solidFill>
                <a:latin typeface="Calibri" pitchFamily="34" charset="0"/>
                <a:ea typeface="Calibri" pitchFamily="34" charset="-122"/>
                <a:cs typeface="Calibri" pitchFamily="34" charset="-120"/>
              </a:rPr>
              <a:t>El resultado no es más publicidad: es una clienta que descubre, confía, compra y vuelve a comprar en todo Estados Unidos.</a:t>
            </a:r>
            <a:endParaRPr lang="en-US" sz="1350" dirty="0"/>
          </a:p>
        </p:txBody>
      </p:sp>
      <p:sp>
        <p:nvSpPr>
          <p:cNvPr id="37" name="Text 2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6FA98A"/>
                </a:solidFill>
                <a:latin typeface="Calibri" pitchFamily="34" charset="0"/>
                <a:ea typeface="Calibri" pitchFamily="34" charset="-122"/>
                <a:cs typeface="Calibri" pitchFamily="34" charset="-120"/>
              </a:rPr>
              <a:t>ETAPA 01</a:t>
            </a:r>
            <a:endParaRPr lang="en-US" sz="1400" dirty="0"/>
          </a:p>
        </p:txBody>
      </p:sp>
      <p:sp>
        <p:nvSpPr>
          <p:cNvPr id="3" name="Shape 1"/>
          <p:cNvSpPr/>
          <p:nvPr/>
        </p:nvSpPr>
        <p:spPr>
          <a:xfrm>
            <a:off x="777240" y="1440180"/>
            <a:ext cx="1051560" cy="1051560"/>
          </a:xfrm>
          <a:prstGeom prst="ellipse">
            <a:avLst/>
          </a:prstGeom>
          <a:solidFill>
            <a:srgbClr val="6FA98A"/>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680" b="1" dirty="0">
                <a:solidFill>
                  <a:srgbClr val="141412"/>
                </a:solidFill>
                <a:latin typeface="Cambria" pitchFamily="34" charset="0"/>
                <a:ea typeface="Cambria" pitchFamily="34" charset="-122"/>
                <a:cs typeface="Cambria" pitchFamily="34" charset="-120"/>
              </a:rPr>
              <a:t>01</a:t>
            </a:r>
            <a:endParaRPr lang="en-US" sz="3680" dirty="0"/>
          </a:p>
        </p:txBody>
      </p:sp>
      <p:sp>
        <p:nvSpPr>
          <p:cNvPr id="5" name="Text 3"/>
          <p:cNvSpPr/>
          <p:nvPr/>
        </p:nvSpPr>
        <p:spPr>
          <a:xfrm>
            <a:off x="2148840" y="1417320"/>
            <a:ext cx="87782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Presentación</a:t>
            </a:r>
            <a:endParaRPr lang="en-US" sz="3800" dirty="0"/>
          </a:p>
        </p:txBody>
      </p:sp>
      <p:sp>
        <p:nvSpPr>
          <p:cNvPr id="6" name="Text 4"/>
          <p:cNvSpPr/>
          <p:nvPr/>
        </p:nvSpPr>
        <p:spPr>
          <a:xfrm>
            <a:off x="2167128" y="2148840"/>
            <a:ext cx="8778240" cy="594360"/>
          </a:xfrm>
          <a:prstGeom prst="rect">
            <a:avLst/>
          </a:prstGeom>
          <a:noFill/>
          <a:ln/>
        </p:spPr>
        <p:txBody>
          <a:bodyPr wrap="square" lIns="0" tIns="0" rIns="0" bIns="0" rtlCol="0" anchor="ctr"/>
          <a:lstStyle/>
          <a:p>
            <a:pPr indent="0" marL="0">
              <a:buNone/>
            </a:pPr>
            <a:r>
              <a:rPr lang="en-US" sz="1650" i="1" dirty="0">
                <a:solidFill>
                  <a:srgbClr val="D6D4CE"/>
                </a:solidFill>
                <a:latin typeface="Calibri" pitchFamily="34" charset="0"/>
                <a:ea typeface="Calibri" pitchFamily="34" charset="-122"/>
                <a:cs typeface="Calibri" pitchFamily="34" charset="-120"/>
              </a:rPr>
              <a:t>Objetivo: dar a conocer Hair Touch by Sandra a miles de personas en EE.UU.</a:t>
            </a:r>
            <a:endParaRPr lang="en-US" sz="1650" dirty="0"/>
          </a:p>
        </p:txBody>
      </p:sp>
      <p:sp>
        <p:nvSpPr>
          <p:cNvPr id="7" name="Shape 5"/>
          <p:cNvSpPr/>
          <p:nvPr/>
        </p:nvSpPr>
        <p:spPr>
          <a:xfrm>
            <a:off x="1714500" y="3840480"/>
            <a:ext cx="640080" cy="640080"/>
          </a:xfrm>
          <a:prstGeom prst="ellipse">
            <a:avLst/>
          </a:prstGeom>
          <a:solidFill>
            <a:srgbClr val="201F1B"/>
          </a:solidFill>
          <a:ln/>
        </p:spPr>
      </p:sp>
      <p:pic>
        <p:nvPicPr>
          <p:cNvPr id="8" name="Image 0" descr="/tmp/claude-0/-home-user-Presentaciones-y-varios/903c1196-30c4-57a8-b469-52313f1ce01c/scratchpad/andres/icons/flagUsa_6FA98A.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Alcance</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nacional calificado</a:t>
            </a:r>
            <a:endParaRPr lang="en-US" sz="1300" dirty="0"/>
          </a:p>
        </p:txBody>
      </p:sp>
      <p:sp>
        <p:nvSpPr>
          <p:cNvPr id="10" name="Shape 7"/>
          <p:cNvSpPr/>
          <p:nvPr/>
        </p:nvSpPr>
        <p:spPr>
          <a:xfrm>
            <a:off x="4485132" y="3840480"/>
            <a:ext cx="640080" cy="640080"/>
          </a:xfrm>
          <a:prstGeom prst="ellipse">
            <a:avLst/>
          </a:prstGeom>
          <a:solidFill>
            <a:srgbClr val="201F1B"/>
          </a:solidFill>
          <a:ln/>
        </p:spPr>
      </p:sp>
      <p:pic>
        <p:nvPicPr>
          <p:cNvPr id="11" name="Image 1" descr="/tmp/claude-0/-home-user-Presentaciones-y-varios/903c1196-30c4-57a8-b469-52313f1ce01c/scratchpad/andres/icons/tv_6FA98A.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Autoridad</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Sandra en TV</a:t>
            </a:r>
            <a:endParaRPr lang="en-US" sz="1300" dirty="0"/>
          </a:p>
        </p:txBody>
      </p:sp>
      <p:sp>
        <p:nvSpPr>
          <p:cNvPr id="13" name="Shape 9"/>
          <p:cNvSpPr/>
          <p:nvPr/>
        </p:nvSpPr>
        <p:spPr>
          <a:xfrm>
            <a:off x="7255764" y="3840480"/>
            <a:ext cx="640080" cy="640080"/>
          </a:xfrm>
          <a:prstGeom prst="ellipse">
            <a:avLst/>
          </a:prstGeom>
          <a:solidFill>
            <a:srgbClr val="201F1B"/>
          </a:solidFill>
          <a:ln/>
        </p:spPr>
      </p:sp>
      <p:pic>
        <p:nvPicPr>
          <p:cNvPr id="14" name="Image 2" descr="/tmp/claude-0/-home-user-Presentaciones-y-varios/903c1196-30c4-57a8-b469-52313f1ce01c/scratchpad/andres/icons/leaf_6FA98A.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Aceite de romero</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en tendencia</a:t>
            </a:r>
            <a:endParaRPr lang="en-US" sz="1300" dirty="0"/>
          </a:p>
        </p:txBody>
      </p:sp>
      <p:sp>
        <p:nvSpPr>
          <p:cNvPr id="16" name="Shape 11"/>
          <p:cNvSpPr/>
          <p:nvPr/>
        </p:nvSpPr>
        <p:spPr>
          <a:xfrm>
            <a:off x="10026396" y="3840480"/>
            <a:ext cx="640080" cy="640080"/>
          </a:xfrm>
          <a:prstGeom prst="ellipse">
            <a:avLst/>
          </a:prstGeom>
          <a:solidFill>
            <a:srgbClr val="201F1B"/>
          </a:solidFill>
          <a:ln/>
        </p:spPr>
      </p:sp>
      <p:pic>
        <p:nvPicPr>
          <p:cNvPr id="17" name="Image 3" descr="/tmp/claude-0/-home-user-Presentaciones-y-varios/903c1196-30c4-57a8-b469-52313f1ce01c/scratchpad/andres/icons/eye_6FA98A.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Conexión</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emocional</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ETAPA 1 · PRESENTACIÓN</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Los cinco pilares del descubrimiento</a:t>
            </a:r>
            <a:endParaRPr lang="en-US" sz="32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Cada pilar ataca una razón distinta de decisión.</a:t>
            </a:r>
            <a:endParaRPr lang="en-US" sz="1500" dirty="0"/>
          </a:p>
        </p:txBody>
      </p:sp>
      <p:sp>
        <p:nvSpPr>
          <p:cNvPr id="5" name="Shape 3"/>
          <p:cNvSpPr/>
          <p:nvPr/>
        </p:nvSpPr>
        <p:spPr>
          <a:xfrm>
            <a:off x="640080" y="2331720"/>
            <a:ext cx="3429000" cy="1965960"/>
          </a:xfrm>
          <a:prstGeom prst="roundRect">
            <a:avLst>
              <a:gd name="adj" fmla="val 3721"/>
            </a:avLst>
          </a:prstGeom>
          <a:solidFill>
            <a:srgbClr val="F5F5F3"/>
          </a:solidFill>
          <a:ln/>
        </p:spPr>
      </p:sp>
      <p:sp>
        <p:nvSpPr>
          <p:cNvPr id="6" name="Shape 4"/>
          <p:cNvSpPr/>
          <p:nvPr/>
        </p:nvSpPr>
        <p:spPr>
          <a:xfrm>
            <a:off x="960120" y="2606040"/>
            <a:ext cx="640080" cy="640080"/>
          </a:xfrm>
          <a:prstGeom prst="ellipse">
            <a:avLst/>
          </a:prstGeom>
          <a:solidFill>
            <a:srgbClr val="FFFFFF"/>
          </a:solidFill>
          <a:ln/>
        </p:spPr>
      </p:sp>
      <p:pic>
        <p:nvPicPr>
          <p:cNvPr id="7" name="Image 0" descr="/tmp/claude-0/-home-user-Presentaciones-y-varios/903c1196-30c4-57a8-b469-52313f1ce01c/scratchpad/andres/icons/tv_1F4A3C.png">    </p:cNvPr>
          <p:cNvPicPr>
            <a:picLocks noChangeAspect="1"/>
          </p:cNvPicPr>
          <p:nvPr/>
        </p:nvPicPr>
        <p:blipFill>
          <a:blip r:embed="rId1"/>
          <a:stretch>
            <a:fillRect/>
          </a:stretch>
        </p:blipFill>
        <p:spPr>
          <a:xfrm>
            <a:off x="1120140" y="2766060"/>
            <a:ext cx="320040" cy="320040"/>
          </a:xfrm>
          <a:prstGeom prst="rect">
            <a:avLst/>
          </a:prstGeom>
        </p:spPr>
      </p:pic>
      <p:sp>
        <p:nvSpPr>
          <p:cNvPr id="8" name="Text 5"/>
          <p:cNvSpPr/>
          <p:nvPr/>
        </p:nvSpPr>
        <p:spPr>
          <a:xfrm>
            <a:off x="1737360" y="256032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Autoridad de Sandra</a:t>
            </a:r>
            <a:endParaRPr lang="en-US" sz="1500" dirty="0"/>
          </a:p>
        </p:txBody>
      </p:sp>
      <p:sp>
        <p:nvSpPr>
          <p:cNvPr id="9" name="Text 6"/>
          <p:cNvSpPr/>
          <p:nvPr/>
        </p:nvSpPr>
        <p:spPr>
          <a:xfrm>
            <a:off x="17373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Periodista de TV reconocida en medios hispanos de EE.UU.</a:t>
            </a:r>
            <a:endParaRPr lang="en-US" sz="1200" dirty="0"/>
          </a:p>
        </p:txBody>
      </p:sp>
      <p:sp>
        <p:nvSpPr>
          <p:cNvPr id="10" name="Shape 7"/>
          <p:cNvSpPr/>
          <p:nvPr/>
        </p:nvSpPr>
        <p:spPr>
          <a:xfrm>
            <a:off x="4297680" y="2331720"/>
            <a:ext cx="3429000" cy="1965960"/>
          </a:xfrm>
          <a:prstGeom prst="roundRect">
            <a:avLst>
              <a:gd name="adj" fmla="val 3721"/>
            </a:avLst>
          </a:prstGeom>
          <a:solidFill>
            <a:srgbClr val="F5F5F3"/>
          </a:solidFill>
          <a:ln/>
        </p:spPr>
      </p:sp>
      <p:sp>
        <p:nvSpPr>
          <p:cNvPr id="11" name="Shape 8"/>
          <p:cNvSpPr/>
          <p:nvPr/>
        </p:nvSpPr>
        <p:spPr>
          <a:xfrm>
            <a:off x="4617720" y="2606040"/>
            <a:ext cx="640080" cy="640080"/>
          </a:xfrm>
          <a:prstGeom prst="ellipse">
            <a:avLst/>
          </a:prstGeom>
          <a:solidFill>
            <a:srgbClr val="FFFFFF"/>
          </a:solidFill>
          <a:ln/>
        </p:spPr>
      </p:sp>
      <p:pic>
        <p:nvPicPr>
          <p:cNvPr id="12" name="Image 1" descr="/tmp/claude-0/-home-user-Presentaciones-y-varios/903c1196-30c4-57a8-b469-52313f1ce01c/scratchpad/andres/icons/star_1F4A3C.png">    </p:cNvPr>
          <p:cNvPicPr>
            <a:picLocks noChangeAspect="1"/>
          </p:cNvPicPr>
          <p:nvPr/>
        </p:nvPicPr>
        <p:blipFill>
          <a:blip r:embed="rId2"/>
          <a:stretch>
            <a:fillRect/>
          </a:stretch>
        </p:blipFill>
        <p:spPr>
          <a:xfrm>
            <a:off x="4777740" y="2766060"/>
            <a:ext cx="320040" cy="320040"/>
          </a:xfrm>
          <a:prstGeom prst="rect">
            <a:avLst/>
          </a:prstGeom>
        </p:spPr>
      </p:pic>
      <p:sp>
        <p:nvSpPr>
          <p:cNvPr id="13" name="Text 9"/>
          <p:cNvSpPr/>
          <p:nvPr/>
        </p:nvSpPr>
        <p:spPr>
          <a:xfrm>
            <a:off x="5394960" y="256032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Transformaciones reales</a:t>
            </a:r>
            <a:endParaRPr lang="en-US" sz="1500" dirty="0"/>
          </a:p>
        </p:txBody>
      </p:sp>
      <p:sp>
        <p:nvSpPr>
          <p:cNvPr id="14" name="Text 10"/>
          <p:cNvSpPr/>
          <p:nvPr/>
        </p:nvSpPr>
        <p:spPr>
          <a:xfrm>
            <a:off x="53949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El trabajo del salón físico como evidencia visual</a:t>
            </a:r>
            <a:endParaRPr lang="en-US" sz="1200" dirty="0"/>
          </a:p>
        </p:txBody>
      </p:sp>
      <p:sp>
        <p:nvSpPr>
          <p:cNvPr id="15" name="Shape 11"/>
          <p:cNvSpPr/>
          <p:nvPr/>
        </p:nvSpPr>
        <p:spPr>
          <a:xfrm>
            <a:off x="7955280" y="2331720"/>
            <a:ext cx="3429000" cy="1965960"/>
          </a:xfrm>
          <a:prstGeom prst="roundRect">
            <a:avLst>
              <a:gd name="adj" fmla="val 3721"/>
            </a:avLst>
          </a:prstGeom>
          <a:solidFill>
            <a:srgbClr val="F5F5F3"/>
          </a:solidFill>
          <a:ln/>
        </p:spPr>
      </p:sp>
      <p:sp>
        <p:nvSpPr>
          <p:cNvPr id="16" name="Shape 12"/>
          <p:cNvSpPr/>
          <p:nvPr/>
        </p:nvSpPr>
        <p:spPr>
          <a:xfrm>
            <a:off x="8275320" y="2606040"/>
            <a:ext cx="640080" cy="640080"/>
          </a:xfrm>
          <a:prstGeom prst="ellipse">
            <a:avLst/>
          </a:prstGeom>
          <a:solidFill>
            <a:srgbClr val="FFFFFF"/>
          </a:solidFill>
          <a:ln/>
        </p:spPr>
      </p:sp>
      <p:pic>
        <p:nvPicPr>
          <p:cNvPr id="17" name="Image 2" descr="/tmp/claude-0/-home-user-Presentaciones-y-varios/903c1196-30c4-57a8-b469-52313f1ce01c/scratchpad/andres/icons/leaf_1F4A3C.png">    </p:cNvPr>
          <p:cNvPicPr>
            <a:picLocks noChangeAspect="1"/>
          </p:cNvPicPr>
          <p:nvPr/>
        </p:nvPicPr>
        <p:blipFill>
          <a:blip r:embed="rId3"/>
          <a:stretch>
            <a:fillRect/>
          </a:stretch>
        </p:blipFill>
        <p:spPr>
          <a:xfrm>
            <a:off x="8435340" y="2766060"/>
            <a:ext cx="320040" cy="320040"/>
          </a:xfrm>
          <a:prstGeom prst="rect">
            <a:avLst/>
          </a:prstGeom>
        </p:spPr>
      </p:pic>
      <p:sp>
        <p:nvSpPr>
          <p:cNvPr id="18" name="Text 13"/>
          <p:cNvSpPr/>
          <p:nvPr/>
        </p:nvSpPr>
        <p:spPr>
          <a:xfrm>
            <a:off x="9052560" y="256032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Aceite de romero</a:t>
            </a:r>
            <a:endParaRPr lang="en-US" sz="1500" dirty="0"/>
          </a:p>
        </p:txBody>
      </p:sp>
      <p:sp>
        <p:nvSpPr>
          <p:cNvPr id="19" name="Text 14"/>
          <p:cNvSpPr/>
          <p:nvPr/>
        </p:nvSpPr>
        <p:spPr>
          <a:xfrm>
            <a:off x="9052560" y="295351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El ingrediente en tendencia para el cuero cabelludo</a:t>
            </a:r>
            <a:endParaRPr lang="en-US" sz="1200" dirty="0"/>
          </a:p>
        </p:txBody>
      </p:sp>
      <p:sp>
        <p:nvSpPr>
          <p:cNvPr id="20" name="Shape 15"/>
          <p:cNvSpPr/>
          <p:nvPr/>
        </p:nvSpPr>
        <p:spPr>
          <a:xfrm>
            <a:off x="640080" y="4663440"/>
            <a:ext cx="3429000" cy="1965960"/>
          </a:xfrm>
          <a:prstGeom prst="roundRect">
            <a:avLst>
              <a:gd name="adj" fmla="val 3721"/>
            </a:avLst>
          </a:prstGeom>
          <a:solidFill>
            <a:srgbClr val="F5F5F3"/>
          </a:solidFill>
          <a:ln/>
        </p:spPr>
      </p:sp>
      <p:sp>
        <p:nvSpPr>
          <p:cNvPr id="21" name="Shape 16"/>
          <p:cNvSpPr/>
          <p:nvPr/>
        </p:nvSpPr>
        <p:spPr>
          <a:xfrm>
            <a:off x="960120" y="4937760"/>
            <a:ext cx="640080" cy="640080"/>
          </a:xfrm>
          <a:prstGeom prst="ellipse">
            <a:avLst/>
          </a:prstGeom>
          <a:solidFill>
            <a:srgbClr val="FFFFFF"/>
          </a:solidFill>
          <a:ln/>
        </p:spPr>
      </p:sp>
      <p:pic>
        <p:nvPicPr>
          <p:cNvPr id="22" name="Image 3" descr="/tmp/claude-0/-home-user-Presentaciones-y-varios/903c1196-30c4-57a8-b469-52313f1ce01c/scratchpad/andres/icons/flagUsa_1F4A3C.png">    </p:cNvPr>
          <p:cNvPicPr>
            <a:picLocks noChangeAspect="1"/>
          </p:cNvPicPr>
          <p:nvPr/>
        </p:nvPicPr>
        <p:blipFill>
          <a:blip r:embed="rId4"/>
          <a:stretch>
            <a:fillRect/>
          </a:stretch>
        </p:blipFill>
        <p:spPr>
          <a:xfrm>
            <a:off x="1120140" y="5097780"/>
            <a:ext cx="320040" cy="320040"/>
          </a:xfrm>
          <a:prstGeom prst="rect">
            <a:avLst/>
          </a:prstGeom>
        </p:spPr>
      </p:pic>
      <p:sp>
        <p:nvSpPr>
          <p:cNvPr id="23" name="Text 17"/>
          <p:cNvSpPr/>
          <p:nvPr/>
        </p:nvSpPr>
        <p:spPr>
          <a:xfrm>
            <a:off x="1737360" y="489204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Comunidad bicultural</a:t>
            </a:r>
            <a:endParaRPr lang="en-US" sz="1500" dirty="0"/>
          </a:p>
        </p:txBody>
      </p:sp>
      <p:sp>
        <p:nvSpPr>
          <p:cNvPr id="24" name="Text 18"/>
          <p:cNvSpPr/>
          <p:nvPr/>
        </p:nvSpPr>
        <p:spPr>
          <a:xfrm>
            <a:off x="17373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Conexión genuina con la audiencia hispana de EE.UU.</a:t>
            </a:r>
            <a:endParaRPr lang="en-US" sz="1200" dirty="0"/>
          </a:p>
        </p:txBody>
      </p:sp>
      <p:sp>
        <p:nvSpPr>
          <p:cNvPr id="25" name="Shape 19"/>
          <p:cNvSpPr/>
          <p:nvPr/>
        </p:nvSpPr>
        <p:spPr>
          <a:xfrm>
            <a:off x="4297680" y="4663440"/>
            <a:ext cx="3429000" cy="1965960"/>
          </a:xfrm>
          <a:prstGeom prst="roundRect">
            <a:avLst>
              <a:gd name="adj" fmla="val 3721"/>
            </a:avLst>
          </a:prstGeom>
          <a:solidFill>
            <a:srgbClr val="F5F5F3"/>
          </a:solidFill>
          <a:ln/>
        </p:spPr>
      </p:sp>
      <p:sp>
        <p:nvSpPr>
          <p:cNvPr id="26" name="Shape 20"/>
          <p:cNvSpPr/>
          <p:nvPr/>
        </p:nvSpPr>
        <p:spPr>
          <a:xfrm>
            <a:off x="4617720" y="4937760"/>
            <a:ext cx="640080" cy="640080"/>
          </a:xfrm>
          <a:prstGeom prst="ellipse">
            <a:avLst/>
          </a:prstGeom>
          <a:solidFill>
            <a:srgbClr val="FFFFFF"/>
          </a:solidFill>
          <a:ln/>
        </p:spPr>
      </p:sp>
      <p:pic>
        <p:nvPicPr>
          <p:cNvPr id="27" name="Image 4" descr="/tmp/claude-0/-home-user-Presentaciones-y-varios/903c1196-30c4-57a8-b469-52313f1ce01c/scratchpad/andres/icons/bottle_1F4A3C.png">    </p:cNvPr>
          <p:cNvPicPr>
            <a:picLocks noChangeAspect="1"/>
          </p:cNvPicPr>
          <p:nvPr/>
        </p:nvPicPr>
        <p:blipFill>
          <a:blip r:embed="rId5"/>
          <a:stretch>
            <a:fillRect/>
          </a:stretch>
        </p:blipFill>
        <p:spPr>
          <a:xfrm>
            <a:off x="4777740" y="5097780"/>
            <a:ext cx="320040" cy="320040"/>
          </a:xfrm>
          <a:prstGeom prst="rect">
            <a:avLst/>
          </a:prstGeom>
        </p:spPr>
      </p:pic>
      <p:sp>
        <p:nvSpPr>
          <p:cNvPr id="28" name="Text 21"/>
          <p:cNvSpPr/>
          <p:nvPr/>
        </p:nvSpPr>
        <p:spPr>
          <a:xfrm>
            <a:off x="5394960" y="4892040"/>
            <a:ext cx="2148840" cy="365760"/>
          </a:xfrm>
          <a:prstGeom prst="rect">
            <a:avLst/>
          </a:prstGeom>
          <a:noFill/>
          <a:ln/>
        </p:spPr>
        <p:txBody>
          <a:bodyPr wrap="square" lIns="0" tIns="0" rIns="0" bIns="0" rtlCol="0" anchor="ctr"/>
          <a:lstStyle/>
          <a:p>
            <a:pPr indent="0" marL="0">
              <a:buNone/>
            </a:pPr>
            <a:r>
              <a:rPr lang="en-US" sz="1500" b="1" dirty="0">
                <a:solidFill>
                  <a:srgbClr val="141412"/>
                </a:solidFill>
                <a:latin typeface="Cambria" pitchFamily="34" charset="0"/>
                <a:ea typeface="Cambria" pitchFamily="34" charset="-122"/>
                <a:cs typeface="Cambria" pitchFamily="34" charset="-120"/>
              </a:rPr>
              <a:t>El producto en acción</a:t>
            </a:r>
            <a:endParaRPr lang="en-US" sz="1500" dirty="0"/>
          </a:p>
        </p:txBody>
      </p:sp>
      <p:sp>
        <p:nvSpPr>
          <p:cNvPr id="29" name="Text 22"/>
          <p:cNvSpPr/>
          <p:nvPr/>
        </p:nvSpPr>
        <p:spPr>
          <a:xfrm>
            <a:off x="5394960" y="5285232"/>
            <a:ext cx="2148840" cy="82296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Shampoo y leave-in mostrados en uso real</a:t>
            </a:r>
            <a:endParaRPr lang="en-US" sz="1200" dirty="0"/>
          </a:p>
        </p:txBody>
      </p:sp>
      <p:sp>
        <p:nvSpPr>
          <p:cNvPr id="30" name="Text 2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6FA98A"/>
                </a:solidFill>
                <a:latin typeface="Calibri" pitchFamily="34" charset="0"/>
                <a:ea typeface="Calibri" pitchFamily="34" charset="-122"/>
                <a:cs typeface="Calibri" pitchFamily="34" charset="-120"/>
              </a:rPr>
              <a:t>ETAPA 02</a:t>
            </a:r>
            <a:endParaRPr lang="en-US" sz="1400" dirty="0"/>
          </a:p>
        </p:txBody>
      </p:sp>
      <p:sp>
        <p:nvSpPr>
          <p:cNvPr id="3" name="Shape 1"/>
          <p:cNvSpPr/>
          <p:nvPr/>
        </p:nvSpPr>
        <p:spPr>
          <a:xfrm>
            <a:off x="777240" y="1440180"/>
            <a:ext cx="1051560" cy="1051560"/>
          </a:xfrm>
          <a:prstGeom prst="ellipse">
            <a:avLst/>
          </a:prstGeom>
          <a:solidFill>
            <a:srgbClr val="6FA98A"/>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680" b="1" dirty="0">
                <a:solidFill>
                  <a:srgbClr val="141412"/>
                </a:solidFill>
                <a:latin typeface="Cambria" pitchFamily="34" charset="0"/>
                <a:ea typeface="Cambria" pitchFamily="34" charset="-122"/>
                <a:cs typeface="Cambria" pitchFamily="34" charset="-120"/>
              </a:rPr>
              <a:t>02</a:t>
            </a:r>
            <a:endParaRPr lang="en-US" sz="3680" dirty="0"/>
          </a:p>
        </p:txBody>
      </p:sp>
      <p:sp>
        <p:nvSpPr>
          <p:cNvPr id="5" name="Text 3"/>
          <p:cNvSpPr/>
          <p:nvPr/>
        </p:nvSpPr>
        <p:spPr>
          <a:xfrm>
            <a:off x="2148840" y="1417320"/>
            <a:ext cx="87782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Evaluación</a:t>
            </a:r>
            <a:endParaRPr lang="en-US" sz="3800" dirty="0"/>
          </a:p>
        </p:txBody>
      </p:sp>
      <p:sp>
        <p:nvSpPr>
          <p:cNvPr id="6" name="Text 4"/>
          <p:cNvSpPr/>
          <p:nvPr/>
        </p:nvSpPr>
        <p:spPr>
          <a:xfrm>
            <a:off x="2167128" y="2148840"/>
            <a:ext cx="8778240" cy="594360"/>
          </a:xfrm>
          <a:prstGeom prst="rect">
            <a:avLst/>
          </a:prstGeom>
          <a:noFill/>
          <a:ln/>
        </p:spPr>
        <p:txBody>
          <a:bodyPr wrap="square" lIns="0" tIns="0" rIns="0" bIns="0" rtlCol="0" anchor="ctr"/>
          <a:lstStyle/>
          <a:p>
            <a:pPr indent="0" marL="0">
              <a:buNone/>
            </a:pPr>
            <a:r>
              <a:rPr lang="en-US" sz="1650" i="1" dirty="0">
                <a:solidFill>
                  <a:srgbClr val="D6D4CE"/>
                </a:solidFill>
                <a:latin typeface="Calibri" pitchFamily="34" charset="0"/>
                <a:ea typeface="Calibri" pitchFamily="34" charset="-122"/>
                <a:cs typeface="Calibri" pitchFamily="34" charset="-120"/>
              </a:rPr>
              <a:t>Objetivo: quien ya vio la marca necesita convencerse de comprar el producto.</a:t>
            </a:r>
            <a:endParaRPr lang="en-US" sz="1650" dirty="0"/>
          </a:p>
        </p:txBody>
      </p:sp>
      <p:sp>
        <p:nvSpPr>
          <p:cNvPr id="7" name="Shape 5"/>
          <p:cNvSpPr/>
          <p:nvPr/>
        </p:nvSpPr>
        <p:spPr>
          <a:xfrm>
            <a:off x="1714500" y="3840480"/>
            <a:ext cx="640080" cy="640080"/>
          </a:xfrm>
          <a:prstGeom prst="ellipse">
            <a:avLst/>
          </a:prstGeom>
          <a:solidFill>
            <a:srgbClr val="201F1B"/>
          </a:solidFill>
          <a:ln/>
        </p:spPr>
      </p:sp>
      <p:pic>
        <p:nvPicPr>
          <p:cNvPr id="8" name="Image 0" descr="/tmp/claude-0/-home-user-Presentaciones-y-varios/903c1196-30c4-57a8-b469-52313f1ce01c/scratchpad/andres/icons/star_6FA98A.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Reseñas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reales</a:t>
            </a:r>
            <a:endParaRPr lang="en-US" sz="1300" dirty="0"/>
          </a:p>
        </p:txBody>
      </p:sp>
      <p:sp>
        <p:nvSpPr>
          <p:cNvPr id="10" name="Shape 7"/>
          <p:cNvSpPr/>
          <p:nvPr/>
        </p:nvSpPr>
        <p:spPr>
          <a:xfrm>
            <a:off x="4485132" y="3840480"/>
            <a:ext cx="640080" cy="640080"/>
          </a:xfrm>
          <a:prstGeom prst="ellipse">
            <a:avLst/>
          </a:prstGeom>
          <a:solidFill>
            <a:srgbClr val="201F1B"/>
          </a:solidFill>
          <a:ln/>
        </p:spPr>
      </p:sp>
      <p:pic>
        <p:nvPicPr>
          <p:cNvPr id="11" name="Image 1" descr="/tmp/claude-0/-home-user-Presentaciones-y-varios/903c1196-30c4-57a8-b469-52313f1ce01c/scratchpad/andres/icons/route_6FA98A.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Testimonios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en video</a:t>
            </a:r>
            <a:endParaRPr lang="en-US" sz="1300" dirty="0"/>
          </a:p>
        </p:txBody>
      </p:sp>
      <p:sp>
        <p:nvSpPr>
          <p:cNvPr id="13" name="Shape 9"/>
          <p:cNvSpPr/>
          <p:nvPr/>
        </p:nvSpPr>
        <p:spPr>
          <a:xfrm>
            <a:off x="7255764" y="3840480"/>
            <a:ext cx="640080" cy="640080"/>
          </a:xfrm>
          <a:prstGeom prst="ellipse">
            <a:avLst/>
          </a:prstGeom>
          <a:solidFill>
            <a:srgbClr val="201F1B"/>
          </a:solidFill>
          <a:ln/>
        </p:spPr>
      </p:sp>
      <p:pic>
        <p:nvPicPr>
          <p:cNvPr id="14" name="Image 2" descr="/tmp/claude-0/-home-user-Presentaciones-y-varios/903c1196-30c4-57a8-b469-52313f1ce01c/scratchpad/andres/icons/sync_6FA98A.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Remarketing</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por interacción</a:t>
            </a:r>
            <a:endParaRPr lang="en-US" sz="1300" dirty="0"/>
          </a:p>
        </p:txBody>
      </p:sp>
      <p:sp>
        <p:nvSpPr>
          <p:cNvPr id="16" name="Shape 11"/>
          <p:cNvSpPr/>
          <p:nvPr/>
        </p:nvSpPr>
        <p:spPr>
          <a:xfrm>
            <a:off x="10026396" y="3840480"/>
            <a:ext cx="640080" cy="640080"/>
          </a:xfrm>
          <a:prstGeom prst="ellipse">
            <a:avLst/>
          </a:prstGeom>
          <a:solidFill>
            <a:srgbClr val="201F1B"/>
          </a:solidFill>
          <a:ln/>
        </p:spPr>
      </p:sp>
      <p:pic>
        <p:nvPicPr>
          <p:cNvPr id="17" name="Image 3" descr="/tmp/claude-0/-home-user-Presentaciones-y-varios/903c1196-30c4-57a8-b469-52313f1ce01c/scratchpad/andres/icons/check_6FA98A.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Comparativas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antes y después</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ETAPA 2 · EVALUACIÓN</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El activo que hoy no se está usando</a:t>
            </a:r>
            <a:endParaRPr lang="en-US" sz="3200" dirty="0"/>
          </a:p>
        </p:txBody>
      </p:sp>
      <p:sp>
        <p:nvSpPr>
          <p:cNvPr id="4" name="Shape 2"/>
          <p:cNvSpPr/>
          <p:nvPr/>
        </p:nvSpPr>
        <p:spPr>
          <a:xfrm>
            <a:off x="640080" y="1965960"/>
            <a:ext cx="3200400" cy="2103120"/>
          </a:xfrm>
          <a:prstGeom prst="roundRect">
            <a:avLst>
              <a:gd name="adj" fmla="val 3478"/>
            </a:avLst>
          </a:prstGeom>
          <a:solidFill>
            <a:srgbClr val="E9EFEA"/>
          </a:solidFill>
          <a:ln/>
        </p:spPr>
      </p:sp>
      <p:sp>
        <p:nvSpPr>
          <p:cNvPr id="5" name="Shape 3"/>
          <p:cNvSpPr/>
          <p:nvPr/>
        </p:nvSpPr>
        <p:spPr>
          <a:xfrm>
            <a:off x="1005840" y="2606040"/>
            <a:ext cx="822960" cy="822960"/>
          </a:xfrm>
          <a:prstGeom prst="ellipse">
            <a:avLst/>
          </a:prstGeom>
          <a:solidFill>
            <a:srgbClr val="FFFFFF"/>
          </a:solidFill>
          <a:ln/>
        </p:spPr>
      </p:sp>
      <p:pic>
        <p:nvPicPr>
          <p:cNvPr id="6" name="Image 0" descr="/tmp/claude-0/-home-user-Presentaciones-y-varios/903c1196-30c4-57a8-b469-52313f1ce01c/scratchpad/andres/icons/star_1F4A3C.png">    </p:cNvPr>
          <p:cNvPicPr>
            <a:picLocks noChangeAspect="1"/>
          </p:cNvPicPr>
          <p:nvPr/>
        </p:nvPicPr>
        <p:blipFill>
          <a:blip r:embed="rId1"/>
          <a:stretch>
            <a:fillRect/>
          </a:stretch>
        </p:blipFill>
        <p:spPr>
          <a:xfrm>
            <a:off x="1211580" y="2811780"/>
            <a:ext cx="411480" cy="411480"/>
          </a:xfrm>
          <a:prstGeom prst="rect">
            <a:avLst/>
          </a:prstGeom>
        </p:spPr>
      </p:pic>
      <p:sp>
        <p:nvSpPr>
          <p:cNvPr id="7" name="Text 4"/>
          <p:cNvSpPr/>
          <p:nvPr/>
        </p:nvSpPr>
        <p:spPr>
          <a:xfrm>
            <a:off x="1965960" y="2240280"/>
            <a:ext cx="1645920" cy="640080"/>
          </a:xfrm>
          <a:prstGeom prst="rect">
            <a:avLst/>
          </a:prstGeom>
          <a:noFill/>
          <a:ln/>
        </p:spPr>
        <p:txBody>
          <a:bodyPr wrap="square" lIns="0" tIns="0" rIns="0" bIns="0" rtlCol="0" anchor="ctr"/>
          <a:lstStyle/>
          <a:p>
            <a:pPr indent="0" marL="0">
              <a:buNone/>
            </a:pPr>
            <a:r>
              <a:rPr lang="en-US" sz="2500" b="1" dirty="0">
                <a:solidFill>
                  <a:srgbClr val="141412"/>
                </a:solidFill>
                <a:latin typeface="Cambria" pitchFamily="34" charset="0"/>
                <a:ea typeface="Cambria" pitchFamily="34" charset="-122"/>
                <a:cs typeface="Cambria" pitchFamily="34" charset="-120"/>
              </a:rPr>
              <a:t>585+</a:t>
            </a:r>
            <a:endParaRPr lang="en-US" sz="2500" dirty="0"/>
          </a:p>
        </p:txBody>
      </p:sp>
      <p:sp>
        <p:nvSpPr>
          <p:cNvPr id="8" name="Text 5"/>
          <p:cNvSpPr/>
          <p:nvPr/>
        </p:nvSpPr>
        <p:spPr>
          <a:xfrm>
            <a:off x="1965960" y="2880360"/>
            <a:ext cx="1645920" cy="100584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Reseñas reales del salón sin usar como creativo de conversión</a:t>
            </a:r>
            <a:endParaRPr lang="en-US" sz="1200" dirty="0"/>
          </a:p>
        </p:txBody>
      </p:sp>
      <p:sp>
        <p:nvSpPr>
          <p:cNvPr id="9" name="Shape 6"/>
          <p:cNvSpPr/>
          <p:nvPr/>
        </p:nvSpPr>
        <p:spPr>
          <a:xfrm>
            <a:off x="4206240" y="1965960"/>
            <a:ext cx="3200400" cy="2103120"/>
          </a:xfrm>
          <a:prstGeom prst="roundRect">
            <a:avLst>
              <a:gd name="adj" fmla="val 3478"/>
            </a:avLst>
          </a:prstGeom>
          <a:solidFill>
            <a:srgbClr val="E9EFEA"/>
          </a:solidFill>
          <a:ln/>
        </p:spPr>
      </p:sp>
      <p:sp>
        <p:nvSpPr>
          <p:cNvPr id="10" name="Shape 7"/>
          <p:cNvSpPr/>
          <p:nvPr/>
        </p:nvSpPr>
        <p:spPr>
          <a:xfrm>
            <a:off x="4572000" y="2606040"/>
            <a:ext cx="822960" cy="822960"/>
          </a:xfrm>
          <a:prstGeom prst="ellipse">
            <a:avLst/>
          </a:prstGeom>
          <a:solidFill>
            <a:srgbClr val="FFFFFF"/>
          </a:solidFill>
          <a:ln/>
        </p:spPr>
      </p:sp>
      <p:pic>
        <p:nvPicPr>
          <p:cNvPr id="11" name="Image 1" descr="/tmp/claude-0/-home-user-Presentaciones-y-varios/903c1196-30c4-57a8-b469-52313f1ce01c/scratchpad/andres/icons/instagram_1F4A3C.png">    </p:cNvPr>
          <p:cNvPicPr>
            <a:picLocks noChangeAspect="1"/>
          </p:cNvPicPr>
          <p:nvPr/>
        </p:nvPicPr>
        <p:blipFill>
          <a:blip r:embed="rId2"/>
          <a:stretch>
            <a:fillRect/>
          </a:stretch>
        </p:blipFill>
        <p:spPr>
          <a:xfrm>
            <a:off x="4777740" y="2811780"/>
            <a:ext cx="411480" cy="411480"/>
          </a:xfrm>
          <a:prstGeom prst="rect">
            <a:avLst/>
          </a:prstGeom>
        </p:spPr>
      </p:pic>
      <p:sp>
        <p:nvSpPr>
          <p:cNvPr id="12" name="Text 8"/>
          <p:cNvSpPr/>
          <p:nvPr/>
        </p:nvSpPr>
        <p:spPr>
          <a:xfrm>
            <a:off x="5532120" y="2240280"/>
            <a:ext cx="1645920" cy="640080"/>
          </a:xfrm>
          <a:prstGeom prst="rect">
            <a:avLst/>
          </a:prstGeom>
          <a:noFill/>
          <a:ln/>
        </p:spPr>
        <p:txBody>
          <a:bodyPr wrap="square" lIns="0" tIns="0" rIns="0" bIns="0" rtlCol="0" anchor="ctr"/>
          <a:lstStyle/>
          <a:p>
            <a:pPr indent="0" marL="0">
              <a:buNone/>
            </a:pPr>
            <a:r>
              <a:rPr lang="en-US" sz="2500" b="1" dirty="0">
                <a:solidFill>
                  <a:srgbClr val="141412"/>
                </a:solidFill>
                <a:latin typeface="Cambria" pitchFamily="34" charset="0"/>
                <a:ea typeface="Cambria" pitchFamily="34" charset="-122"/>
                <a:cs typeface="Cambria" pitchFamily="34" charset="-120"/>
              </a:rPr>
              <a:t>5.500+</a:t>
            </a:r>
            <a:endParaRPr lang="en-US" sz="2500" dirty="0"/>
          </a:p>
        </p:txBody>
      </p:sp>
      <p:sp>
        <p:nvSpPr>
          <p:cNvPr id="13" name="Text 9"/>
          <p:cNvSpPr/>
          <p:nvPr/>
        </p:nvSpPr>
        <p:spPr>
          <a:xfrm>
            <a:off x="5532120" y="2880360"/>
            <a:ext cx="1645920" cy="1005840"/>
          </a:xfrm>
          <a:prstGeom prst="rect">
            <a:avLst/>
          </a:prstGeom>
          <a:noFill/>
          <a:ln/>
        </p:spPr>
        <p:txBody>
          <a:bodyPr wrap="square" lIns="0" tIns="0" rIns="0" bIns="0" rtlCol="0" anchor="ctr"/>
          <a:lstStyle/>
          <a:p>
            <a:pPr indent="0" marL="0">
              <a:buNone/>
            </a:pPr>
            <a:r>
              <a:rPr lang="en-US" sz="1200" dirty="0">
                <a:solidFill>
                  <a:srgbClr val="6B6B66"/>
                </a:solidFill>
                <a:latin typeface="Calibri" pitchFamily="34" charset="0"/>
                <a:ea typeface="Calibri" pitchFamily="34" charset="-122"/>
                <a:cs typeface="Calibri" pitchFamily="34" charset="-120"/>
              </a:rPr>
              <a:t>Publicaciones para construir públicos de remarketing en Meta</a:t>
            </a:r>
            <a:endParaRPr lang="en-US" sz="1200" dirty="0"/>
          </a:p>
        </p:txBody>
      </p:sp>
      <p:sp>
        <p:nvSpPr>
          <p:cNvPr id="14" name="Shape 10"/>
          <p:cNvSpPr/>
          <p:nvPr/>
        </p:nvSpPr>
        <p:spPr>
          <a:xfrm>
            <a:off x="1463040" y="4572000"/>
            <a:ext cx="2468880" cy="1234440"/>
          </a:xfrm>
          <a:prstGeom prst="roundRect">
            <a:avLst>
              <a:gd name="adj" fmla="val 5926"/>
            </a:avLst>
          </a:prstGeom>
          <a:solidFill>
            <a:srgbClr val="F5F5F3"/>
          </a:solidFill>
          <a:ln w="12700">
            <a:solidFill>
              <a:srgbClr val="E4E3DF"/>
            </a:solidFill>
            <a:prstDash val="solid"/>
          </a:ln>
        </p:spPr>
      </p:sp>
      <p:pic>
        <p:nvPicPr>
          <p:cNvPr id="15" name="Image 2" descr="/tmp/claude-0/-home-user-Presentaciones-y-varios/903c1196-30c4-57a8-b469-52313f1ce01c/scratchpad/andres/icons/eye_1F4A3C.png">    </p:cNvPr>
          <p:cNvPicPr>
            <a:picLocks noChangeAspect="1"/>
          </p:cNvPicPr>
          <p:nvPr/>
        </p:nvPicPr>
        <p:blipFill>
          <a:blip r:embed="rId3"/>
          <a:stretch>
            <a:fillRect/>
          </a:stretch>
        </p:blipFill>
        <p:spPr>
          <a:xfrm>
            <a:off x="1691640" y="4983480"/>
            <a:ext cx="411480" cy="411480"/>
          </a:xfrm>
          <a:prstGeom prst="rect">
            <a:avLst/>
          </a:prstGeom>
        </p:spPr>
      </p:pic>
      <p:sp>
        <p:nvSpPr>
          <p:cNvPr id="16" name="Text 11"/>
          <p:cNvSpPr/>
          <p:nvPr/>
        </p:nvSpPr>
        <p:spPr>
          <a:xfrm>
            <a:off x="2194560" y="4572000"/>
            <a:ext cx="1600200" cy="1234440"/>
          </a:xfrm>
          <a:prstGeom prst="rect">
            <a:avLst/>
          </a:prstGeom>
          <a:noFill/>
          <a:ln/>
        </p:spPr>
        <p:txBody>
          <a:bodyPr wrap="square" lIns="0" tIns="0" rIns="0" bIns="0" rtlCol="0" anchor="ctr"/>
          <a:lstStyle/>
          <a:p>
            <a:pPr indent="0" marL="0">
              <a:buNone/>
            </a:pPr>
            <a:r>
              <a:rPr lang="en-US" sz="1300" b="1" dirty="0">
                <a:solidFill>
                  <a:srgbClr val="141412"/>
                </a:solidFill>
                <a:latin typeface="Calibri" pitchFamily="34" charset="0"/>
                <a:ea typeface="Calibri" pitchFamily="34" charset="-122"/>
                <a:cs typeface="Calibri" pitchFamily="34" charset="-120"/>
              </a:rPr>
              <a:t>Interacción</a:t>
            </a:r>
            <a:endParaRPr lang="en-US" sz="1300" dirty="0"/>
          </a:p>
          <a:p>
            <a:pPr indent="0" marL="0">
              <a:buNone/>
            </a:pPr>
            <a:r>
              <a:rPr lang="en-US" sz="1300" b="1" dirty="0">
                <a:solidFill>
                  <a:srgbClr val="141412"/>
                </a:solidFill>
                <a:latin typeface="Calibri" pitchFamily="34" charset="0"/>
                <a:ea typeface="Calibri" pitchFamily="34" charset="-122"/>
                <a:cs typeface="Calibri" pitchFamily="34" charset="-120"/>
              </a:rPr>
              <a:t>orgánica</a:t>
            </a:r>
            <a:endParaRPr lang="en-US" sz="1300" dirty="0"/>
          </a:p>
        </p:txBody>
      </p:sp>
      <p:pic>
        <p:nvPicPr>
          <p:cNvPr id="17" name="Image 3" descr="/tmp/claude-0/-home-user-Presentaciones-y-varios/903c1196-30c4-57a8-b469-52313f1ce01c/scratchpad/andres/icons/arrowRight_1F4A3C.png">    </p:cNvPr>
          <p:cNvPicPr>
            <a:picLocks noChangeAspect="1"/>
          </p:cNvPicPr>
          <p:nvPr/>
        </p:nvPicPr>
        <p:blipFill>
          <a:blip r:embed="rId4"/>
          <a:stretch>
            <a:fillRect/>
          </a:stretch>
        </p:blipFill>
        <p:spPr>
          <a:xfrm>
            <a:off x="4133088" y="5074920"/>
            <a:ext cx="274320" cy="274320"/>
          </a:xfrm>
          <a:prstGeom prst="rect">
            <a:avLst/>
          </a:prstGeom>
        </p:spPr>
      </p:pic>
      <p:sp>
        <p:nvSpPr>
          <p:cNvPr id="18" name="Shape 12"/>
          <p:cNvSpPr/>
          <p:nvPr/>
        </p:nvSpPr>
        <p:spPr>
          <a:xfrm>
            <a:off x="4617720" y="4572000"/>
            <a:ext cx="2468880" cy="1234440"/>
          </a:xfrm>
          <a:prstGeom prst="roundRect">
            <a:avLst>
              <a:gd name="adj" fmla="val 5926"/>
            </a:avLst>
          </a:prstGeom>
          <a:solidFill>
            <a:srgbClr val="F5F5F3"/>
          </a:solidFill>
          <a:ln w="12700">
            <a:solidFill>
              <a:srgbClr val="E4E3DF"/>
            </a:solidFill>
            <a:prstDash val="solid"/>
          </a:ln>
        </p:spPr>
      </p:sp>
      <p:pic>
        <p:nvPicPr>
          <p:cNvPr id="19" name="Image 4" descr="/tmp/claude-0/-home-user-Presentaciones-y-varios/903c1196-30c4-57a8-b469-52313f1ce01c/scratchpad/andres/icons/filter_1F4A3C.png">    </p:cNvPr>
          <p:cNvPicPr>
            <a:picLocks noChangeAspect="1"/>
          </p:cNvPicPr>
          <p:nvPr/>
        </p:nvPicPr>
        <p:blipFill>
          <a:blip r:embed="rId5"/>
          <a:stretch>
            <a:fillRect/>
          </a:stretch>
        </p:blipFill>
        <p:spPr>
          <a:xfrm>
            <a:off x="4846320" y="4983480"/>
            <a:ext cx="411480" cy="411480"/>
          </a:xfrm>
          <a:prstGeom prst="rect">
            <a:avLst/>
          </a:prstGeom>
        </p:spPr>
      </p:pic>
      <p:sp>
        <p:nvSpPr>
          <p:cNvPr id="20" name="Text 13"/>
          <p:cNvSpPr/>
          <p:nvPr/>
        </p:nvSpPr>
        <p:spPr>
          <a:xfrm>
            <a:off x="5349240" y="4572000"/>
            <a:ext cx="1600200" cy="1234440"/>
          </a:xfrm>
          <a:prstGeom prst="rect">
            <a:avLst/>
          </a:prstGeom>
          <a:noFill/>
          <a:ln/>
        </p:spPr>
        <p:txBody>
          <a:bodyPr wrap="square" lIns="0" tIns="0" rIns="0" bIns="0" rtlCol="0" anchor="ctr"/>
          <a:lstStyle/>
          <a:p>
            <a:pPr indent="0" marL="0">
              <a:buNone/>
            </a:pPr>
            <a:r>
              <a:rPr lang="en-US" sz="1300" b="1" dirty="0">
                <a:solidFill>
                  <a:srgbClr val="141412"/>
                </a:solidFill>
                <a:latin typeface="Calibri" pitchFamily="34" charset="0"/>
                <a:ea typeface="Calibri" pitchFamily="34" charset="-122"/>
                <a:cs typeface="Calibri" pitchFamily="34" charset="-120"/>
              </a:rPr>
              <a:t>Público</a:t>
            </a:r>
            <a:endParaRPr lang="en-US" sz="1300" dirty="0"/>
          </a:p>
          <a:p>
            <a:pPr indent="0" marL="0">
              <a:buNone/>
            </a:pPr>
            <a:r>
              <a:rPr lang="en-US" sz="1300" b="1" dirty="0">
                <a:solidFill>
                  <a:srgbClr val="141412"/>
                </a:solidFill>
                <a:latin typeface="Calibri" pitchFamily="34" charset="0"/>
                <a:ea typeface="Calibri" pitchFamily="34" charset="-122"/>
                <a:cs typeface="Calibri" pitchFamily="34" charset="-120"/>
              </a:rPr>
              <a:t>personalizado</a:t>
            </a:r>
            <a:endParaRPr lang="en-US" sz="1300" dirty="0"/>
          </a:p>
        </p:txBody>
      </p:sp>
      <p:pic>
        <p:nvPicPr>
          <p:cNvPr id="21" name="Image 5" descr="/tmp/claude-0/-home-user-Presentaciones-y-varios/903c1196-30c4-57a8-b469-52313f1ce01c/scratchpad/andres/icons/arrowRight_1F4A3C.png">    </p:cNvPr>
          <p:cNvPicPr>
            <a:picLocks noChangeAspect="1"/>
          </p:cNvPicPr>
          <p:nvPr/>
        </p:nvPicPr>
        <p:blipFill>
          <a:blip r:embed="rId6"/>
          <a:stretch>
            <a:fillRect/>
          </a:stretch>
        </p:blipFill>
        <p:spPr>
          <a:xfrm>
            <a:off x="7287768" y="5074920"/>
            <a:ext cx="274320" cy="274320"/>
          </a:xfrm>
          <a:prstGeom prst="rect">
            <a:avLst/>
          </a:prstGeom>
        </p:spPr>
      </p:pic>
      <p:sp>
        <p:nvSpPr>
          <p:cNvPr id="22" name="Shape 14"/>
          <p:cNvSpPr/>
          <p:nvPr/>
        </p:nvSpPr>
        <p:spPr>
          <a:xfrm>
            <a:off x="7772400" y="4572000"/>
            <a:ext cx="2468880" cy="1234440"/>
          </a:xfrm>
          <a:prstGeom prst="roundRect">
            <a:avLst>
              <a:gd name="adj" fmla="val 5926"/>
            </a:avLst>
          </a:prstGeom>
          <a:solidFill>
            <a:srgbClr val="F5F5F3"/>
          </a:solidFill>
          <a:ln w="12700">
            <a:solidFill>
              <a:srgbClr val="E4E3DF"/>
            </a:solidFill>
            <a:prstDash val="solid"/>
          </a:ln>
        </p:spPr>
      </p:sp>
      <p:pic>
        <p:nvPicPr>
          <p:cNvPr id="23" name="Image 6" descr="/tmp/claude-0/-home-user-Presentaciones-y-varios/903c1196-30c4-57a8-b469-52313f1ce01c/scratchpad/andres/icons/target_1F4A3C.png">    </p:cNvPr>
          <p:cNvPicPr>
            <a:picLocks noChangeAspect="1"/>
          </p:cNvPicPr>
          <p:nvPr/>
        </p:nvPicPr>
        <p:blipFill>
          <a:blip r:embed="rId7"/>
          <a:stretch>
            <a:fillRect/>
          </a:stretch>
        </p:blipFill>
        <p:spPr>
          <a:xfrm>
            <a:off x="8001000" y="4983480"/>
            <a:ext cx="411480" cy="411480"/>
          </a:xfrm>
          <a:prstGeom prst="rect">
            <a:avLst/>
          </a:prstGeom>
        </p:spPr>
      </p:pic>
      <p:sp>
        <p:nvSpPr>
          <p:cNvPr id="24" name="Text 15"/>
          <p:cNvSpPr/>
          <p:nvPr/>
        </p:nvSpPr>
        <p:spPr>
          <a:xfrm>
            <a:off x="8503920" y="4572000"/>
            <a:ext cx="1600200" cy="1234440"/>
          </a:xfrm>
          <a:prstGeom prst="rect">
            <a:avLst/>
          </a:prstGeom>
          <a:noFill/>
          <a:ln/>
        </p:spPr>
        <p:txBody>
          <a:bodyPr wrap="square" lIns="0" tIns="0" rIns="0" bIns="0" rtlCol="0" anchor="ctr"/>
          <a:lstStyle/>
          <a:p>
            <a:pPr indent="0" marL="0">
              <a:buNone/>
            </a:pPr>
            <a:r>
              <a:rPr lang="en-US" sz="1300" b="1" dirty="0">
                <a:solidFill>
                  <a:srgbClr val="141412"/>
                </a:solidFill>
                <a:latin typeface="Calibri" pitchFamily="34" charset="0"/>
                <a:ea typeface="Calibri" pitchFamily="34" charset="-122"/>
                <a:cs typeface="Calibri" pitchFamily="34" charset="-120"/>
              </a:rPr>
              <a:t>Anuncio de</a:t>
            </a:r>
            <a:endParaRPr lang="en-US" sz="1300" dirty="0"/>
          </a:p>
          <a:p>
            <a:pPr indent="0" marL="0">
              <a:buNone/>
            </a:pPr>
            <a:r>
              <a:rPr lang="en-US" sz="1300" b="1" dirty="0">
                <a:solidFill>
                  <a:srgbClr val="141412"/>
                </a:solidFill>
                <a:latin typeface="Calibri" pitchFamily="34" charset="0"/>
                <a:ea typeface="Calibri" pitchFamily="34" charset="-122"/>
                <a:cs typeface="Calibri" pitchFamily="34" charset="-120"/>
              </a:rPr>
              <a:t>prueba social</a:t>
            </a:r>
            <a:endParaRPr lang="en-US" sz="1300" dirty="0"/>
          </a:p>
        </p:txBody>
      </p:sp>
      <p:sp>
        <p:nvSpPr>
          <p:cNvPr id="25" name="Text 16"/>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6FA98A"/>
                </a:solidFill>
                <a:latin typeface="Calibri" pitchFamily="34" charset="0"/>
                <a:ea typeface="Calibri" pitchFamily="34" charset="-122"/>
                <a:cs typeface="Calibri" pitchFamily="34" charset="-120"/>
              </a:rPr>
              <a:t>ETAPA 03</a:t>
            </a:r>
            <a:endParaRPr lang="en-US" sz="1400" dirty="0"/>
          </a:p>
        </p:txBody>
      </p:sp>
      <p:sp>
        <p:nvSpPr>
          <p:cNvPr id="3" name="Shape 1"/>
          <p:cNvSpPr/>
          <p:nvPr/>
        </p:nvSpPr>
        <p:spPr>
          <a:xfrm>
            <a:off x="777240" y="1440180"/>
            <a:ext cx="1051560" cy="1051560"/>
          </a:xfrm>
          <a:prstGeom prst="ellipse">
            <a:avLst/>
          </a:prstGeom>
          <a:solidFill>
            <a:srgbClr val="6FA98A"/>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680" b="1" dirty="0">
                <a:solidFill>
                  <a:srgbClr val="141412"/>
                </a:solidFill>
                <a:latin typeface="Cambria" pitchFamily="34" charset="0"/>
                <a:ea typeface="Cambria" pitchFamily="34" charset="-122"/>
                <a:cs typeface="Cambria" pitchFamily="34" charset="-120"/>
              </a:rPr>
              <a:t>03</a:t>
            </a:r>
            <a:endParaRPr lang="en-US" sz="3680" dirty="0"/>
          </a:p>
        </p:txBody>
      </p:sp>
      <p:sp>
        <p:nvSpPr>
          <p:cNvPr id="5" name="Text 3"/>
          <p:cNvSpPr/>
          <p:nvPr/>
        </p:nvSpPr>
        <p:spPr>
          <a:xfrm>
            <a:off x="2148840" y="1417320"/>
            <a:ext cx="87782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Conversión</a:t>
            </a:r>
            <a:endParaRPr lang="en-US" sz="3800" dirty="0"/>
          </a:p>
        </p:txBody>
      </p:sp>
      <p:sp>
        <p:nvSpPr>
          <p:cNvPr id="6" name="Text 4"/>
          <p:cNvSpPr/>
          <p:nvPr/>
        </p:nvSpPr>
        <p:spPr>
          <a:xfrm>
            <a:off x="2167128" y="2148840"/>
            <a:ext cx="8778240" cy="594360"/>
          </a:xfrm>
          <a:prstGeom prst="rect">
            <a:avLst/>
          </a:prstGeom>
          <a:noFill/>
          <a:ln/>
        </p:spPr>
        <p:txBody>
          <a:bodyPr wrap="square" lIns="0" tIns="0" rIns="0" bIns="0" rtlCol="0" anchor="ctr"/>
          <a:lstStyle/>
          <a:p>
            <a:pPr indent="0" marL="0">
              <a:buNone/>
            </a:pPr>
            <a:r>
              <a:rPr lang="en-US" sz="1650" i="1" dirty="0">
                <a:solidFill>
                  <a:srgbClr val="D6D4CE"/>
                </a:solidFill>
                <a:latin typeface="Calibri" pitchFamily="34" charset="0"/>
                <a:ea typeface="Calibri" pitchFamily="34" charset="-122"/>
                <a:cs typeface="Calibri" pitchFamily="34" charset="-120"/>
              </a:rPr>
              <a:t>Objetivo: convertir solo a quien ya demostró interés, en una compra en línea.</a:t>
            </a:r>
            <a:endParaRPr lang="en-US" sz="1650" dirty="0"/>
          </a:p>
        </p:txBody>
      </p:sp>
      <p:sp>
        <p:nvSpPr>
          <p:cNvPr id="7" name="Shape 5"/>
          <p:cNvSpPr/>
          <p:nvPr/>
        </p:nvSpPr>
        <p:spPr>
          <a:xfrm>
            <a:off x="1714500" y="3840480"/>
            <a:ext cx="640080" cy="640080"/>
          </a:xfrm>
          <a:prstGeom prst="ellipse">
            <a:avLst/>
          </a:prstGeom>
          <a:solidFill>
            <a:srgbClr val="201F1B"/>
          </a:solidFill>
          <a:ln/>
        </p:spPr>
      </p:sp>
      <p:pic>
        <p:nvPicPr>
          <p:cNvPr id="8" name="Image 0" descr="/tmp/claude-0/-home-user-Presentaciones-y-varios/903c1196-30c4-57a8-b469-52313f1ce01c/scratchpad/andres/icons/bag_6FA98A.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Tienda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en línea</a:t>
            </a:r>
            <a:endParaRPr lang="en-US" sz="1300" dirty="0"/>
          </a:p>
        </p:txBody>
      </p:sp>
      <p:sp>
        <p:nvSpPr>
          <p:cNvPr id="10" name="Shape 7"/>
          <p:cNvSpPr/>
          <p:nvPr/>
        </p:nvSpPr>
        <p:spPr>
          <a:xfrm>
            <a:off x="4485132" y="3840480"/>
            <a:ext cx="640080" cy="640080"/>
          </a:xfrm>
          <a:prstGeom prst="ellipse">
            <a:avLst/>
          </a:prstGeom>
          <a:solidFill>
            <a:srgbClr val="201F1B"/>
          </a:solidFill>
          <a:ln/>
        </p:spPr>
      </p:sp>
      <p:pic>
        <p:nvPicPr>
          <p:cNvPr id="11" name="Image 1" descr="/tmp/claude-0/-home-user-Presentaciones-y-varios/903c1196-30c4-57a8-b469-52313f1ce01c/scratchpad/andres/icons/target_6FA98A.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Audiencias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precisión en EE.UU.</a:t>
            </a:r>
            <a:endParaRPr lang="en-US" sz="1300" dirty="0"/>
          </a:p>
        </p:txBody>
      </p:sp>
      <p:sp>
        <p:nvSpPr>
          <p:cNvPr id="13" name="Shape 9"/>
          <p:cNvSpPr/>
          <p:nvPr/>
        </p:nvSpPr>
        <p:spPr>
          <a:xfrm>
            <a:off x="7255764" y="3840480"/>
            <a:ext cx="640080" cy="640080"/>
          </a:xfrm>
          <a:prstGeom prst="ellipse">
            <a:avLst/>
          </a:prstGeom>
          <a:solidFill>
            <a:srgbClr val="201F1B"/>
          </a:solidFill>
          <a:ln/>
        </p:spPr>
      </p:sp>
      <p:pic>
        <p:nvPicPr>
          <p:cNvPr id="14" name="Image 2" descr="/tmp/claude-0/-home-user-Presentaciones-y-varios/903c1196-30c4-57a8-b469-52313f1ce01c/scratchpad/andres/icons/bottle_6FA98A.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Oferta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por producto</a:t>
            </a:r>
            <a:endParaRPr lang="en-US" sz="1300" dirty="0"/>
          </a:p>
        </p:txBody>
      </p:sp>
      <p:sp>
        <p:nvSpPr>
          <p:cNvPr id="16" name="Shape 11"/>
          <p:cNvSpPr/>
          <p:nvPr/>
        </p:nvSpPr>
        <p:spPr>
          <a:xfrm>
            <a:off x="10026396" y="3840480"/>
            <a:ext cx="640080" cy="640080"/>
          </a:xfrm>
          <a:prstGeom prst="ellipse">
            <a:avLst/>
          </a:prstGeom>
          <a:solidFill>
            <a:srgbClr val="201F1B"/>
          </a:solidFill>
          <a:ln/>
        </p:spPr>
      </p:sp>
      <p:pic>
        <p:nvPicPr>
          <p:cNvPr id="17" name="Image 3" descr="/tmp/claude-0/-home-user-Presentaciones-y-varios/903c1196-30c4-57a8-b469-52313f1ce01c/scratchpad/andres/icons/route_6FA98A.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Checkout</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sin fricción</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ETAPA 3 · CONVERSIÓN</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De la intención a la compra</a:t>
            </a:r>
            <a:endParaRPr lang="en-US" sz="32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El mismo público, dos formas de pedirle que actúe.</a:t>
            </a:r>
            <a:endParaRPr lang="en-US" sz="1500" dirty="0"/>
          </a:p>
        </p:txBody>
      </p:sp>
      <p:sp>
        <p:nvSpPr>
          <p:cNvPr id="5" name="Shape 3"/>
          <p:cNvSpPr/>
          <p:nvPr/>
        </p:nvSpPr>
        <p:spPr>
          <a:xfrm>
            <a:off x="640080" y="2103120"/>
            <a:ext cx="5074920" cy="3840480"/>
          </a:xfrm>
          <a:prstGeom prst="roundRect">
            <a:avLst>
              <a:gd name="adj" fmla="val 1905"/>
            </a:avLst>
          </a:prstGeom>
          <a:solidFill>
            <a:srgbClr val="F5F5F3"/>
          </a:solidFill>
          <a:ln/>
        </p:spPr>
      </p:sp>
      <p:sp>
        <p:nvSpPr>
          <p:cNvPr id="6" name="Text 4"/>
          <p:cNvSpPr/>
          <p:nvPr/>
        </p:nvSpPr>
        <p:spPr>
          <a:xfrm>
            <a:off x="1005840" y="2377440"/>
            <a:ext cx="43434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CTA GENÉRICO</a:t>
            </a:r>
            <a:endParaRPr lang="en-US" sz="1300" dirty="0"/>
          </a:p>
        </p:txBody>
      </p:sp>
      <p:sp>
        <p:nvSpPr>
          <p:cNvPr id="7" name="Text 5"/>
          <p:cNvSpPr/>
          <p:nvPr/>
        </p:nvSpPr>
        <p:spPr>
          <a:xfrm>
            <a:off x="1005840" y="2788920"/>
            <a:ext cx="4343400" cy="548640"/>
          </a:xfrm>
          <a:prstGeom prst="rect">
            <a:avLst/>
          </a:prstGeom>
          <a:noFill/>
          <a:ln/>
        </p:spPr>
        <p:txBody>
          <a:bodyPr wrap="square" lIns="0" tIns="0" rIns="0" bIns="0" rtlCol="0" anchor="ctr"/>
          <a:lstStyle/>
          <a:p>
            <a:pPr indent="0" marL="0">
              <a:buNone/>
            </a:pPr>
            <a:r>
              <a:rPr lang="en-US" sz="1600" i="1" dirty="0">
                <a:solidFill>
                  <a:srgbClr val="141412"/>
                </a:solidFill>
                <a:latin typeface="Cambria" pitchFamily="34" charset="0"/>
                <a:ea typeface="Cambria" pitchFamily="34" charset="-122"/>
                <a:cs typeface="Cambria" pitchFamily="34" charset="-120"/>
              </a:rPr>
              <a:t>“Descubre nuestros productos”</a:t>
            </a:r>
            <a:endParaRPr lang="en-US" sz="1600" dirty="0"/>
          </a:p>
        </p:txBody>
      </p:sp>
      <p:sp>
        <p:nvSpPr>
          <p:cNvPr id="8" name="Text 6"/>
          <p:cNvSpPr/>
          <p:nvPr/>
        </p:nvSpPr>
        <p:spPr>
          <a:xfrm>
            <a:off x="1005840" y="3566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producto específico</a:t>
            </a:r>
            <a:endParaRPr lang="en-US" sz="1400" dirty="0"/>
          </a:p>
        </p:txBody>
      </p:sp>
      <p:sp>
        <p:nvSpPr>
          <p:cNvPr id="9" name="Text 7"/>
          <p:cNvSpPr/>
          <p:nvPr/>
        </p:nvSpPr>
        <p:spPr>
          <a:xfrm>
            <a:off x="1005840" y="406908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Sin urgencia real</a:t>
            </a:r>
            <a:endParaRPr lang="en-US" sz="1400" dirty="0"/>
          </a:p>
        </p:txBody>
      </p:sp>
      <p:sp>
        <p:nvSpPr>
          <p:cNvPr id="10" name="Text 8"/>
          <p:cNvSpPr/>
          <p:nvPr/>
        </p:nvSpPr>
        <p:spPr>
          <a:xfrm>
            <a:off x="1005840" y="457200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6B6B66"/>
                </a:solidFill>
                <a:latin typeface="Calibri" pitchFamily="34" charset="0"/>
                <a:ea typeface="Calibri" pitchFamily="34" charset="-122"/>
                <a:cs typeface="Calibri" pitchFamily="34" charset="-120"/>
              </a:rPr>
              <a:t>Un solo público para todos</a:t>
            </a:r>
            <a:endParaRPr lang="en-US" sz="1400" dirty="0"/>
          </a:p>
        </p:txBody>
      </p:sp>
      <p:sp>
        <p:nvSpPr>
          <p:cNvPr id="11" name="Shape 9"/>
          <p:cNvSpPr/>
          <p:nvPr/>
        </p:nvSpPr>
        <p:spPr>
          <a:xfrm>
            <a:off x="6172200" y="2103120"/>
            <a:ext cx="5074920" cy="3840480"/>
          </a:xfrm>
          <a:prstGeom prst="roundRect">
            <a:avLst>
              <a:gd name="adj" fmla="val 1905"/>
            </a:avLst>
          </a:prstGeom>
          <a:solidFill>
            <a:srgbClr val="141412"/>
          </a:solidFill>
          <a:ln/>
        </p:spPr>
      </p:sp>
      <p:sp>
        <p:nvSpPr>
          <p:cNvPr id="12" name="Text 10"/>
          <p:cNvSpPr/>
          <p:nvPr/>
        </p:nvSpPr>
        <p:spPr>
          <a:xfrm>
            <a:off x="6537960" y="2377440"/>
            <a:ext cx="4343400" cy="320040"/>
          </a:xfrm>
          <a:prstGeom prst="rect">
            <a:avLst/>
          </a:prstGeom>
          <a:noFill/>
          <a:ln/>
        </p:spPr>
        <p:txBody>
          <a:bodyPr wrap="square" lIns="0" tIns="0" rIns="0" bIns="0" rtlCol="0" anchor="ctr"/>
          <a:lstStyle/>
          <a:p>
            <a:pPr indent="0" marL="0">
              <a:buNone/>
            </a:pPr>
            <a:r>
              <a:rPr lang="en-US" sz="1300" b="1" spc="150" kern="0" dirty="0">
                <a:solidFill>
                  <a:srgbClr val="6FA98A"/>
                </a:solidFill>
                <a:latin typeface="Calibri" pitchFamily="34" charset="0"/>
                <a:ea typeface="Calibri" pitchFamily="34" charset="-122"/>
                <a:cs typeface="Calibri" pitchFamily="34" charset="-120"/>
              </a:rPr>
              <a:t>CTA POR PRODUCTO</a:t>
            </a:r>
            <a:endParaRPr lang="en-US" sz="1300" dirty="0"/>
          </a:p>
        </p:txBody>
      </p:sp>
      <p:sp>
        <p:nvSpPr>
          <p:cNvPr id="13" name="Text 11"/>
          <p:cNvSpPr/>
          <p:nvPr/>
        </p:nvSpPr>
        <p:spPr>
          <a:xfrm>
            <a:off x="6537960" y="2788920"/>
            <a:ext cx="4343400" cy="64008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“Lleva el shampoo de romero, con envío a todo EE.UU.”</a:t>
            </a:r>
            <a:endParaRPr lang="en-US" sz="1600" dirty="0"/>
          </a:p>
        </p:txBody>
      </p:sp>
      <p:sp>
        <p:nvSpPr>
          <p:cNvPr id="14" name="Text 12"/>
          <p:cNvSpPr/>
          <p:nvPr/>
        </p:nvSpPr>
        <p:spPr>
          <a:xfrm>
            <a:off x="6537960" y="370332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Producto y beneficio específicos</a:t>
            </a:r>
            <a:endParaRPr lang="en-US" sz="1400" dirty="0"/>
          </a:p>
        </p:txBody>
      </p:sp>
      <p:sp>
        <p:nvSpPr>
          <p:cNvPr id="15" name="Text 13"/>
          <p:cNvSpPr/>
          <p:nvPr/>
        </p:nvSpPr>
        <p:spPr>
          <a:xfrm>
            <a:off x="6537960" y="420624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Oferta y envío nacional claros</a:t>
            </a:r>
            <a:endParaRPr lang="en-US" sz="1400" dirty="0"/>
          </a:p>
        </p:txBody>
      </p:sp>
      <p:sp>
        <p:nvSpPr>
          <p:cNvPr id="16" name="Text 14"/>
          <p:cNvSpPr/>
          <p:nvPr/>
        </p:nvSpPr>
        <p:spPr>
          <a:xfrm>
            <a:off x="6537960" y="4709160"/>
            <a:ext cx="4343400" cy="457200"/>
          </a:xfrm>
          <a:prstGeom prst="rect">
            <a:avLst/>
          </a:prstGeom>
          <a:noFill/>
          <a:ln/>
        </p:spPr>
        <p:txBody>
          <a:bodyPr wrap="square" lIns="0" tIns="0" rIns="0" bIns="0" rtlCol="0" anchor="ctr"/>
          <a:lstStyle/>
          <a:p>
            <a:pPr marL="342900" indent="-342900">
              <a:buSzPct val="100000"/>
              <a:buChar char="–"/>
            </a:pPr>
            <a:r>
              <a:rPr lang="en-US" sz="1400" dirty="0">
                <a:solidFill>
                  <a:srgbClr val="FFFFFF"/>
                </a:solidFill>
                <a:latin typeface="Calibri" pitchFamily="34" charset="0"/>
                <a:ea typeface="Calibri" pitchFamily="34" charset="-122"/>
                <a:cs typeface="Calibri" pitchFamily="34" charset="-120"/>
              </a:rPr>
              <a:t>Un anuncio por producto o rutina</a:t>
            </a:r>
            <a:endParaRPr lang="en-US" sz="1400" dirty="0"/>
          </a:p>
        </p:txBody>
      </p:sp>
      <p:sp>
        <p:nvSpPr>
          <p:cNvPr id="17"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777240"/>
            <a:ext cx="5486400" cy="365760"/>
          </a:xfrm>
          <a:prstGeom prst="rect">
            <a:avLst/>
          </a:prstGeom>
          <a:noFill/>
          <a:ln/>
        </p:spPr>
        <p:txBody>
          <a:bodyPr wrap="square" lIns="0" tIns="0" rIns="0" bIns="0" rtlCol="0" anchor="ctr"/>
          <a:lstStyle/>
          <a:p>
            <a:pPr indent="0" marL="0">
              <a:buNone/>
            </a:pPr>
            <a:r>
              <a:rPr lang="en-US" sz="1400" b="1" spc="300" kern="0" dirty="0">
                <a:solidFill>
                  <a:srgbClr val="6FA98A"/>
                </a:solidFill>
                <a:latin typeface="Calibri" pitchFamily="34" charset="0"/>
                <a:ea typeface="Calibri" pitchFamily="34" charset="-122"/>
                <a:cs typeface="Calibri" pitchFamily="34" charset="-120"/>
              </a:rPr>
              <a:t>ETAPA 04</a:t>
            </a:r>
            <a:endParaRPr lang="en-US" sz="1400" dirty="0"/>
          </a:p>
        </p:txBody>
      </p:sp>
      <p:sp>
        <p:nvSpPr>
          <p:cNvPr id="3" name="Shape 1"/>
          <p:cNvSpPr/>
          <p:nvPr/>
        </p:nvSpPr>
        <p:spPr>
          <a:xfrm>
            <a:off x="777240" y="1440180"/>
            <a:ext cx="1051560" cy="1051560"/>
          </a:xfrm>
          <a:prstGeom prst="ellipse">
            <a:avLst/>
          </a:prstGeom>
          <a:solidFill>
            <a:srgbClr val="6FA98A"/>
          </a:solidFill>
          <a:ln/>
        </p:spPr>
      </p:sp>
      <p:sp>
        <p:nvSpPr>
          <p:cNvPr id="4" name="Text 2"/>
          <p:cNvSpPr/>
          <p:nvPr/>
        </p:nvSpPr>
        <p:spPr>
          <a:xfrm>
            <a:off x="777240" y="1440180"/>
            <a:ext cx="1051560" cy="1051560"/>
          </a:xfrm>
          <a:prstGeom prst="rect">
            <a:avLst/>
          </a:prstGeom>
          <a:noFill/>
          <a:ln/>
        </p:spPr>
        <p:txBody>
          <a:bodyPr wrap="square" lIns="0" tIns="0" rIns="0" bIns="0" rtlCol="0" anchor="ctr"/>
          <a:lstStyle/>
          <a:p>
            <a:pPr algn="ctr" indent="0" marL="0">
              <a:buNone/>
            </a:pPr>
            <a:r>
              <a:rPr lang="en-US" sz="3680" b="1" dirty="0">
                <a:solidFill>
                  <a:srgbClr val="141412"/>
                </a:solidFill>
                <a:latin typeface="Cambria" pitchFamily="34" charset="0"/>
                <a:ea typeface="Cambria" pitchFamily="34" charset="-122"/>
                <a:cs typeface="Cambria" pitchFamily="34" charset="-120"/>
              </a:rPr>
              <a:t>04</a:t>
            </a:r>
            <a:endParaRPr lang="en-US" sz="3680" dirty="0"/>
          </a:p>
        </p:txBody>
      </p:sp>
      <p:sp>
        <p:nvSpPr>
          <p:cNvPr id="5" name="Text 3"/>
          <p:cNvSpPr/>
          <p:nvPr/>
        </p:nvSpPr>
        <p:spPr>
          <a:xfrm>
            <a:off x="2148840" y="1417320"/>
            <a:ext cx="877824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Ascensión</a:t>
            </a:r>
            <a:endParaRPr lang="en-US" sz="3800" dirty="0"/>
          </a:p>
        </p:txBody>
      </p:sp>
      <p:sp>
        <p:nvSpPr>
          <p:cNvPr id="6" name="Text 4"/>
          <p:cNvSpPr/>
          <p:nvPr/>
        </p:nvSpPr>
        <p:spPr>
          <a:xfrm>
            <a:off x="2167128" y="2148840"/>
            <a:ext cx="8778240" cy="594360"/>
          </a:xfrm>
          <a:prstGeom prst="rect">
            <a:avLst/>
          </a:prstGeom>
          <a:noFill/>
          <a:ln/>
        </p:spPr>
        <p:txBody>
          <a:bodyPr wrap="square" lIns="0" tIns="0" rIns="0" bIns="0" rtlCol="0" anchor="ctr"/>
          <a:lstStyle/>
          <a:p>
            <a:pPr indent="0" marL="0">
              <a:buNone/>
            </a:pPr>
            <a:r>
              <a:rPr lang="en-US" sz="1650" i="1" dirty="0">
                <a:solidFill>
                  <a:srgbClr val="D6D4CE"/>
                </a:solidFill>
                <a:latin typeface="Calibri" pitchFamily="34" charset="0"/>
                <a:ea typeface="Calibri" pitchFamily="34" charset="-122"/>
                <a:cs typeface="Calibri" pitchFamily="34" charset="-120"/>
              </a:rPr>
              <a:t>Objetivo: el mayor potencial de crecimiento: que la clienta vuelva a comprar.</a:t>
            </a:r>
            <a:endParaRPr lang="en-US" sz="1650" dirty="0"/>
          </a:p>
        </p:txBody>
      </p:sp>
      <p:sp>
        <p:nvSpPr>
          <p:cNvPr id="7" name="Shape 5"/>
          <p:cNvSpPr/>
          <p:nvPr/>
        </p:nvSpPr>
        <p:spPr>
          <a:xfrm>
            <a:off x="1714500" y="3840480"/>
            <a:ext cx="640080" cy="640080"/>
          </a:xfrm>
          <a:prstGeom prst="ellipse">
            <a:avLst/>
          </a:prstGeom>
          <a:solidFill>
            <a:srgbClr val="201F1B"/>
          </a:solidFill>
          <a:ln/>
        </p:spPr>
      </p:sp>
      <p:pic>
        <p:nvPicPr>
          <p:cNvPr id="8" name="Image 0" descr="/tmp/claude-0/-home-user-Presentaciones-y-varios/903c1196-30c4-57a8-b469-52313f1ce01c/scratchpad/andres/icons/sync_6FA98A.png">    </p:cNvPr>
          <p:cNvPicPr>
            <a:picLocks noChangeAspect="1"/>
          </p:cNvPicPr>
          <p:nvPr/>
        </p:nvPicPr>
        <p:blipFill>
          <a:blip r:embed="rId1"/>
          <a:stretch>
            <a:fillRect/>
          </a:stretch>
        </p:blipFill>
        <p:spPr>
          <a:xfrm>
            <a:off x="1868119" y="3994099"/>
            <a:ext cx="332842" cy="332842"/>
          </a:xfrm>
          <a:prstGeom prst="rect">
            <a:avLst/>
          </a:prstGeom>
        </p:spPr>
      </p:pic>
      <p:sp>
        <p:nvSpPr>
          <p:cNvPr id="9" name="Text 6"/>
          <p:cNvSpPr/>
          <p:nvPr/>
        </p:nvSpPr>
        <p:spPr>
          <a:xfrm>
            <a:off x="777240"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Recompra</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de producto</a:t>
            </a:r>
            <a:endParaRPr lang="en-US" sz="1300" dirty="0"/>
          </a:p>
        </p:txBody>
      </p:sp>
      <p:sp>
        <p:nvSpPr>
          <p:cNvPr id="10" name="Shape 7"/>
          <p:cNvSpPr/>
          <p:nvPr/>
        </p:nvSpPr>
        <p:spPr>
          <a:xfrm>
            <a:off x="4485132" y="3840480"/>
            <a:ext cx="640080" cy="640080"/>
          </a:xfrm>
          <a:prstGeom prst="ellipse">
            <a:avLst/>
          </a:prstGeom>
          <a:solidFill>
            <a:srgbClr val="201F1B"/>
          </a:solidFill>
          <a:ln/>
        </p:spPr>
      </p:sp>
      <p:pic>
        <p:nvPicPr>
          <p:cNvPr id="11" name="Image 1" descr="/tmp/claude-0/-home-user-Presentaciones-y-varios/903c1196-30c4-57a8-b469-52313f1ce01c/scratchpad/andres/icons/rocket_6FA98A.png">    </p:cNvPr>
          <p:cNvPicPr>
            <a:picLocks noChangeAspect="1"/>
          </p:cNvPicPr>
          <p:nvPr/>
        </p:nvPicPr>
        <p:blipFill>
          <a:blip r:embed="rId2"/>
          <a:stretch>
            <a:fillRect/>
          </a:stretch>
        </p:blipFill>
        <p:spPr>
          <a:xfrm>
            <a:off x="4638751" y="3994099"/>
            <a:ext cx="332842" cy="332842"/>
          </a:xfrm>
          <a:prstGeom prst="rect">
            <a:avLst/>
          </a:prstGeom>
        </p:spPr>
      </p:pic>
      <p:sp>
        <p:nvSpPr>
          <p:cNvPr id="12" name="Text 8"/>
          <p:cNvSpPr/>
          <p:nvPr/>
        </p:nvSpPr>
        <p:spPr>
          <a:xfrm>
            <a:off x="3547872"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Nuevos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lanzamientos</a:t>
            </a:r>
            <a:endParaRPr lang="en-US" sz="1300" dirty="0"/>
          </a:p>
        </p:txBody>
      </p:sp>
      <p:sp>
        <p:nvSpPr>
          <p:cNvPr id="13" name="Shape 9"/>
          <p:cNvSpPr/>
          <p:nvPr/>
        </p:nvSpPr>
        <p:spPr>
          <a:xfrm>
            <a:off x="7255764" y="3840480"/>
            <a:ext cx="640080" cy="640080"/>
          </a:xfrm>
          <a:prstGeom prst="ellipse">
            <a:avLst/>
          </a:prstGeom>
          <a:solidFill>
            <a:srgbClr val="201F1B"/>
          </a:solidFill>
          <a:ln/>
        </p:spPr>
      </p:sp>
      <p:pic>
        <p:nvPicPr>
          <p:cNvPr id="14" name="Image 2" descr="/tmp/claude-0/-home-user-Presentaciones-y-varios/903c1196-30c4-57a8-b469-52313f1ce01c/scratchpad/andres/icons/heart_6FA98A.png">    </p:cNvPr>
          <p:cNvPicPr>
            <a:picLocks noChangeAspect="1"/>
          </p:cNvPicPr>
          <p:nvPr/>
        </p:nvPicPr>
        <p:blipFill>
          <a:blip r:embed="rId3"/>
          <a:stretch>
            <a:fillRect/>
          </a:stretch>
        </p:blipFill>
        <p:spPr>
          <a:xfrm>
            <a:off x="7409383" y="3994099"/>
            <a:ext cx="332842" cy="332842"/>
          </a:xfrm>
          <a:prstGeom prst="rect">
            <a:avLst/>
          </a:prstGeom>
        </p:spPr>
      </p:pic>
      <p:sp>
        <p:nvSpPr>
          <p:cNvPr id="15" name="Text 10"/>
          <p:cNvSpPr/>
          <p:nvPr/>
        </p:nvSpPr>
        <p:spPr>
          <a:xfrm>
            <a:off x="6318504"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Reimpactar</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clientas anteriores</a:t>
            </a:r>
            <a:endParaRPr lang="en-US" sz="1300" dirty="0"/>
          </a:p>
        </p:txBody>
      </p:sp>
      <p:sp>
        <p:nvSpPr>
          <p:cNvPr id="16" name="Shape 11"/>
          <p:cNvSpPr/>
          <p:nvPr/>
        </p:nvSpPr>
        <p:spPr>
          <a:xfrm>
            <a:off x="10026396" y="3840480"/>
            <a:ext cx="640080" cy="640080"/>
          </a:xfrm>
          <a:prstGeom prst="ellipse">
            <a:avLst/>
          </a:prstGeom>
          <a:solidFill>
            <a:srgbClr val="201F1B"/>
          </a:solidFill>
          <a:ln/>
        </p:spPr>
      </p:sp>
      <p:pic>
        <p:nvPicPr>
          <p:cNvPr id="17" name="Image 3" descr="/tmp/claude-0/-home-user-Presentaciones-y-varios/903c1196-30c4-57a8-b469-52313f1ce01c/scratchpad/andres/icons/calendar_6FA98A.png">    </p:cNvPr>
          <p:cNvPicPr>
            <a:picLocks noChangeAspect="1"/>
          </p:cNvPicPr>
          <p:nvPr/>
        </p:nvPicPr>
        <p:blipFill>
          <a:blip r:embed="rId4"/>
          <a:stretch>
            <a:fillRect/>
          </a:stretch>
        </p:blipFill>
        <p:spPr>
          <a:xfrm>
            <a:off x="10180015" y="3994099"/>
            <a:ext cx="332842" cy="332842"/>
          </a:xfrm>
          <a:prstGeom prst="rect">
            <a:avLst/>
          </a:prstGeom>
        </p:spPr>
      </p:pic>
      <p:sp>
        <p:nvSpPr>
          <p:cNvPr id="18" name="Text 12"/>
          <p:cNvSpPr/>
          <p:nvPr/>
        </p:nvSpPr>
        <p:spPr>
          <a:xfrm>
            <a:off x="9089136" y="4617720"/>
            <a:ext cx="2514600" cy="7315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Fechas</a:t>
            </a:r>
            <a:endParaRPr lang="en-US" sz="1300" dirty="0"/>
          </a:p>
          <a:p>
            <a:pPr algn="ctr" indent="0" marL="0">
              <a:buNone/>
            </a:pPr>
            <a:r>
              <a:rPr lang="en-US" sz="1300" dirty="0">
                <a:solidFill>
                  <a:srgbClr val="FFFFFF"/>
                </a:solidFill>
                <a:latin typeface="Calibri" pitchFamily="34" charset="0"/>
                <a:ea typeface="Calibri" pitchFamily="34" charset="-122"/>
                <a:cs typeface="Calibri" pitchFamily="34" charset="-120"/>
              </a:rPr>
              <a:t>clave del año</a:t>
            </a:r>
            <a:endParaRPr lang="en-US" sz="1300" dirty="0"/>
          </a:p>
        </p:txBody>
      </p:sp>
      <p:sp>
        <p:nvSpPr>
          <p:cNvPr id="19" name="Text 1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ETAPA 4 · ASCENSIÓN</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De una compra a una clienta de por vida</a:t>
            </a:r>
            <a:endParaRPr lang="en-US" sz="3200" dirty="0"/>
          </a:p>
        </p:txBody>
      </p:sp>
      <p:sp>
        <p:nvSpPr>
          <p:cNvPr id="4" name="Text 2"/>
          <p:cNvSpPr/>
          <p:nvPr/>
        </p:nvSpPr>
        <p:spPr>
          <a:xfrm>
            <a:off x="640080" y="2194560"/>
            <a:ext cx="7315200" cy="320040"/>
          </a:xfrm>
          <a:prstGeom prst="rect">
            <a:avLst/>
          </a:prstGeom>
          <a:noFill/>
          <a:ln/>
        </p:spPr>
        <p:txBody>
          <a:bodyPr wrap="square" lIns="0" tIns="0" rIns="0" bIns="0" rtlCol="0" anchor="ctr"/>
          <a:lstStyle/>
          <a:p>
            <a:pPr indent="0" marL="0">
              <a:buNone/>
            </a:pPr>
            <a:r>
              <a:rPr lang="en-US" sz="1300" b="1" spc="150" kern="0" dirty="0">
                <a:solidFill>
                  <a:srgbClr val="6B6B66"/>
                </a:solidFill>
                <a:latin typeface="Calibri" pitchFamily="34" charset="0"/>
                <a:ea typeface="Calibri" pitchFamily="34" charset="-122"/>
                <a:cs typeface="Calibri" pitchFamily="34" charset="-120"/>
              </a:rPr>
              <a:t>EL PRINCIPIO: LIFETIME VALUE</a:t>
            </a:r>
            <a:endParaRPr lang="en-US" sz="1300" dirty="0"/>
          </a:p>
        </p:txBody>
      </p:sp>
      <p:sp>
        <p:nvSpPr>
          <p:cNvPr id="5" name="Shape 3"/>
          <p:cNvSpPr/>
          <p:nvPr/>
        </p:nvSpPr>
        <p:spPr>
          <a:xfrm>
            <a:off x="640080" y="2606040"/>
            <a:ext cx="4937760" cy="1737360"/>
          </a:xfrm>
          <a:prstGeom prst="roundRect">
            <a:avLst>
              <a:gd name="adj" fmla="val 4211"/>
            </a:avLst>
          </a:prstGeom>
          <a:solidFill>
            <a:srgbClr val="F5F5F3"/>
          </a:solidFill>
          <a:ln/>
        </p:spPr>
      </p:sp>
      <p:sp>
        <p:nvSpPr>
          <p:cNvPr id="6" name="Text 4"/>
          <p:cNvSpPr/>
          <p:nvPr/>
        </p:nvSpPr>
        <p:spPr>
          <a:xfrm>
            <a:off x="868680" y="2834640"/>
            <a:ext cx="2194560" cy="548640"/>
          </a:xfrm>
          <a:prstGeom prst="rect">
            <a:avLst/>
          </a:prstGeom>
          <a:noFill/>
          <a:ln/>
        </p:spPr>
        <p:txBody>
          <a:bodyPr wrap="square" lIns="0" tIns="0" rIns="0" bIns="0" rtlCol="0" anchor="ctr"/>
          <a:lstStyle/>
          <a:p>
            <a:pPr indent="0" marL="0">
              <a:buNone/>
            </a:pPr>
            <a:r>
              <a:rPr lang="en-US" sz="2400" b="1" dirty="0">
                <a:solidFill>
                  <a:srgbClr val="141412"/>
                </a:solidFill>
                <a:latin typeface="Cambria" pitchFamily="34" charset="0"/>
                <a:ea typeface="Cambria" pitchFamily="34" charset="-122"/>
                <a:cs typeface="Cambria" pitchFamily="34" charset="-120"/>
              </a:rPr>
              <a:t>1 compra</a:t>
            </a:r>
            <a:endParaRPr lang="en-US" sz="2400" dirty="0"/>
          </a:p>
        </p:txBody>
      </p:sp>
      <p:sp>
        <p:nvSpPr>
          <p:cNvPr id="7" name="Text 5"/>
          <p:cNvSpPr/>
          <p:nvPr/>
        </p:nvSpPr>
        <p:spPr>
          <a:xfrm>
            <a:off x="868680" y="3383280"/>
            <a:ext cx="4480560" cy="822960"/>
          </a:xfrm>
          <a:prstGeom prst="rect">
            <a:avLst/>
          </a:prstGeom>
          <a:noFill/>
          <a:ln/>
        </p:spPr>
        <p:txBody>
          <a:bodyPr wrap="square" lIns="0" tIns="0" rIns="0" bIns="0" rtlCol="0" anchor="ctr"/>
          <a:lstStyle/>
          <a:p>
            <a:pPr indent="0" marL="0">
              <a:buNone/>
            </a:pPr>
            <a:r>
              <a:rPr lang="en-US" sz="1150" dirty="0">
                <a:solidFill>
                  <a:srgbClr val="6B6B66"/>
                </a:solidFill>
                <a:latin typeface="Calibri" pitchFamily="34" charset="0"/>
                <a:ea typeface="Calibri" pitchFamily="34" charset="-122"/>
                <a:cs typeface="Calibri" pitchFamily="34" charset="-120"/>
              </a:rPr>
              <a:t>Clienta que llega</a:t>
            </a:r>
            <a:endParaRPr lang="en-US" sz="1150" dirty="0"/>
          </a:p>
          <a:p>
            <a:pPr indent="0" marL="0">
              <a:buNone/>
            </a:pPr>
            <a:r>
              <a:rPr lang="en-US" sz="1150" dirty="0">
                <a:solidFill>
                  <a:srgbClr val="6B6B66"/>
                </a:solidFill>
                <a:latin typeface="Calibri" pitchFamily="34" charset="0"/>
                <a:ea typeface="Calibri" pitchFamily="34" charset="-122"/>
                <a:cs typeface="Calibri" pitchFamily="34" charset="-120"/>
              </a:rPr>
              <a:t>por una campaña puntual</a:t>
            </a:r>
            <a:endParaRPr lang="en-US" sz="1150" dirty="0"/>
          </a:p>
        </p:txBody>
      </p:sp>
      <p:pic>
        <p:nvPicPr>
          <p:cNvPr id="8" name="Image 0" descr="/tmp/claude-0/-home-user-Presentaciones-y-varios/903c1196-30c4-57a8-b469-52313f1ce01c/scratchpad/andres/icons/arrowRight_1F4A3C.png">    </p:cNvPr>
          <p:cNvPicPr>
            <a:picLocks noChangeAspect="1"/>
          </p:cNvPicPr>
          <p:nvPr/>
        </p:nvPicPr>
        <p:blipFill>
          <a:blip r:embed="rId1"/>
          <a:stretch>
            <a:fillRect/>
          </a:stretch>
        </p:blipFill>
        <p:spPr>
          <a:xfrm>
            <a:off x="5760720" y="3383280"/>
            <a:ext cx="365760" cy="365760"/>
          </a:xfrm>
          <a:prstGeom prst="rect">
            <a:avLst/>
          </a:prstGeom>
        </p:spPr>
      </p:pic>
      <p:sp>
        <p:nvSpPr>
          <p:cNvPr id="9" name="Shape 6"/>
          <p:cNvSpPr/>
          <p:nvPr/>
        </p:nvSpPr>
        <p:spPr>
          <a:xfrm>
            <a:off x="6309360" y="2606040"/>
            <a:ext cx="5212080" cy="1737360"/>
          </a:xfrm>
          <a:prstGeom prst="roundRect">
            <a:avLst>
              <a:gd name="adj" fmla="val 4211"/>
            </a:avLst>
          </a:prstGeom>
          <a:solidFill>
            <a:srgbClr val="141412"/>
          </a:solidFill>
          <a:ln/>
        </p:spPr>
      </p:sp>
      <p:sp>
        <p:nvSpPr>
          <p:cNvPr id="10" name="Text 7"/>
          <p:cNvSpPr/>
          <p:nvPr/>
        </p:nvSpPr>
        <p:spPr>
          <a:xfrm>
            <a:off x="6537960" y="2834640"/>
            <a:ext cx="475488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Clienta recurrente</a:t>
            </a:r>
            <a:endParaRPr lang="en-US" sz="2200" dirty="0"/>
          </a:p>
        </p:txBody>
      </p:sp>
      <p:sp>
        <p:nvSpPr>
          <p:cNvPr id="11" name="Text 8"/>
          <p:cNvSpPr/>
          <p:nvPr/>
        </p:nvSpPr>
        <p:spPr>
          <a:xfrm>
            <a:off x="6537960" y="3383280"/>
            <a:ext cx="4754880" cy="822960"/>
          </a:xfrm>
          <a:prstGeom prst="rect">
            <a:avLst/>
          </a:prstGeom>
          <a:noFill/>
          <a:ln/>
        </p:spPr>
        <p:txBody>
          <a:bodyPr wrap="square" lIns="0" tIns="0" rIns="0" bIns="0" rtlCol="0" anchor="ctr"/>
          <a:lstStyle/>
          <a:p>
            <a:pPr indent="0" marL="0">
              <a:buNone/>
            </a:pPr>
            <a:r>
              <a:rPr lang="en-US" sz="1150" dirty="0">
                <a:solidFill>
                  <a:srgbClr val="D6D4CE"/>
                </a:solidFill>
                <a:latin typeface="Calibri" pitchFamily="34" charset="0"/>
                <a:ea typeface="Calibri" pitchFamily="34" charset="-122"/>
                <a:cs typeface="Calibri" pitchFamily="34" charset="-120"/>
              </a:rPr>
              <a:t>Vuelve por recompra, nuevos productos</a:t>
            </a:r>
            <a:endParaRPr lang="en-US" sz="1150" dirty="0"/>
          </a:p>
          <a:p>
            <a:pPr indent="0" marL="0">
              <a:buNone/>
            </a:pPr>
            <a:r>
              <a:rPr lang="en-US" sz="1150" dirty="0">
                <a:solidFill>
                  <a:srgbClr val="D6D4CE"/>
                </a:solidFill>
                <a:latin typeface="Calibri" pitchFamily="34" charset="0"/>
                <a:ea typeface="Calibri" pitchFamily="34" charset="-122"/>
                <a:cs typeface="Calibri" pitchFamily="34" charset="-120"/>
              </a:rPr>
              <a:t>y fechas clave del año</a:t>
            </a:r>
            <a:endParaRPr lang="en-US" sz="1150" dirty="0"/>
          </a:p>
        </p:txBody>
      </p:sp>
      <p:sp>
        <p:nvSpPr>
          <p:cNvPr id="12" name="Shape 9"/>
          <p:cNvSpPr/>
          <p:nvPr/>
        </p:nvSpPr>
        <p:spPr>
          <a:xfrm>
            <a:off x="905256" y="4709160"/>
            <a:ext cx="2423160" cy="1051560"/>
          </a:xfrm>
          <a:prstGeom prst="roundRect">
            <a:avLst>
              <a:gd name="adj" fmla="val 6957"/>
            </a:avLst>
          </a:prstGeom>
          <a:solidFill>
            <a:srgbClr val="F5F5F3"/>
          </a:solidFill>
          <a:ln/>
        </p:spPr>
      </p:sp>
      <p:sp>
        <p:nvSpPr>
          <p:cNvPr id="13" name="Shape 10"/>
          <p:cNvSpPr/>
          <p:nvPr/>
        </p:nvSpPr>
        <p:spPr>
          <a:xfrm>
            <a:off x="1179576" y="4983480"/>
            <a:ext cx="502920" cy="502920"/>
          </a:xfrm>
          <a:prstGeom prst="ellipse">
            <a:avLst/>
          </a:prstGeom>
          <a:solidFill>
            <a:srgbClr val="FFFFFF"/>
          </a:solidFill>
          <a:ln/>
        </p:spPr>
      </p:sp>
      <p:pic>
        <p:nvPicPr>
          <p:cNvPr id="14" name="Image 1" descr="/tmp/claude-0/-home-user-Presentaciones-y-varios/903c1196-30c4-57a8-b469-52313f1ce01c/scratchpad/andres/icons/heart_1F4A3C.png">    </p:cNvPr>
          <p:cNvPicPr>
            <a:picLocks noChangeAspect="1"/>
          </p:cNvPicPr>
          <p:nvPr/>
        </p:nvPicPr>
        <p:blipFill>
          <a:blip r:embed="rId2"/>
          <a:stretch>
            <a:fillRect/>
          </a:stretch>
        </p:blipFill>
        <p:spPr>
          <a:xfrm>
            <a:off x="1292733" y="5096637"/>
            <a:ext cx="276606" cy="276606"/>
          </a:xfrm>
          <a:prstGeom prst="rect">
            <a:avLst/>
          </a:prstGeom>
        </p:spPr>
      </p:pic>
      <p:sp>
        <p:nvSpPr>
          <p:cNvPr id="15" name="Text 11"/>
          <p:cNvSpPr/>
          <p:nvPr/>
        </p:nvSpPr>
        <p:spPr>
          <a:xfrm>
            <a:off x="1865376" y="4709160"/>
            <a:ext cx="1280160" cy="1051560"/>
          </a:xfrm>
          <a:prstGeom prst="rect">
            <a:avLst/>
          </a:prstGeom>
          <a:noFill/>
          <a:ln/>
        </p:spPr>
        <p:txBody>
          <a:bodyPr wrap="square" lIns="0" tIns="0" rIns="0" bIns="0" rtlCol="0" anchor="ctr"/>
          <a:lstStyle/>
          <a:p>
            <a:pPr indent="0" marL="0">
              <a:buNone/>
            </a:pPr>
            <a:r>
              <a:rPr lang="en-US" sz="1150" b="1" dirty="0">
                <a:solidFill>
                  <a:srgbClr val="141412"/>
                </a:solidFill>
                <a:latin typeface="Calibri" pitchFamily="34" charset="0"/>
                <a:ea typeface="Calibri" pitchFamily="34" charset="-122"/>
                <a:cs typeface="Calibri" pitchFamily="34" charset="-120"/>
              </a:rPr>
              <a:t>Día de la</a:t>
            </a:r>
            <a:endParaRPr lang="en-US" sz="1150" dirty="0"/>
          </a:p>
          <a:p>
            <a:pPr indent="0" marL="0">
              <a:buNone/>
            </a:pPr>
            <a:r>
              <a:rPr lang="en-US" sz="1150" b="1" dirty="0">
                <a:solidFill>
                  <a:srgbClr val="141412"/>
                </a:solidFill>
                <a:latin typeface="Calibri" pitchFamily="34" charset="0"/>
                <a:ea typeface="Calibri" pitchFamily="34" charset="-122"/>
                <a:cs typeface="Calibri" pitchFamily="34" charset="-120"/>
              </a:rPr>
              <a:t>Madre</a:t>
            </a:r>
            <a:endParaRPr lang="en-US" sz="1150" dirty="0"/>
          </a:p>
        </p:txBody>
      </p:sp>
      <p:sp>
        <p:nvSpPr>
          <p:cNvPr id="16" name="Shape 12"/>
          <p:cNvSpPr/>
          <p:nvPr/>
        </p:nvSpPr>
        <p:spPr>
          <a:xfrm>
            <a:off x="3557016" y="4709160"/>
            <a:ext cx="2423160" cy="1051560"/>
          </a:xfrm>
          <a:prstGeom prst="roundRect">
            <a:avLst>
              <a:gd name="adj" fmla="val 6957"/>
            </a:avLst>
          </a:prstGeom>
          <a:solidFill>
            <a:srgbClr val="E9EFEA"/>
          </a:solidFill>
          <a:ln/>
        </p:spPr>
      </p:sp>
      <p:sp>
        <p:nvSpPr>
          <p:cNvPr id="17" name="Shape 13"/>
          <p:cNvSpPr/>
          <p:nvPr/>
        </p:nvSpPr>
        <p:spPr>
          <a:xfrm>
            <a:off x="3831336" y="4983480"/>
            <a:ext cx="502920" cy="502920"/>
          </a:xfrm>
          <a:prstGeom prst="ellipse">
            <a:avLst/>
          </a:prstGeom>
          <a:solidFill>
            <a:srgbClr val="FFFFFF"/>
          </a:solidFill>
          <a:ln/>
        </p:spPr>
      </p:sp>
      <p:pic>
        <p:nvPicPr>
          <p:cNvPr id="18" name="Image 2" descr="/tmp/claude-0/-home-user-Presentaciones-y-varios/903c1196-30c4-57a8-b469-52313f1ce01c/scratchpad/andres/icons/star_1F4A3C.png">    </p:cNvPr>
          <p:cNvPicPr>
            <a:picLocks noChangeAspect="1"/>
          </p:cNvPicPr>
          <p:nvPr/>
        </p:nvPicPr>
        <p:blipFill>
          <a:blip r:embed="rId3"/>
          <a:stretch>
            <a:fillRect/>
          </a:stretch>
        </p:blipFill>
        <p:spPr>
          <a:xfrm>
            <a:off x="3944493" y="5096637"/>
            <a:ext cx="276606" cy="276606"/>
          </a:xfrm>
          <a:prstGeom prst="rect">
            <a:avLst/>
          </a:prstGeom>
        </p:spPr>
      </p:pic>
      <p:sp>
        <p:nvSpPr>
          <p:cNvPr id="19" name="Text 14"/>
          <p:cNvSpPr/>
          <p:nvPr/>
        </p:nvSpPr>
        <p:spPr>
          <a:xfrm>
            <a:off x="4517136" y="4709160"/>
            <a:ext cx="1280160" cy="1051560"/>
          </a:xfrm>
          <a:prstGeom prst="rect">
            <a:avLst/>
          </a:prstGeom>
          <a:noFill/>
          <a:ln/>
        </p:spPr>
        <p:txBody>
          <a:bodyPr wrap="square" lIns="0" tIns="0" rIns="0" bIns="0" rtlCol="0" anchor="ctr"/>
          <a:lstStyle/>
          <a:p>
            <a:pPr indent="0" marL="0">
              <a:buNone/>
            </a:pPr>
            <a:r>
              <a:rPr lang="en-US" sz="1150" b="1" dirty="0">
                <a:solidFill>
                  <a:srgbClr val="141412"/>
                </a:solidFill>
                <a:latin typeface="Calibri" pitchFamily="34" charset="0"/>
                <a:ea typeface="Calibri" pitchFamily="34" charset="-122"/>
                <a:cs typeface="Calibri" pitchFamily="34" charset="-120"/>
              </a:rPr>
              <a:t>Lanzamiento</a:t>
            </a:r>
            <a:endParaRPr lang="en-US" sz="1150" dirty="0"/>
          </a:p>
          <a:p>
            <a:pPr indent="0" marL="0">
              <a:buNone/>
            </a:pPr>
            <a:r>
              <a:rPr lang="en-US" sz="1150" b="1" dirty="0">
                <a:solidFill>
                  <a:srgbClr val="141412"/>
                </a:solidFill>
                <a:latin typeface="Calibri" pitchFamily="34" charset="0"/>
                <a:ea typeface="Calibri" pitchFamily="34" charset="-122"/>
                <a:cs typeface="Calibri" pitchFamily="34" charset="-120"/>
              </a:rPr>
              <a:t>de producto</a:t>
            </a:r>
            <a:endParaRPr lang="en-US" sz="1150" dirty="0"/>
          </a:p>
        </p:txBody>
      </p:sp>
      <p:sp>
        <p:nvSpPr>
          <p:cNvPr id="20" name="Shape 15"/>
          <p:cNvSpPr/>
          <p:nvPr/>
        </p:nvSpPr>
        <p:spPr>
          <a:xfrm>
            <a:off x="6208776" y="4709160"/>
            <a:ext cx="2423160" cy="1051560"/>
          </a:xfrm>
          <a:prstGeom prst="roundRect">
            <a:avLst>
              <a:gd name="adj" fmla="val 6957"/>
            </a:avLst>
          </a:prstGeom>
          <a:solidFill>
            <a:srgbClr val="F5F5F3"/>
          </a:solidFill>
          <a:ln/>
        </p:spPr>
      </p:sp>
      <p:sp>
        <p:nvSpPr>
          <p:cNvPr id="21" name="Shape 16"/>
          <p:cNvSpPr/>
          <p:nvPr/>
        </p:nvSpPr>
        <p:spPr>
          <a:xfrm>
            <a:off x="6483096" y="4983480"/>
            <a:ext cx="502920" cy="502920"/>
          </a:xfrm>
          <a:prstGeom prst="ellipse">
            <a:avLst/>
          </a:prstGeom>
          <a:solidFill>
            <a:srgbClr val="FFFFFF"/>
          </a:solidFill>
          <a:ln/>
        </p:spPr>
      </p:sp>
      <p:pic>
        <p:nvPicPr>
          <p:cNvPr id="22" name="Image 3" descr="/tmp/claude-0/-home-user-Presentaciones-y-varios/903c1196-30c4-57a8-b469-52313f1ce01c/scratchpad/andres/icons/rocket_1F4A3C.png">    </p:cNvPr>
          <p:cNvPicPr>
            <a:picLocks noChangeAspect="1"/>
          </p:cNvPicPr>
          <p:nvPr/>
        </p:nvPicPr>
        <p:blipFill>
          <a:blip r:embed="rId4"/>
          <a:stretch>
            <a:fillRect/>
          </a:stretch>
        </p:blipFill>
        <p:spPr>
          <a:xfrm>
            <a:off x="6596253" y="5096637"/>
            <a:ext cx="276606" cy="276606"/>
          </a:xfrm>
          <a:prstGeom prst="rect">
            <a:avLst/>
          </a:prstGeom>
        </p:spPr>
      </p:pic>
      <p:sp>
        <p:nvSpPr>
          <p:cNvPr id="23" name="Text 17"/>
          <p:cNvSpPr/>
          <p:nvPr/>
        </p:nvSpPr>
        <p:spPr>
          <a:xfrm>
            <a:off x="7168896" y="4709160"/>
            <a:ext cx="1280160" cy="1051560"/>
          </a:xfrm>
          <a:prstGeom prst="rect">
            <a:avLst/>
          </a:prstGeom>
          <a:noFill/>
          <a:ln/>
        </p:spPr>
        <p:txBody>
          <a:bodyPr wrap="square" lIns="0" tIns="0" rIns="0" bIns="0" rtlCol="0" anchor="ctr"/>
          <a:lstStyle/>
          <a:p>
            <a:pPr indent="0" marL="0">
              <a:buNone/>
            </a:pPr>
            <a:r>
              <a:rPr lang="en-US" sz="1150" b="1" dirty="0">
                <a:solidFill>
                  <a:srgbClr val="141412"/>
                </a:solidFill>
                <a:latin typeface="Calibri" pitchFamily="34" charset="0"/>
                <a:ea typeface="Calibri" pitchFamily="34" charset="-122"/>
                <a:cs typeface="Calibri" pitchFamily="34" charset="-120"/>
              </a:rPr>
              <a:t>Rutina</a:t>
            </a:r>
            <a:endParaRPr lang="en-US" sz="1150" dirty="0"/>
          </a:p>
          <a:p>
            <a:pPr indent="0" marL="0">
              <a:buNone/>
            </a:pPr>
            <a:r>
              <a:rPr lang="en-US" sz="1150" b="1" dirty="0">
                <a:solidFill>
                  <a:srgbClr val="141412"/>
                </a:solidFill>
                <a:latin typeface="Calibri" pitchFamily="34" charset="0"/>
                <a:ea typeface="Calibri" pitchFamily="34" charset="-122"/>
                <a:cs typeface="Calibri" pitchFamily="34" charset="-120"/>
              </a:rPr>
              <a:t>de temporada</a:t>
            </a:r>
            <a:endParaRPr lang="en-US" sz="1150" dirty="0"/>
          </a:p>
        </p:txBody>
      </p:sp>
      <p:sp>
        <p:nvSpPr>
          <p:cNvPr id="24" name="Shape 18"/>
          <p:cNvSpPr/>
          <p:nvPr/>
        </p:nvSpPr>
        <p:spPr>
          <a:xfrm>
            <a:off x="8860536" y="4709160"/>
            <a:ext cx="2423160" cy="1051560"/>
          </a:xfrm>
          <a:prstGeom prst="roundRect">
            <a:avLst>
              <a:gd name="adj" fmla="val 6957"/>
            </a:avLst>
          </a:prstGeom>
          <a:solidFill>
            <a:srgbClr val="E9EFEA"/>
          </a:solidFill>
          <a:ln/>
        </p:spPr>
      </p:sp>
      <p:sp>
        <p:nvSpPr>
          <p:cNvPr id="25" name="Shape 19"/>
          <p:cNvSpPr/>
          <p:nvPr/>
        </p:nvSpPr>
        <p:spPr>
          <a:xfrm>
            <a:off x="9134856" y="4983480"/>
            <a:ext cx="502920" cy="502920"/>
          </a:xfrm>
          <a:prstGeom prst="ellipse">
            <a:avLst/>
          </a:prstGeom>
          <a:solidFill>
            <a:srgbClr val="FFFFFF"/>
          </a:solidFill>
          <a:ln/>
        </p:spPr>
      </p:sp>
      <p:pic>
        <p:nvPicPr>
          <p:cNvPr id="26" name="Image 4" descr="/tmp/claude-0/-home-user-Presentaciones-y-varios/903c1196-30c4-57a8-b469-52313f1ce01c/scratchpad/andres/icons/calendar_1F4A3C.png">    </p:cNvPr>
          <p:cNvPicPr>
            <a:picLocks noChangeAspect="1"/>
          </p:cNvPicPr>
          <p:nvPr/>
        </p:nvPicPr>
        <p:blipFill>
          <a:blip r:embed="rId5"/>
          <a:stretch>
            <a:fillRect/>
          </a:stretch>
        </p:blipFill>
        <p:spPr>
          <a:xfrm>
            <a:off x="9248013" y="5096637"/>
            <a:ext cx="276606" cy="276606"/>
          </a:xfrm>
          <a:prstGeom prst="rect">
            <a:avLst/>
          </a:prstGeom>
        </p:spPr>
      </p:pic>
      <p:sp>
        <p:nvSpPr>
          <p:cNvPr id="27" name="Text 20"/>
          <p:cNvSpPr/>
          <p:nvPr/>
        </p:nvSpPr>
        <p:spPr>
          <a:xfrm>
            <a:off x="9820656" y="4709160"/>
            <a:ext cx="1280160" cy="1051560"/>
          </a:xfrm>
          <a:prstGeom prst="rect">
            <a:avLst/>
          </a:prstGeom>
          <a:noFill/>
          <a:ln/>
        </p:spPr>
        <p:txBody>
          <a:bodyPr wrap="square" lIns="0" tIns="0" rIns="0" bIns="0" rtlCol="0" anchor="ctr"/>
          <a:lstStyle/>
          <a:p>
            <a:pPr indent="0" marL="0">
              <a:buNone/>
            </a:pPr>
            <a:r>
              <a:rPr lang="en-US" sz="1150" b="1" dirty="0">
                <a:solidFill>
                  <a:srgbClr val="141412"/>
                </a:solidFill>
                <a:latin typeface="Calibri" pitchFamily="34" charset="0"/>
                <a:ea typeface="Calibri" pitchFamily="34" charset="-122"/>
                <a:cs typeface="Calibri" pitchFamily="34" charset="-120"/>
              </a:rPr>
              <a:t>Aniversario</a:t>
            </a:r>
            <a:endParaRPr lang="en-US" sz="1150" dirty="0"/>
          </a:p>
          <a:p>
            <a:pPr indent="0" marL="0">
              <a:buNone/>
            </a:pPr>
            <a:r>
              <a:rPr lang="en-US" sz="1150" b="1" dirty="0">
                <a:solidFill>
                  <a:srgbClr val="141412"/>
                </a:solidFill>
                <a:latin typeface="Calibri" pitchFamily="34" charset="0"/>
                <a:ea typeface="Calibri" pitchFamily="34" charset="-122"/>
                <a:cs typeface="Calibri" pitchFamily="34" charset="-120"/>
              </a:rPr>
              <a:t>de la marca</a:t>
            </a:r>
            <a:endParaRPr lang="en-US" sz="1150" dirty="0"/>
          </a:p>
        </p:txBody>
      </p:sp>
      <p:sp>
        <p:nvSpPr>
          <p:cNvPr id="28" name="Text 21"/>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6FA98A"/>
                </a:solidFill>
                <a:latin typeface="Calibri" pitchFamily="34" charset="0"/>
                <a:ea typeface="Calibri" pitchFamily="34" charset="-122"/>
                <a:cs typeface="Calibri" pitchFamily="34" charset="-120"/>
              </a:rPr>
              <a:t>LA CONSOLIDACIÓN</a:t>
            </a:r>
            <a:endParaRPr lang="en-US" sz="1200" dirty="0"/>
          </a:p>
        </p:txBody>
      </p:sp>
      <p:sp>
        <p:nvSpPr>
          <p:cNvPr id="3" name="Text 1"/>
          <p:cNvSpPr/>
          <p:nvPr/>
        </p:nvSpPr>
        <p:spPr>
          <a:xfrm>
            <a:off x="640080" y="841248"/>
            <a:ext cx="91440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El sistema completo</a:t>
            </a:r>
            <a:endParaRPr lang="en-US" sz="3400" dirty="0"/>
          </a:p>
        </p:txBody>
      </p:sp>
      <p:sp>
        <p:nvSpPr>
          <p:cNvPr id="4" name="Text 2"/>
          <p:cNvSpPr/>
          <p:nvPr/>
        </p:nvSpPr>
        <p:spPr>
          <a:xfrm>
            <a:off x="640080" y="1481328"/>
            <a:ext cx="9601200" cy="365760"/>
          </a:xfrm>
          <a:prstGeom prst="rect">
            <a:avLst/>
          </a:prstGeom>
          <a:noFill/>
          <a:ln/>
        </p:spPr>
        <p:txBody>
          <a:bodyPr wrap="square" lIns="0" tIns="0" rIns="0" bIns="0" rtlCol="0" anchor="ctr"/>
          <a:lstStyle/>
          <a:p>
            <a:pPr indent="0" marL="0">
              <a:buNone/>
            </a:pPr>
            <a:r>
              <a:rPr lang="en-US" sz="1500" dirty="0">
                <a:solidFill>
                  <a:srgbClr val="D6D4CE"/>
                </a:solidFill>
                <a:latin typeface="Calibri" pitchFamily="34" charset="0"/>
                <a:ea typeface="Calibri" pitchFamily="34" charset="-122"/>
                <a:cs typeface="Calibri" pitchFamily="34" charset="-120"/>
              </a:rPr>
              <a:t>Ninguna etapa funciona sola. El valor está en la conexión.</a:t>
            </a:r>
            <a:endParaRPr lang="en-US" sz="1500" dirty="0"/>
          </a:p>
        </p:txBody>
      </p:sp>
      <p:sp>
        <p:nvSpPr>
          <p:cNvPr id="5" name="Shape 3"/>
          <p:cNvSpPr/>
          <p:nvPr/>
        </p:nvSpPr>
        <p:spPr>
          <a:xfrm>
            <a:off x="1325880" y="2606040"/>
            <a:ext cx="1234440" cy="1234440"/>
          </a:xfrm>
          <a:prstGeom prst="ellipse">
            <a:avLst/>
          </a:prstGeom>
          <a:solidFill>
            <a:srgbClr val="201F1B"/>
          </a:solidFill>
          <a:ln w="19050">
            <a:solidFill>
              <a:srgbClr val="6FA98A"/>
            </a:solidFill>
            <a:prstDash val="solid"/>
          </a:ln>
        </p:spPr>
      </p:sp>
      <p:pic>
        <p:nvPicPr>
          <p:cNvPr id="6" name="Image 0" descr="/tmp/claude-0/-home-user-Presentaciones-y-varios/903c1196-30c4-57a8-b469-52313f1ce01c/scratchpad/andres/icons/eye_6FA98A.png">    </p:cNvPr>
          <p:cNvPicPr>
            <a:picLocks noChangeAspect="1"/>
          </p:cNvPicPr>
          <p:nvPr/>
        </p:nvPicPr>
        <p:blipFill>
          <a:blip r:embed="rId1"/>
          <a:stretch>
            <a:fillRect/>
          </a:stretch>
        </p:blipFill>
        <p:spPr>
          <a:xfrm>
            <a:off x="1696212" y="2976372"/>
            <a:ext cx="493776" cy="493776"/>
          </a:xfrm>
          <a:prstGeom prst="rect">
            <a:avLst/>
          </a:prstGeom>
        </p:spPr>
      </p:pic>
      <p:sp>
        <p:nvSpPr>
          <p:cNvPr id="7" name="Text 4"/>
          <p:cNvSpPr/>
          <p:nvPr/>
        </p:nvSpPr>
        <p:spPr>
          <a:xfrm>
            <a:off x="777240" y="3950208"/>
            <a:ext cx="2331720" cy="274320"/>
          </a:xfrm>
          <a:prstGeom prst="rect">
            <a:avLst/>
          </a:prstGeom>
          <a:noFill/>
          <a:ln/>
        </p:spPr>
        <p:txBody>
          <a:bodyPr wrap="square" lIns="0" tIns="0" rIns="0" bIns="0" rtlCol="0" anchor="ctr"/>
          <a:lstStyle/>
          <a:p>
            <a:pPr algn="ctr" indent="0" marL="0">
              <a:buNone/>
            </a:pPr>
            <a:r>
              <a:rPr lang="en-US" sz="1100" b="1" dirty="0">
                <a:solidFill>
                  <a:srgbClr val="6FA98A"/>
                </a:solidFill>
                <a:latin typeface="Calibri" pitchFamily="34" charset="0"/>
                <a:ea typeface="Calibri" pitchFamily="34" charset="-122"/>
                <a:cs typeface="Calibri" pitchFamily="34" charset="-120"/>
              </a:rPr>
              <a:t>01</a:t>
            </a:r>
            <a:endParaRPr lang="en-US" sz="1100" dirty="0"/>
          </a:p>
        </p:txBody>
      </p:sp>
      <p:sp>
        <p:nvSpPr>
          <p:cNvPr id="8" name="Text 5"/>
          <p:cNvSpPr/>
          <p:nvPr/>
        </p:nvSpPr>
        <p:spPr>
          <a:xfrm>
            <a:off x="77724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Presentación</a:t>
            </a:r>
            <a:endParaRPr lang="en-US" sz="1500" dirty="0"/>
          </a:p>
        </p:txBody>
      </p:sp>
      <p:pic>
        <p:nvPicPr>
          <p:cNvPr id="9" name="Image 1" descr="/tmp/claude-0/-home-user-Presentaciones-y-varios/903c1196-30c4-57a8-b469-52313f1ce01c/scratchpad/andres/icons/arrowRight_6FA98A.png">    </p:cNvPr>
          <p:cNvPicPr>
            <a:picLocks noChangeAspect="1"/>
          </p:cNvPicPr>
          <p:nvPr/>
        </p:nvPicPr>
        <p:blipFill>
          <a:blip r:embed="rId2"/>
          <a:stretch>
            <a:fillRect/>
          </a:stretch>
        </p:blipFill>
        <p:spPr>
          <a:xfrm>
            <a:off x="3145536" y="3095244"/>
            <a:ext cx="246888" cy="246888"/>
          </a:xfrm>
          <a:prstGeom prst="rect">
            <a:avLst/>
          </a:prstGeom>
        </p:spPr>
      </p:pic>
      <p:sp>
        <p:nvSpPr>
          <p:cNvPr id="10" name="Shape 6"/>
          <p:cNvSpPr/>
          <p:nvPr/>
        </p:nvSpPr>
        <p:spPr>
          <a:xfrm>
            <a:off x="3977640" y="2606040"/>
            <a:ext cx="1234440" cy="1234440"/>
          </a:xfrm>
          <a:prstGeom prst="ellipse">
            <a:avLst/>
          </a:prstGeom>
          <a:solidFill>
            <a:srgbClr val="201F1B"/>
          </a:solidFill>
          <a:ln w="19050">
            <a:solidFill>
              <a:srgbClr val="6FA98A"/>
            </a:solidFill>
            <a:prstDash val="solid"/>
          </a:ln>
        </p:spPr>
      </p:sp>
      <p:pic>
        <p:nvPicPr>
          <p:cNvPr id="11" name="Image 2" descr="/tmp/claude-0/-home-user-Presentaciones-y-varios/903c1196-30c4-57a8-b469-52313f1ce01c/scratchpad/andres/icons/star_6FA98A.png">    </p:cNvPr>
          <p:cNvPicPr>
            <a:picLocks noChangeAspect="1"/>
          </p:cNvPicPr>
          <p:nvPr/>
        </p:nvPicPr>
        <p:blipFill>
          <a:blip r:embed="rId3"/>
          <a:stretch>
            <a:fillRect/>
          </a:stretch>
        </p:blipFill>
        <p:spPr>
          <a:xfrm>
            <a:off x="4347972" y="2976372"/>
            <a:ext cx="493776" cy="493776"/>
          </a:xfrm>
          <a:prstGeom prst="rect">
            <a:avLst/>
          </a:prstGeom>
        </p:spPr>
      </p:pic>
      <p:sp>
        <p:nvSpPr>
          <p:cNvPr id="12" name="Text 7"/>
          <p:cNvSpPr/>
          <p:nvPr/>
        </p:nvSpPr>
        <p:spPr>
          <a:xfrm>
            <a:off x="3429000" y="3950208"/>
            <a:ext cx="2331720" cy="274320"/>
          </a:xfrm>
          <a:prstGeom prst="rect">
            <a:avLst/>
          </a:prstGeom>
          <a:noFill/>
          <a:ln/>
        </p:spPr>
        <p:txBody>
          <a:bodyPr wrap="square" lIns="0" tIns="0" rIns="0" bIns="0" rtlCol="0" anchor="ctr"/>
          <a:lstStyle/>
          <a:p>
            <a:pPr algn="ctr" indent="0" marL="0">
              <a:buNone/>
            </a:pPr>
            <a:r>
              <a:rPr lang="en-US" sz="1100" b="1" dirty="0">
                <a:solidFill>
                  <a:srgbClr val="6FA98A"/>
                </a:solidFill>
                <a:latin typeface="Calibri" pitchFamily="34" charset="0"/>
                <a:ea typeface="Calibri" pitchFamily="34" charset="-122"/>
                <a:cs typeface="Calibri" pitchFamily="34" charset="-120"/>
              </a:rPr>
              <a:t>02</a:t>
            </a:r>
            <a:endParaRPr lang="en-US" sz="1100" dirty="0"/>
          </a:p>
        </p:txBody>
      </p:sp>
      <p:sp>
        <p:nvSpPr>
          <p:cNvPr id="13" name="Text 8"/>
          <p:cNvSpPr/>
          <p:nvPr/>
        </p:nvSpPr>
        <p:spPr>
          <a:xfrm>
            <a:off x="342900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Evaluación</a:t>
            </a:r>
            <a:endParaRPr lang="en-US" sz="1500" dirty="0"/>
          </a:p>
        </p:txBody>
      </p:sp>
      <p:pic>
        <p:nvPicPr>
          <p:cNvPr id="14" name="Image 3" descr="/tmp/claude-0/-home-user-Presentaciones-y-varios/903c1196-30c4-57a8-b469-52313f1ce01c/scratchpad/andres/icons/arrowRight_6FA98A.png">    </p:cNvPr>
          <p:cNvPicPr>
            <a:picLocks noChangeAspect="1"/>
          </p:cNvPicPr>
          <p:nvPr/>
        </p:nvPicPr>
        <p:blipFill>
          <a:blip r:embed="rId4"/>
          <a:stretch>
            <a:fillRect/>
          </a:stretch>
        </p:blipFill>
        <p:spPr>
          <a:xfrm>
            <a:off x="5797296" y="3095244"/>
            <a:ext cx="246888" cy="246888"/>
          </a:xfrm>
          <a:prstGeom prst="rect">
            <a:avLst/>
          </a:prstGeom>
        </p:spPr>
      </p:pic>
      <p:sp>
        <p:nvSpPr>
          <p:cNvPr id="15" name="Shape 9"/>
          <p:cNvSpPr/>
          <p:nvPr/>
        </p:nvSpPr>
        <p:spPr>
          <a:xfrm>
            <a:off x="6629400" y="2606040"/>
            <a:ext cx="1234440" cy="1234440"/>
          </a:xfrm>
          <a:prstGeom prst="ellipse">
            <a:avLst/>
          </a:prstGeom>
          <a:solidFill>
            <a:srgbClr val="201F1B"/>
          </a:solidFill>
          <a:ln w="19050">
            <a:solidFill>
              <a:srgbClr val="6FA98A"/>
            </a:solidFill>
            <a:prstDash val="solid"/>
          </a:ln>
        </p:spPr>
      </p:sp>
      <p:pic>
        <p:nvPicPr>
          <p:cNvPr id="16" name="Image 4" descr="/tmp/claude-0/-home-user-Presentaciones-y-varios/903c1196-30c4-57a8-b469-52313f1ce01c/scratchpad/andres/icons/bag_6FA98A.png">    </p:cNvPr>
          <p:cNvPicPr>
            <a:picLocks noChangeAspect="1"/>
          </p:cNvPicPr>
          <p:nvPr/>
        </p:nvPicPr>
        <p:blipFill>
          <a:blip r:embed="rId5"/>
          <a:stretch>
            <a:fillRect/>
          </a:stretch>
        </p:blipFill>
        <p:spPr>
          <a:xfrm>
            <a:off x="6999732" y="2976372"/>
            <a:ext cx="493776" cy="493776"/>
          </a:xfrm>
          <a:prstGeom prst="rect">
            <a:avLst/>
          </a:prstGeom>
        </p:spPr>
      </p:pic>
      <p:sp>
        <p:nvSpPr>
          <p:cNvPr id="17" name="Text 10"/>
          <p:cNvSpPr/>
          <p:nvPr/>
        </p:nvSpPr>
        <p:spPr>
          <a:xfrm>
            <a:off x="6080760" y="3950208"/>
            <a:ext cx="2331720" cy="274320"/>
          </a:xfrm>
          <a:prstGeom prst="rect">
            <a:avLst/>
          </a:prstGeom>
          <a:noFill/>
          <a:ln/>
        </p:spPr>
        <p:txBody>
          <a:bodyPr wrap="square" lIns="0" tIns="0" rIns="0" bIns="0" rtlCol="0" anchor="ctr"/>
          <a:lstStyle/>
          <a:p>
            <a:pPr algn="ctr" indent="0" marL="0">
              <a:buNone/>
            </a:pPr>
            <a:r>
              <a:rPr lang="en-US" sz="1100" b="1" dirty="0">
                <a:solidFill>
                  <a:srgbClr val="6FA98A"/>
                </a:solidFill>
                <a:latin typeface="Calibri" pitchFamily="34" charset="0"/>
                <a:ea typeface="Calibri" pitchFamily="34" charset="-122"/>
                <a:cs typeface="Calibri" pitchFamily="34" charset="-120"/>
              </a:rPr>
              <a:t>03</a:t>
            </a:r>
            <a:endParaRPr lang="en-US" sz="1100" dirty="0"/>
          </a:p>
        </p:txBody>
      </p:sp>
      <p:sp>
        <p:nvSpPr>
          <p:cNvPr id="18" name="Text 11"/>
          <p:cNvSpPr/>
          <p:nvPr/>
        </p:nvSpPr>
        <p:spPr>
          <a:xfrm>
            <a:off x="608076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Conversión</a:t>
            </a:r>
            <a:endParaRPr lang="en-US" sz="1500" dirty="0"/>
          </a:p>
        </p:txBody>
      </p:sp>
      <p:pic>
        <p:nvPicPr>
          <p:cNvPr id="19" name="Image 5" descr="/tmp/claude-0/-home-user-Presentaciones-y-varios/903c1196-30c4-57a8-b469-52313f1ce01c/scratchpad/andres/icons/arrowRight_6FA98A.png">    </p:cNvPr>
          <p:cNvPicPr>
            <a:picLocks noChangeAspect="1"/>
          </p:cNvPicPr>
          <p:nvPr/>
        </p:nvPicPr>
        <p:blipFill>
          <a:blip r:embed="rId6"/>
          <a:stretch>
            <a:fillRect/>
          </a:stretch>
        </p:blipFill>
        <p:spPr>
          <a:xfrm>
            <a:off x="8449056" y="3095244"/>
            <a:ext cx="246888" cy="246888"/>
          </a:xfrm>
          <a:prstGeom prst="rect">
            <a:avLst/>
          </a:prstGeom>
        </p:spPr>
      </p:pic>
      <p:sp>
        <p:nvSpPr>
          <p:cNvPr id="20" name="Shape 12"/>
          <p:cNvSpPr/>
          <p:nvPr/>
        </p:nvSpPr>
        <p:spPr>
          <a:xfrm>
            <a:off x="9281160" y="2606040"/>
            <a:ext cx="1234440" cy="1234440"/>
          </a:xfrm>
          <a:prstGeom prst="ellipse">
            <a:avLst/>
          </a:prstGeom>
          <a:solidFill>
            <a:srgbClr val="201F1B"/>
          </a:solidFill>
          <a:ln w="19050">
            <a:solidFill>
              <a:srgbClr val="6FA98A"/>
            </a:solidFill>
            <a:prstDash val="solid"/>
          </a:ln>
        </p:spPr>
      </p:sp>
      <p:pic>
        <p:nvPicPr>
          <p:cNvPr id="21" name="Image 6" descr="/tmp/claude-0/-home-user-Presentaciones-y-varios/903c1196-30c4-57a8-b469-52313f1ce01c/scratchpad/andres/icons/sync_6FA98A.png">    </p:cNvPr>
          <p:cNvPicPr>
            <a:picLocks noChangeAspect="1"/>
          </p:cNvPicPr>
          <p:nvPr/>
        </p:nvPicPr>
        <p:blipFill>
          <a:blip r:embed="rId7"/>
          <a:stretch>
            <a:fillRect/>
          </a:stretch>
        </p:blipFill>
        <p:spPr>
          <a:xfrm>
            <a:off x="9651492" y="2976372"/>
            <a:ext cx="493776" cy="493776"/>
          </a:xfrm>
          <a:prstGeom prst="rect">
            <a:avLst/>
          </a:prstGeom>
        </p:spPr>
      </p:pic>
      <p:sp>
        <p:nvSpPr>
          <p:cNvPr id="22" name="Text 13"/>
          <p:cNvSpPr/>
          <p:nvPr/>
        </p:nvSpPr>
        <p:spPr>
          <a:xfrm>
            <a:off x="8732520" y="3950208"/>
            <a:ext cx="2331720" cy="274320"/>
          </a:xfrm>
          <a:prstGeom prst="rect">
            <a:avLst/>
          </a:prstGeom>
          <a:noFill/>
          <a:ln/>
        </p:spPr>
        <p:txBody>
          <a:bodyPr wrap="square" lIns="0" tIns="0" rIns="0" bIns="0" rtlCol="0" anchor="ctr"/>
          <a:lstStyle/>
          <a:p>
            <a:pPr algn="ctr" indent="0" marL="0">
              <a:buNone/>
            </a:pPr>
            <a:r>
              <a:rPr lang="en-US" sz="1100" b="1" dirty="0">
                <a:solidFill>
                  <a:srgbClr val="6FA98A"/>
                </a:solidFill>
                <a:latin typeface="Calibri" pitchFamily="34" charset="0"/>
                <a:ea typeface="Calibri" pitchFamily="34" charset="-122"/>
                <a:cs typeface="Calibri" pitchFamily="34" charset="-120"/>
              </a:rPr>
              <a:t>04</a:t>
            </a:r>
            <a:endParaRPr lang="en-US" sz="1100" dirty="0"/>
          </a:p>
        </p:txBody>
      </p:sp>
      <p:sp>
        <p:nvSpPr>
          <p:cNvPr id="23" name="Text 14"/>
          <p:cNvSpPr/>
          <p:nvPr/>
        </p:nvSpPr>
        <p:spPr>
          <a:xfrm>
            <a:off x="8732520" y="4224528"/>
            <a:ext cx="233172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Ascensión</a:t>
            </a:r>
            <a:endParaRPr lang="en-US" sz="1500" dirty="0"/>
          </a:p>
        </p:txBody>
      </p:sp>
      <p:sp>
        <p:nvSpPr>
          <p:cNvPr id="24" name="Shape 15"/>
          <p:cNvSpPr/>
          <p:nvPr/>
        </p:nvSpPr>
        <p:spPr>
          <a:xfrm>
            <a:off x="2103120" y="4800600"/>
            <a:ext cx="7955280" cy="868680"/>
          </a:xfrm>
          <a:prstGeom prst="roundRect">
            <a:avLst>
              <a:gd name="adj" fmla="val 10526"/>
            </a:avLst>
          </a:prstGeom>
          <a:solidFill>
            <a:srgbClr val="201F1B"/>
          </a:solidFill>
          <a:ln/>
        </p:spPr>
      </p:sp>
      <p:sp>
        <p:nvSpPr>
          <p:cNvPr id="25" name="Shape 16"/>
          <p:cNvSpPr/>
          <p:nvPr/>
        </p:nvSpPr>
        <p:spPr>
          <a:xfrm>
            <a:off x="2377440" y="4960620"/>
            <a:ext cx="548640" cy="548640"/>
          </a:xfrm>
          <a:prstGeom prst="ellipse">
            <a:avLst/>
          </a:prstGeom>
          <a:solidFill>
            <a:srgbClr val="2B2A25"/>
          </a:solidFill>
          <a:ln/>
        </p:spPr>
      </p:sp>
      <p:pic>
        <p:nvPicPr>
          <p:cNvPr id="26" name="Image 7" descr="/tmp/claude-0/-home-user-Presentaciones-y-varios/903c1196-30c4-57a8-b469-52313f1ce01c/scratchpad/andres/icons/sync_6FA98A.png">    </p:cNvPr>
          <p:cNvPicPr>
            <a:picLocks noChangeAspect="1"/>
          </p:cNvPicPr>
          <p:nvPr/>
        </p:nvPicPr>
        <p:blipFill>
          <a:blip r:embed="rId8"/>
          <a:stretch>
            <a:fillRect/>
          </a:stretch>
        </p:blipFill>
        <p:spPr>
          <a:xfrm>
            <a:off x="2500884" y="5084064"/>
            <a:ext cx="301752" cy="301752"/>
          </a:xfrm>
          <a:prstGeom prst="rect">
            <a:avLst/>
          </a:prstGeom>
        </p:spPr>
      </p:pic>
      <p:sp>
        <p:nvSpPr>
          <p:cNvPr id="27" name="Text 17"/>
          <p:cNvSpPr/>
          <p:nvPr/>
        </p:nvSpPr>
        <p:spPr>
          <a:xfrm>
            <a:off x="3154680" y="4800600"/>
            <a:ext cx="6720840" cy="868680"/>
          </a:xfrm>
          <a:prstGeom prst="rect">
            <a:avLst/>
          </a:prstGeom>
          <a:noFill/>
          <a:ln/>
        </p:spPr>
        <p:txBody>
          <a:bodyPr wrap="square" lIns="0" tIns="0" rIns="0" bIns="0" rtlCol="0" anchor="ctr"/>
          <a:lstStyle/>
          <a:p>
            <a:pPr indent="0" marL="0">
              <a:buNone/>
            </a:pPr>
            <a:r>
              <a:rPr lang="en-US" sz="1350" i="1" dirty="0">
                <a:solidFill>
                  <a:srgbClr val="D6D4CE"/>
                </a:solidFill>
                <a:latin typeface="Calibri" pitchFamily="34" charset="0"/>
                <a:ea typeface="Calibri" pitchFamily="34" charset="-122"/>
                <a:cs typeface="Calibri" pitchFamily="34" charset="-120"/>
              </a:rPr>
              <a:t>El ciclo se repite: quien vuelve a comprar entra de nuevo por evaluación en su próxima decisión.</a:t>
            </a:r>
            <a:endParaRPr lang="en-US" sz="1350" dirty="0"/>
          </a:p>
        </p:txBody>
      </p:sp>
      <p:sp>
        <p:nvSpPr>
          <p:cNvPr id="28" name="Text 18"/>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EL RAZONAMIENTO ECONÓMICO</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La lógica de negocio detrás del sistema</a:t>
            </a:r>
            <a:endParaRPr lang="en-US" sz="3200" dirty="0"/>
          </a:p>
        </p:txBody>
      </p:sp>
      <p:sp>
        <p:nvSpPr>
          <p:cNvPr id="4" name="Shape 2"/>
          <p:cNvSpPr/>
          <p:nvPr/>
        </p:nvSpPr>
        <p:spPr>
          <a:xfrm>
            <a:off x="640080" y="2148840"/>
            <a:ext cx="3520440" cy="3291840"/>
          </a:xfrm>
          <a:prstGeom prst="roundRect">
            <a:avLst>
              <a:gd name="adj" fmla="val 2222"/>
            </a:avLst>
          </a:prstGeom>
          <a:solidFill>
            <a:srgbClr val="F5F5F3"/>
          </a:solidFill>
          <a:ln/>
        </p:spPr>
      </p:sp>
      <p:sp>
        <p:nvSpPr>
          <p:cNvPr id="5" name="Shape 3"/>
          <p:cNvSpPr/>
          <p:nvPr/>
        </p:nvSpPr>
        <p:spPr>
          <a:xfrm>
            <a:off x="2034540" y="2468880"/>
            <a:ext cx="731520" cy="731520"/>
          </a:xfrm>
          <a:prstGeom prst="ellipse">
            <a:avLst/>
          </a:prstGeom>
          <a:solidFill>
            <a:srgbClr val="FFFFFF"/>
          </a:solidFill>
          <a:ln/>
        </p:spPr>
      </p:sp>
      <p:pic>
        <p:nvPicPr>
          <p:cNvPr id="6" name="Image 0" descr="/tmp/claude-0/-home-user-Presentaciones-y-varios/903c1196-30c4-57a8-b469-52313f1ce01c/scratchpad/andres/icons/dollar_1F4A3C.png">    </p:cNvPr>
          <p:cNvPicPr>
            <a:picLocks noChangeAspect="1"/>
          </p:cNvPicPr>
          <p:nvPr/>
        </p:nvPicPr>
        <p:blipFill>
          <a:blip r:embed="rId1"/>
          <a:stretch>
            <a:fillRect/>
          </a:stretch>
        </p:blipFill>
        <p:spPr>
          <a:xfrm>
            <a:off x="2217420" y="2651760"/>
            <a:ext cx="365760" cy="365760"/>
          </a:xfrm>
          <a:prstGeom prst="rect">
            <a:avLst/>
          </a:prstGeom>
        </p:spPr>
      </p:pic>
      <p:sp>
        <p:nvSpPr>
          <p:cNvPr id="7" name="Text 4"/>
          <p:cNvSpPr/>
          <p:nvPr/>
        </p:nvSpPr>
        <p:spPr>
          <a:xfrm>
            <a:off x="914400" y="3383280"/>
            <a:ext cx="2971800" cy="731520"/>
          </a:xfrm>
          <a:prstGeom prst="rect">
            <a:avLst/>
          </a:prstGeom>
          <a:noFill/>
          <a:ln/>
        </p:spPr>
        <p:txBody>
          <a:bodyPr wrap="square" lIns="0" tIns="0" rIns="0" bIns="0" rtlCol="0" anchor="ctr"/>
          <a:lstStyle/>
          <a:p>
            <a:pPr algn="ctr" indent="0" marL="0">
              <a:buNone/>
            </a:pPr>
            <a:r>
              <a:rPr lang="en-US" sz="1550" b="1" dirty="0">
                <a:solidFill>
                  <a:srgbClr val="141412"/>
                </a:solidFill>
                <a:latin typeface="Cambria" pitchFamily="34" charset="0"/>
                <a:ea typeface="Cambria" pitchFamily="34" charset="-122"/>
                <a:cs typeface="Cambria" pitchFamily="34" charset="-120"/>
              </a:rPr>
              <a:t>Menor costo por clienta en el tiempo</a:t>
            </a:r>
            <a:endParaRPr lang="en-US" sz="1550" dirty="0"/>
          </a:p>
        </p:txBody>
      </p:sp>
      <p:sp>
        <p:nvSpPr>
          <p:cNvPr id="8" name="Text 5"/>
          <p:cNvSpPr/>
          <p:nvPr/>
        </p:nvSpPr>
        <p:spPr>
          <a:xfrm>
            <a:off x="96012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Reimpactar a quien ya conoce la marca cuesta menos que conseguir a alguien nuevo.</a:t>
            </a:r>
            <a:endParaRPr lang="en-US" sz="1250" dirty="0"/>
          </a:p>
        </p:txBody>
      </p:sp>
      <p:sp>
        <p:nvSpPr>
          <p:cNvPr id="9" name="Shape 6"/>
          <p:cNvSpPr/>
          <p:nvPr/>
        </p:nvSpPr>
        <p:spPr>
          <a:xfrm>
            <a:off x="4480560" y="2148840"/>
            <a:ext cx="3520440" cy="3291840"/>
          </a:xfrm>
          <a:prstGeom prst="roundRect">
            <a:avLst>
              <a:gd name="adj" fmla="val 2222"/>
            </a:avLst>
          </a:prstGeom>
          <a:solidFill>
            <a:srgbClr val="F5F5F3"/>
          </a:solidFill>
          <a:ln/>
        </p:spPr>
      </p:sp>
      <p:sp>
        <p:nvSpPr>
          <p:cNvPr id="10" name="Shape 7"/>
          <p:cNvSpPr/>
          <p:nvPr/>
        </p:nvSpPr>
        <p:spPr>
          <a:xfrm>
            <a:off x="5875020" y="2468880"/>
            <a:ext cx="731520" cy="731520"/>
          </a:xfrm>
          <a:prstGeom prst="ellipse">
            <a:avLst/>
          </a:prstGeom>
          <a:solidFill>
            <a:srgbClr val="FFFFFF"/>
          </a:solidFill>
          <a:ln/>
        </p:spPr>
      </p:sp>
      <p:pic>
        <p:nvPicPr>
          <p:cNvPr id="11" name="Image 1" descr="/tmp/claude-0/-home-user-Presentaciones-y-varios/903c1196-30c4-57a8-b469-52313f1ce01c/scratchpad/andres/icons/sync_1F4A3C.png">    </p:cNvPr>
          <p:cNvPicPr>
            <a:picLocks noChangeAspect="1"/>
          </p:cNvPicPr>
          <p:nvPr/>
        </p:nvPicPr>
        <p:blipFill>
          <a:blip r:embed="rId2"/>
          <a:stretch>
            <a:fillRect/>
          </a:stretch>
        </p:blipFill>
        <p:spPr>
          <a:xfrm>
            <a:off x="6057900" y="2651760"/>
            <a:ext cx="365760" cy="365760"/>
          </a:xfrm>
          <a:prstGeom prst="rect">
            <a:avLst/>
          </a:prstGeom>
        </p:spPr>
      </p:pic>
      <p:sp>
        <p:nvSpPr>
          <p:cNvPr id="12" name="Text 8"/>
          <p:cNvSpPr/>
          <p:nvPr/>
        </p:nvSpPr>
        <p:spPr>
          <a:xfrm>
            <a:off x="4754880" y="3383280"/>
            <a:ext cx="2971800" cy="731520"/>
          </a:xfrm>
          <a:prstGeom prst="rect">
            <a:avLst/>
          </a:prstGeom>
          <a:noFill/>
          <a:ln/>
        </p:spPr>
        <p:txBody>
          <a:bodyPr wrap="square" lIns="0" tIns="0" rIns="0" bIns="0" rtlCol="0" anchor="ctr"/>
          <a:lstStyle/>
          <a:p>
            <a:pPr algn="ctr" indent="0" marL="0">
              <a:buNone/>
            </a:pPr>
            <a:r>
              <a:rPr lang="en-US" sz="1550" b="1" dirty="0">
                <a:solidFill>
                  <a:srgbClr val="141412"/>
                </a:solidFill>
                <a:latin typeface="Cambria" pitchFamily="34" charset="0"/>
                <a:ea typeface="Cambria" pitchFamily="34" charset="-122"/>
                <a:cs typeface="Cambria" pitchFamily="34" charset="-120"/>
              </a:rPr>
              <a:t>Mayor frecuencia de recompra</a:t>
            </a:r>
            <a:endParaRPr lang="en-US" sz="1550" dirty="0"/>
          </a:p>
        </p:txBody>
      </p:sp>
      <p:sp>
        <p:nvSpPr>
          <p:cNvPr id="13" name="Text 9"/>
          <p:cNvSpPr/>
          <p:nvPr/>
        </p:nvSpPr>
        <p:spPr>
          <a:xfrm>
            <a:off x="480060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El haircare es consumo recurrente: cada reactivación suma una nueva compra.</a:t>
            </a:r>
            <a:endParaRPr lang="en-US" sz="1250" dirty="0"/>
          </a:p>
        </p:txBody>
      </p:sp>
      <p:sp>
        <p:nvSpPr>
          <p:cNvPr id="14" name="Shape 10"/>
          <p:cNvSpPr/>
          <p:nvPr/>
        </p:nvSpPr>
        <p:spPr>
          <a:xfrm>
            <a:off x="8321040" y="2148840"/>
            <a:ext cx="3520440" cy="3291840"/>
          </a:xfrm>
          <a:prstGeom prst="roundRect">
            <a:avLst>
              <a:gd name="adj" fmla="val 2222"/>
            </a:avLst>
          </a:prstGeom>
          <a:solidFill>
            <a:srgbClr val="F5F5F3"/>
          </a:solidFill>
          <a:ln/>
        </p:spPr>
      </p:sp>
      <p:sp>
        <p:nvSpPr>
          <p:cNvPr id="15" name="Shape 11"/>
          <p:cNvSpPr/>
          <p:nvPr/>
        </p:nvSpPr>
        <p:spPr>
          <a:xfrm>
            <a:off x="9715500" y="2468880"/>
            <a:ext cx="731520" cy="731520"/>
          </a:xfrm>
          <a:prstGeom prst="ellipse">
            <a:avLst/>
          </a:prstGeom>
          <a:solidFill>
            <a:srgbClr val="FFFFFF"/>
          </a:solidFill>
          <a:ln/>
        </p:spPr>
      </p:sp>
      <p:pic>
        <p:nvPicPr>
          <p:cNvPr id="16" name="Image 2" descr="/tmp/claude-0/-home-user-Presentaciones-y-varios/903c1196-30c4-57a8-b469-52313f1ce01c/scratchpad/andres/icons/bag_1F4A3C.png">    </p:cNvPr>
          <p:cNvPicPr>
            <a:picLocks noChangeAspect="1"/>
          </p:cNvPicPr>
          <p:nvPr/>
        </p:nvPicPr>
        <p:blipFill>
          <a:blip r:embed="rId3"/>
          <a:stretch>
            <a:fillRect/>
          </a:stretch>
        </p:blipFill>
        <p:spPr>
          <a:xfrm>
            <a:off x="9898380" y="2651760"/>
            <a:ext cx="365760" cy="365760"/>
          </a:xfrm>
          <a:prstGeom prst="rect">
            <a:avLst/>
          </a:prstGeom>
        </p:spPr>
      </p:pic>
      <p:sp>
        <p:nvSpPr>
          <p:cNvPr id="17" name="Text 12"/>
          <p:cNvSpPr/>
          <p:nvPr/>
        </p:nvSpPr>
        <p:spPr>
          <a:xfrm>
            <a:off x="8595360" y="3383280"/>
            <a:ext cx="2971800" cy="731520"/>
          </a:xfrm>
          <a:prstGeom prst="rect">
            <a:avLst/>
          </a:prstGeom>
          <a:noFill/>
          <a:ln/>
        </p:spPr>
        <p:txBody>
          <a:bodyPr wrap="square" lIns="0" tIns="0" rIns="0" bIns="0" rtlCol="0" anchor="ctr"/>
          <a:lstStyle/>
          <a:p>
            <a:pPr algn="ctr" indent="0" marL="0">
              <a:buNone/>
            </a:pPr>
            <a:r>
              <a:rPr lang="en-US" sz="1550" b="1" dirty="0">
                <a:solidFill>
                  <a:srgbClr val="141412"/>
                </a:solidFill>
                <a:latin typeface="Cambria" pitchFamily="34" charset="0"/>
                <a:ea typeface="Cambria" pitchFamily="34" charset="-122"/>
                <a:cs typeface="Cambria" pitchFamily="34" charset="-120"/>
              </a:rPr>
              <a:t>Mayor ticket promedio</a:t>
            </a:r>
            <a:endParaRPr lang="en-US" sz="1550" dirty="0"/>
          </a:p>
        </p:txBody>
      </p:sp>
      <p:sp>
        <p:nvSpPr>
          <p:cNvPr id="18" name="Text 13"/>
          <p:cNvSpPr/>
          <p:nvPr/>
        </p:nvSpPr>
        <p:spPr>
          <a:xfrm>
            <a:off x="8641080" y="4160520"/>
            <a:ext cx="2880360" cy="1097280"/>
          </a:xfrm>
          <a:prstGeom prst="rect">
            <a:avLst/>
          </a:prstGeom>
          <a:noFill/>
          <a:ln/>
        </p:spPr>
        <p:txBody>
          <a:bodyPr wrap="square" lIns="0" tIns="0" rIns="0" bIns="0" rtlCol="0" anchor="ctr"/>
          <a:lstStyle/>
          <a:p>
            <a:pPr algn="ctr" indent="0" marL="0">
              <a:buNone/>
            </a:pPr>
            <a:r>
              <a:rPr lang="en-US" sz="1250" dirty="0">
                <a:solidFill>
                  <a:srgbClr val="6B6B66"/>
                </a:solidFill>
                <a:latin typeface="Calibri" pitchFamily="34" charset="0"/>
                <a:ea typeface="Calibri" pitchFamily="34" charset="-122"/>
                <a:cs typeface="Calibri" pitchFamily="34" charset="-120"/>
              </a:rPr>
              <a:t>Rutinas completas y nuevos lanzamientos se ofrecen a quien ya confía en la marca.</a:t>
            </a:r>
            <a:endParaRPr lang="en-US" sz="1250" dirty="0"/>
          </a:p>
        </p:txBody>
      </p:sp>
      <p:sp>
        <p:nvSpPr>
          <p:cNvPr id="19" name="Text 14"/>
          <p:cNvSpPr/>
          <p:nvPr/>
        </p:nvSpPr>
        <p:spPr>
          <a:xfrm>
            <a:off x="640080" y="5760720"/>
            <a:ext cx="10881360" cy="548640"/>
          </a:xfrm>
          <a:prstGeom prst="rect">
            <a:avLst/>
          </a:prstGeom>
          <a:noFill/>
          <a:ln/>
        </p:spPr>
        <p:txBody>
          <a:bodyPr wrap="square" lIns="0" tIns="0" rIns="0" bIns="0" rtlCol="0" anchor="ctr"/>
          <a:lstStyle/>
          <a:p>
            <a:pPr indent="0" marL="0">
              <a:buNone/>
            </a:pPr>
            <a:r>
              <a:rPr lang="en-US" sz="1300" i="1" dirty="0">
                <a:solidFill>
                  <a:srgbClr val="141412"/>
                </a:solidFill>
                <a:latin typeface="Calibri" pitchFamily="34" charset="0"/>
                <a:ea typeface="Calibri" pitchFamily="34" charset="-122"/>
                <a:cs typeface="Calibri" pitchFamily="34" charset="-120"/>
              </a:rPr>
              <a:t>El sistema no promete resultados garantizados. Reduce la dependencia de conseguir clientas nuevas cada vez y aumenta el valor de las que ya se ganaron.</a:t>
            </a:r>
            <a:endParaRPr lang="en-US" sz="1300" dirty="0"/>
          </a:p>
        </p:txBody>
      </p:sp>
      <p:sp>
        <p:nvSpPr>
          <p:cNvPr id="20" name="Text 15"/>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6FA98A"/>
                </a:solidFill>
                <a:latin typeface="Calibri" pitchFamily="34" charset="0"/>
                <a:ea typeface="Calibri" pitchFamily="34" charset="-122"/>
                <a:cs typeface="Calibri" pitchFamily="34" charset="-120"/>
              </a:rPr>
              <a:t>EL CIERRE DEL DIAGNÓSTICO</a:t>
            </a:r>
            <a:endParaRPr lang="en-US" sz="1200" dirty="0"/>
          </a:p>
        </p:txBody>
      </p:sp>
      <p:sp>
        <p:nvSpPr>
          <p:cNvPr id="3" name="Text 1"/>
          <p:cNvSpPr/>
          <p:nvPr/>
        </p:nvSpPr>
        <p:spPr>
          <a:xfrm>
            <a:off x="640080" y="685800"/>
            <a:ext cx="10881360" cy="1005840"/>
          </a:xfrm>
          <a:prstGeom prst="rect">
            <a:avLst/>
          </a:prstGeom>
          <a:noFill/>
          <a:ln/>
        </p:spPr>
        <p:txBody>
          <a:bodyPr wrap="square" lIns="0" tIns="0" rIns="0" bIns="0" rtlCol="0" anchor="ctr"/>
          <a:lstStyle/>
          <a:p>
            <a:pPr indent="0" marL="0">
              <a:lnSpc>
                <a:spcPct val="105000"/>
              </a:lnSpc>
              <a:buNone/>
            </a:pPr>
            <a:r>
              <a:rPr lang="en-US" sz="2500" b="1" dirty="0">
                <a:solidFill>
                  <a:srgbClr val="FFFFFF"/>
                </a:solidFill>
                <a:latin typeface="Cambria" pitchFamily="34" charset="0"/>
                <a:ea typeface="Cambria" pitchFamily="34" charset="-122"/>
                <a:cs typeface="Cambria" pitchFamily="34" charset="-120"/>
              </a:rPr>
              <a:t>Las oportunidades que hoy Hair Touch by Sandra</a:t>
            </a:r>
            <a:endParaRPr lang="en-US" sz="2500" dirty="0"/>
          </a:p>
          <a:p>
            <a:pPr indent="0" marL="0">
              <a:lnSpc>
                <a:spcPct val="105000"/>
              </a:lnSpc>
              <a:buNone/>
            </a:pPr>
            <a:r>
              <a:rPr lang="en-US" sz="2500" b="1" dirty="0">
                <a:solidFill>
                  <a:srgbClr val="FFFFFF"/>
                </a:solidFill>
                <a:latin typeface="Cambria" pitchFamily="34" charset="0"/>
                <a:ea typeface="Cambria" pitchFamily="34" charset="-122"/>
                <a:cs typeface="Cambria" pitchFamily="34" charset="-120"/>
              </a:rPr>
              <a:t>está dejando sobre la mesa</a:t>
            </a:r>
            <a:endParaRPr lang="en-US" sz="2500" dirty="0"/>
          </a:p>
        </p:txBody>
      </p:sp>
      <p:sp>
        <p:nvSpPr>
          <p:cNvPr id="4" name="Shape 2"/>
          <p:cNvSpPr/>
          <p:nvPr/>
        </p:nvSpPr>
        <p:spPr>
          <a:xfrm>
            <a:off x="640080" y="1783080"/>
            <a:ext cx="5257800" cy="749808"/>
          </a:xfrm>
          <a:prstGeom prst="roundRect">
            <a:avLst>
              <a:gd name="adj" fmla="val 8537"/>
            </a:avLst>
          </a:prstGeom>
          <a:solidFill>
            <a:srgbClr val="201F1B"/>
          </a:solidFill>
          <a:ln/>
        </p:spPr>
      </p:sp>
      <p:sp>
        <p:nvSpPr>
          <p:cNvPr id="5" name="Shape 3"/>
          <p:cNvSpPr/>
          <p:nvPr/>
        </p:nvSpPr>
        <p:spPr>
          <a:xfrm>
            <a:off x="1078992" y="1929384"/>
            <a:ext cx="457200" cy="457200"/>
          </a:xfrm>
          <a:prstGeom prst="ellipse">
            <a:avLst/>
          </a:prstGeom>
          <a:solidFill>
            <a:srgbClr val="2B2A25"/>
          </a:solidFill>
          <a:ln/>
        </p:spPr>
      </p:sp>
      <p:pic>
        <p:nvPicPr>
          <p:cNvPr id="6" name="Image 0" descr="/tmp/claude-0/-home-user-Presentaciones-y-varios/903c1196-30c4-57a8-b469-52313f1ce01c/scratchpad/andres/icons/instagram_6FA98A.png">    </p:cNvPr>
          <p:cNvPicPr>
            <a:picLocks noChangeAspect="1"/>
          </p:cNvPicPr>
          <p:nvPr/>
        </p:nvPicPr>
        <p:blipFill>
          <a:blip r:embed="rId1"/>
          <a:stretch>
            <a:fillRect/>
          </a:stretch>
        </p:blipFill>
        <p:spPr>
          <a:xfrm>
            <a:off x="1181862" y="2032254"/>
            <a:ext cx="251460" cy="251460"/>
          </a:xfrm>
          <a:prstGeom prst="rect">
            <a:avLst/>
          </a:prstGeom>
        </p:spPr>
      </p:pic>
      <p:sp>
        <p:nvSpPr>
          <p:cNvPr id="7" name="Text 4"/>
          <p:cNvSpPr/>
          <p:nvPr/>
        </p:nvSpPr>
        <p:spPr>
          <a:xfrm>
            <a:off x="150876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Activar remarketing sobre las 5.500+ publicaciones ya creadas, hoy sin ninguna campaña de reimpacto.</a:t>
            </a:r>
            <a:endParaRPr lang="en-US" sz="1020" dirty="0"/>
          </a:p>
        </p:txBody>
      </p:sp>
      <p:sp>
        <p:nvSpPr>
          <p:cNvPr id="8" name="Shape 5"/>
          <p:cNvSpPr/>
          <p:nvPr/>
        </p:nvSpPr>
        <p:spPr>
          <a:xfrm>
            <a:off x="6217920" y="1783080"/>
            <a:ext cx="5257800" cy="749808"/>
          </a:xfrm>
          <a:prstGeom prst="roundRect">
            <a:avLst>
              <a:gd name="adj" fmla="val 8537"/>
            </a:avLst>
          </a:prstGeom>
          <a:solidFill>
            <a:srgbClr val="201F1B"/>
          </a:solidFill>
          <a:ln/>
        </p:spPr>
      </p:sp>
      <p:sp>
        <p:nvSpPr>
          <p:cNvPr id="9" name="Shape 6"/>
          <p:cNvSpPr/>
          <p:nvPr/>
        </p:nvSpPr>
        <p:spPr>
          <a:xfrm>
            <a:off x="6656832" y="1929384"/>
            <a:ext cx="457200" cy="457200"/>
          </a:xfrm>
          <a:prstGeom prst="ellipse">
            <a:avLst/>
          </a:prstGeom>
          <a:solidFill>
            <a:srgbClr val="2B2A25"/>
          </a:solidFill>
          <a:ln/>
        </p:spPr>
      </p:sp>
      <p:pic>
        <p:nvPicPr>
          <p:cNvPr id="10" name="Image 1" descr="/tmp/claude-0/-home-user-Presentaciones-y-varios/903c1196-30c4-57a8-b469-52313f1ce01c/scratchpad/andres/icons/star_6FA98A.png">    </p:cNvPr>
          <p:cNvPicPr>
            <a:picLocks noChangeAspect="1"/>
          </p:cNvPicPr>
          <p:nvPr/>
        </p:nvPicPr>
        <p:blipFill>
          <a:blip r:embed="rId2"/>
          <a:stretch>
            <a:fillRect/>
          </a:stretch>
        </p:blipFill>
        <p:spPr>
          <a:xfrm>
            <a:off x="6759702" y="2032254"/>
            <a:ext cx="251460" cy="251460"/>
          </a:xfrm>
          <a:prstGeom prst="rect">
            <a:avLst/>
          </a:prstGeom>
        </p:spPr>
      </p:pic>
      <p:sp>
        <p:nvSpPr>
          <p:cNvPr id="11" name="Text 7"/>
          <p:cNvSpPr/>
          <p:nvPr/>
        </p:nvSpPr>
        <p:spPr>
          <a:xfrm>
            <a:off x="7086600" y="1837944"/>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Convertir las 585+ reseñas del salón físico en creativos de prueba social para conversión.</a:t>
            </a:r>
            <a:endParaRPr lang="en-US" sz="1020" dirty="0"/>
          </a:p>
        </p:txBody>
      </p:sp>
      <p:sp>
        <p:nvSpPr>
          <p:cNvPr id="12" name="Shape 8"/>
          <p:cNvSpPr/>
          <p:nvPr/>
        </p:nvSpPr>
        <p:spPr>
          <a:xfrm>
            <a:off x="640080" y="2679192"/>
            <a:ext cx="5257800" cy="749808"/>
          </a:xfrm>
          <a:prstGeom prst="roundRect">
            <a:avLst>
              <a:gd name="adj" fmla="val 8537"/>
            </a:avLst>
          </a:prstGeom>
          <a:solidFill>
            <a:srgbClr val="201F1B"/>
          </a:solidFill>
          <a:ln/>
        </p:spPr>
      </p:sp>
      <p:sp>
        <p:nvSpPr>
          <p:cNvPr id="13" name="Shape 9"/>
          <p:cNvSpPr/>
          <p:nvPr/>
        </p:nvSpPr>
        <p:spPr>
          <a:xfrm>
            <a:off x="1078992" y="2825496"/>
            <a:ext cx="457200" cy="457200"/>
          </a:xfrm>
          <a:prstGeom prst="ellipse">
            <a:avLst/>
          </a:prstGeom>
          <a:solidFill>
            <a:srgbClr val="2B2A25"/>
          </a:solidFill>
          <a:ln/>
        </p:spPr>
      </p:sp>
      <p:pic>
        <p:nvPicPr>
          <p:cNvPr id="14" name="Image 2" descr="/tmp/claude-0/-home-user-Presentaciones-y-varios/903c1196-30c4-57a8-b469-52313f1ce01c/scratchpad/andres/icons/tv_6FA98A.png">    </p:cNvPr>
          <p:cNvPicPr>
            <a:picLocks noChangeAspect="1"/>
          </p:cNvPicPr>
          <p:nvPr/>
        </p:nvPicPr>
        <p:blipFill>
          <a:blip r:embed="rId3"/>
          <a:stretch>
            <a:fillRect/>
          </a:stretch>
        </p:blipFill>
        <p:spPr>
          <a:xfrm>
            <a:off x="1181862" y="2928366"/>
            <a:ext cx="251460" cy="251460"/>
          </a:xfrm>
          <a:prstGeom prst="rect">
            <a:avLst/>
          </a:prstGeom>
        </p:spPr>
      </p:pic>
      <p:sp>
        <p:nvSpPr>
          <p:cNvPr id="15" name="Text 10"/>
          <p:cNvSpPr/>
          <p:nvPr/>
        </p:nvSpPr>
        <p:spPr>
          <a:xfrm>
            <a:off x="150876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la trayectoria de Sandra como periodista de TV como ancla de autoridad en el descubrimiento.</a:t>
            </a:r>
            <a:endParaRPr lang="en-US" sz="1020" dirty="0"/>
          </a:p>
        </p:txBody>
      </p:sp>
      <p:sp>
        <p:nvSpPr>
          <p:cNvPr id="16" name="Shape 11"/>
          <p:cNvSpPr/>
          <p:nvPr/>
        </p:nvSpPr>
        <p:spPr>
          <a:xfrm>
            <a:off x="6217920" y="2679192"/>
            <a:ext cx="5257800" cy="749808"/>
          </a:xfrm>
          <a:prstGeom prst="roundRect">
            <a:avLst>
              <a:gd name="adj" fmla="val 8537"/>
            </a:avLst>
          </a:prstGeom>
          <a:solidFill>
            <a:srgbClr val="201F1B"/>
          </a:solidFill>
          <a:ln/>
        </p:spPr>
      </p:sp>
      <p:sp>
        <p:nvSpPr>
          <p:cNvPr id="17" name="Shape 12"/>
          <p:cNvSpPr/>
          <p:nvPr/>
        </p:nvSpPr>
        <p:spPr>
          <a:xfrm>
            <a:off x="6656832" y="2825496"/>
            <a:ext cx="457200" cy="457200"/>
          </a:xfrm>
          <a:prstGeom prst="ellipse">
            <a:avLst/>
          </a:prstGeom>
          <a:solidFill>
            <a:srgbClr val="2B2A25"/>
          </a:solidFill>
          <a:ln/>
        </p:spPr>
      </p:sp>
      <p:pic>
        <p:nvPicPr>
          <p:cNvPr id="18" name="Image 3" descr="/tmp/claude-0/-home-user-Presentaciones-y-varios/903c1196-30c4-57a8-b469-52313f1ce01c/scratchpad/andres/icons/flagUsa_6FA98A.png">    </p:cNvPr>
          <p:cNvPicPr>
            <a:picLocks noChangeAspect="1"/>
          </p:cNvPicPr>
          <p:nvPr/>
        </p:nvPicPr>
        <p:blipFill>
          <a:blip r:embed="rId4"/>
          <a:stretch>
            <a:fillRect/>
          </a:stretch>
        </p:blipFill>
        <p:spPr>
          <a:xfrm>
            <a:off x="6759702" y="2928366"/>
            <a:ext cx="251460" cy="251460"/>
          </a:xfrm>
          <a:prstGeom prst="rect">
            <a:avLst/>
          </a:prstGeom>
        </p:spPr>
      </p:pic>
      <p:sp>
        <p:nvSpPr>
          <p:cNvPr id="19" name="Text 13"/>
          <p:cNvSpPr/>
          <p:nvPr/>
        </p:nvSpPr>
        <p:spPr>
          <a:xfrm>
            <a:off x="7086600" y="2734056"/>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Dirigir campañas a la audiencia bicultural en EE.UU., hoy desatendida por marcas de haircare genéricas.</a:t>
            </a:r>
            <a:endParaRPr lang="en-US" sz="1020" dirty="0"/>
          </a:p>
        </p:txBody>
      </p:sp>
      <p:sp>
        <p:nvSpPr>
          <p:cNvPr id="20" name="Shape 14"/>
          <p:cNvSpPr/>
          <p:nvPr/>
        </p:nvSpPr>
        <p:spPr>
          <a:xfrm>
            <a:off x="640080" y="3575304"/>
            <a:ext cx="5257800" cy="749808"/>
          </a:xfrm>
          <a:prstGeom prst="roundRect">
            <a:avLst>
              <a:gd name="adj" fmla="val 8537"/>
            </a:avLst>
          </a:prstGeom>
          <a:solidFill>
            <a:srgbClr val="201F1B"/>
          </a:solidFill>
          <a:ln/>
        </p:spPr>
      </p:sp>
      <p:sp>
        <p:nvSpPr>
          <p:cNvPr id="21" name="Shape 15"/>
          <p:cNvSpPr/>
          <p:nvPr/>
        </p:nvSpPr>
        <p:spPr>
          <a:xfrm>
            <a:off x="1078992" y="3721608"/>
            <a:ext cx="457200" cy="457200"/>
          </a:xfrm>
          <a:prstGeom prst="ellipse">
            <a:avLst/>
          </a:prstGeom>
          <a:solidFill>
            <a:srgbClr val="2B2A25"/>
          </a:solidFill>
          <a:ln/>
        </p:spPr>
      </p:sp>
      <p:pic>
        <p:nvPicPr>
          <p:cNvPr id="22" name="Image 4" descr="/tmp/claude-0/-home-user-Presentaciones-y-varios/903c1196-30c4-57a8-b469-52313f1ce01c/scratchpad/andres/icons/leaf_6FA98A.png">    </p:cNvPr>
          <p:cNvPicPr>
            <a:picLocks noChangeAspect="1"/>
          </p:cNvPicPr>
          <p:nvPr/>
        </p:nvPicPr>
        <p:blipFill>
          <a:blip r:embed="rId5"/>
          <a:stretch>
            <a:fillRect/>
          </a:stretch>
        </p:blipFill>
        <p:spPr>
          <a:xfrm>
            <a:off x="1181862" y="3824478"/>
            <a:ext cx="251460" cy="251460"/>
          </a:xfrm>
          <a:prstGeom prst="rect">
            <a:avLst/>
          </a:prstGeom>
        </p:spPr>
      </p:pic>
      <p:sp>
        <p:nvSpPr>
          <p:cNvPr id="23" name="Text 16"/>
          <p:cNvSpPr/>
          <p:nvPr/>
        </p:nvSpPr>
        <p:spPr>
          <a:xfrm>
            <a:off x="150876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Posicionar el aceite de romero como ángulo creativo principal: ingrediente en tendencia en EE.UU.</a:t>
            </a:r>
            <a:endParaRPr lang="en-US" sz="1020" dirty="0"/>
          </a:p>
        </p:txBody>
      </p:sp>
      <p:sp>
        <p:nvSpPr>
          <p:cNvPr id="24" name="Shape 17"/>
          <p:cNvSpPr/>
          <p:nvPr/>
        </p:nvSpPr>
        <p:spPr>
          <a:xfrm>
            <a:off x="6217920" y="3575304"/>
            <a:ext cx="5257800" cy="749808"/>
          </a:xfrm>
          <a:prstGeom prst="roundRect">
            <a:avLst>
              <a:gd name="adj" fmla="val 8537"/>
            </a:avLst>
          </a:prstGeom>
          <a:solidFill>
            <a:srgbClr val="201F1B"/>
          </a:solidFill>
          <a:ln/>
        </p:spPr>
      </p:sp>
      <p:sp>
        <p:nvSpPr>
          <p:cNvPr id="25" name="Shape 18"/>
          <p:cNvSpPr/>
          <p:nvPr/>
        </p:nvSpPr>
        <p:spPr>
          <a:xfrm>
            <a:off x="6656832" y="3721608"/>
            <a:ext cx="457200" cy="457200"/>
          </a:xfrm>
          <a:prstGeom prst="ellipse">
            <a:avLst/>
          </a:prstGeom>
          <a:solidFill>
            <a:srgbClr val="2B2A25"/>
          </a:solidFill>
          <a:ln/>
        </p:spPr>
      </p:sp>
      <p:pic>
        <p:nvPicPr>
          <p:cNvPr id="26" name="Image 5" descr="/tmp/claude-0/-home-user-Presentaciones-y-varios/903c1196-30c4-57a8-b469-52313f1ce01c/scratchpad/andres/icons/tiktok_6FA98A.png">    </p:cNvPr>
          <p:cNvPicPr>
            <a:picLocks noChangeAspect="1"/>
          </p:cNvPicPr>
          <p:nvPr/>
        </p:nvPicPr>
        <p:blipFill>
          <a:blip r:embed="rId6"/>
          <a:stretch>
            <a:fillRect/>
          </a:stretch>
        </p:blipFill>
        <p:spPr>
          <a:xfrm>
            <a:off x="6759702" y="3824478"/>
            <a:ext cx="251460" cy="251460"/>
          </a:xfrm>
          <a:prstGeom prst="rect">
            <a:avLst/>
          </a:prstGeom>
        </p:spPr>
      </p:pic>
      <p:sp>
        <p:nvSpPr>
          <p:cNvPr id="27" name="Text 19"/>
          <p:cNvSpPr/>
          <p:nvPr/>
        </p:nvSpPr>
        <p:spPr>
          <a:xfrm>
            <a:off x="7086600" y="3630168"/>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Construir públicos personalizados desde el contenido ya publicado en TikTok.</a:t>
            </a:r>
            <a:endParaRPr lang="en-US" sz="1020" dirty="0"/>
          </a:p>
        </p:txBody>
      </p:sp>
      <p:sp>
        <p:nvSpPr>
          <p:cNvPr id="28" name="Shape 20"/>
          <p:cNvSpPr/>
          <p:nvPr/>
        </p:nvSpPr>
        <p:spPr>
          <a:xfrm>
            <a:off x="640080" y="4471416"/>
            <a:ext cx="5257800" cy="749808"/>
          </a:xfrm>
          <a:prstGeom prst="roundRect">
            <a:avLst>
              <a:gd name="adj" fmla="val 8537"/>
            </a:avLst>
          </a:prstGeom>
          <a:solidFill>
            <a:srgbClr val="201F1B"/>
          </a:solidFill>
          <a:ln/>
        </p:spPr>
      </p:sp>
      <p:sp>
        <p:nvSpPr>
          <p:cNvPr id="29" name="Shape 21"/>
          <p:cNvSpPr/>
          <p:nvPr/>
        </p:nvSpPr>
        <p:spPr>
          <a:xfrm>
            <a:off x="1078992" y="4617720"/>
            <a:ext cx="457200" cy="457200"/>
          </a:xfrm>
          <a:prstGeom prst="ellipse">
            <a:avLst/>
          </a:prstGeom>
          <a:solidFill>
            <a:srgbClr val="2B2A25"/>
          </a:solidFill>
          <a:ln/>
        </p:spPr>
      </p:sp>
      <p:pic>
        <p:nvPicPr>
          <p:cNvPr id="30" name="Image 6" descr="/tmp/claude-0/-home-user-Presentaciones-y-varios/903c1196-30c4-57a8-b469-52313f1ce01c/scratchpad/andres/icons/route_6FA98A.png">    </p:cNvPr>
          <p:cNvPicPr>
            <a:picLocks noChangeAspect="1"/>
          </p:cNvPicPr>
          <p:nvPr/>
        </p:nvPicPr>
        <p:blipFill>
          <a:blip r:embed="rId7"/>
          <a:stretch>
            <a:fillRect/>
          </a:stretch>
        </p:blipFill>
        <p:spPr>
          <a:xfrm>
            <a:off x="1181862" y="4720590"/>
            <a:ext cx="251460" cy="251460"/>
          </a:xfrm>
          <a:prstGeom prst="rect">
            <a:avLst/>
          </a:prstGeom>
        </p:spPr>
      </p:pic>
      <p:sp>
        <p:nvSpPr>
          <p:cNvPr id="31" name="Text 22"/>
          <p:cNvSpPr/>
          <p:nvPr/>
        </p:nvSpPr>
        <p:spPr>
          <a:xfrm>
            <a:off x="150876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Instalar seguimiento de conversiones en hairtouchbysandra.com para medir compras, no solo tráfico.</a:t>
            </a:r>
            <a:endParaRPr lang="en-US" sz="1020" dirty="0"/>
          </a:p>
        </p:txBody>
      </p:sp>
      <p:sp>
        <p:nvSpPr>
          <p:cNvPr id="32" name="Shape 23"/>
          <p:cNvSpPr/>
          <p:nvPr/>
        </p:nvSpPr>
        <p:spPr>
          <a:xfrm>
            <a:off x="6217920" y="4471416"/>
            <a:ext cx="5257800" cy="749808"/>
          </a:xfrm>
          <a:prstGeom prst="roundRect">
            <a:avLst>
              <a:gd name="adj" fmla="val 8537"/>
            </a:avLst>
          </a:prstGeom>
          <a:solidFill>
            <a:srgbClr val="201F1B"/>
          </a:solidFill>
          <a:ln/>
        </p:spPr>
      </p:sp>
      <p:sp>
        <p:nvSpPr>
          <p:cNvPr id="33" name="Shape 24"/>
          <p:cNvSpPr/>
          <p:nvPr/>
        </p:nvSpPr>
        <p:spPr>
          <a:xfrm>
            <a:off x="6656832" y="4617720"/>
            <a:ext cx="457200" cy="457200"/>
          </a:xfrm>
          <a:prstGeom prst="ellipse">
            <a:avLst/>
          </a:prstGeom>
          <a:solidFill>
            <a:srgbClr val="2B2A25"/>
          </a:solidFill>
          <a:ln/>
        </p:spPr>
      </p:sp>
      <p:pic>
        <p:nvPicPr>
          <p:cNvPr id="34" name="Image 7" descr="/tmp/claude-0/-home-user-Presentaciones-y-varios/903c1196-30c4-57a8-b469-52313f1ce01c/scratchpad/andres/icons/sync_6FA98A.png">    </p:cNvPr>
          <p:cNvPicPr>
            <a:picLocks noChangeAspect="1"/>
          </p:cNvPicPr>
          <p:nvPr/>
        </p:nvPicPr>
        <p:blipFill>
          <a:blip r:embed="rId8"/>
          <a:stretch>
            <a:fillRect/>
          </a:stretch>
        </p:blipFill>
        <p:spPr>
          <a:xfrm>
            <a:off x="6759702" y="4720590"/>
            <a:ext cx="251460" cy="251460"/>
          </a:xfrm>
          <a:prstGeom prst="rect">
            <a:avLst/>
          </a:prstGeom>
        </p:spPr>
      </p:pic>
      <p:sp>
        <p:nvSpPr>
          <p:cNvPr id="35" name="Text 25"/>
          <p:cNvSpPr/>
          <p:nvPr/>
        </p:nvSpPr>
        <p:spPr>
          <a:xfrm>
            <a:off x="7086600" y="4526280"/>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Diseñar campañas de recompra: el shampoo y el leave-in son productos de consumo recurrente.</a:t>
            </a:r>
            <a:endParaRPr lang="en-US" sz="1020" dirty="0"/>
          </a:p>
        </p:txBody>
      </p:sp>
      <p:sp>
        <p:nvSpPr>
          <p:cNvPr id="36" name="Shape 26"/>
          <p:cNvSpPr/>
          <p:nvPr/>
        </p:nvSpPr>
        <p:spPr>
          <a:xfrm>
            <a:off x="640080" y="5367528"/>
            <a:ext cx="5257800" cy="749808"/>
          </a:xfrm>
          <a:prstGeom prst="roundRect">
            <a:avLst>
              <a:gd name="adj" fmla="val 8537"/>
            </a:avLst>
          </a:prstGeom>
          <a:solidFill>
            <a:srgbClr val="201F1B"/>
          </a:solidFill>
          <a:ln/>
        </p:spPr>
      </p:sp>
      <p:sp>
        <p:nvSpPr>
          <p:cNvPr id="37" name="Shape 27"/>
          <p:cNvSpPr/>
          <p:nvPr/>
        </p:nvSpPr>
        <p:spPr>
          <a:xfrm>
            <a:off x="1078992" y="5513832"/>
            <a:ext cx="457200" cy="457200"/>
          </a:xfrm>
          <a:prstGeom prst="ellipse">
            <a:avLst/>
          </a:prstGeom>
          <a:solidFill>
            <a:srgbClr val="2B2A25"/>
          </a:solidFill>
          <a:ln/>
        </p:spPr>
      </p:sp>
      <p:pic>
        <p:nvPicPr>
          <p:cNvPr id="38" name="Image 8" descr="/tmp/claude-0/-home-user-Presentaciones-y-varios/903c1196-30c4-57a8-b469-52313f1ce01c/scratchpad/andres/icons/mapPin_6FA98A.png">    </p:cNvPr>
          <p:cNvPicPr>
            <a:picLocks noChangeAspect="1"/>
          </p:cNvPicPr>
          <p:nvPr/>
        </p:nvPicPr>
        <p:blipFill>
          <a:blip r:embed="rId9"/>
          <a:stretch>
            <a:fillRect/>
          </a:stretch>
        </p:blipFill>
        <p:spPr>
          <a:xfrm>
            <a:off x="1181862" y="5616702"/>
            <a:ext cx="251460" cy="251460"/>
          </a:xfrm>
          <a:prstGeom prst="rect">
            <a:avLst/>
          </a:prstGeom>
        </p:spPr>
      </p:pic>
      <p:sp>
        <p:nvSpPr>
          <p:cNvPr id="39" name="Text 28"/>
          <p:cNvSpPr/>
          <p:nvPr/>
        </p:nvSpPr>
        <p:spPr>
          <a:xfrm>
            <a:off x="150876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Expandir el alcance más allá de Los Ángeles: el producto se envía a todo Estados Unidos.</a:t>
            </a:r>
            <a:endParaRPr lang="en-US" sz="1020" dirty="0"/>
          </a:p>
        </p:txBody>
      </p:sp>
      <p:sp>
        <p:nvSpPr>
          <p:cNvPr id="40" name="Shape 29"/>
          <p:cNvSpPr/>
          <p:nvPr/>
        </p:nvSpPr>
        <p:spPr>
          <a:xfrm>
            <a:off x="6217920" y="5367528"/>
            <a:ext cx="5257800" cy="749808"/>
          </a:xfrm>
          <a:prstGeom prst="roundRect">
            <a:avLst>
              <a:gd name="adj" fmla="val 8537"/>
            </a:avLst>
          </a:prstGeom>
          <a:solidFill>
            <a:srgbClr val="201F1B"/>
          </a:solidFill>
          <a:ln/>
        </p:spPr>
      </p:sp>
      <p:sp>
        <p:nvSpPr>
          <p:cNvPr id="41" name="Shape 30"/>
          <p:cNvSpPr/>
          <p:nvPr/>
        </p:nvSpPr>
        <p:spPr>
          <a:xfrm>
            <a:off x="6656832" y="5513832"/>
            <a:ext cx="457200" cy="457200"/>
          </a:xfrm>
          <a:prstGeom prst="ellipse">
            <a:avLst/>
          </a:prstGeom>
          <a:solidFill>
            <a:srgbClr val="2B2A25"/>
          </a:solidFill>
          <a:ln/>
        </p:spPr>
      </p:sp>
      <p:pic>
        <p:nvPicPr>
          <p:cNvPr id="42" name="Image 9" descr="/tmp/claude-0/-home-user-Presentaciones-y-varios/903c1196-30c4-57a8-b469-52313f1ce01c/scratchpad/andres/icons/rocket_6FA98A.png">    </p:cNvPr>
          <p:cNvPicPr>
            <a:picLocks noChangeAspect="1"/>
          </p:cNvPicPr>
          <p:nvPr/>
        </p:nvPicPr>
        <p:blipFill>
          <a:blip r:embed="rId10"/>
          <a:stretch>
            <a:fillRect/>
          </a:stretch>
        </p:blipFill>
        <p:spPr>
          <a:xfrm>
            <a:off x="6759702" y="5616702"/>
            <a:ext cx="251460" cy="251460"/>
          </a:xfrm>
          <a:prstGeom prst="rect">
            <a:avLst/>
          </a:prstGeom>
        </p:spPr>
      </p:pic>
      <p:sp>
        <p:nvSpPr>
          <p:cNvPr id="43" name="Text 31"/>
          <p:cNvSpPr/>
          <p:nvPr/>
        </p:nvSpPr>
        <p:spPr>
          <a:xfrm>
            <a:off x="7086600" y="5422392"/>
            <a:ext cx="4160520" cy="640080"/>
          </a:xfrm>
          <a:prstGeom prst="rect">
            <a:avLst/>
          </a:prstGeom>
          <a:noFill/>
          <a:ln/>
        </p:spPr>
        <p:txBody>
          <a:bodyPr wrap="square" lIns="0" tIns="0" rIns="0" bIns="0" rtlCol="0" anchor="ctr"/>
          <a:lstStyle/>
          <a:p>
            <a:pPr indent="0" marL="0">
              <a:buNone/>
            </a:pPr>
            <a:r>
              <a:rPr lang="en-US" sz="1020" dirty="0">
                <a:solidFill>
                  <a:srgbClr val="FFFFFF"/>
                </a:solidFill>
                <a:latin typeface="Calibri" pitchFamily="34" charset="0"/>
                <a:ea typeface="Calibri" pitchFamily="34" charset="-122"/>
                <a:cs typeface="Calibri" pitchFamily="34" charset="-120"/>
              </a:rPr>
              <a:t>Usar cada nuevo lanzamiento como gatillo de campaña de ascensión hacia clientas ya adquiridas.</a:t>
            </a:r>
            <a:endParaRPr lang="en-US" sz="1020" dirty="0"/>
          </a:p>
        </p:txBody>
      </p:sp>
      <p:sp>
        <p:nvSpPr>
          <p:cNvPr id="44" name="Text 32"/>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EL PLAN DE TRABAJO</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000" b="1" dirty="0">
                <a:solidFill>
                  <a:srgbClr val="141412"/>
                </a:solidFill>
                <a:latin typeface="Cambria" pitchFamily="34" charset="0"/>
                <a:ea typeface="Cambria" pitchFamily="34" charset="-122"/>
                <a:cs typeface="Cambria" pitchFamily="34" charset="-120"/>
              </a:rPr>
              <a:t>Los primeros 3 meses: mes a mes</a:t>
            </a:r>
            <a:endParaRPr lang="en-US" sz="3000" dirty="0"/>
          </a:p>
        </p:txBody>
      </p:sp>
      <p:sp>
        <p:nvSpPr>
          <p:cNvPr id="4" name="Text 2"/>
          <p:cNvSpPr/>
          <p:nvPr/>
        </p:nvSpPr>
        <p:spPr>
          <a:xfrm>
            <a:off x="640080" y="1481328"/>
            <a:ext cx="10607040" cy="457200"/>
          </a:xfrm>
          <a:prstGeom prst="rect">
            <a:avLst/>
          </a:prstGeom>
          <a:noFill/>
          <a:ln/>
        </p:spPr>
        <p:txBody>
          <a:bodyPr wrap="square" lIns="0" tIns="0" rIns="0" bIns="0" rtlCol="0" anchor="ctr"/>
          <a:lstStyle/>
          <a:p>
            <a:pPr indent="0" marL="0">
              <a:buNone/>
            </a:pPr>
            <a:r>
              <a:rPr lang="en-US" sz="1350" dirty="0">
                <a:solidFill>
                  <a:srgbClr val="6B6B66"/>
                </a:solidFill>
                <a:latin typeface="Calibri" pitchFamily="34" charset="0"/>
                <a:ea typeface="Calibri" pitchFamily="34" charset="-122"/>
                <a:cs typeface="Calibri" pitchFamily="34" charset="-120"/>
              </a:rPr>
              <a:t>Cómo posicionamos cada producto con la autoridad de Sandra, mientras aplicamos la metodología de Meta Ads.</a:t>
            </a:r>
            <a:endParaRPr lang="en-US" sz="1350" dirty="0"/>
          </a:p>
        </p:txBody>
      </p:sp>
      <p:sp>
        <p:nvSpPr>
          <p:cNvPr id="5" name="Shape 3"/>
          <p:cNvSpPr/>
          <p:nvPr/>
        </p:nvSpPr>
        <p:spPr>
          <a:xfrm>
            <a:off x="640080" y="2148840"/>
            <a:ext cx="3520440" cy="3977640"/>
          </a:xfrm>
          <a:prstGeom prst="roundRect">
            <a:avLst>
              <a:gd name="adj" fmla="val 2078"/>
            </a:avLst>
          </a:prstGeom>
          <a:solidFill>
            <a:srgbClr val="F5F5F3"/>
          </a:solidFill>
          <a:ln/>
        </p:spPr>
      </p:sp>
      <p:sp>
        <p:nvSpPr>
          <p:cNvPr id="6" name="Shape 4"/>
          <p:cNvSpPr/>
          <p:nvPr/>
        </p:nvSpPr>
        <p:spPr>
          <a:xfrm>
            <a:off x="1005840" y="2423160"/>
            <a:ext cx="640080" cy="640080"/>
          </a:xfrm>
          <a:prstGeom prst="ellipse">
            <a:avLst/>
          </a:prstGeom>
          <a:solidFill>
            <a:srgbClr val="FFFFFF"/>
          </a:solidFill>
          <a:ln/>
        </p:spPr>
      </p:sp>
      <p:pic>
        <p:nvPicPr>
          <p:cNvPr id="7" name="Image 0" descr="/tmp/claude-0/-home-user-Presentaciones-y-varios/903c1196-30c4-57a8-b469-52313f1ce01c/scratchpad/andres/icons/leaf_1F4A3C.png">    </p:cNvPr>
          <p:cNvPicPr>
            <a:picLocks noChangeAspect="1"/>
          </p:cNvPicPr>
          <p:nvPr/>
        </p:nvPicPr>
        <p:blipFill>
          <a:blip r:embed="rId1"/>
          <a:stretch>
            <a:fillRect/>
          </a:stretch>
        </p:blipFill>
        <p:spPr>
          <a:xfrm>
            <a:off x="1165860" y="2583180"/>
            <a:ext cx="320040" cy="320040"/>
          </a:xfrm>
          <a:prstGeom prst="rect">
            <a:avLst/>
          </a:prstGeom>
        </p:spPr>
      </p:pic>
      <p:sp>
        <p:nvSpPr>
          <p:cNvPr id="8" name="Text 5"/>
          <p:cNvSpPr/>
          <p:nvPr/>
        </p:nvSpPr>
        <p:spPr>
          <a:xfrm>
            <a:off x="1783080" y="2423160"/>
            <a:ext cx="2148840" cy="274320"/>
          </a:xfrm>
          <a:prstGeom prst="rect">
            <a:avLst/>
          </a:prstGeom>
          <a:noFill/>
          <a:ln/>
        </p:spPr>
        <p:txBody>
          <a:bodyPr wrap="square" lIns="0" tIns="0" rIns="0" bIns="0" rtlCol="0" anchor="ctr"/>
          <a:lstStyle/>
          <a:p>
            <a:pPr indent="0" marL="0">
              <a:buNone/>
            </a:pPr>
            <a:r>
              <a:rPr lang="en-US" sz="1100" b="1" spc="100" kern="0" dirty="0">
                <a:solidFill>
                  <a:srgbClr val="1F4A3C"/>
                </a:solidFill>
                <a:latin typeface="Calibri" pitchFamily="34" charset="0"/>
                <a:ea typeface="Calibri" pitchFamily="34" charset="-122"/>
                <a:cs typeface="Calibri" pitchFamily="34" charset="-120"/>
              </a:rPr>
              <a:t>MES 1</a:t>
            </a:r>
            <a:endParaRPr lang="en-US" sz="1100" dirty="0"/>
          </a:p>
        </p:txBody>
      </p:sp>
      <p:sp>
        <p:nvSpPr>
          <p:cNvPr id="9" name="Text 6"/>
          <p:cNvSpPr/>
          <p:nvPr/>
        </p:nvSpPr>
        <p:spPr>
          <a:xfrm>
            <a:off x="1783080" y="2679192"/>
            <a:ext cx="2148840" cy="365760"/>
          </a:xfrm>
          <a:prstGeom prst="rect">
            <a:avLst/>
          </a:prstGeom>
          <a:noFill/>
          <a:ln/>
        </p:spPr>
        <p:txBody>
          <a:bodyPr wrap="square" lIns="0" tIns="0" rIns="0" bIns="0" rtlCol="0" anchor="ctr"/>
          <a:lstStyle/>
          <a:p>
            <a:pPr indent="0" marL="0">
              <a:buNone/>
            </a:pPr>
            <a:r>
              <a:rPr lang="en-US" sz="1700" b="1" dirty="0">
                <a:solidFill>
                  <a:srgbClr val="141412"/>
                </a:solidFill>
                <a:latin typeface="Cambria" pitchFamily="34" charset="0"/>
                <a:ea typeface="Cambria" pitchFamily="34" charset="-122"/>
                <a:cs typeface="Cambria" pitchFamily="34" charset="-120"/>
              </a:rPr>
              <a:t>Descubrimiento</a:t>
            </a:r>
            <a:endParaRPr lang="en-US" sz="1700" dirty="0"/>
          </a:p>
        </p:txBody>
      </p:sp>
      <p:sp>
        <p:nvSpPr>
          <p:cNvPr id="10" name="Text 7"/>
          <p:cNvSpPr/>
          <p:nvPr/>
        </p:nvSpPr>
        <p:spPr>
          <a:xfrm>
            <a:off x="960120" y="3200400"/>
            <a:ext cx="2880360" cy="457200"/>
          </a:xfrm>
          <a:prstGeom prst="rect">
            <a:avLst/>
          </a:prstGeom>
          <a:noFill/>
          <a:ln/>
        </p:spPr>
        <p:txBody>
          <a:bodyPr wrap="square" lIns="0" tIns="0" rIns="0" bIns="0" rtlCol="0" anchor="ctr"/>
          <a:lstStyle/>
          <a:p>
            <a:pPr indent="0" marL="0">
              <a:buNone/>
            </a:pPr>
            <a:r>
              <a:rPr lang="en-US" sz="1050" b="1" dirty="0">
                <a:solidFill>
                  <a:srgbClr val="6B6B66"/>
                </a:solidFill>
                <a:latin typeface="Calibri" pitchFamily="34" charset="0"/>
                <a:ea typeface="Calibri" pitchFamily="34" charset="-122"/>
                <a:cs typeface="Calibri" pitchFamily="34" charset="-120"/>
              </a:rPr>
              <a:t>Etapa: </a:t>
            </a:r>
            <a:pPr indent="0" marL="0">
              <a:buNone/>
            </a:pPr>
            <a:r>
              <a:rPr lang="en-US" sz="1050" dirty="0">
                <a:solidFill>
                  <a:srgbClr val="6B6B66"/>
                </a:solidFill>
                <a:latin typeface="Calibri" pitchFamily="34" charset="0"/>
                <a:ea typeface="Calibri" pitchFamily="34" charset="-122"/>
                <a:cs typeface="Calibri" pitchFamily="34" charset="-120"/>
              </a:rPr>
              <a:t>Presentación</a:t>
            </a:r>
            <a:endParaRPr lang="en-US" sz="1050" dirty="0"/>
          </a:p>
        </p:txBody>
      </p:sp>
      <p:sp>
        <p:nvSpPr>
          <p:cNvPr id="11" name="Text 8"/>
          <p:cNvSpPr/>
          <p:nvPr/>
        </p:nvSpPr>
        <p:spPr>
          <a:xfrm>
            <a:off x="960120" y="3611880"/>
            <a:ext cx="2880360" cy="320040"/>
          </a:xfrm>
          <a:prstGeom prst="rect">
            <a:avLst/>
          </a:prstGeom>
          <a:noFill/>
          <a:ln/>
        </p:spPr>
        <p:txBody>
          <a:bodyPr wrap="square" lIns="0" tIns="0" rIns="0" bIns="0" rtlCol="0" anchor="ctr"/>
          <a:lstStyle/>
          <a:p>
            <a:pPr indent="0" marL="0">
              <a:buNone/>
            </a:pPr>
            <a:r>
              <a:rPr lang="en-US" sz="1050" b="1" dirty="0">
                <a:solidFill>
                  <a:srgbClr val="6B6B66"/>
                </a:solidFill>
                <a:latin typeface="Calibri" pitchFamily="34" charset="0"/>
                <a:ea typeface="Calibri" pitchFamily="34" charset="-122"/>
                <a:cs typeface="Calibri" pitchFamily="34" charset="-120"/>
              </a:rPr>
              <a:t>Producto protagonista: </a:t>
            </a:r>
            <a:pPr indent="0" marL="0">
              <a:buNone/>
            </a:pPr>
            <a:r>
              <a:rPr lang="en-US" sz="1050" dirty="0">
                <a:solidFill>
                  <a:srgbClr val="6B6B66"/>
                </a:solidFill>
                <a:latin typeface="Calibri" pitchFamily="34" charset="0"/>
                <a:ea typeface="Calibri" pitchFamily="34" charset="-122"/>
                <a:cs typeface="Calibri" pitchFamily="34" charset="-120"/>
              </a:rPr>
              <a:t>Aceite de romero</a:t>
            </a:r>
            <a:endParaRPr lang="en-US" sz="1050" dirty="0"/>
          </a:p>
        </p:txBody>
      </p:sp>
      <p:sp>
        <p:nvSpPr>
          <p:cNvPr id="12" name="Shape 9"/>
          <p:cNvSpPr/>
          <p:nvPr/>
        </p:nvSpPr>
        <p:spPr>
          <a:xfrm>
            <a:off x="960120" y="4023360"/>
            <a:ext cx="2880360" cy="0"/>
          </a:xfrm>
          <a:prstGeom prst="line">
            <a:avLst/>
          </a:prstGeom>
          <a:noFill/>
          <a:ln w="12700">
            <a:solidFill>
              <a:srgbClr val="E4E3DF"/>
            </a:solidFill>
            <a:prstDash val="solid"/>
          </a:ln>
        </p:spPr>
      </p:sp>
      <p:sp>
        <p:nvSpPr>
          <p:cNvPr id="13" name="Text 10"/>
          <p:cNvSpPr/>
          <p:nvPr/>
        </p:nvSpPr>
        <p:spPr>
          <a:xfrm>
            <a:off x="960120" y="4160520"/>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141412"/>
                </a:solidFill>
                <a:latin typeface="Calibri" pitchFamily="34" charset="0"/>
                <a:ea typeface="Calibri" pitchFamily="34" charset="-122"/>
                <a:cs typeface="Calibri" pitchFamily="34" charset="-120"/>
              </a:rPr>
              <a:t>Video de Sandra presentando el aceite de romero y su efecto en el cuero cabelludo</a:t>
            </a:r>
            <a:endParaRPr lang="en-US" sz="1030" dirty="0"/>
          </a:p>
        </p:txBody>
      </p:sp>
      <p:sp>
        <p:nvSpPr>
          <p:cNvPr id="14" name="Text 11"/>
          <p:cNvSpPr/>
          <p:nvPr/>
        </p:nvSpPr>
        <p:spPr>
          <a:xfrm>
            <a:off x="960120" y="4818888"/>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141412"/>
                </a:solidFill>
                <a:latin typeface="Calibri" pitchFamily="34" charset="0"/>
                <a:ea typeface="Calibri" pitchFamily="34" charset="-122"/>
                <a:cs typeface="Calibri" pitchFamily="34" charset="-120"/>
              </a:rPr>
              <a:t>Campañas de reconocimiento dirigidas a Estados Unidos</a:t>
            </a:r>
            <a:endParaRPr lang="en-US" sz="1030" dirty="0"/>
          </a:p>
        </p:txBody>
      </p:sp>
      <p:sp>
        <p:nvSpPr>
          <p:cNvPr id="15" name="Text 12"/>
          <p:cNvSpPr/>
          <p:nvPr/>
        </p:nvSpPr>
        <p:spPr>
          <a:xfrm>
            <a:off x="960120" y="5477256"/>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141412"/>
                </a:solidFill>
                <a:latin typeface="Calibri" pitchFamily="34" charset="0"/>
                <a:ea typeface="Calibri" pitchFamily="34" charset="-122"/>
                <a:cs typeface="Calibri" pitchFamily="34" charset="-120"/>
              </a:rPr>
              <a:t>Primer público de remarketing desde quienes interactúan</a:t>
            </a:r>
            <a:endParaRPr lang="en-US" sz="1030" dirty="0"/>
          </a:p>
        </p:txBody>
      </p:sp>
      <p:sp>
        <p:nvSpPr>
          <p:cNvPr id="16" name="Shape 13"/>
          <p:cNvSpPr/>
          <p:nvPr/>
        </p:nvSpPr>
        <p:spPr>
          <a:xfrm>
            <a:off x="4480560" y="2148840"/>
            <a:ext cx="3520440" cy="3977640"/>
          </a:xfrm>
          <a:prstGeom prst="roundRect">
            <a:avLst>
              <a:gd name="adj" fmla="val 2078"/>
            </a:avLst>
          </a:prstGeom>
          <a:solidFill>
            <a:srgbClr val="141412"/>
          </a:solidFill>
          <a:ln/>
        </p:spPr>
      </p:sp>
      <p:sp>
        <p:nvSpPr>
          <p:cNvPr id="17" name="Shape 14"/>
          <p:cNvSpPr/>
          <p:nvPr/>
        </p:nvSpPr>
        <p:spPr>
          <a:xfrm>
            <a:off x="4846320" y="2423160"/>
            <a:ext cx="640080" cy="640080"/>
          </a:xfrm>
          <a:prstGeom prst="ellipse">
            <a:avLst/>
          </a:prstGeom>
          <a:solidFill>
            <a:srgbClr val="201F1B"/>
          </a:solidFill>
          <a:ln/>
        </p:spPr>
      </p:sp>
      <p:pic>
        <p:nvPicPr>
          <p:cNvPr id="18" name="Image 1" descr="/tmp/claude-0/-home-user-Presentaciones-y-varios/903c1196-30c4-57a8-b469-52313f1ce01c/scratchpad/andres/icons/star_6FA98A.png">    </p:cNvPr>
          <p:cNvPicPr>
            <a:picLocks noChangeAspect="1"/>
          </p:cNvPicPr>
          <p:nvPr/>
        </p:nvPicPr>
        <p:blipFill>
          <a:blip r:embed="rId2"/>
          <a:stretch>
            <a:fillRect/>
          </a:stretch>
        </p:blipFill>
        <p:spPr>
          <a:xfrm>
            <a:off x="5006340" y="2583180"/>
            <a:ext cx="320040" cy="320040"/>
          </a:xfrm>
          <a:prstGeom prst="rect">
            <a:avLst/>
          </a:prstGeom>
        </p:spPr>
      </p:pic>
      <p:sp>
        <p:nvSpPr>
          <p:cNvPr id="19" name="Text 15"/>
          <p:cNvSpPr/>
          <p:nvPr/>
        </p:nvSpPr>
        <p:spPr>
          <a:xfrm>
            <a:off x="5623560" y="2423160"/>
            <a:ext cx="2148840" cy="274320"/>
          </a:xfrm>
          <a:prstGeom prst="rect">
            <a:avLst/>
          </a:prstGeom>
          <a:noFill/>
          <a:ln/>
        </p:spPr>
        <p:txBody>
          <a:bodyPr wrap="square" lIns="0" tIns="0" rIns="0" bIns="0" rtlCol="0" anchor="ctr"/>
          <a:lstStyle/>
          <a:p>
            <a:pPr indent="0" marL="0">
              <a:buNone/>
            </a:pPr>
            <a:r>
              <a:rPr lang="en-US" sz="1100" b="1" spc="100" kern="0" dirty="0">
                <a:solidFill>
                  <a:srgbClr val="6FA98A"/>
                </a:solidFill>
                <a:latin typeface="Calibri" pitchFamily="34" charset="0"/>
                <a:ea typeface="Calibri" pitchFamily="34" charset="-122"/>
                <a:cs typeface="Calibri" pitchFamily="34" charset="-120"/>
              </a:rPr>
              <a:t>MES 2</a:t>
            </a:r>
            <a:endParaRPr lang="en-US" sz="1100" dirty="0"/>
          </a:p>
        </p:txBody>
      </p:sp>
      <p:sp>
        <p:nvSpPr>
          <p:cNvPr id="20" name="Text 16"/>
          <p:cNvSpPr/>
          <p:nvPr/>
        </p:nvSpPr>
        <p:spPr>
          <a:xfrm>
            <a:off x="5623560" y="2679192"/>
            <a:ext cx="214884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Confianza</a:t>
            </a:r>
            <a:endParaRPr lang="en-US" sz="1700" dirty="0"/>
          </a:p>
        </p:txBody>
      </p:sp>
      <p:sp>
        <p:nvSpPr>
          <p:cNvPr id="21" name="Text 17"/>
          <p:cNvSpPr/>
          <p:nvPr/>
        </p:nvSpPr>
        <p:spPr>
          <a:xfrm>
            <a:off x="4800600" y="3200400"/>
            <a:ext cx="2880360" cy="457200"/>
          </a:xfrm>
          <a:prstGeom prst="rect">
            <a:avLst/>
          </a:prstGeom>
          <a:noFill/>
          <a:ln/>
        </p:spPr>
        <p:txBody>
          <a:bodyPr wrap="square" lIns="0" tIns="0" rIns="0" bIns="0" rtlCol="0" anchor="ctr"/>
          <a:lstStyle/>
          <a:p>
            <a:pPr indent="0" marL="0">
              <a:buNone/>
            </a:pPr>
            <a:r>
              <a:rPr lang="en-US" sz="1050" b="1" dirty="0">
                <a:solidFill>
                  <a:srgbClr val="D6D4CE"/>
                </a:solidFill>
                <a:latin typeface="Calibri" pitchFamily="34" charset="0"/>
                <a:ea typeface="Calibri" pitchFamily="34" charset="-122"/>
                <a:cs typeface="Calibri" pitchFamily="34" charset="-120"/>
              </a:rPr>
              <a:t>Etapa: </a:t>
            </a:r>
            <a:pPr indent="0" marL="0">
              <a:buNone/>
            </a:pPr>
            <a:r>
              <a:rPr lang="en-US" sz="1050" dirty="0">
                <a:solidFill>
                  <a:srgbClr val="D6D4CE"/>
                </a:solidFill>
                <a:latin typeface="Calibri" pitchFamily="34" charset="0"/>
                <a:ea typeface="Calibri" pitchFamily="34" charset="-122"/>
                <a:cs typeface="Calibri" pitchFamily="34" charset="-120"/>
              </a:rPr>
              <a:t>Evaluación + arranque de Conversión</a:t>
            </a:r>
            <a:endParaRPr lang="en-US" sz="1050" dirty="0"/>
          </a:p>
        </p:txBody>
      </p:sp>
      <p:sp>
        <p:nvSpPr>
          <p:cNvPr id="22" name="Text 18"/>
          <p:cNvSpPr/>
          <p:nvPr/>
        </p:nvSpPr>
        <p:spPr>
          <a:xfrm>
            <a:off x="4800600" y="3611880"/>
            <a:ext cx="2880360" cy="320040"/>
          </a:xfrm>
          <a:prstGeom prst="rect">
            <a:avLst/>
          </a:prstGeom>
          <a:noFill/>
          <a:ln/>
        </p:spPr>
        <p:txBody>
          <a:bodyPr wrap="square" lIns="0" tIns="0" rIns="0" bIns="0" rtlCol="0" anchor="ctr"/>
          <a:lstStyle/>
          <a:p>
            <a:pPr indent="0" marL="0">
              <a:buNone/>
            </a:pPr>
            <a:r>
              <a:rPr lang="en-US" sz="1050" b="1" dirty="0">
                <a:solidFill>
                  <a:srgbClr val="D6D4CE"/>
                </a:solidFill>
                <a:latin typeface="Calibri" pitchFamily="34" charset="0"/>
                <a:ea typeface="Calibri" pitchFamily="34" charset="-122"/>
                <a:cs typeface="Calibri" pitchFamily="34" charset="-120"/>
              </a:rPr>
              <a:t>Producto protagonista: </a:t>
            </a:r>
            <a:pPr indent="0" marL="0">
              <a:buNone/>
            </a:pPr>
            <a:r>
              <a:rPr lang="en-US" sz="1050" dirty="0">
                <a:solidFill>
                  <a:srgbClr val="D6D4CE"/>
                </a:solidFill>
                <a:latin typeface="Calibri" pitchFamily="34" charset="0"/>
                <a:ea typeface="Calibri" pitchFamily="34" charset="-122"/>
                <a:cs typeface="Calibri" pitchFamily="34" charset="-120"/>
              </a:rPr>
              <a:t>Shampoo Vive</a:t>
            </a:r>
            <a:endParaRPr lang="en-US" sz="1050" dirty="0"/>
          </a:p>
        </p:txBody>
      </p:sp>
      <p:sp>
        <p:nvSpPr>
          <p:cNvPr id="23" name="Shape 19"/>
          <p:cNvSpPr/>
          <p:nvPr/>
        </p:nvSpPr>
        <p:spPr>
          <a:xfrm>
            <a:off x="4800600" y="4023360"/>
            <a:ext cx="2880360" cy="0"/>
          </a:xfrm>
          <a:prstGeom prst="line">
            <a:avLst/>
          </a:prstGeom>
          <a:noFill/>
          <a:ln w="12700">
            <a:solidFill>
              <a:srgbClr val="3A342E"/>
            </a:solidFill>
            <a:prstDash val="solid"/>
          </a:ln>
        </p:spPr>
      </p:sp>
      <p:sp>
        <p:nvSpPr>
          <p:cNvPr id="24" name="Text 20"/>
          <p:cNvSpPr/>
          <p:nvPr/>
        </p:nvSpPr>
        <p:spPr>
          <a:xfrm>
            <a:off x="4800600" y="4160520"/>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FFFFFF"/>
                </a:solidFill>
                <a:latin typeface="Calibri" pitchFamily="34" charset="0"/>
                <a:ea typeface="Calibri" pitchFamily="34" charset="-122"/>
                <a:cs typeface="Calibri" pitchFamily="34" charset="-120"/>
              </a:rPr>
              <a:t>Reseñas, testimonios y comparativas de uso real</a:t>
            </a:r>
            <a:endParaRPr lang="en-US" sz="1030" dirty="0"/>
          </a:p>
        </p:txBody>
      </p:sp>
      <p:sp>
        <p:nvSpPr>
          <p:cNvPr id="25" name="Text 21"/>
          <p:cNvSpPr/>
          <p:nvPr/>
        </p:nvSpPr>
        <p:spPr>
          <a:xfrm>
            <a:off x="4800600" y="4818888"/>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FFFFFF"/>
                </a:solidFill>
                <a:latin typeface="Calibri" pitchFamily="34" charset="0"/>
                <a:ea typeface="Calibri" pitchFamily="34" charset="-122"/>
                <a:cs typeface="Calibri" pitchFamily="34" charset="-120"/>
              </a:rPr>
              <a:t>Primeras campañas de conversión con oferta de lanzamiento</a:t>
            </a:r>
            <a:endParaRPr lang="en-US" sz="1030" dirty="0"/>
          </a:p>
        </p:txBody>
      </p:sp>
      <p:sp>
        <p:nvSpPr>
          <p:cNvPr id="26" name="Text 22"/>
          <p:cNvSpPr/>
          <p:nvPr/>
        </p:nvSpPr>
        <p:spPr>
          <a:xfrm>
            <a:off x="4800600" y="5477256"/>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FFFFFF"/>
                </a:solidFill>
                <a:latin typeface="Calibri" pitchFamily="34" charset="0"/>
                <a:ea typeface="Calibri" pitchFamily="34" charset="-122"/>
                <a:cs typeface="Calibri" pitchFamily="34" charset="-120"/>
              </a:rPr>
              <a:t>Seguimiento de conversiones activo en hairtouchbysandra.com</a:t>
            </a:r>
            <a:endParaRPr lang="en-US" sz="1030" dirty="0"/>
          </a:p>
        </p:txBody>
      </p:sp>
      <p:sp>
        <p:nvSpPr>
          <p:cNvPr id="27" name="Shape 23"/>
          <p:cNvSpPr/>
          <p:nvPr/>
        </p:nvSpPr>
        <p:spPr>
          <a:xfrm>
            <a:off x="8321040" y="2148840"/>
            <a:ext cx="3520440" cy="3977640"/>
          </a:xfrm>
          <a:prstGeom prst="roundRect">
            <a:avLst>
              <a:gd name="adj" fmla="val 2078"/>
            </a:avLst>
          </a:prstGeom>
          <a:solidFill>
            <a:srgbClr val="F5F5F3"/>
          </a:solidFill>
          <a:ln/>
        </p:spPr>
      </p:sp>
      <p:sp>
        <p:nvSpPr>
          <p:cNvPr id="28" name="Shape 24"/>
          <p:cNvSpPr/>
          <p:nvPr/>
        </p:nvSpPr>
        <p:spPr>
          <a:xfrm>
            <a:off x="8686800" y="2423160"/>
            <a:ext cx="640080" cy="640080"/>
          </a:xfrm>
          <a:prstGeom prst="ellipse">
            <a:avLst/>
          </a:prstGeom>
          <a:solidFill>
            <a:srgbClr val="FFFFFF"/>
          </a:solidFill>
          <a:ln/>
        </p:spPr>
      </p:sp>
      <p:pic>
        <p:nvPicPr>
          <p:cNvPr id="29" name="Image 2" descr="/tmp/claude-0/-home-user-Presentaciones-y-varios/903c1196-30c4-57a8-b469-52313f1ce01c/scratchpad/andres/icons/rocket_1F4A3C.png">    </p:cNvPr>
          <p:cNvPicPr>
            <a:picLocks noChangeAspect="1"/>
          </p:cNvPicPr>
          <p:nvPr/>
        </p:nvPicPr>
        <p:blipFill>
          <a:blip r:embed="rId3"/>
          <a:stretch>
            <a:fillRect/>
          </a:stretch>
        </p:blipFill>
        <p:spPr>
          <a:xfrm>
            <a:off x="8846820" y="2583180"/>
            <a:ext cx="320040" cy="320040"/>
          </a:xfrm>
          <a:prstGeom prst="rect">
            <a:avLst/>
          </a:prstGeom>
        </p:spPr>
      </p:pic>
      <p:sp>
        <p:nvSpPr>
          <p:cNvPr id="30" name="Text 25"/>
          <p:cNvSpPr/>
          <p:nvPr/>
        </p:nvSpPr>
        <p:spPr>
          <a:xfrm>
            <a:off x="9464040" y="2423160"/>
            <a:ext cx="2148840" cy="274320"/>
          </a:xfrm>
          <a:prstGeom prst="rect">
            <a:avLst/>
          </a:prstGeom>
          <a:noFill/>
          <a:ln/>
        </p:spPr>
        <p:txBody>
          <a:bodyPr wrap="square" lIns="0" tIns="0" rIns="0" bIns="0" rtlCol="0" anchor="ctr"/>
          <a:lstStyle/>
          <a:p>
            <a:pPr indent="0" marL="0">
              <a:buNone/>
            </a:pPr>
            <a:r>
              <a:rPr lang="en-US" sz="1100" b="1" spc="100" kern="0" dirty="0">
                <a:solidFill>
                  <a:srgbClr val="1F4A3C"/>
                </a:solidFill>
                <a:latin typeface="Calibri" pitchFamily="34" charset="0"/>
                <a:ea typeface="Calibri" pitchFamily="34" charset="-122"/>
                <a:cs typeface="Calibri" pitchFamily="34" charset="-120"/>
              </a:rPr>
              <a:t>MES 3</a:t>
            </a:r>
            <a:endParaRPr lang="en-US" sz="1100" dirty="0"/>
          </a:p>
        </p:txBody>
      </p:sp>
      <p:sp>
        <p:nvSpPr>
          <p:cNvPr id="31" name="Text 26"/>
          <p:cNvSpPr/>
          <p:nvPr/>
        </p:nvSpPr>
        <p:spPr>
          <a:xfrm>
            <a:off x="9464040" y="2679192"/>
            <a:ext cx="2148840" cy="365760"/>
          </a:xfrm>
          <a:prstGeom prst="rect">
            <a:avLst/>
          </a:prstGeom>
          <a:noFill/>
          <a:ln/>
        </p:spPr>
        <p:txBody>
          <a:bodyPr wrap="square" lIns="0" tIns="0" rIns="0" bIns="0" rtlCol="0" anchor="ctr"/>
          <a:lstStyle/>
          <a:p>
            <a:pPr indent="0" marL="0">
              <a:buNone/>
            </a:pPr>
            <a:r>
              <a:rPr lang="en-US" sz="1700" b="1" dirty="0">
                <a:solidFill>
                  <a:srgbClr val="141412"/>
                </a:solidFill>
                <a:latin typeface="Cambria" pitchFamily="34" charset="0"/>
                <a:ea typeface="Cambria" pitchFamily="34" charset="-122"/>
                <a:cs typeface="Cambria" pitchFamily="34" charset="-120"/>
              </a:rPr>
              <a:t>Consolidación</a:t>
            </a:r>
            <a:endParaRPr lang="en-US" sz="1700" dirty="0"/>
          </a:p>
        </p:txBody>
      </p:sp>
      <p:sp>
        <p:nvSpPr>
          <p:cNvPr id="32" name="Text 27"/>
          <p:cNvSpPr/>
          <p:nvPr/>
        </p:nvSpPr>
        <p:spPr>
          <a:xfrm>
            <a:off x="8641080" y="3200400"/>
            <a:ext cx="2880360" cy="457200"/>
          </a:xfrm>
          <a:prstGeom prst="rect">
            <a:avLst/>
          </a:prstGeom>
          <a:noFill/>
          <a:ln/>
        </p:spPr>
        <p:txBody>
          <a:bodyPr wrap="square" lIns="0" tIns="0" rIns="0" bIns="0" rtlCol="0" anchor="ctr"/>
          <a:lstStyle/>
          <a:p>
            <a:pPr indent="0" marL="0">
              <a:buNone/>
            </a:pPr>
            <a:r>
              <a:rPr lang="en-US" sz="1050" b="1" dirty="0">
                <a:solidFill>
                  <a:srgbClr val="6B6B66"/>
                </a:solidFill>
                <a:latin typeface="Calibri" pitchFamily="34" charset="0"/>
                <a:ea typeface="Calibri" pitchFamily="34" charset="-122"/>
                <a:cs typeface="Calibri" pitchFamily="34" charset="-120"/>
              </a:rPr>
              <a:t>Etapa: </a:t>
            </a:r>
            <a:pPr indent="0" marL="0">
              <a:buNone/>
            </a:pPr>
            <a:r>
              <a:rPr lang="en-US" sz="1050" dirty="0">
                <a:solidFill>
                  <a:srgbClr val="6B6B66"/>
                </a:solidFill>
                <a:latin typeface="Calibri" pitchFamily="34" charset="0"/>
                <a:ea typeface="Calibri" pitchFamily="34" charset="-122"/>
                <a:cs typeface="Calibri" pitchFamily="34" charset="-120"/>
              </a:rPr>
              <a:t>Conversión escalada + arranque de Ascensión</a:t>
            </a:r>
            <a:endParaRPr lang="en-US" sz="1050" dirty="0"/>
          </a:p>
        </p:txBody>
      </p:sp>
      <p:sp>
        <p:nvSpPr>
          <p:cNvPr id="33" name="Text 28"/>
          <p:cNvSpPr/>
          <p:nvPr/>
        </p:nvSpPr>
        <p:spPr>
          <a:xfrm>
            <a:off x="8641080" y="3611880"/>
            <a:ext cx="2880360" cy="320040"/>
          </a:xfrm>
          <a:prstGeom prst="rect">
            <a:avLst/>
          </a:prstGeom>
          <a:noFill/>
          <a:ln/>
        </p:spPr>
        <p:txBody>
          <a:bodyPr wrap="square" lIns="0" tIns="0" rIns="0" bIns="0" rtlCol="0" anchor="ctr"/>
          <a:lstStyle/>
          <a:p>
            <a:pPr indent="0" marL="0">
              <a:buNone/>
            </a:pPr>
            <a:r>
              <a:rPr lang="en-US" sz="1050" b="1" dirty="0">
                <a:solidFill>
                  <a:srgbClr val="6B6B66"/>
                </a:solidFill>
                <a:latin typeface="Calibri" pitchFamily="34" charset="0"/>
                <a:ea typeface="Calibri" pitchFamily="34" charset="-122"/>
                <a:cs typeface="Calibri" pitchFamily="34" charset="-120"/>
              </a:rPr>
              <a:t>Producto protagonista: </a:t>
            </a:r>
            <a:pPr indent="0" marL="0">
              <a:buNone/>
            </a:pPr>
            <a:r>
              <a:rPr lang="en-US" sz="1050" dirty="0">
                <a:solidFill>
                  <a:srgbClr val="6B6B66"/>
                </a:solidFill>
                <a:latin typeface="Calibri" pitchFamily="34" charset="0"/>
                <a:ea typeface="Calibri" pitchFamily="34" charset="-122"/>
                <a:cs typeface="Calibri" pitchFamily="34" charset="-120"/>
              </a:rPr>
              <a:t>Rutina completa</a:t>
            </a:r>
            <a:endParaRPr lang="en-US" sz="1050" dirty="0"/>
          </a:p>
        </p:txBody>
      </p:sp>
      <p:sp>
        <p:nvSpPr>
          <p:cNvPr id="34" name="Shape 29"/>
          <p:cNvSpPr/>
          <p:nvPr/>
        </p:nvSpPr>
        <p:spPr>
          <a:xfrm>
            <a:off x="8641080" y="4023360"/>
            <a:ext cx="2880360" cy="0"/>
          </a:xfrm>
          <a:prstGeom prst="line">
            <a:avLst/>
          </a:prstGeom>
          <a:noFill/>
          <a:ln w="12700">
            <a:solidFill>
              <a:srgbClr val="E4E3DF"/>
            </a:solidFill>
            <a:prstDash val="solid"/>
          </a:ln>
        </p:spPr>
      </p:sp>
      <p:sp>
        <p:nvSpPr>
          <p:cNvPr id="35" name="Text 30"/>
          <p:cNvSpPr/>
          <p:nvPr/>
        </p:nvSpPr>
        <p:spPr>
          <a:xfrm>
            <a:off x="8641080" y="4160520"/>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141412"/>
                </a:solidFill>
                <a:latin typeface="Calibri" pitchFamily="34" charset="0"/>
                <a:ea typeface="Calibri" pitchFamily="34" charset="-122"/>
                <a:cs typeface="Calibri" pitchFamily="34" charset="-120"/>
              </a:rPr>
              <a:t>Se escalan las campañas de conversión con mejor desempeño</a:t>
            </a:r>
            <a:endParaRPr lang="en-US" sz="1030" dirty="0"/>
          </a:p>
        </p:txBody>
      </p:sp>
      <p:sp>
        <p:nvSpPr>
          <p:cNvPr id="36" name="Text 31"/>
          <p:cNvSpPr/>
          <p:nvPr/>
        </p:nvSpPr>
        <p:spPr>
          <a:xfrm>
            <a:off x="8641080" y="4818888"/>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141412"/>
                </a:solidFill>
                <a:latin typeface="Calibri" pitchFamily="34" charset="0"/>
                <a:ea typeface="Calibri" pitchFamily="34" charset="-122"/>
                <a:cs typeface="Calibri" pitchFamily="34" charset="-120"/>
              </a:rPr>
              <a:t>La rutina completa (aceite, shampoo, leave-in) como oferta principal</a:t>
            </a:r>
            <a:endParaRPr lang="en-US" sz="1030" dirty="0"/>
          </a:p>
        </p:txBody>
      </p:sp>
      <p:sp>
        <p:nvSpPr>
          <p:cNvPr id="37" name="Text 32"/>
          <p:cNvSpPr/>
          <p:nvPr/>
        </p:nvSpPr>
        <p:spPr>
          <a:xfrm>
            <a:off x="8641080" y="5477256"/>
            <a:ext cx="2880360" cy="621792"/>
          </a:xfrm>
          <a:prstGeom prst="rect">
            <a:avLst/>
          </a:prstGeom>
          <a:noFill/>
          <a:ln/>
        </p:spPr>
        <p:txBody>
          <a:bodyPr wrap="square" lIns="0" tIns="0" rIns="0" bIns="0" rtlCol="0" anchor="ctr"/>
          <a:lstStyle/>
          <a:p>
            <a:pPr marL="342900" indent="-342900">
              <a:buSzPct val="100000"/>
              <a:buChar char="–"/>
            </a:pPr>
            <a:r>
              <a:rPr lang="en-US" sz="1030" dirty="0">
                <a:solidFill>
                  <a:srgbClr val="141412"/>
                </a:solidFill>
                <a:latin typeface="Calibri" pitchFamily="34" charset="0"/>
                <a:ea typeface="Calibri" pitchFamily="34" charset="-122"/>
                <a:cs typeface="Calibri" pitchFamily="34" charset="-120"/>
              </a:rPr>
              <a:t>Primer público de recompra para clientas ya adquiridas</a:t>
            </a:r>
            <a:endParaRPr lang="en-US" sz="1030" dirty="0"/>
          </a:p>
        </p:txBody>
      </p:sp>
      <p:sp>
        <p:nvSpPr>
          <p:cNvPr id="38" name="Text 33"/>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200" kern="0" dirty="0">
                <a:solidFill>
                  <a:srgbClr val="1F4A3C"/>
                </a:solidFill>
                <a:latin typeface="Calibri" pitchFamily="34" charset="0"/>
                <a:ea typeface="Calibri" pitchFamily="34" charset="-122"/>
                <a:cs typeface="Calibri" pitchFamily="34" charset="-120"/>
              </a:rPr>
              <a:t>EL PLAN DE TRABAJO</a:t>
            </a:r>
            <a:endParaRPr lang="en-US" sz="1200" dirty="0"/>
          </a:p>
        </p:txBody>
      </p:sp>
      <p:sp>
        <p:nvSpPr>
          <p:cNvPr id="3" name="Text 1"/>
          <p:cNvSpPr/>
          <p:nvPr/>
        </p:nvSpPr>
        <p:spPr>
          <a:xfrm>
            <a:off x="640080" y="841248"/>
            <a:ext cx="10698480" cy="868680"/>
          </a:xfrm>
          <a:prstGeom prst="rect">
            <a:avLst/>
          </a:prstGeom>
          <a:noFill/>
          <a:ln/>
        </p:spPr>
        <p:txBody>
          <a:bodyPr wrap="square" lIns="0" tIns="0" rIns="0" bIns="0" rtlCol="0" anchor="ctr"/>
          <a:lstStyle/>
          <a:p>
            <a:pPr algn="l" indent="0" marL="0">
              <a:buNone/>
            </a:pPr>
            <a:r>
              <a:rPr lang="en-US" sz="3200" b="1" dirty="0">
                <a:solidFill>
                  <a:srgbClr val="141412"/>
                </a:solidFill>
                <a:latin typeface="Cambria" pitchFamily="34" charset="0"/>
                <a:ea typeface="Cambria" pitchFamily="34" charset="-122"/>
                <a:cs typeface="Cambria" pitchFamily="34" charset="-120"/>
              </a:rPr>
              <a:t>Cronograma semana a semana</a:t>
            </a:r>
            <a:endParaRPr lang="en-US" sz="3200" dirty="0"/>
          </a:p>
        </p:txBody>
      </p:sp>
      <p:sp>
        <p:nvSpPr>
          <p:cNvPr id="4" name="Text 2"/>
          <p:cNvSpPr/>
          <p:nvPr/>
        </p:nvSpPr>
        <p:spPr>
          <a:xfrm>
            <a:off x="640080" y="1481328"/>
            <a:ext cx="9144000" cy="365760"/>
          </a:xfrm>
          <a:prstGeom prst="rect">
            <a:avLst/>
          </a:prstGeom>
          <a:noFill/>
          <a:ln/>
        </p:spPr>
        <p:txBody>
          <a:bodyPr wrap="square" lIns="0" tIns="0" rIns="0" bIns="0" rtlCol="0" anchor="ctr"/>
          <a:lstStyle/>
          <a:p>
            <a:pPr indent="0" marL="0">
              <a:buNone/>
            </a:pPr>
            <a:r>
              <a:rPr lang="en-US" sz="1500" dirty="0">
                <a:solidFill>
                  <a:srgbClr val="6B6B66"/>
                </a:solidFill>
                <a:latin typeface="Calibri" pitchFamily="34" charset="0"/>
                <a:ea typeface="Calibri" pitchFamily="34" charset="-122"/>
                <a:cs typeface="Calibri" pitchFamily="34" charset="-120"/>
              </a:rPr>
              <a:t>La ejecución detrás de cada mes.</a:t>
            </a:r>
            <a:endParaRPr lang="en-US" sz="1500" dirty="0"/>
          </a:p>
        </p:txBody>
      </p:sp>
      <p:sp>
        <p:nvSpPr>
          <p:cNvPr id="5" name="Shape 3"/>
          <p:cNvSpPr/>
          <p:nvPr/>
        </p:nvSpPr>
        <p:spPr>
          <a:xfrm>
            <a:off x="402336" y="2377440"/>
            <a:ext cx="1783080" cy="2286000"/>
          </a:xfrm>
          <a:prstGeom prst="roundRect">
            <a:avLst>
              <a:gd name="adj" fmla="val 4103"/>
            </a:avLst>
          </a:prstGeom>
          <a:solidFill>
            <a:srgbClr val="F5F5F3"/>
          </a:solidFill>
          <a:ln/>
        </p:spPr>
      </p:sp>
      <p:sp>
        <p:nvSpPr>
          <p:cNvPr id="6" name="Text 4"/>
          <p:cNvSpPr/>
          <p:nvPr/>
        </p:nvSpPr>
        <p:spPr>
          <a:xfrm>
            <a:off x="539496" y="2606040"/>
            <a:ext cx="1508760" cy="365760"/>
          </a:xfrm>
          <a:prstGeom prst="rect">
            <a:avLst/>
          </a:prstGeom>
          <a:noFill/>
          <a:ln/>
        </p:spPr>
        <p:txBody>
          <a:bodyPr wrap="square" lIns="0" tIns="0" rIns="0" bIns="0" rtlCol="0" anchor="ctr"/>
          <a:lstStyle/>
          <a:p>
            <a:pPr algn="ctr" indent="0" marL="0">
              <a:buNone/>
            </a:pPr>
            <a:r>
              <a:rPr lang="en-US" sz="1300" b="1" dirty="0">
                <a:solidFill>
                  <a:srgbClr val="1F4A3C"/>
                </a:solidFill>
                <a:latin typeface="Cambria" pitchFamily="34" charset="0"/>
                <a:ea typeface="Cambria" pitchFamily="34" charset="-122"/>
                <a:cs typeface="Cambria" pitchFamily="34" charset="-120"/>
              </a:rPr>
              <a:t>Semana 1-2</a:t>
            </a:r>
            <a:endParaRPr lang="en-US" sz="1300" dirty="0"/>
          </a:p>
        </p:txBody>
      </p:sp>
      <p:sp>
        <p:nvSpPr>
          <p:cNvPr id="7" name="Text 5"/>
          <p:cNvSpPr/>
          <p:nvPr/>
        </p:nvSpPr>
        <p:spPr>
          <a:xfrm>
            <a:off x="566928" y="3063240"/>
            <a:ext cx="1453896" cy="1463040"/>
          </a:xfrm>
          <a:prstGeom prst="rect">
            <a:avLst/>
          </a:prstGeom>
          <a:noFill/>
          <a:ln/>
        </p:spPr>
        <p:txBody>
          <a:bodyPr wrap="square" lIns="0" tIns="0" rIns="0" bIns="0" rtlCol="0" anchor="ctr"/>
          <a:lstStyle/>
          <a:p>
            <a:pPr algn="ctr" indent="0" marL="0">
              <a:buNone/>
            </a:pPr>
            <a:r>
              <a:rPr lang="en-US" sz="1000" dirty="0">
                <a:solidFill>
                  <a:srgbClr val="141412"/>
                </a:solidFill>
                <a:latin typeface="Calibri" pitchFamily="34" charset="0"/>
                <a:ea typeface="Calibri" pitchFamily="34" charset="-122"/>
                <a:cs typeface="Calibri" pitchFamily="34" charset="-120"/>
              </a:rPr>
              <a:t>Auditoría de cuenta, píxel y configuración técnica</a:t>
            </a:r>
            <a:endParaRPr lang="en-US" sz="1000" dirty="0"/>
          </a:p>
        </p:txBody>
      </p:sp>
      <p:sp>
        <p:nvSpPr>
          <p:cNvPr id="8" name="Shape 6"/>
          <p:cNvSpPr/>
          <p:nvPr/>
        </p:nvSpPr>
        <p:spPr>
          <a:xfrm>
            <a:off x="2322576" y="2377440"/>
            <a:ext cx="1783080" cy="2286000"/>
          </a:xfrm>
          <a:prstGeom prst="roundRect">
            <a:avLst>
              <a:gd name="adj" fmla="val 4103"/>
            </a:avLst>
          </a:prstGeom>
          <a:solidFill>
            <a:srgbClr val="E9EFEA"/>
          </a:solidFill>
          <a:ln/>
        </p:spPr>
      </p:sp>
      <p:sp>
        <p:nvSpPr>
          <p:cNvPr id="9" name="Text 7"/>
          <p:cNvSpPr/>
          <p:nvPr/>
        </p:nvSpPr>
        <p:spPr>
          <a:xfrm>
            <a:off x="2459736" y="2606040"/>
            <a:ext cx="1508760" cy="365760"/>
          </a:xfrm>
          <a:prstGeom prst="rect">
            <a:avLst/>
          </a:prstGeom>
          <a:noFill/>
          <a:ln/>
        </p:spPr>
        <p:txBody>
          <a:bodyPr wrap="square" lIns="0" tIns="0" rIns="0" bIns="0" rtlCol="0" anchor="ctr"/>
          <a:lstStyle/>
          <a:p>
            <a:pPr algn="ctr" indent="0" marL="0">
              <a:buNone/>
            </a:pPr>
            <a:r>
              <a:rPr lang="en-US" sz="1300" b="1" dirty="0">
                <a:solidFill>
                  <a:srgbClr val="1F4A3C"/>
                </a:solidFill>
                <a:latin typeface="Cambria" pitchFamily="34" charset="0"/>
                <a:ea typeface="Cambria" pitchFamily="34" charset="-122"/>
                <a:cs typeface="Cambria" pitchFamily="34" charset="-120"/>
              </a:rPr>
              <a:t>Semana 3-4</a:t>
            </a:r>
            <a:endParaRPr lang="en-US" sz="1300" dirty="0"/>
          </a:p>
        </p:txBody>
      </p:sp>
      <p:sp>
        <p:nvSpPr>
          <p:cNvPr id="10" name="Text 8"/>
          <p:cNvSpPr/>
          <p:nvPr/>
        </p:nvSpPr>
        <p:spPr>
          <a:xfrm>
            <a:off x="2487168" y="3063240"/>
            <a:ext cx="1453896" cy="1463040"/>
          </a:xfrm>
          <a:prstGeom prst="rect">
            <a:avLst/>
          </a:prstGeom>
          <a:noFill/>
          <a:ln/>
        </p:spPr>
        <p:txBody>
          <a:bodyPr wrap="square" lIns="0" tIns="0" rIns="0" bIns="0" rtlCol="0" anchor="ctr"/>
          <a:lstStyle/>
          <a:p>
            <a:pPr algn="ctr" indent="0" marL="0">
              <a:buNone/>
            </a:pPr>
            <a:r>
              <a:rPr lang="en-US" sz="1000" dirty="0">
                <a:solidFill>
                  <a:srgbClr val="141412"/>
                </a:solidFill>
                <a:latin typeface="Calibri" pitchFamily="34" charset="0"/>
                <a:ea typeface="Calibri" pitchFamily="34" charset="-122"/>
                <a:cs typeface="Calibri" pitchFamily="34" charset="-120"/>
              </a:rPr>
              <a:t>Lanzamiento de campañas de Presentación — aceite de romero</a:t>
            </a:r>
            <a:endParaRPr lang="en-US" sz="1000" dirty="0"/>
          </a:p>
        </p:txBody>
      </p:sp>
      <p:sp>
        <p:nvSpPr>
          <p:cNvPr id="11" name="Shape 9"/>
          <p:cNvSpPr/>
          <p:nvPr/>
        </p:nvSpPr>
        <p:spPr>
          <a:xfrm>
            <a:off x="4242816" y="2377440"/>
            <a:ext cx="1783080" cy="2286000"/>
          </a:xfrm>
          <a:prstGeom prst="roundRect">
            <a:avLst>
              <a:gd name="adj" fmla="val 4103"/>
            </a:avLst>
          </a:prstGeom>
          <a:solidFill>
            <a:srgbClr val="F5F5F3"/>
          </a:solidFill>
          <a:ln/>
        </p:spPr>
      </p:sp>
      <p:sp>
        <p:nvSpPr>
          <p:cNvPr id="12" name="Text 10"/>
          <p:cNvSpPr/>
          <p:nvPr/>
        </p:nvSpPr>
        <p:spPr>
          <a:xfrm>
            <a:off x="4379976" y="2606040"/>
            <a:ext cx="1508760" cy="365760"/>
          </a:xfrm>
          <a:prstGeom prst="rect">
            <a:avLst/>
          </a:prstGeom>
          <a:noFill/>
          <a:ln/>
        </p:spPr>
        <p:txBody>
          <a:bodyPr wrap="square" lIns="0" tIns="0" rIns="0" bIns="0" rtlCol="0" anchor="ctr"/>
          <a:lstStyle/>
          <a:p>
            <a:pPr algn="ctr" indent="0" marL="0">
              <a:buNone/>
            </a:pPr>
            <a:r>
              <a:rPr lang="en-US" sz="1300" b="1" dirty="0">
                <a:solidFill>
                  <a:srgbClr val="1F4A3C"/>
                </a:solidFill>
                <a:latin typeface="Cambria" pitchFamily="34" charset="0"/>
                <a:ea typeface="Cambria" pitchFamily="34" charset="-122"/>
                <a:cs typeface="Cambria" pitchFamily="34" charset="-120"/>
              </a:rPr>
              <a:t>Semana 5-6</a:t>
            </a:r>
            <a:endParaRPr lang="en-US" sz="1300" dirty="0"/>
          </a:p>
        </p:txBody>
      </p:sp>
      <p:sp>
        <p:nvSpPr>
          <p:cNvPr id="13" name="Text 11"/>
          <p:cNvSpPr/>
          <p:nvPr/>
        </p:nvSpPr>
        <p:spPr>
          <a:xfrm>
            <a:off x="4407408" y="3063240"/>
            <a:ext cx="1453896" cy="1463040"/>
          </a:xfrm>
          <a:prstGeom prst="rect">
            <a:avLst/>
          </a:prstGeom>
          <a:noFill/>
          <a:ln/>
        </p:spPr>
        <p:txBody>
          <a:bodyPr wrap="square" lIns="0" tIns="0" rIns="0" bIns="0" rtlCol="0" anchor="ctr"/>
          <a:lstStyle/>
          <a:p>
            <a:pPr algn="ctr" indent="0" marL="0">
              <a:buNone/>
            </a:pPr>
            <a:r>
              <a:rPr lang="en-US" sz="1000" dirty="0">
                <a:solidFill>
                  <a:srgbClr val="141412"/>
                </a:solidFill>
                <a:latin typeface="Calibri" pitchFamily="34" charset="0"/>
                <a:ea typeface="Calibri" pitchFamily="34" charset="-122"/>
                <a:cs typeface="Calibri" pitchFamily="34" charset="-120"/>
              </a:rPr>
              <a:t>Remarketing y prueba social — shampoo Vive</a:t>
            </a:r>
            <a:endParaRPr lang="en-US" sz="1000" dirty="0"/>
          </a:p>
        </p:txBody>
      </p:sp>
      <p:sp>
        <p:nvSpPr>
          <p:cNvPr id="14" name="Shape 12"/>
          <p:cNvSpPr/>
          <p:nvPr/>
        </p:nvSpPr>
        <p:spPr>
          <a:xfrm>
            <a:off x="6163056" y="2377440"/>
            <a:ext cx="1783080" cy="2286000"/>
          </a:xfrm>
          <a:prstGeom prst="roundRect">
            <a:avLst>
              <a:gd name="adj" fmla="val 4103"/>
            </a:avLst>
          </a:prstGeom>
          <a:solidFill>
            <a:srgbClr val="E9EFEA"/>
          </a:solidFill>
          <a:ln/>
        </p:spPr>
      </p:sp>
      <p:sp>
        <p:nvSpPr>
          <p:cNvPr id="15" name="Text 13"/>
          <p:cNvSpPr/>
          <p:nvPr/>
        </p:nvSpPr>
        <p:spPr>
          <a:xfrm>
            <a:off x="6300216" y="2606040"/>
            <a:ext cx="1508760" cy="365760"/>
          </a:xfrm>
          <a:prstGeom prst="rect">
            <a:avLst/>
          </a:prstGeom>
          <a:noFill/>
          <a:ln/>
        </p:spPr>
        <p:txBody>
          <a:bodyPr wrap="square" lIns="0" tIns="0" rIns="0" bIns="0" rtlCol="0" anchor="ctr"/>
          <a:lstStyle/>
          <a:p>
            <a:pPr algn="ctr" indent="0" marL="0">
              <a:buNone/>
            </a:pPr>
            <a:r>
              <a:rPr lang="en-US" sz="1300" b="1" dirty="0">
                <a:solidFill>
                  <a:srgbClr val="1F4A3C"/>
                </a:solidFill>
                <a:latin typeface="Cambria" pitchFamily="34" charset="0"/>
                <a:ea typeface="Cambria" pitchFamily="34" charset="-122"/>
                <a:cs typeface="Cambria" pitchFamily="34" charset="-120"/>
              </a:rPr>
              <a:t>Semana 7-8</a:t>
            </a:r>
            <a:endParaRPr lang="en-US" sz="1300" dirty="0"/>
          </a:p>
        </p:txBody>
      </p:sp>
      <p:sp>
        <p:nvSpPr>
          <p:cNvPr id="16" name="Text 14"/>
          <p:cNvSpPr/>
          <p:nvPr/>
        </p:nvSpPr>
        <p:spPr>
          <a:xfrm>
            <a:off x="6327648" y="3063240"/>
            <a:ext cx="1453896" cy="1463040"/>
          </a:xfrm>
          <a:prstGeom prst="rect">
            <a:avLst/>
          </a:prstGeom>
          <a:noFill/>
          <a:ln/>
        </p:spPr>
        <p:txBody>
          <a:bodyPr wrap="square" lIns="0" tIns="0" rIns="0" bIns="0" rtlCol="0" anchor="ctr"/>
          <a:lstStyle/>
          <a:p>
            <a:pPr algn="ctr" indent="0" marL="0">
              <a:buNone/>
            </a:pPr>
            <a:r>
              <a:rPr lang="en-US" sz="1000" dirty="0">
                <a:solidFill>
                  <a:srgbClr val="141412"/>
                </a:solidFill>
                <a:latin typeface="Calibri" pitchFamily="34" charset="0"/>
                <a:ea typeface="Calibri" pitchFamily="34" charset="-122"/>
                <a:cs typeface="Calibri" pitchFamily="34" charset="-120"/>
              </a:rPr>
              <a:t>Primeras campañas de Conversión con oferta de lanzamiento</a:t>
            </a:r>
            <a:endParaRPr lang="en-US" sz="1000" dirty="0"/>
          </a:p>
        </p:txBody>
      </p:sp>
      <p:sp>
        <p:nvSpPr>
          <p:cNvPr id="17" name="Shape 15"/>
          <p:cNvSpPr/>
          <p:nvPr/>
        </p:nvSpPr>
        <p:spPr>
          <a:xfrm>
            <a:off x="8083296" y="2377440"/>
            <a:ext cx="1783080" cy="2286000"/>
          </a:xfrm>
          <a:prstGeom prst="roundRect">
            <a:avLst>
              <a:gd name="adj" fmla="val 4103"/>
            </a:avLst>
          </a:prstGeom>
          <a:solidFill>
            <a:srgbClr val="F5F5F3"/>
          </a:solidFill>
          <a:ln/>
        </p:spPr>
      </p:sp>
      <p:sp>
        <p:nvSpPr>
          <p:cNvPr id="18" name="Text 16"/>
          <p:cNvSpPr/>
          <p:nvPr/>
        </p:nvSpPr>
        <p:spPr>
          <a:xfrm>
            <a:off x="8220456" y="2606040"/>
            <a:ext cx="1508760" cy="365760"/>
          </a:xfrm>
          <a:prstGeom prst="rect">
            <a:avLst/>
          </a:prstGeom>
          <a:noFill/>
          <a:ln/>
        </p:spPr>
        <p:txBody>
          <a:bodyPr wrap="square" lIns="0" tIns="0" rIns="0" bIns="0" rtlCol="0" anchor="ctr"/>
          <a:lstStyle/>
          <a:p>
            <a:pPr algn="ctr" indent="0" marL="0">
              <a:buNone/>
            </a:pPr>
            <a:r>
              <a:rPr lang="en-US" sz="1300" b="1" dirty="0">
                <a:solidFill>
                  <a:srgbClr val="1F4A3C"/>
                </a:solidFill>
                <a:latin typeface="Cambria" pitchFamily="34" charset="0"/>
                <a:ea typeface="Cambria" pitchFamily="34" charset="-122"/>
                <a:cs typeface="Cambria" pitchFamily="34" charset="-120"/>
              </a:rPr>
              <a:t>Semana 9-10</a:t>
            </a:r>
            <a:endParaRPr lang="en-US" sz="1300" dirty="0"/>
          </a:p>
        </p:txBody>
      </p:sp>
      <p:sp>
        <p:nvSpPr>
          <p:cNvPr id="19" name="Text 17"/>
          <p:cNvSpPr/>
          <p:nvPr/>
        </p:nvSpPr>
        <p:spPr>
          <a:xfrm>
            <a:off x="8247888" y="3063240"/>
            <a:ext cx="1453896" cy="1463040"/>
          </a:xfrm>
          <a:prstGeom prst="rect">
            <a:avLst/>
          </a:prstGeom>
          <a:noFill/>
          <a:ln/>
        </p:spPr>
        <p:txBody>
          <a:bodyPr wrap="square" lIns="0" tIns="0" rIns="0" bIns="0" rtlCol="0" anchor="ctr"/>
          <a:lstStyle/>
          <a:p>
            <a:pPr algn="ctr" indent="0" marL="0">
              <a:buNone/>
            </a:pPr>
            <a:r>
              <a:rPr lang="en-US" sz="1000" dirty="0">
                <a:solidFill>
                  <a:srgbClr val="141412"/>
                </a:solidFill>
                <a:latin typeface="Calibri" pitchFamily="34" charset="0"/>
                <a:ea typeface="Calibri" pitchFamily="34" charset="-122"/>
                <a:cs typeface="Calibri" pitchFamily="34" charset="-120"/>
              </a:rPr>
              <a:t>Optimización de campañas ganadoras — rutina completa</a:t>
            </a:r>
            <a:endParaRPr lang="en-US" sz="1000" dirty="0"/>
          </a:p>
        </p:txBody>
      </p:sp>
      <p:sp>
        <p:nvSpPr>
          <p:cNvPr id="20" name="Shape 18"/>
          <p:cNvSpPr/>
          <p:nvPr/>
        </p:nvSpPr>
        <p:spPr>
          <a:xfrm>
            <a:off x="10003536" y="2377440"/>
            <a:ext cx="1783080" cy="2286000"/>
          </a:xfrm>
          <a:prstGeom prst="roundRect">
            <a:avLst>
              <a:gd name="adj" fmla="val 4103"/>
            </a:avLst>
          </a:prstGeom>
          <a:solidFill>
            <a:srgbClr val="1F4A3C"/>
          </a:solidFill>
          <a:ln/>
        </p:spPr>
      </p:sp>
      <p:sp>
        <p:nvSpPr>
          <p:cNvPr id="21" name="Text 19"/>
          <p:cNvSpPr/>
          <p:nvPr/>
        </p:nvSpPr>
        <p:spPr>
          <a:xfrm>
            <a:off x="10140696" y="2606040"/>
            <a:ext cx="1508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Semana 11-12</a:t>
            </a:r>
            <a:endParaRPr lang="en-US" sz="1300" dirty="0"/>
          </a:p>
        </p:txBody>
      </p:sp>
      <p:sp>
        <p:nvSpPr>
          <p:cNvPr id="22" name="Text 20"/>
          <p:cNvSpPr/>
          <p:nvPr/>
        </p:nvSpPr>
        <p:spPr>
          <a:xfrm>
            <a:off x="10168128" y="3063240"/>
            <a:ext cx="1453896" cy="1463040"/>
          </a:xfrm>
          <a:prstGeom prst="rect">
            <a:avLst/>
          </a:prstGeom>
          <a:noFill/>
          <a:ln/>
        </p:spPr>
        <p:txBody>
          <a:bodyPr wrap="square" lIns="0" tIns="0" rIns="0" bIns="0" rtlCol="0" anchor="ctr"/>
          <a:lstStyle/>
          <a:p>
            <a:pPr algn="ctr" indent="0" marL="0">
              <a:buNone/>
            </a:pPr>
            <a:r>
              <a:rPr lang="en-US" sz="1000" dirty="0">
                <a:solidFill>
                  <a:srgbClr val="EAF0EC"/>
                </a:solidFill>
                <a:latin typeface="Calibri" pitchFamily="34" charset="0"/>
                <a:ea typeface="Calibri" pitchFamily="34" charset="-122"/>
                <a:cs typeface="Calibri" pitchFamily="34" charset="-120"/>
              </a:rPr>
              <a:t>Arranque de Ascensión: primer público de recompra</a:t>
            </a:r>
            <a:endParaRPr lang="en-US" sz="1000" dirty="0"/>
          </a:p>
        </p:txBody>
      </p:sp>
      <p:sp>
        <p:nvSpPr>
          <p:cNvPr id="23" name="Text 21"/>
          <p:cNvSpPr/>
          <p:nvPr/>
        </p:nvSpPr>
        <p:spPr>
          <a:xfrm>
            <a:off x="640080" y="5029200"/>
            <a:ext cx="10881360" cy="548640"/>
          </a:xfrm>
          <a:prstGeom prst="rect">
            <a:avLst/>
          </a:prstGeom>
          <a:noFill/>
          <a:ln/>
        </p:spPr>
        <p:txBody>
          <a:bodyPr wrap="square" lIns="0" tIns="0" rIns="0" bIns="0" rtlCol="0" anchor="ctr"/>
          <a:lstStyle/>
          <a:p>
            <a:pPr indent="0" marL="0">
              <a:buNone/>
            </a:pPr>
            <a:r>
              <a:rPr lang="en-US" sz="1300" i="1" dirty="0">
                <a:solidFill>
                  <a:srgbClr val="141412"/>
                </a:solidFill>
                <a:latin typeface="Calibri" pitchFamily="34" charset="0"/>
                <a:ea typeface="Calibri" pitchFamily="34" charset="-122"/>
                <a:cs typeface="Calibri" pitchFamily="34" charset="-120"/>
              </a:rPr>
              <a:t>Al cierre del mes 3, el sistema completo está activo: descubrimiento, confianza, conversión y las primeras señales de recompra.</a:t>
            </a:r>
            <a:endParaRPr lang="en-US" sz="1300" dirty="0"/>
          </a:p>
        </p:txBody>
      </p:sp>
      <p:sp>
        <p:nvSpPr>
          <p:cNvPr id="24" name="Text 22"/>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6B6B66"/>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412"/>
        </a:solidFill>
      </p:bgPr>
    </p:bg>
    <p:spTree>
      <p:nvGrpSpPr>
        <p:cNvPr id="1" name=""/>
        <p:cNvGrpSpPr/>
        <p:nvPr/>
      </p:nvGrpSpPr>
      <p:grpSpPr>
        <a:xfrm>
          <a:off x="0" y="0"/>
          <a:ext cx="0" cy="0"/>
          <a:chOff x="0" y="0"/>
          <a:chExt cx="0" cy="0"/>
        </a:xfrm>
      </p:grpSpPr>
      <p:sp>
        <p:nvSpPr>
          <p:cNvPr id="2" name="Text 0"/>
          <p:cNvSpPr/>
          <p:nvPr/>
        </p:nvSpPr>
        <p:spPr>
          <a:xfrm>
            <a:off x="777240" y="1188720"/>
            <a:ext cx="7315200" cy="365760"/>
          </a:xfrm>
          <a:prstGeom prst="rect">
            <a:avLst/>
          </a:prstGeom>
          <a:noFill/>
          <a:ln/>
        </p:spPr>
        <p:txBody>
          <a:bodyPr wrap="square" lIns="0" tIns="0" rIns="0" bIns="0" rtlCol="0" anchor="ctr"/>
          <a:lstStyle/>
          <a:p>
            <a:pPr indent="0" marL="0">
              <a:buNone/>
            </a:pPr>
            <a:r>
              <a:rPr lang="en-US" sz="1300" b="1" spc="300" kern="0" dirty="0">
                <a:solidFill>
                  <a:srgbClr val="6FA98A"/>
                </a:solidFill>
                <a:latin typeface="Calibri" pitchFamily="34" charset="0"/>
                <a:ea typeface="Calibri" pitchFamily="34" charset="-122"/>
                <a:cs typeface="Calibri" pitchFamily="34" charset="-120"/>
              </a:rPr>
              <a:t>EL SIGUIENTE PASO</a:t>
            </a:r>
            <a:endParaRPr lang="en-US" sz="1300" dirty="0"/>
          </a:p>
        </p:txBody>
      </p:sp>
      <p:sp>
        <p:nvSpPr>
          <p:cNvPr id="3" name="Text 1"/>
          <p:cNvSpPr/>
          <p:nvPr/>
        </p:nvSpPr>
        <p:spPr>
          <a:xfrm>
            <a:off x="731520" y="1600200"/>
            <a:ext cx="10241280" cy="1554480"/>
          </a:xfrm>
          <a:prstGeom prst="rect">
            <a:avLst/>
          </a:prstGeom>
          <a:noFill/>
          <a:ln/>
        </p:spPr>
        <p:txBody>
          <a:bodyPr wrap="square" lIns="0" tIns="0" rIns="0" bIns="0" rtlCol="0" anchor="ctr"/>
          <a:lstStyle/>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No es más contenido.</a:t>
            </a:r>
            <a:endParaRPr lang="en-US" sz="3400" dirty="0"/>
          </a:p>
          <a:p>
            <a:pPr indent="0" marL="0">
              <a:lnSpc>
                <a:spcPct val="105000"/>
              </a:lnSpc>
              <a:buNone/>
            </a:pPr>
            <a:r>
              <a:rPr lang="en-US" sz="3400" b="1" dirty="0">
                <a:solidFill>
                  <a:srgbClr val="FFFFFF"/>
                </a:solidFill>
                <a:latin typeface="Cambria" pitchFamily="34" charset="0"/>
                <a:ea typeface="Cambria" pitchFamily="34" charset="-122"/>
                <a:cs typeface="Cambria" pitchFamily="34" charset="-120"/>
              </a:rPr>
              <a:t>Es un sistema de adquisición.</a:t>
            </a:r>
            <a:endParaRPr lang="en-US" sz="3400" dirty="0"/>
          </a:p>
        </p:txBody>
      </p:sp>
      <p:sp>
        <p:nvSpPr>
          <p:cNvPr id="4" name="Shape 2"/>
          <p:cNvSpPr/>
          <p:nvPr/>
        </p:nvSpPr>
        <p:spPr>
          <a:xfrm>
            <a:off x="777240" y="3520440"/>
            <a:ext cx="548640" cy="548640"/>
          </a:xfrm>
          <a:prstGeom prst="ellipse">
            <a:avLst/>
          </a:prstGeom>
          <a:solidFill>
            <a:srgbClr val="6FA98A"/>
          </a:solidFill>
          <a:ln/>
        </p:spPr>
      </p:sp>
      <p:sp>
        <p:nvSpPr>
          <p:cNvPr id="5" name="Text 3"/>
          <p:cNvSpPr/>
          <p:nvPr/>
        </p:nvSpPr>
        <p:spPr>
          <a:xfrm>
            <a:off x="777240" y="3520440"/>
            <a:ext cx="548640" cy="548640"/>
          </a:xfrm>
          <a:prstGeom prst="rect">
            <a:avLst/>
          </a:prstGeom>
          <a:noFill/>
          <a:ln/>
        </p:spPr>
        <p:txBody>
          <a:bodyPr wrap="square" lIns="0" tIns="0" rIns="0" bIns="0" rtlCol="0" anchor="ctr"/>
          <a:lstStyle/>
          <a:p>
            <a:pPr algn="ctr" indent="0" marL="0">
              <a:buNone/>
            </a:pPr>
            <a:r>
              <a:rPr lang="en-US" sz="1920" b="1" dirty="0">
                <a:solidFill>
                  <a:srgbClr val="141412"/>
                </a:solidFill>
                <a:latin typeface="Cambria" pitchFamily="34" charset="0"/>
                <a:ea typeface="Cambria" pitchFamily="34" charset="-122"/>
                <a:cs typeface="Cambria" pitchFamily="34" charset="-120"/>
              </a:rPr>
              <a:t>1</a:t>
            </a:r>
            <a:endParaRPr lang="en-US" sz="1920" dirty="0"/>
          </a:p>
        </p:txBody>
      </p:sp>
      <p:sp>
        <p:nvSpPr>
          <p:cNvPr id="6" name="Text 4"/>
          <p:cNvSpPr/>
          <p:nvPr/>
        </p:nvSpPr>
        <p:spPr>
          <a:xfrm>
            <a:off x="77724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Auditoría de cuenta y píxel</a:t>
            </a:r>
            <a:endParaRPr lang="en-US" sz="1500" dirty="0"/>
          </a:p>
        </p:txBody>
      </p:sp>
      <p:sp>
        <p:nvSpPr>
          <p:cNvPr id="7" name="Text 5"/>
          <p:cNvSpPr/>
          <p:nvPr/>
        </p:nvSpPr>
        <p:spPr>
          <a:xfrm>
            <a:off x="777240" y="4937760"/>
            <a:ext cx="3383280" cy="548640"/>
          </a:xfrm>
          <a:prstGeom prst="rect">
            <a:avLst/>
          </a:prstGeom>
          <a:noFill/>
          <a:ln/>
        </p:spPr>
        <p:txBody>
          <a:bodyPr wrap="square" lIns="0" tIns="0" rIns="0" bIns="0" rtlCol="0" anchor="ctr"/>
          <a:lstStyle/>
          <a:p>
            <a:pPr indent="0" marL="0">
              <a:buNone/>
            </a:pPr>
            <a:r>
              <a:rPr lang="en-US" sz="1200" dirty="0">
                <a:solidFill>
                  <a:srgbClr val="D6D4CE"/>
                </a:solidFill>
                <a:latin typeface="Calibri" pitchFamily="34" charset="0"/>
                <a:ea typeface="Calibri" pitchFamily="34" charset="-122"/>
                <a:cs typeface="Calibri" pitchFamily="34" charset="-120"/>
              </a:rPr>
              <a:t>Revisión técnica de la configuración actual</a:t>
            </a:r>
            <a:endParaRPr lang="en-US" sz="1200" dirty="0"/>
          </a:p>
        </p:txBody>
      </p:sp>
      <p:sp>
        <p:nvSpPr>
          <p:cNvPr id="8" name="Shape 6"/>
          <p:cNvSpPr/>
          <p:nvPr/>
        </p:nvSpPr>
        <p:spPr>
          <a:xfrm>
            <a:off x="4480560" y="3520440"/>
            <a:ext cx="548640" cy="548640"/>
          </a:xfrm>
          <a:prstGeom prst="ellipse">
            <a:avLst/>
          </a:prstGeom>
          <a:solidFill>
            <a:srgbClr val="6FA98A"/>
          </a:solidFill>
          <a:ln/>
        </p:spPr>
      </p:sp>
      <p:sp>
        <p:nvSpPr>
          <p:cNvPr id="9" name="Text 7"/>
          <p:cNvSpPr/>
          <p:nvPr/>
        </p:nvSpPr>
        <p:spPr>
          <a:xfrm>
            <a:off x="4480560" y="3520440"/>
            <a:ext cx="548640" cy="548640"/>
          </a:xfrm>
          <a:prstGeom prst="rect">
            <a:avLst/>
          </a:prstGeom>
          <a:noFill/>
          <a:ln/>
        </p:spPr>
        <p:txBody>
          <a:bodyPr wrap="square" lIns="0" tIns="0" rIns="0" bIns="0" rtlCol="0" anchor="ctr"/>
          <a:lstStyle/>
          <a:p>
            <a:pPr algn="ctr" indent="0" marL="0">
              <a:buNone/>
            </a:pPr>
            <a:r>
              <a:rPr lang="en-US" sz="1920" b="1" dirty="0">
                <a:solidFill>
                  <a:srgbClr val="141412"/>
                </a:solidFill>
                <a:latin typeface="Cambria" pitchFamily="34" charset="0"/>
                <a:ea typeface="Cambria" pitchFamily="34" charset="-122"/>
                <a:cs typeface="Cambria" pitchFamily="34" charset="-120"/>
              </a:rPr>
              <a:t>2</a:t>
            </a:r>
            <a:endParaRPr lang="en-US" sz="1920" dirty="0"/>
          </a:p>
        </p:txBody>
      </p:sp>
      <p:sp>
        <p:nvSpPr>
          <p:cNvPr id="10" name="Text 8"/>
          <p:cNvSpPr/>
          <p:nvPr/>
        </p:nvSpPr>
        <p:spPr>
          <a:xfrm>
            <a:off x="448056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Diseño de las 4 campañas</a:t>
            </a:r>
            <a:endParaRPr lang="en-US" sz="1500" dirty="0"/>
          </a:p>
        </p:txBody>
      </p:sp>
      <p:sp>
        <p:nvSpPr>
          <p:cNvPr id="11" name="Text 9"/>
          <p:cNvSpPr/>
          <p:nvPr/>
        </p:nvSpPr>
        <p:spPr>
          <a:xfrm>
            <a:off x="4480560" y="4937760"/>
            <a:ext cx="3383280" cy="548640"/>
          </a:xfrm>
          <a:prstGeom prst="rect">
            <a:avLst/>
          </a:prstGeom>
          <a:noFill/>
          <a:ln/>
        </p:spPr>
        <p:txBody>
          <a:bodyPr wrap="square" lIns="0" tIns="0" rIns="0" bIns="0" rtlCol="0" anchor="ctr"/>
          <a:lstStyle/>
          <a:p>
            <a:pPr indent="0" marL="0">
              <a:buNone/>
            </a:pPr>
            <a:r>
              <a:rPr lang="en-US" sz="1200" dirty="0">
                <a:solidFill>
                  <a:srgbClr val="D6D4CE"/>
                </a:solidFill>
                <a:latin typeface="Calibri" pitchFamily="34" charset="0"/>
                <a:ea typeface="Calibri" pitchFamily="34" charset="-122"/>
                <a:cs typeface="Calibri" pitchFamily="34" charset="-120"/>
              </a:rPr>
              <a:t>Presentación, Evaluación, Conversión, Ascensión</a:t>
            </a:r>
            <a:endParaRPr lang="en-US" sz="1200" dirty="0"/>
          </a:p>
        </p:txBody>
      </p:sp>
      <p:sp>
        <p:nvSpPr>
          <p:cNvPr id="12" name="Shape 10"/>
          <p:cNvSpPr/>
          <p:nvPr/>
        </p:nvSpPr>
        <p:spPr>
          <a:xfrm>
            <a:off x="8183880" y="3520440"/>
            <a:ext cx="548640" cy="548640"/>
          </a:xfrm>
          <a:prstGeom prst="ellipse">
            <a:avLst/>
          </a:prstGeom>
          <a:solidFill>
            <a:srgbClr val="6FA98A"/>
          </a:solidFill>
          <a:ln/>
        </p:spPr>
      </p:sp>
      <p:sp>
        <p:nvSpPr>
          <p:cNvPr id="13" name="Text 11"/>
          <p:cNvSpPr/>
          <p:nvPr/>
        </p:nvSpPr>
        <p:spPr>
          <a:xfrm>
            <a:off x="8183880" y="3520440"/>
            <a:ext cx="548640" cy="548640"/>
          </a:xfrm>
          <a:prstGeom prst="rect">
            <a:avLst/>
          </a:prstGeom>
          <a:noFill/>
          <a:ln/>
        </p:spPr>
        <p:txBody>
          <a:bodyPr wrap="square" lIns="0" tIns="0" rIns="0" bIns="0" rtlCol="0" anchor="ctr"/>
          <a:lstStyle/>
          <a:p>
            <a:pPr algn="ctr" indent="0" marL="0">
              <a:buNone/>
            </a:pPr>
            <a:r>
              <a:rPr lang="en-US" sz="1920" b="1" dirty="0">
                <a:solidFill>
                  <a:srgbClr val="141412"/>
                </a:solidFill>
                <a:latin typeface="Cambria" pitchFamily="34" charset="0"/>
                <a:ea typeface="Cambria" pitchFamily="34" charset="-122"/>
                <a:cs typeface="Cambria" pitchFamily="34" charset="-120"/>
              </a:rPr>
              <a:t>3</a:t>
            </a:r>
            <a:endParaRPr lang="en-US" sz="1920" dirty="0"/>
          </a:p>
        </p:txBody>
      </p:sp>
      <p:sp>
        <p:nvSpPr>
          <p:cNvPr id="14" name="Text 12"/>
          <p:cNvSpPr/>
          <p:nvPr/>
        </p:nvSpPr>
        <p:spPr>
          <a:xfrm>
            <a:off x="8183880" y="4480560"/>
            <a:ext cx="3383280" cy="45720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Activación por etapas</a:t>
            </a:r>
            <a:endParaRPr lang="en-US" sz="1500" dirty="0"/>
          </a:p>
        </p:txBody>
      </p:sp>
      <p:sp>
        <p:nvSpPr>
          <p:cNvPr id="15" name="Text 13"/>
          <p:cNvSpPr/>
          <p:nvPr/>
        </p:nvSpPr>
        <p:spPr>
          <a:xfrm>
            <a:off x="8183880" y="4937760"/>
            <a:ext cx="3383280" cy="548640"/>
          </a:xfrm>
          <a:prstGeom prst="rect">
            <a:avLst/>
          </a:prstGeom>
          <a:noFill/>
          <a:ln/>
        </p:spPr>
        <p:txBody>
          <a:bodyPr wrap="square" lIns="0" tIns="0" rIns="0" bIns="0" rtlCol="0" anchor="ctr"/>
          <a:lstStyle/>
          <a:p>
            <a:pPr indent="0" marL="0">
              <a:buNone/>
            </a:pPr>
            <a:r>
              <a:rPr lang="en-US" sz="1200" dirty="0">
                <a:solidFill>
                  <a:srgbClr val="D6D4CE"/>
                </a:solidFill>
                <a:latin typeface="Calibri" pitchFamily="34" charset="0"/>
                <a:ea typeface="Calibri" pitchFamily="34" charset="-122"/>
                <a:cs typeface="Calibri" pitchFamily="34" charset="-120"/>
              </a:rPr>
              <a:t>Implementación progresiva en todo EE.UU.</a:t>
            </a:r>
            <a:endParaRPr lang="en-US" sz="1200" dirty="0"/>
          </a:p>
        </p:txBody>
      </p:sp>
      <p:sp>
        <p:nvSpPr>
          <p:cNvPr id="16" name="Text 14"/>
          <p:cNvSpPr/>
          <p:nvPr/>
        </p:nvSpPr>
        <p:spPr>
          <a:xfrm>
            <a:off x="11365992" y="6400800"/>
            <a:ext cx="548640" cy="274320"/>
          </a:xfrm>
          <a:prstGeom prst="rect">
            <a:avLst/>
          </a:prstGeom>
          <a:noFill/>
          <a:ln/>
        </p:spPr>
        <p:txBody>
          <a:bodyPr wrap="square" lIns="0" tIns="0" rIns="0" bIns="0" rtlCol="0" anchor="ctr"/>
          <a:lstStyle/>
          <a:p>
            <a:pPr algn="r" indent="0" marL="0">
              <a:buNone/>
            </a:pPr>
            <a:r>
              <a:rPr lang="en-US" sz="1000" dirty="0">
                <a:solidFill>
                  <a:srgbClr val="8C8A85"/>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2026-08-03T17:29:12Z</dcterms:created>
  <dcterms:modified xsi:type="dcterms:W3CDTF">2026-08-03T17:29:12Z</dcterms:modified>
</cp:coreProperties>
</file>