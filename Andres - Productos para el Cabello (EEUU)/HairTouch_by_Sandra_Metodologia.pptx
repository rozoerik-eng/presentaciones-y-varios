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Dar un mapa claro de la conversación para que Andrés sepa qué esperar.
MENSAJE PRINCIPAL: Esta no es una presentación de servicios; es un recorrido de entendimiento del negocio antes de proponer nada.
QUÉ EXPLICAR: Recorrer brevemente los 5 puntos, anticipando que hay una sección específica dedicada a lo que ya observamos en Hair Touch by Sandra.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Diferenciarse desde el primer minuto de un gestor de anuncios tradicional.
MENSAJE PRINCIPAL: El valor no está en ejecutar campañas, está en construir el sistema completo que convierte visitantes en clientes recurrentes.
QUÉ EXPLICAR: Ser directo y seguro. Esta slide define el marco de toda la reunión: hablamos de negocio, no de herramientas.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Establecer la filosofía de fondo antes de entrar en la metodología.
MENSAJE PRINCIPAL: El crecimiento sostenible es resultado de una arquitectura, no de un golpe de suerte publicitario.
QUÉ EXPLICAR: Esta es la idea puente hacia la metodología: todo lo que viene después es la forma concreta de construir ese sistema.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Presentar el mapa completo de la metodología antes de profundizar en cada etapa.
MENSAJE PRINCIPAL: Cada etapa prepara la siguiente; ninguna funciona de forma aislada.
QUÉ EXPLICAR: Presentación despierta interés, Evaluación genera confianza, Conversión adquiere al cliente, Ascensión lo convierte en recurrente. Esta estructura es la columna vertebral de toda la reunión.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Consolidar la primera impresión: esto no es una agencia de anuncios.
MENSAJE PRINCIPAL: El rol es de socio estratégico, con foco exclusivo en captar clientes dentro de Estados Unidos.
QUÉ EXPLICAR: Reforzar que el trabajo conjunto empieza por entender el negocio, no por lanzar campañas.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Mostrar la profundidad del proceso de evaluación antes de cualquier inversión.
MENSAJE PRINCIPAL: Detectamos oportunidades antes de gastar, no después.
QUÉ EXPLICAR: Recorrer brevemente los 8 focos de evaluación. Esta lista es exactamente lo que ya empezamos a aplicar sobre Hair Touch by Sandra, que se ve en la siguiente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Demostrar que ya se hizo un análisis real y específico de la marca, no una plantilla genérica.
MENSAJE PRINCIPAL: Hair Touch by Sandra ya cuenta con activos de confianza y contenido que muchas marcas nuevas no tienen.
QUÉ EXPLICAR: La trayectoria de Sandra como periodista es un activo de autoridad de marca poco común. Las reseñas del salón físico y el volumen de contenido en redes son prueba de una base sólida. El aceite de romero conecta con una tendencia de búsqueda e interés real en el mercado de EE.UU. Mantener siempre un tono de reconocimiento, no de corrección.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Traducir los hallazgos en oportunidades concretas, con tono consultivo y positivo, sin señalar fallas.
MENSAJE PRINCIPAL: El potencial ya existe dentro de la marca; el sistema es lo que falta para activarlo por completo.
QUÉ EXPLICAR: Cada hallazgo se conecta con una etapa del sistema que se explicará más adelante. Ninguno se presenta como un error, sino como una oportunidad de crecimiento no explotada.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Explicar la etapa de adquisición sin centrar el discurso en herramientas publicitarias específicas.
MENSAJE PRINCIPAL: Todas las piezas —landing, seguimiento, CRM, automatizaciones— forman un único ecosistema orientado a un objetivo: conseguir clientes, no visitas.
QUÉ EXPLICAR: Evitar tecnicismos. La idea central es que ninguna herramienta funciona sola; el valor está en cómo se integran.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Visualizar de forma simple todo el recorrido del cliente dentro del sistema.
MENSAJE PRINCIPAL: El sistema no termina en la venta; termina cuando el cliente vuelve a comprar y el negocio puede escalar con confianza.
QUÉ EXPLICAR: Recorrer los 8 pasos de izquierda a derecha sin detenerse en tecnicismos. Cerrar con los tres principios que sostienen el recorrido: precisión, medición y continuidad.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Transmitir rigor analítico y transparencia total en la forma de medir resultados.
MENSAJE PRINCIPAL: No se optimiza por intuición; cada decisión se apoya en indicadores concretos.
QUÉ EXPLICAR: No profundizar técnicamente en cada métrica; basta con que Andrés entienda que existe un tablero claro detrás de cada ajuste que se haga.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Mostrar que el sistema sigue evolucionando después de la primera venta.
MENSAJE PRINCIPAL: Escalar no es invertir más sin control; es optimizar con base en lo que los datos muestran.
QUÉ EXPLICAR: Esta etapa es donde el sistema se vuelve rentable de forma sostenida, no solo en la primera compra.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Explicar el fundamento estratégico detrás de todo el sistema, en la pieza central de la presentación.
MENSAJE PRINCIPAL: El sistema funciona porque integra cinco elementos a la vez; ninguno por separado sostiene el crecimiento.
QUÉ EXPLICAR: Conectar cada pilar con lo ya observado en Hair Touch by Sandra: la oferta sólida (producto validado), la experiencia digital (web y redes), y así sucesivamente. Esta es la idea que Andrés debe recordar de toda la reunión.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Pintar una visión de futuro concreta y creíble, sin caer en promesas exageradas.
MENSAJE PRINCIPAL: El punto de partida ya es sólido; el sistema es lo que traduce ese punto de partida en una marca nacional reconocida.
QUÉ EXPLICAR: Evitar cifras o promesas de resultados. El objetivo es que Andrés visualice la evolución natural de la marca, apoyada en lo que ya existe hoy.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Dar seguridad mostrando un proceso ordenado y con tiempos realistas.
MENSAJE PRINCIPAL: El proceso es progresivo: primero se entiende, luego se construye, después se implementa y se optimiza.
QUÉ EXPLICAR: Enfatizar que el escalamiento (mes 2 en adelante) solo ocurre después de validar el sistema con datos reales, nunca antes.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Cerrar con una acción concreta y de bajo riesgo, sin sonar comercial.
MENSAJE PRINCIPAL: El siguiente paso no es firmar nada grande; es profundizar el entendimiento del negocio.
QUÉ EXPLICAR: Proponer fecha para la conversación de alineación antes de cerrar la reunión.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Cerrar con calidez y abrir el espacio de preguntas de forma natural.
MENSAJE PRINCIPAL: El mensaje final debe quedar grabado: ya existe un producto validado, falta el sistema que lo escale.
QUÉ EXPLICAR: Agradecer el tiempo, invitar abiertamente a preguntas y confirmar el siguiente paso acordado en la diapositiva anterior.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2.png"/><Relationship Id="rId5" Type="http://schemas.openxmlformats.org/officeDocument/2006/relationships/image" Target="../media/image-5-5.png"/><Relationship Id="rId6" Type="http://schemas.openxmlformats.org/officeDocument/2006/relationships/image" Target="../media/image-5-2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2.png"/><Relationship Id="rId5" Type="http://schemas.openxmlformats.org/officeDocument/2006/relationships/image" Target="../media/image-11-5.png"/><Relationship Id="rId6" Type="http://schemas.openxmlformats.org/officeDocument/2006/relationships/image" Target="../media/image-11-2.png"/><Relationship Id="rId7" Type="http://schemas.openxmlformats.org/officeDocument/2006/relationships/image" Target="../media/image-11-7.png"/><Relationship Id="rId8" Type="http://schemas.openxmlformats.org/officeDocument/2006/relationships/image" Target="../media/image-11-2.png"/><Relationship Id="rId9" Type="http://schemas.openxmlformats.org/officeDocument/2006/relationships/image" Target="../media/image-11-9.png"/><Relationship Id="rId10" Type="http://schemas.openxmlformats.org/officeDocument/2006/relationships/image" Target="../media/image-11-2.png"/><Relationship Id="rId11" Type="http://schemas.openxmlformats.org/officeDocument/2006/relationships/image" Target="../media/image-11-11.png"/><Relationship Id="rId12" Type="http://schemas.openxmlformats.org/officeDocument/2006/relationships/image" Target="../media/image-11-2.png"/><Relationship Id="rId13" Type="http://schemas.openxmlformats.org/officeDocument/2006/relationships/image" Target="../media/image-11-13.png"/><Relationship Id="rId14" Type="http://schemas.openxmlformats.org/officeDocument/2006/relationships/image" Target="../media/image-11-2.png"/><Relationship Id="rId15" Type="http://schemas.openxmlformats.org/officeDocument/2006/relationships/image" Target="../media/image-11-15.png"/><Relationship Id="rId16" Type="http://schemas.openxmlformats.org/officeDocument/2006/relationships/image" Target="../media/image-11-16.png"/><Relationship Id="rId17" Type="http://schemas.openxmlformats.org/officeDocument/2006/relationships/image" Target="../media/image-11-17.png"/><Relationship Id="rId18" Type="http://schemas.openxmlformats.org/officeDocument/2006/relationships/image" Target="../media/image-11-13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65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6F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DE CRECIMIENTO · MERCADO DE ESTADOS UNIDOS · 2026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23774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Hair Touch by Sandra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822960" y="3456432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D6D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un producto que ya funciona a una marca que crece de forma predecible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22960" y="4206240"/>
            <a:ext cx="2011680" cy="0"/>
          </a:xfrm>
          <a:prstGeom prst="line">
            <a:avLst/>
          </a:prstGeom>
          <a:noFill/>
          <a:ln w="25400">
            <a:solidFill>
              <a:srgbClr val="6FA9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6126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99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Preparado para Andrés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4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14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vamos a construir hoy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2103120"/>
            <a:ext cx="9144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645920" y="2103120"/>
            <a:ext cx="86868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soy y cómo trabajo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2807208"/>
            <a:ext cx="9692640" cy="0"/>
          </a:xfrm>
          <a:prstGeom prst="line">
            <a:avLst/>
          </a:prstGeom>
          <a:noFill/>
          <a:ln w="12700">
            <a:solidFill>
              <a:srgbClr val="E4E3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852928"/>
            <a:ext cx="9144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645920" y="2852928"/>
            <a:ext cx="86868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entiendo el crecimiento de un negocio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" y="3557016"/>
            <a:ext cx="9692640" cy="0"/>
          </a:xfrm>
          <a:prstGeom prst="line">
            <a:avLst/>
          </a:prstGeom>
          <a:noFill/>
          <a:ln w="12700">
            <a:solidFill>
              <a:srgbClr val="E4E3D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602736"/>
            <a:ext cx="9144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645920" y="3602736"/>
            <a:ext cx="86868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metodología de trabajo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40080" y="4306824"/>
            <a:ext cx="9692640" cy="0"/>
          </a:xfrm>
          <a:prstGeom prst="line">
            <a:avLst/>
          </a:prstGeom>
          <a:noFill/>
          <a:ln w="12700">
            <a:solidFill>
              <a:srgbClr val="E4E3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352544"/>
            <a:ext cx="9144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645920" y="4352544"/>
            <a:ext cx="86868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ya vemos en Hair Touch by Sandra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40080" y="5056632"/>
            <a:ext cx="9692640" cy="0"/>
          </a:xfrm>
          <a:prstGeom prst="line">
            <a:avLst/>
          </a:prstGeom>
          <a:noFill/>
          <a:ln w="12700">
            <a:solidFill>
              <a:srgbClr val="E4E3D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5102352"/>
            <a:ext cx="9144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645920" y="5102352"/>
            <a:ext cx="86868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Hacia dónde puede llegar la marca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4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14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administro anuncios. Construyo sistemas de crecimiento.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074920" cy="4023360"/>
          </a:xfrm>
          <a:prstGeom prst="roundRect">
            <a:avLst>
              <a:gd name="adj" fmla="val 1818"/>
            </a:avLst>
          </a:prstGeom>
          <a:solidFill>
            <a:srgbClr val="F5F5F3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228600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NO HAGO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288036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500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vendo publicidad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356616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500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vendo anuncios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425196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500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vendo clics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493776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500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prometo cifras exageradas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172200" y="1965960"/>
            <a:ext cx="5074920" cy="4023360"/>
          </a:xfrm>
          <a:prstGeom prst="roundRect">
            <a:avLst>
              <a:gd name="adj" fmla="val 1818"/>
            </a:avLst>
          </a:prstGeom>
          <a:solidFill>
            <a:srgbClr val="141412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28600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6F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SÍ HAGO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37960" y="288036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Construyo sistemas de adquisición de clientes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37960" y="356616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Entiendo el negocio antes de invertir un dólar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37960" y="425196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Integro estrategia, oferta y datos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37960" y="493776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Acompaño como socio, no como proveedor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4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F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FILOSOFÍA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2103120"/>
            <a:ext cx="10058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crecimiento no se compra.</a:t>
            </a:r>
            <a:endParaRPr lang="en-US" sz="4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construye.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77240" y="4114800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6D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campaña puede traer visitas. Solo un sistema construye clientes que compran, vuelven y recomiendan.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4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METODOLOGÍA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14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sistema de cuatro etapas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etapa responde una pregunta distinta del cliente.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7240" y="2743200"/>
            <a:ext cx="2331720" cy="2834640"/>
          </a:xfrm>
          <a:prstGeom prst="roundRect">
            <a:avLst>
              <a:gd name="adj" fmla="val 3137"/>
            </a:avLst>
          </a:prstGeom>
          <a:solidFill>
            <a:srgbClr val="F5F5F3"/>
          </a:solidFill>
          <a:ln/>
        </p:spPr>
      </p:sp>
      <p:sp>
        <p:nvSpPr>
          <p:cNvPr id="6" name="Shape 4"/>
          <p:cNvSpPr/>
          <p:nvPr/>
        </p:nvSpPr>
        <p:spPr>
          <a:xfrm>
            <a:off x="1577340" y="1993392"/>
            <a:ext cx="731520" cy="731520"/>
          </a:xfrm>
          <a:prstGeom prst="ellipse">
            <a:avLst/>
          </a:prstGeom>
          <a:solidFill>
            <a:srgbClr val="141412"/>
          </a:solidFill>
          <a:ln/>
        </p:spPr>
      </p:sp>
      <p:sp>
        <p:nvSpPr>
          <p:cNvPr id="7" name="Text 5"/>
          <p:cNvSpPr/>
          <p:nvPr/>
        </p:nvSpPr>
        <p:spPr>
          <a:xfrm>
            <a:off x="1577340" y="199339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560" dirty="0"/>
          </a:p>
        </p:txBody>
      </p:sp>
      <p:sp>
        <p:nvSpPr>
          <p:cNvPr id="8" name="Shape 6"/>
          <p:cNvSpPr/>
          <p:nvPr/>
        </p:nvSpPr>
        <p:spPr>
          <a:xfrm>
            <a:off x="1595628" y="3401568"/>
            <a:ext cx="694944" cy="69494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0" descr="/tmp/claude-0/-home-user-Presentaciones-y-varios/903c1196-30c4-57a8-b469-52313f1ce01c/scratchpad/andres/icons/eye_1F4A3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9364" y="3575304"/>
            <a:ext cx="347472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425196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14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Presentación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914400" y="47091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Conocer</a:t>
            </a:r>
            <a:endParaRPr lang="en-US" sz="1200" dirty="0"/>
          </a:p>
        </p:txBody>
      </p:sp>
      <p:pic>
        <p:nvPicPr>
          <p:cNvPr id="12" name="Image 1" descr="/tmp/claude-0/-home-user-Presentaciones-y-varios/903c1196-30c4-57a8-b469-52313f1ce01c/scratchpad/andres/icons/arrowRight_1F4A3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5536" y="3977640"/>
            <a:ext cx="246888" cy="246888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429000" y="2743200"/>
            <a:ext cx="2331720" cy="2834640"/>
          </a:xfrm>
          <a:prstGeom prst="roundRect">
            <a:avLst>
              <a:gd name="adj" fmla="val 3137"/>
            </a:avLst>
          </a:prstGeom>
          <a:solidFill>
            <a:srgbClr val="EAF0EC"/>
          </a:solidFill>
          <a:ln/>
        </p:spPr>
      </p:sp>
      <p:sp>
        <p:nvSpPr>
          <p:cNvPr id="14" name="Shape 10"/>
          <p:cNvSpPr/>
          <p:nvPr/>
        </p:nvSpPr>
        <p:spPr>
          <a:xfrm>
            <a:off x="4229100" y="1993392"/>
            <a:ext cx="731520" cy="731520"/>
          </a:xfrm>
          <a:prstGeom prst="ellipse">
            <a:avLst/>
          </a:prstGeom>
          <a:solidFill>
            <a:srgbClr val="141412"/>
          </a:solidFill>
          <a:ln/>
        </p:spPr>
      </p:sp>
      <p:sp>
        <p:nvSpPr>
          <p:cNvPr id="15" name="Text 11"/>
          <p:cNvSpPr/>
          <p:nvPr/>
        </p:nvSpPr>
        <p:spPr>
          <a:xfrm>
            <a:off x="4229100" y="199339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560" dirty="0"/>
          </a:p>
        </p:txBody>
      </p:sp>
      <p:sp>
        <p:nvSpPr>
          <p:cNvPr id="16" name="Shape 12"/>
          <p:cNvSpPr/>
          <p:nvPr/>
        </p:nvSpPr>
        <p:spPr>
          <a:xfrm>
            <a:off x="4247388" y="3401568"/>
            <a:ext cx="694944" cy="69494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/tmp/claude-0/-home-user-Presentaciones-y-varios/903c1196-30c4-57a8-b469-52313f1ce01c/scratchpad/andres/icons/search_1F4A3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1124" y="3575304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566160" y="425196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14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Evaluación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3566160" y="47091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</a:t>
            </a:r>
            <a:endParaRPr lang="en-US" sz="1200" dirty="0"/>
          </a:p>
        </p:txBody>
      </p:sp>
      <p:pic>
        <p:nvPicPr>
          <p:cNvPr id="20" name="Image 3" descr="/tmp/claude-0/-home-user-Presentaciones-y-varios/903c1196-30c4-57a8-b469-52313f1ce01c/scratchpad/andres/icons/arrowRight_1F4A3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7296" y="3977640"/>
            <a:ext cx="246888" cy="246888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6080760" y="2743200"/>
            <a:ext cx="2331720" cy="2834640"/>
          </a:xfrm>
          <a:prstGeom prst="roundRect">
            <a:avLst>
              <a:gd name="adj" fmla="val 3137"/>
            </a:avLst>
          </a:prstGeom>
          <a:solidFill>
            <a:srgbClr val="F5F5F3"/>
          </a:solidFill>
          <a:ln/>
        </p:spPr>
      </p:sp>
      <p:sp>
        <p:nvSpPr>
          <p:cNvPr id="22" name="Shape 16"/>
          <p:cNvSpPr/>
          <p:nvPr/>
        </p:nvSpPr>
        <p:spPr>
          <a:xfrm>
            <a:off x="6880860" y="1993392"/>
            <a:ext cx="731520" cy="731520"/>
          </a:xfrm>
          <a:prstGeom prst="ellipse">
            <a:avLst/>
          </a:prstGeom>
          <a:solidFill>
            <a:srgbClr val="141412"/>
          </a:solidFill>
          <a:ln/>
        </p:spPr>
      </p:sp>
      <p:sp>
        <p:nvSpPr>
          <p:cNvPr id="23" name="Text 17"/>
          <p:cNvSpPr/>
          <p:nvPr/>
        </p:nvSpPr>
        <p:spPr>
          <a:xfrm>
            <a:off x="6880860" y="199339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560" dirty="0"/>
          </a:p>
        </p:txBody>
      </p:sp>
      <p:sp>
        <p:nvSpPr>
          <p:cNvPr id="24" name="Shape 18"/>
          <p:cNvSpPr/>
          <p:nvPr/>
        </p:nvSpPr>
        <p:spPr>
          <a:xfrm>
            <a:off x="6899148" y="3401568"/>
            <a:ext cx="694944" cy="69494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5" name="Image 4" descr="/tmp/claude-0/-home-user-Presentaciones-y-varios/903c1196-30c4-57a8-b469-52313f1ce01c/scratchpad/andres/icons/filter_1F4A3C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2884" y="3575304"/>
            <a:ext cx="347472" cy="34747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217920" y="425196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14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Conversión</a:t>
            </a:r>
            <a:endParaRPr lang="en-US" sz="1700" dirty="0"/>
          </a:p>
        </p:txBody>
      </p:sp>
      <p:sp>
        <p:nvSpPr>
          <p:cNvPr id="27" name="Text 20"/>
          <p:cNvSpPr/>
          <p:nvPr/>
        </p:nvSpPr>
        <p:spPr>
          <a:xfrm>
            <a:off x="6217920" y="47091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Adquirir</a:t>
            </a:r>
            <a:endParaRPr lang="en-US" sz="1200" dirty="0"/>
          </a:p>
        </p:txBody>
      </p:sp>
      <p:pic>
        <p:nvPicPr>
          <p:cNvPr id="28" name="Image 5" descr="/tmp/claude-0/-home-user-Presentaciones-y-varios/903c1196-30c4-57a8-b469-52313f1ce01c/scratchpad/andres/icons/arrowRight_1F4A3C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9056" y="3977640"/>
            <a:ext cx="246888" cy="246888"/>
          </a:xfrm>
          <a:prstGeom prst="rect">
            <a:avLst/>
          </a:prstGeom>
        </p:spPr>
      </p:pic>
      <p:sp>
        <p:nvSpPr>
          <p:cNvPr id="29" name="Shape 21"/>
          <p:cNvSpPr/>
          <p:nvPr/>
        </p:nvSpPr>
        <p:spPr>
          <a:xfrm>
            <a:off x="8732520" y="2743200"/>
            <a:ext cx="2331720" cy="2834640"/>
          </a:xfrm>
          <a:prstGeom prst="roundRect">
            <a:avLst>
              <a:gd name="adj" fmla="val 3137"/>
            </a:avLst>
          </a:prstGeom>
          <a:solidFill>
            <a:srgbClr val="EAF0EC"/>
          </a:solidFill>
          <a:ln/>
        </p:spPr>
      </p:sp>
      <p:sp>
        <p:nvSpPr>
          <p:cNvPr id="30" name="Shape 22"/>
          <p:cNvSpPr/>
          <p:nvPr/>
        </p:nvSpPr>
        <p:spPr>
          <a:xfrm>
            <a:off x="9532620" y="1993392"/>
            <a:ext cx="731520" cy="731520"/>
          </a:xfrm>
          <a:prstGeom prst="ellipse">
            <a:avLst/>
          </a:prstGeom>
          <a:solidFill>
            <a:srgbClr val="141412"/>
          </a:solidFill>
          <a:ln/>
        </p:spPr>
      </p:sp>
      <p:sp>
        <p:nvSpPr>
          <p:cNvPr id="31" name="Text 23"/>
          <p:cNvSpPr/>
          <p:nvPr/>
        </p:nvSpPr>
        <p:spPr>
          <a:xfrm>
            <a:off x="9532620" y="199339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560" dirty="0"/>
          </a:p>
        </p:txBody>
      </p:sp>
      <p:sp>
        <p:nvSpPr>
          <p:cNvPr id="32" name="Shape 24"/>
          <p:cNvSpPr/>
          <p:nvPr/>
        </p:nvSpPr>
        <p:spPr>
          <a:xfrm>
            <a:off x="9550908" y="3401568"/>
            <a:ext cx="694944" cy="69494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3" name="Image 6" descr="/tmp/claude-0/-home-user-Presentaciones-y-varios/903c1196-30c4-57a8-b469-52313f1ce01c/scratchpad/andres/icons/sync_1F4A3C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24644" y="3575304"/>
            <a:ext cx="347472" cy="347472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8869680" y="425196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14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Ascensión</a:t>
            </a:r>
            <a:endParaRPr lang="en-US" sz="1700" dirty="0"/>
          </a:p>
        </p:txBody>
      </p:sp>
      <p:sp>
        <p:nvSpPr>
          <p:cNvPr id="35" name="Text 26"/>
          <p:cNvSpPr/>
          <p:nvPr/>
        </p:nvSpPr>
        <p:spPr>
          <a:xfrm>
            <a:off x="8869680" y="47091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Escalar</a:t>
            </a:r>
            <a:endParaRPr lang="en-US" sz="1200" dirty="0"/>
          </a:p>
        </p:txBody>
      </p:sp>
      <p:sp>
        <p:nvSpPr>
          <p:cNvPr id="36" name="Text 27"/>
          <p:cNvSpPr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una tanda de campañas: es un cliente que descubre, confía, compra y regresa.</a:t>
            </a:r>
            <a:endParaRPr lang="en-US" sz="1400" dirty="0"/>
          </a:p>
        </p:txBody>
      </p:sp>
      <p:sp>
        <p:nvSpPr>
          <p:cNvPr id="37" name="Text 2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4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777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6F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01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777240" y="1440180"/>
            <a:ext cx="1051560" cy="1051560"/>
          </a:xfrm>
          <a:prstGeom prst="ellipse">
            <a:avLst/>
          </a:prstGeom>
          <a:solidFill>
            <a:srgbClr val="6FA98A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44018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80" b="1" dirty="0">
                <a:solidFill>
                  <a:srgbClr val="1414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680" dirty="0"/>
          </a:p>
        </p:txBody>
      </p:sp>
      <p:sp>
        <p:nvSpPr>
          <p:cNvPr id="5" name="Text 3"/>
          <p:cNvSpPr/>
          <p:nvPr/>
        </p:nvSpPr>
        <p:spPr>
          <a:xfrm>
            <a:off x="2148840" y="141732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Presentación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2167128" y="214884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D6D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hablar de estrategia, quiero ser claro sobre cómo trabajo.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714500" y="3840480"/>
            <a:ext cx="640080" cy="640080"/>
          </a:xfrm>
          <a:prstGeom prst="ellipse">
            <a:avLst/>
          </a:prstGeom>
          <a:solidFill>
            <a:srgbClr val="201F1B"/>
          </a:solidFill>
          <a:ln/>
        </p:spPr>
      </p:sp>
      <p:pic>
        <p:nvPicPr>
          <p:cNvPr id="8" name="Image 0" descr="/tmp/claude-0/-home-user-Presentaciones-y-varios/903c1196-30c4-57a8-b469-52313f1ce01c/scratchpad/andres/icons/handshake_6FA98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68119" y="3994099"/>
            <a:ext cx="332842" cy="33284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461772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 de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crecimiento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485132" y="3840480"/>
            <a:ext cx="640080" cy="640080"/>
          </a:xfrm>
          <a:prstGeom prst="ellipse">
            <a:avLst/>
          </a:prstGeom>
          <a:solidFill>
            <a:srgbClr val="201F1B"/>
          </a:solidFill>
          <a:ln/>
        </p:spPr>
      </p:sp>
      <p:pic>
        <p:nvPicPr>
          <p:cNvPr id="11" name="Image 1" descr="/tmp/claude-0/-home-user-Presentaciones-y-varios/903c1196-30c4-57a8-b469-52313f1ce01c/scratchpad/andres/icons/layers_6FA98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8751" y="399409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47872" y="461772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Sistema,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campañas sueltas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7255764" y="3840480"/>
            <a:ext cx="640080" cy="640080"/>
          </a:xfrm>
          <a:prstGeom prst="ellipse">
            <a:avLst/>
          </a:prstGeom>
          <a:solidFill>
            <a:srgbClr val="201F1B"/>
          </a:solidFill>
          <a:ln/>
        </p:spPr>
      </p:sp>
      <p:pic>
        <p:nvPicPr>
          <p:cNvPr id="14" name="Image 2" descr="/tmp/claude-0/-home-user-Presentaciones-y-varios/903c1196-30c4-57a8-b469-52313f1ce01c/scratchpad/andres/icons/chart_6FA98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383" y="3994099"/>
            <a:ext cx="332842" cy="33284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318504" y="461772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basadas en datos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10026396" y="3840480"/>
            <a:ext cx="640080" cy="640080"/>
          </a:xfrm>
          <a:prstGeom prst="ellipse">
            <a:avLst/>
          </a:prstGeom>
          <a:solidFill>
            <a:srgbClr val="201F1B"/>
          </a:solidFill>
          <a:ln/>
        </p:spPr>
      </p:sp>
      <p:pic>
        <p:nvPicPr>
          <p:cNvPr id="17" name="Image 3" descr="/tmp/claude-0/-home-user-Presentaciones-y-varios/903c1196-30c4-57a8-b469-52313f1ce01c/scratchpad/andres/icons/flagUsa_6FA98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80015" y="3994099"/>
            <a:ext cx="332842" cy="33284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089136" y="461772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Enfoque exclusivo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EE.UU.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4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2 · EVALUACIÓN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698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414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de invertir un dólar, entendemos el negocio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84708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estrategia siempre empieza por comprender la empresa, no por lanzar anuncios.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42316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5F5F3"/>
          </a:solidFill>
          <a:ln/>
        </p:spPr>
      </p:sp>
      <p:sp>
        <p:nvSpPr>
          <p:cNvPr id="6" name="Shape 4"/>
          <p:cNvSpPr/>
          <p:nvPr/>
        </p:nvSpPr>
        <p:spPr>
          <a:xfrm>
            <a:off x="1604772" y="2587752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/tmp/claude-0/-home-user-Presentaciones-y-varios/903c1196-30c4-57a8-b469-52313f1ce01c/scratchpad/andres/icons/bag_1F4A3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5224" y="2728204"/>
            <a:ext cx="304312" cy="3043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32918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 y producto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383280" y="242316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5F5F3"/>
          </a:solidFill>
          <a:ln/>
        </p:spPr>
      </p:sp>
      <p:sp>
        <p:nvSpPr>
          <p:cNvPr id="10" name="Shape 7"/>
          <p:cNvSpPr/>
          <p:nvPr/>
        </p:nvSpPr>
        <p:spPr>
          <a:xfrm>
            <a:off x="4347972" y="2587752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/tmp/claude-0/-home-user-Presentaciones-y-varios/903c1196-30c4-57a8-b469-52313f1ce01c/scratchpad/andres/icons/dollar_1F4A3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8424" y="2728204"/>
            <a:ext cx="304312" cy="3043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20440" y="32918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promedio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126480" y="242316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5F5F3"/>
          </a:solidFill>
          <a:ln/>
        </p:spPr>
      </p:sp>
      <p:sp>
        <p:nvSpPr>
          <p:cNvPr id="14" name="Shape 10"/>
          <p:cNvSpPr/>
          <p:nvPr/>
        </p:nvSpPr>
        <p:spPr>
          <a:xfrm>
            <a:off x="7091172" y="2587752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2" descr="/tmp/claude-0/-home-user-Presentaciones-y-varios/903c1196-30c4-57a8-b469-52313f1ce01c/scratchpad/andres/icons/target_1F4A3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1624" y="2728204"/>
            <a:ext cx="304312" cy="30431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263640" y="32918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Competencia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8869680" y="242316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5F5F3"/>
          </a:solidFill>
          <a:ln/>
        </p:spPr>
      </p:sp>
      <p:sp>
        <p:nvSpPr>
          <p:cNvPr id="18" name="Shape 13"/>
          <p:cNvSpPr/>
          <p:nvPr/>
        </p:nvSpPr>
        <p:spPr>
          <a:xfrm>
            <a:off x="9834372" y="2587752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9" name="Image 3" descr="/tmp/claude-0/-home-user-Presentaciones-y-varios/903c1196-30c4-57a8-b469-52313f1ce01c/scratchpad/andres/icons/star_1F4A3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74824" y="2728204"/>
            <a:ext cx="304312" cy="30431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006840" y="32918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Diferenciadores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640080" y="406908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5F5F3"/>
          </a:solidFill>
          <a:ln/>
        </p:spPr>
      </p:sp>
      <p:sp>
        <p:nvSpPr>
          <p:cNvPr id="22" name="Shape 16"/>
          <p:cNvSpPr/>
          <p:nvPr/>
        </p:nvSpPr>
        <p:spPr>
          <a:xfrm>
            <a:off x="1604772" y="4233672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3" name="Image 4" descr="/tmp/claude-0/-home-user-Presentaciones-y-varios/903c1196-30c4-57a8-b469-52313f1ce01c/scratchpad/andres/icons/filter_1F4A3C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45224" y="4374124"/>
            <a:ext cx="304312" cy="30431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77240" y="49377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Embudo actual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3383280" y="406908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5F5F3"/>
          </a:solidFill>
          <a:ln/>
        </p:spPr>
      </p:sp>
      <p:sp>
        <p:nvSpPr>
          <p:cNvPr id="26" name="Shape 19"/>
          <p:cNvSpPr/>
          <p:nvPr/>
        </p:nvSpPr>
        <p:spPr>
          <a:xfrm>
            <a:off x="4347972" y="4233672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7" name="Image 5" descr="/tmp/claude-0/-home-user-Presentaciones-y-varios/903c1196-30c4-57a8-b469-52313f1ce01c/scratchpad/andres/icons/globe_1F4A3C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8424" y="4374124"/>
            <a:ext cx="304312" cy="30431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3520440" y="49377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y redes sociales</a:t>
            </a:r>
            <a:endParaRPr lang="en-US" sz="1200" dirty="0"/>
          </a:p>
        </p:txBody>
      </p:sp>
      <p:sp>
        <p:nvSpPr>
          <p:cNvPr id="29" name="Shape 21"/>
          <p:cNvSpPr/>
          <p:nvPr/>
        </p:nvSpPr>
        <p:spPr>
          <a:xfrm>
            <a:off x="6126480" y="406908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5F5F3"/>
          </a:solidFill>
          <a:ln/>
        </p:spPr>
      </p:sp>
      <p:sp>
        <p:nvSpPr>
          <p:cNvPr id="30" name="Shape 22"/>
          <p:cNvSpPr/>
          <p:nvPr/>
        </p:nvSpPr>
        <p:spPr>
          <a:xfrm>
            <a:off x="7091172" y="4233672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1" name="Image 6" descr="/tmp/claude-0/-home-user-Presentaciones-y-varios/903c1196-30c4-57a8-b469-52313f1ce01c/scratchpad/andres/icons/comment_1F4A3C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1624" y="4374124"/>
            <a:ext cx="304312" cy="304312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6263640" y="49377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comercial</a:t>
            </a:r>
            <a:endParaRPr lang="en-US" sz="1200" dirty="0"/>
          </a:p>
        </p:txBody>
      </p:sp>
      <p:sp>
        <p:nvSpPr>
          <p:cNvPr id="33" name="Shape 24"/>
          <p:cNvSpPr/>
          <p:nvPr/>
        </p:nvSpPr>
        <p:spPr>
          <a:xfrm>
            <a:off x="8869680" y="406908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5F5F3"/>
          </a:solidFill>
          <a:ln/>
        </p:spPr>
      </p:sp>
      <p:sp>
        <p:nvSpPr>
          <p:cNvPr id="34" name="Shape 25"/>
          <p:cNvSpPr/>
          <p:nvPr/>
        </p:nvSpPr>
        <p:spPr>
          <a:xfrm>
            <a:off x="9834372" y="4233672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5" name="Image 7" descr="/tmp/claude-0/-home-user-Presentaciones-y-varios/903c1196-30c4-57a8-b469-52313f1ce01c/scratchpad/andres/icons/chart_1F4A3C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74824" y="4374124"/>
            <a:ext cx="304312" cy="304312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9006840" y="49377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actuales</a:t>
            </a:r>
            <a:endParaRPr lang="en-US" sz="1200" dirty="0"/>
          </a:p>
        </p:txBody>
      </p:sp>
      <p:sp>
        <p:nvSpPr>
          <p:cNvPr id="37" name="Text 2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4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2 · EVALUACIÓN APLICADA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14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ya vemos en Hair Touch by Sandra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proponer nada, esto es lo que encontramos analizando la marca.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3337560" cy="2331720"/>
          </a:xfrm>
          <a:prstGeom prst="roundRect">
            <a:avLst>
              <a:gd name="adj" fmla="val 3137"/>
            </a:avLst>
          </a:prstGeom>
          <a:solidFill>
            <a:srgbClr val="F5F5F3"/>
          </a:solidFill>
          <a:ln/>
        </p:spPr>
      </p:sp>
      <p:sp>
        <p:nvSpPr>
          <p:cNvPr id="6" name="Shape 4"/>
          <p:cNvSpPr/>
          <p:nvPr/>
        </p:nvSpPr>
        <p:spPr>
          <a:xfrm>
            <a:off x="1943100" y="242316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/tmp/claude-0/-home-user-Presentaciones-y-varios/903c1196-30c4-57a8-b469-52313f1ce01c/scratchpad/andres/icons/tv_1F4A3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5980" y="260604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20040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414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TV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914400" y="379476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Trayectoria como periodista reconocida en medios hispanos de EE.UU.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297680" y="2148840"/>
            <a:ext cx="3337560" cy="2331720"/>
          </a:xfrm>
          <a:prstGeom prst="roundRect">
            <a:avLst>
              <a:gd name="adj" fmla="val 3137"/>
            </a:avLst>
          </a:prstGeom>
          <a:solidFill>
            <a:srgbClr val="F5F5F3"/>
          </a:solidFill>
          <a:ln/>
        </p:spPr>
      </p:sp>
      <p:sp>
        <p:nvSpPr>
          <p:cNvPr id="11" name="Shape 8"/>
          <p:cNvSpPr/>
          <p:nvPr/>
        </p:nvSpPr>
        <p:spPr>
          <a:xfrm>
            <a:off x="5600700" y="242316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/tmp/claude-0/-home-user-Presentaciones-y-varios/903c1196-30c4-57a8-b469-52313f1ce01c/scratchpad/andres/icons/star_1F4A3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3580" y="260604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297680" y="320040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414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585+</a:t>
            </a:r>
            <a:endParaRPr lang="en-US" sz="3000" dirty="0"/>
          </a:p>
        </p:txBody>
      </p:sp>
      <p:sp>
        <p:nvSpPr>
          <p:cNvPr id="14" name="Text 10"/>
          <p:cNvSpPr/>
          <p:nvPr/>
        </p:nvSpPr>
        <p:spPr>
          <a:xfrm>
            <a:off x="4572000" y="379476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Reseñas reales acumuladas por el salón físico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7955280" y="2148840"/>
            <a:ext cx="3337560" cy="2331720"/>
          </a:xfrm>
          <a:prstGeom prst="roundRect">
            <a:avLst>
              <a:gd name="adj" fmla="val 3137"/>
            </a:avLst>
          </a:prstGeom>
          <a:solidFill>
            <a:srgbClr val="F5F5F3"/>
          </a:solidFill>
          <a:ln/>
        </p:spPr>
      </p:sp>
      <p:sp>
        <p:nvSpPr>
          <p:cNvPr id="16" name="Shape 12"/>
          <p:cNvSpPr/>
          <p:nvPr/>
        </p:nvSpPr>
        <p:spPr>
          <a:xfrm>
            <a:off x="9258300" y="242316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/tmp/claude-0/-home-user-Presentaciones-y-varios/903c1196-30c4-57a8-b469-52313f1ce01c/scratchpad/andres/icons/instagram_1F4A3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1180" y="260604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955280" y="320040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414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5.500+</a:t>
            </a:r>
            <a:endParaRPr lang="en-US" sz="3000" dirty="0"/>
          </a:p>
        </p:txBody>
      </p:sp>
      <p:sp>
        <p:nvSpPr>
          <p:cNvPr id="19" name="Text 14"/>
          <p:cNvSpPr/>
          <p:nvPr/>
        </p:nvSpPr>
        <p:spPr>
          <a:xfrm>
            <a:off x="8229600" y="379476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Publicaciones ya creadas: un motor de contenido activo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40080" y="480060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EAF0EC"/>
          </a:solidFill>
          <a:ln/>
        </p:spPr>
      </p:sp>
      <p:sp>
        <p:nvSpPr>
          <p:cNvPr id="21" name="Shape 16"/>
          <p:cNvSpPr/>
          <p:nvPr/>
        </p:nvSpPr>
        <p:spPr>
          <a:xfrm>
            <a:off x="1143000" y="5056632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3" descr="/tmp/claude-0/-home-user-Presentaciones-y-varios/903c1196-30c4-57a8-b469-52313f1ce01c/scratchpad/andres/icons/leaf_1F4A3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6444" y="5180076"/>
            <a:ext cx="301752" cy="30175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600200" y="489204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producto ancla trabaja con aceite de romero para la circulación del cuero cabelludo: un ingrediente con demanda creciente y en tendencia en Estados Unidos.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4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F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2 · HALLAZGOS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Dónde está el mayor potencial de crecimiento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257800" cy="1371600"/>
          </a:xfrm>
          <a:prstGeom prst="roundRect">
            <a:avLst>
              <a:gd name="adj" fmla="val 5333"/>
            </a:avLst>
          </a:prstGeom>
          <a:solidFill>
            <a:srgbClr val="201F1B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2368296"/>
            <a:ext cx="566928" cy="566928"/>
          </a:xfrm>
          <a:prstGeom prst="ellipse">
            <a:avLst/>
          </a:prstGeom>
          <a:solidFill>
            <a:srgbClr val="2B2A25"/>
          </a:solidFill>
          <a:ln/>
        </p:spPr>
      </p:sp>
      <p:pic>
        <p:nvPicPr>
          <p:cNvPr id="6" name="Image 0" descr="/tmp/claude-0/-home-user-Presentaciones-y-varios/903c1196-30c4-57a8-b469-52313f1ce01c/scratchpad/andres/icons/users_6FA98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0559" y="2495855"/>
            <a:ext cx="311810" cy="31181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075688"/>
            <a:ext cx="402336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autoridad y el volumen de contenido ya existen; lo que falta es un sistema que convierta ese alcance en una audiencia que compra de forma constante.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217920" y="1965960"/>
            <a:ext cx="5257800" cy="1371600"/>
          </a:xfrm>
          <a:prstGeom prst="roundRect">
            <a:avLst>
              <a:gd name="adj" fmla="val 5333"/>
            </a:avLst>
          </a:prstGeom>
          <a:solidFill>
            <a:srgbClr val="201F1B"/>
          </a:solidFill>
          <a:ln/>
        </p:spPr>
      </p:sp>
      <p:sp>
        <p:nvSpPr>
          <p:cNvPr id="9" name="Shape 6"/>
          <p:cNvSpPr/>
          <p:nvPr/>
        </p:nvSpPr>
        <p:spPr>
          <a:xfrm>
            <a:off x="6720840" y="2368296"/>
            <a:ext cx="566928" cy="566928"/>
          </a:xfrm>
          <a:prstGeom prst="ellipse">
            <a:avLst/>
          </a:prstGeom>
          <a:solidFill>
            <a:srgbClr val="2B2A25"/>
          </a:solidFill>
          <a:ln/>
        </p:spPr>
      </p:sp>
      <p:pic>
        <p:nvPicPr>
          <p:cNvPr id="10" name="Image 1" descr="/tmp/claude-0/-home-user-Presentaciones-y-varios/903c1196-30c4-57a8-b469-52313f1ce01c/scratchpad/andres/icons/shield_6FA98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8399" y="2495855"/>
            <a:ext cx="311810" cy="3118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178040" y="2075688"/>
            <a:ext cx="402336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confianza que hoy vive en las reseñas del salón físico todavía no se traslada de forma visible a la tienda de productos en línea.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40080" y="3593592"/>
            <a:ext cx="5257800" cy="1371600"/>
          </a:xfrm>
          <a:prstGeom prst="roundRect">
            <a:avLst>
              <a:gd name="adj" fmla="val 5333"/>
            </a:avLst>
          </a:prstGeom>
          <a:solidFill>
            <a:srgbClr val="201F1B"/>
          </a:solidFill>
          <a:ln/>
        </p:spPr>
      </p:sp>
      <p:sp>
        <p:nvSpPr>
          <p:cNvPr id="13" name="Shape 9"/>
          <p:cNvSpPr/>
          <p:nvPr/>
        </p:nvSpPr>
        <p:spPr>
          <a:xfrm>
            <a:off x="1143000" y="3995928"/>
            <a:ext cx="566928" cy="566928"/>
          </a:xfrm>
          <a:prstGeom prst="ellipse">
            <a:avLst/>
          </a:prstGeom>
          <a:solidFill>
            <a:srgbClr val="2B2A25"/>
          </a:solidFill>
          <a:ln/>
        </p:spPr>
      </p:sp>
      <p:pic>
        <p:nvPicPr>
          <p:cNvPr id="14" name="Image 2" descr="/tmp/claude-0/-home-user-Presentaciones-y-varios/903c1196-30c4-57a8-b469-52313f1ce01c/scratchpad/andres/icons/flagUsa_6FA98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559" y="4123487"/>
            <a:ext cx="311810" cy="31181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00200" y="3703320"/>
            <a:ext cx="402336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 una audiencia bicultural en EE.UU. con alta afinidad hacia la marca, hoy desatendida por las marcas de haircare genéricas.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217920" y="3593592"/>
            <a:ext cx="5257800" cy="1371600"/>
          </a:xfrm>
          <a:prstGeom prst="roundRect">
            <a:avLst>
              <a:gd name="adj" fmla="val 5333"/>
            </a:avLst>
          </a:prstGeom>
          <a:solidFill>
            <a:srgbClr val="201F1B"/>
          </a:solidFill>
          <a:ln/>
        </p:spPr>
      </p:sp>
      <p:sp>
        <p:nvSpPr>
          <p:cNvPr id="17" name="Shape 12"/>
          <p:cNvSpPr/>
          <p:nvPr/>
        </p:nvSpPr>
        <p:spPr>
          <a:xfrm>
            <a:off x="6720840" y="3995928"/>
            <a:ext cx="566928" cy="566928"/>
          </a:xfrm>
          <a:prstGeom prst="ellipse">
            <a:avLst/>
          </a:prstGeom>
          <a:solidFill>
            <a:srgbClr val="2B2A25"/>
          </a:solidFill>
          <a:ln/>
        </p:spPr>
      </p:sp>
      <p:pic>
        <p:nvPicPr>
          <p:cNvPr id="18" name="Image 3" descr="/tmp/claude-0/-home-user-Presentaciones-y-varios/903c1196-30c4-57a8-b469-52313f1ce01c/scratchpad/andres/icons/tiktok_6FA98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8399" y="4123487"/>
            <a:ext cx="311810" cy="31181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178040" y="3703320"/>
            <a:ext cx="402336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hay presencia activa en TikTok: una puerta de entrada natural para un sistema de adquisición hacia la tienda de productos.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4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777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6F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03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777240" y="1440180"/>
            <a:ext cx="1051560" cy="1051560"/>
          </a:xfrm>
          <a:prstGeom prst="ellipse">
            <a:avLst/>
          </a:prstGeom>
          <a:solidFill>
            <a:srgbClr val="6FA98A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44018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80" b="1" dirty="0">
                <a:solidFill>
                  <a:srgbClr val="1414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680" dirty="0"/>
          </a:p>
        </p:txBody>
      </p:sp>
      <p:sp>
        <p:nvSpPr>
          <p:cNvPr id="5" name="Text 3"/>
          <p:cNvSpPr/>
          <p:nvPr/>
        </p:nvSpPr>
        <p:spPr>
          <a:xfrm>
            <a:off x="2148840" y="141732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Conversión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2167128" y="214884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D6D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buscamos tráfico. Buscamos clientes.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714500" y="3840480"/>
            <a:ext cx="640080" cy="640080"/>
          </a:xfrm>
          <a:prstGeom prst="ellipse">
            <a:avLst/>
          </a:prstGeom>
          <a:solidFill>
            <a:srgbClr val="201F1B"/>
          </a:solidFill>
          <a:ln/>
        </p:spPr>
      </p:sp>
      <p:pic>
        <p:nvPicPr>
          <p:cNvPr id="8" name="Image 0" descr="/tmp/claude-0/-home-user-Presentaciones-y-varios/903c1196-30c4-57a8-b469-52313f1ce01c/scratchpad/andres/icons/globe_6FA98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68119" y="3994099"/>
            <a:ext cx="332842" cy="33284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461772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Experiencia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consistente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485132" y="3840480"/>
            <a:ext cx="640080" cy="640080"/>
          </a:xfrm>
          <a:prstGeom prst="ellipse">
            <a:avLst/>
          </a:prstGeom>
          <a:solidFill>
            <a:srgbClr val="201F1B"/>
          </a:solidFill>
          <a:ln/>
        </p:spPr>
      </p:sp>
      <p:pic>
        <p:nvPicPr>
          <p:cNvPr id="11" name="Image 1" descr="/tmp/claude-0/-home-user-Presentaciones-y-varios/903c1196-30c4-57a8-b469-52313f1ce01c/scratchpad/andres/icons/sync_6FA98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8751" y="399409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47872" y="461772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remarketing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7255764" y="3840480"/>
            <a:ext cx="640080" cy="640080"/>
          </a:xfrm>
          <a:prstGeom prst="ellipse">
            <a:avLst/>
          </a:prstGeom>
          <a:solidFill>
            <a:srgbClr val="201F1B"/>
          </a:solidFill>
          <a:ln/>
        </p:spPr>
      </p:sp>
      <p:pic>
        <p:nvPicPr>
          <p:cNvPr id="14" name="Image 2" descr="/tmp/claude-0/-home-user-Presentaciones-y-varios/903c1196-30c4-57a8-b469-52313f1ce01c/scratchpad/andres/icons/comment_6FA98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383" y="3994099"/>
            <a:ext cx="332842" cy="33284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318504" y="461772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CRM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10026396" y="3840480"/>
            <a:ext cx="640080" cy="640080"/>
          </a:xfrm>
          <a:prstGeom prst="ellipse">
            <a:avLst/>
          </a:prstGeom>
          <a:solidFill>
            <a:srgbClr val="201F1B"/>
          </a:solidFill>
          <a:ln/>
        </p:spPr>
      </p:sp>
      <p:pic>
        <p:nvPicPr>
          <p:cNvPr id="17" name="Image 3" descr="/tmp/claude-0/-home-user-Presentaciones-y-varios/903c1196-30c4-57a8-b469-52313f1ce01c/scratchpad/andres/icons/gear_6FA98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80015" y="3994099"/>
            <a:ext cx="332842" cy="33284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089136" y="461772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Automatizaciones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proceso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4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EN ACCIÓN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14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recorrido que convierte visitantes en clientes recurrentes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23544" y="2514600"/>
            <a:ext cx="731520" cy="731520"/>
          </a:xfrm>
          <a:prstGeom prst="ellipse">
            <a:avLst/>
          </a:prstGeom>
          <a:solidFill>
            <a:srgbClr val="F5F5F3"/>
          </a:solidFill>
          <a:ln/>
        </p:spPr>
      </p:sp>
      <p:pic>
        <p:nvPicPr>
          <p:cNvPr id="5" name="Image 0" descr="/tmp/claude-0/-home-user-Presentaciones-y-varios/903c1196-30c4-57a8-b469-52313f1ce01c/scratchpad/andres/icons/globe_1F4A3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" y="2679192"/>
            <a:ext cx="402336" cy="402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3383280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Tráfico</a:t>
            </a:r>
            <a:endParaRPr lang="en-US" sz="1000" dirty="0"/>
          </a:p>
        </p:txBody>
      </p:sp>
      <p:pic>
        <p:nvPicPr>
          <p:cNvPr id="7" name="Image 1" descr="/tmp/claude-0/-home-user-Presentaciones-y-varios/903c1196-30c4-57a8-b469-52313f1ce01c/scratchpad/andres/icons/arrowRight_6B6B6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3100" y="2788920"/>
            <a:ext cx="182880" cy="1828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322576" y="2514600"/>
            <a:ext cx="731520" cy="731520"/>
          </a:xfrm>
          <a:prstGeom prst="ellipse">
            <a:avLst/>
          </a:prstGeom>
          <a:solidFill>
            <a:srgbClr val="F5F5F3"/>
          </a:solidFill>
          <a:ln/>
        </p:spPr>
      </p:sp>
      <p:pic>
        <p:nvPicPr>
          <p:cNvPr id="9" name="Image 2" descr="/tmp/claude-0/-home-user-Presentaciones-y-varios/903c1196-30c4-57a8-b469-52313f1ce01c/scratchpad/andres/icons/layers_1F4A3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7168" y="2679192"/>
            <a:ext cx="402336" cy="40233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965960" y="3383280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</a:t>
            </a:r>
            <a:endParaRPr lang="en-US" sz="1000" dirty="0"/>
          </a:p>
        </p:txBody>
      </p:sp>
      <p:pic>
        <p:nvPicPr>
          <p:cNvPr id="11" name="Image 3" descr="/tmp/claude-0/-home-user-Presentaciones-y-varios/903c1196-30c4-57a8-b469-52313f1ce01c/scratchpad/andres/icons/arrowRight_6B6B66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2132" y="2788920"/>
            <a:ext cx="182880" cy="182880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3721608" y="2514600"/>
            <a:ext cx="731520" cy="731520"/>
          </a:xfrm>
          <a:prstGeom prst="ellipse">
            <a:avLst/>
          </a:prstGeom>
          <a:solidFill>
            <a:srgbClr val="F5F5F3"/>
          </a:solidFill>
          <a:ln/>
        </p:spPr>
      </p:sp>
      <p:pic>
        <p:nvPicPr>
          <p:cNvPr id="13" name="Image 4" descr="/tmp/claude-0/-home-user-Presentaciones-y-varios/903c1196-30c4-57a8-b469-52313f1ce01c/scratchpad/andres/icons/users_1F4A3C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6200" y="2679192"/>
            <a:ext cx="402336" cy="402336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3364992" y="3383280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</a:t>
            </a:r>
            <a:endParaRPr lang="en-US" sz="1000" dirty="0"/>
          </a:p>
        </p:txBody>
      </p:sp>
      <p:pic>
        <p:nvPicPr>
          <p:cNvPr id="15" name="Image 5" descr="/tmp/claude-0/-home-user-Presentaciones-y-varios/903c1196-30c4-57a8-b469-52313f1ce01c/scratchpad/andres/icons/arrowRight_6B6B66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41164" y="2788920"/>
            <a:ext cx="182880" cy="182880"/>
          </a:xfrm>
          <a:prstGeom prst="rect">
            <a:avLst/>
          </a:prstGeom>
        </p:spPr>
      </p:pic>
      <p:sp>
        <p:nvSpPr>
          <p:cNvPr id="16" name="Shape 8"/>
          <p:cNvSpPr/>
          <p:nvPr/>
        </p:nvSpPr>
        <p:spPr>
          <a:xfrm>
            <a:off x="5120640" y="2514600"/>
            <a:ext cx="731520" cy="731520"/>
          </a:xfrm>
          <a:prstGeom prst="ellipse">
            <a:avLst/>
          </a:prstGeom>
          <a:solidFill>
            <a:srgbClr val="F5F5F3"/>
          </a:solidFill>
          <a:ln/>
        </p:spPr>
      </p:sp>
      <p:pic>
        <p:nvPicPr>
          <p:cNvPr id="17" name="Image 6" descr="/tmp/claude-0/-home-user-Presentaciones-y-varios/903c1196-30c4-57a8-b469-52313f1ce01c/scratchpad/andres/icons/comment_1F4A3C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85232" y="2679192"/>
            <a:ext cx="402336" cy="402336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4764024" y="3383280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</a:t>
            </a:r>
            <a:endParaRPr lang="en-US" sz="1000" dirty="0"/>
          </a:p>
        </p:txBody>
      </p:sp>
      <p:pic>
        <p:nvPicPr>
          <p:cNvPr id="19" name="Image 7" descr="/tmp/claude-0/-home-user-Presentaciones-y-varios/903c1196-30c4-57a8-b469-52313f1ce01c/scratchpad/andres/icons/arrowRight_6B6B66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40196" y="2788920"/>
            <a:ext cx="182880" cy="182880"/>
          </a:xfrm>
          <a:prstGeom prst="rect">
            <a:avLst/>
          </a:prstGeom>
        </p:spPr>
      </p:pic>
      <p:sp>
        <p:nvSpPr>
          <p:cNvPr id="20" name="Shape 10"/>
          <p:cNvSpPr/>
          <p:nvPr/>
        </p:nvSpPr>
        <p:spPr>
          <a:xfrm>
            <a:off x="6519672" y="2514600"/>
            <a:ext cx="731520" cy="731520"/>
          </a:xfrm>
          <a:prstGeom prst="ellipse">
            <a:avLst/>
          </a:prstGeom>
          <a:solidFill>
            <a:srgbClr val="F5F5F3"/>
          </a:solidFill>
          <a:ln/>
        </p:spPr>
      </p:sp>
      <p:pic>
        <p:nvPicPr>
          <p:cNvPr id="21" name="Image 8" descr="/tmp/claude-0/-home-user-Presentaciones-y-varios/903c1196-30c4-57a8-b469-52313f1ce01c/scratchpad/andres/icons/bag_1F4A3C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84264" y="2679192"/>
            <a:ext cx="402336" cy="402336"/>
          </a:xfrm>
          <a:prstGeom prst="rect">
            <a:avLst/>
          </a:prstGeom>
        </p:spPr>
      </p:pic>
      <p:sp>
        <p:nvSpPr>
          <p:cNvPr id="22" name="Text 11"/>
          <p:cNvSpPr/>
          <p:nvPr/>
        </p:nvSpPr>
        <p:spPr>
          <a:xfrm>
            <a:off x="6163056" y="3383280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</a:t>
            </a:r>
            <a:endParaRPr lang="en-US" sz="1000" dirty="0"/>
          </a:p>
        </p:txBody>
      </p:sp>
      <p:pic>
        <p:nvPicPr>
          <p:cNvPr id="23" name="Image 9" descr="/tmp/claude-0/-home-user-Presentaciones-y-varios/903c1196-30c4-57a8-b469-52313f1ce01c/scratchpad/andres/icons/arrowRight_6B6B66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39228" y="2788920"/>
            <a:ext cx="182880" cy="182880"/>
          </a:xfrm>
          <a:prstGeom prst="rect">
            <a:avLst/>
          </a:prstGeom>
        </p:spPr>
      </p:pic>
      <p:sp>
        <p:nvSpPr>
          <p:cNvPr id="24" name="Shape 12"/>
          <p:cNvSpPr/>
          <p:nvPr/>
        </p:nvSpPr>
        <p:spPr>
          <a:xfrm>
            <a:off x="7918704" y="2514600"/>
            <a:ext cx="731520" cy="731520"/>
          </a:xfrm>
          <a:prstGeom prst="ellipse">
            <a:avLst/>
          </a:prstGeom>
          <a:solidFill>
            <a:srgbClr val="F5F5F3"/>
          </a:solidFill>
          <a:ln/>
        </p:spPr>
      </p:sp>
      <p:pic>
        <p:nvPicPr>
          <p:cNvPr id="25" name="Image 10" descr="/tmp/claude-0/-home-user-Presentaciones-y-varios/903c1196-30c4-57a8-b469-52313f1ce01c/scratchpad/andres/icons/heart_1F4A3C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83296" y="2679192"/>
            <a:ext cx="402336" cy="402336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7562088" y="3383280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000" dirty="0"/>
          </a:p>
        </p:txBody>
      </p:sp>
      <p:pic>
        <p:nvPicPr>
          <p:cNvPr id="27" name="Image 11" descr="/tmp/claude-0/-home-user-Presentaciones-y-varios/903c1196-30c4-57a8-b469-52313f1ce01c/scratchpad/andres/icons/arrowRight_6B6B66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38260" y="2788920"/>
            <a:ext cx="182880" cy="182880"/>
          </a:xfrm>
          <a:prstGeom prst="rect">
            <a:avLst/>
          </a:prstGeom>
        </p:spPr>
      </p:pic>
      <p:sp>
        <p:nvSpPr>
          <p:cNvPr id="28" name="Shape 14"/>
          <p:cNvSpPr/>
          <p:nvPr/>
        </p:nvSpPr>
        <p:spPr>
          <a:xfrm>
            <a:off x="9317736" y="2514600"/>
            <a:ext cx="731520" cy="731520"/>
          </a:xfrm>
          <a:prstGeom prst="ellipse">
            <a:avLst/>
          </a:prstGeom>
          <a:solidFill>
            <a:srgbClr val="F5F5F3"/>
          </a:solidFill>
          <a:ln/>
        </p:spPr>
      </p:sp>
      <p:pic>
        <p:nvPicPr>
          <p:cNvPr id="29" name="Image 12" descr="/tmp/claude-0/-home-user-Presentaciones-y-varios/903c1196-30c4-57a8-b469-52313f1ce01c/scratchpad/andres/icons/sync_1F4A3C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482328" y="2679192"/>
            <a:ext cx="402336" cy="402336"/>
          </a:xfrm>
          <a:prstGeom prst="rect">
            <a:avLst/>
          </a:prstGeom>
        </p:spPr>
      </p:pic>
      <p:sp>
        <p:nvSpPr>
          <p:cNvPr id="30" name="Text 15"/>
          <p:cNvSpPr/>
          <p:nvPr/>
        </p:nvSpPr>
        <p:spPr>
          <a:xfrm>
            <a:off x="8961120" y="3383280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Recurrente</a:t>
            </a:r>
            <a:endParaRPr lang="en-US" sz="1000" dirty="0"/>
          </a:p>
        </p:txBody>
      </p:sp>
      <p:pic>
        <p:nvPicPr>
          <p:cNvPr id="31" name="Image 13" descr="/tmp/claude-0/-home-user-Presentaciones-y-varios/903c1196-30c4-57a8-b469-52313f1ce01c/scratchpad/andres/icons/arrowRight_6B6B66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337292" y="2788920"/>
            <a:ext cx="182880" cy="182880"/>
          </a:xfrm>
          <a:prstGeom prst="rect">
            <a:avLst/>
          </a:prstGeom>
        </p:spPr>
      </p:pic>
      <p:sp>
        <p:nvSpPr>
          <p:cNvPr id="32" name="Shape 16"/>
          <p:cNvSpPr/>
          <p:nvPr/>
        </p:nvSpPr>
        <p:spPr>
          <a:xfrm>
            <a:off x="10716768" y="2514600"/>
            <a:ext cx="731520" cy="731520"/>
          </a:xfrm>
          <a:prstGeom prst="ellipse">
            <a:avLst/>
          </a:prstGeom>
          <a:solidFill>
            <a:srgbClr val="1F4A3C"/>
          </a:solidFill>
          <a:ln/>
        </p:spPr>
      </p:sp>
      <p:pic>
        <p:nvPicPr>
          <p:cNvPr id="33" name="Image 14" descr="/tmp/claude-0/-home-user-Presentaciones-y-varios/903c1196-30c4-57a8-b469-52313f1ce01c/scratchpad/andres/icons/rocket_FFFFFF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881360" y="2679192"/>
            <a:ext cx="402336" cy="402336"/>
          </a:xfrm>
          <a:prstGeom prst="rect">
            <a:avLst/>
          </a:prstGeom>
        </p:spPr>
      </p:pic>
      <p:sp>
        <p:nvSpPr>
          <p:cNvPr id="34" name="Text 17"/>
          <p:cNvSpPr/>
          <p:nvPr/>
        </p:nvSpPr>
        <p:spPr>
          <a:xfrm>
            <a:off x="10360152" y="3383280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Escalamiento</a:t>
            </a:r>
            <a:endParaRPr lang="en-US" sz="1000" dirty="0"/>
          </a:p>
        </p:txBody>
      </p:sp>
      <p:sp>
        <p:nvSpPr>
          <p:cNvPr id="35" name="Text 18"/>
          <p:cNvSpPr/>
          <p:nvPr/>
        </p:nvSpPr>
        <p:spPr>
          <a:xfrm>
            <a:off x="640080" y="46634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etapa del recorrido tiene un objetivo propio. El sistema conecta los datos de una etapa con la siguiente para que ningún cliente se pierda en el camino.</a:t>
            </a:r>
            <a:endParaRPr lang="en-US" sz="1400" dirty="0"/>
          </a:p>
        </p:txBody>
      </p:sp>
      <p:pic>
        <p:nvPicPr>
          <p:cNvPr id="36" name="Image 15" descr="/tmp/claude-0/-home-user-Presentaciones-y-varios/903c1196-30c4-57a8-b469-52313f1ce01c/scratchpad/andres/icons/target_1F4A3C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0080" y="5486400"/>
            <a:ext cx="320040" cy="320040"/>
          </a:xfrm>
          <a:prstGeom prst="rect">
            <a:avLst/>
          </a:prstGeom>
        </p:spPr>
      </p:pic>
      <p:sp>
        <p:nvSpPr>
          <p:cNvPr id="37" name="Text 19"/>
          <p:cNvSpPr/>
          <p:nvPr/>
        </p:nvSpPr>
        <p:spPr>
          <a:xfrm>
            <a:off x="1078992" y="5413248"/>
            <a:ext cx="2990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Precisión: </a:t>
            </a:r>
            <a:pPr indent="0" marL="0">
              <a:buNone/>
            </a:pPr>
            <a:r>
              <a:rPr lang="en-US" sz="11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paso se dirige a la persona correcta.</a:t>
            </a:r>
            <a:endParaRPr lang="en-US" sz="1100" dirty="0"/>
          </a:p>
        </p:txBody>
      </p:sp>
      <p:pic>
        <p:nvPicPr>
          <p:cNvPr id="38" name="Image 16" descr="/tmp/claude-0/-home-user-Presentaciones-y-varios/903c1196-30c4-57a8-b469-52313f1ce01c/scratchpad/andres/icons/chart_1F4A3C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343400" y="5486400"/>
            <a:ext cx="320040" cy="320040"/>
          </a:xfrm>
          <a:prstGeom prst="rect">
            <a:avLst/>
          </a:prstGeom>
        </p:spPr>
      </p:pic>
      <p:sp>
        <p:nvSpPr>
          <p:cNvPr id="39" name="Text 20"/>
          <p:cNvSpPr/>
          <p:nvPr/>
        </p:nvSpPr>
        <p:spPr>
          <a:xfrm>
            <a:off x="4782312" y="5413248"/>
            <a:ext cx="2990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Medición: </a:t>
            </a:r>
            <a:pPr indent="0" marL="0">
              <a:buNone/>
            </a:pPr>
            <a:r>
              <a:rPr lang="en-US" sz="11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movimiento se registra y se analiza.</a:t>
            </a:r>
            <a:endParaRPr lang="en-US" sz="1100" dirty="0"/>
          </a:p>
        </p:txBody>
      </p:sp>
      <p:pic>
        <p:nvPicPr>
          <p:cNvPr id="40" name="Image 17" descr="/tmp/claude-0/-home-user-Presentaciones-y-varios/903c1196-30c4-57a8-b469-52313f1ce01c/scratchpad/andres/icons/sync_1F4A3C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46720" y="5486400"/>
            <a:ext cx="320040" cy="320040"/>
          </a:xfrm>
          <a:prstGeom prst="rect">
            <a:avLst/>
          </a:prstGeom>
        </p:spPr>
      </p:pic>
      <p:sp>
        <p:nvSpPr>
          <p:cNvPr id="41" name="Text 21"/>
          <p:cNvSpPr/>
          <p:nvPr/>
        </p:nvSpPr>
        <p:spPr>
          <a:xfrm>
            <a:off x="8485632" y="5413248"/>
            <a:ext cx="2990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Continuidad: </a:t>
            </a:r>
            <a:pPr indent="0" marL="0">
              <a:buNone/>
            </a:pPr>
            <a:r>
              <a:rPr lang="en-US" sz="11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nunca se queda sin seguimiento.</a:t>
            </a:r>
            <a:endParaRPr lang="en-US" sz="1100" dirty="0"/>
          </a:p>
        </p:txBody>
      </p:sp>
      <p:sp>
        <p:nvSpPr>
          <p:cNvPr id="42" name="Text 2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4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 DE DATOS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14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decisión se toma con datos, no con opiniones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2514600" cy="1691640"/>
          </a:xfrm>
          <a:prstGeom prst="roundRect">
            <a:avLst>
              <a:gd name="adj" fmla="val 4324"/>
            </a:avLst>
          </a:prstGeom>
          <a:solidFill>
            <a:srgbClr val="F5F5F3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33172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4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CPL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68680" y="280720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por Lead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3227832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Cuánto cuesta cada persona interesada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83280" y="2148840"/>
            <a:ext cx="2514600" cy="1691640"/>
          </a:xfrm>
          <a:prstGeom prst="roundRect">
            <a:avLst>
              <a:gd name="adj" fmla="val 4324"/>
            </a:avLst>
          </a:prstGeom>
          <a:solidFill>
            <a:srgbClr val="F5F5F3"/>
          </a:solidFill>
          <a:ln/>
        </p:spPr>
      </p:sp>
      <p:sp>
        <p:nvSpPr>
          <p:cNvPr id="9" name="Text 7"/>
          <p:cNvSpPr/>
          <p:nvPr/>
        </p:nvSpPr>
        <p:spPr>
          <a:xfrm>
            <a:off x="3611880" y="233172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4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CPA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3611880" y="280720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por Compra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11880" y="3227832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Cuánto cuesta cada cliente nuevo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2148840"/>
            <a:ext cx="2514600" cy="1691640"/>
          </a:xfrm>
          <a:prstGeom prst="roundRect">
            <a:avLst>
              <a:gd name="adj" fmla="val 4324"/>
            </a:avLst>
          </a:prstGeom>
          <a:solidFill>
            <a:srgbClr val="F5F5F3"/>
          </a:solidFill>
          <a:ln/>
        </p:spPr>
      </p:sp>
      <p:sp>
        <p:nvSpPr>
          <p:cNvPr id="13" name="Text 11"/>
          <p:cNvSpPr/>
          <p:nvPr/>
        </p:nvSpPr>
        <p:spPr>
          <a:xfrm>
            <a:off x="6355080" y="233172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4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CTR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355080" y="280720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Clics / Impresiones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55080" y="3227832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tan relevante es el mensaje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869680" y="2148840"/>
            <a:ext cx="2514600" cy="1691640"/>
          </a:xfrm>
          <a:prstGeom prst="roundRect">
            <a:avLst>
              <a:gd name="adj" fmla="val 4324"/>
            </a:avLst>
          </a:prstGeom>
          <a:solidFill>
            <a:srgbClr val="F5F5F3"/>
          </a:solidFill>
          <a:ln/>
        </p:spPr>
      </p:sp>
      <p:sp>
        <p:nvSpPr>
          <p:cNvPr id="17" name="Text 15"/>
          <p:cNvSpPr/>
          <p:nvPr/>
        </p:nvSpPr>
        <p:spPr>
          <a:xfrm>
            <a:off x="9098280" y="233172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4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TC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9098280" y="280720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Conversión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098280" y="3227832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Cuántos visitantes se vuelven clientes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4069080"/>
            <a:ext cx="2514600" cy="1691640"/>
          </a:xfrm>
          <a:prstGeom prst="roundRect">
            <a:avLst>
              <a:gd name="adj" fmla="val 4324"/>
            </a:avLst>
          </a:prstGeom>
          <a:solidFill>
            <a:srgbClr val="F5F5F3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425196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4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ROAS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868680" y="472744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de la inversión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68680" y="5148072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Cuánto genera cada dólar invertido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83280" y="4069080"/>
            <a:ext cx="2514600" cy="1691640"/>
          </a:xfrm>
          <a:prstGeom prst="roundRect">
            <a:avLst>
              <a:gd name="adj" fmla="val 4324"/>
            </a:avLst>
          </a:prstGeom>
          <a:solidFill>
            <a:srgbClr val="F5F5F3"/>
          </a:solidFill>
          <a:ln/>
        </p:spPr>
      </p:sp>
      <p:sp>
        <p:nvSpPr>
          <p:cNvPr id="25" name="Text 23"/>
          <p:cNvSpPr/>
          <p:nvPr/>
        </p:nvSpPr>
        <p:spPr>
          <a:xfrm>
            <a:off x="3611880" y="425196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4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CAC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3611880" y="472744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de Adquisición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611880" y="5148072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total de ganar un cliente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26480" y="4069080"/>
            <a:ext cx="2514600" cy="1691640"/>
          </a:xfrm>
          <a:prstGeom prst="roundRect">
            <a:avLst>
              <a:gd name="adj" fmla="val 4324"/>
            </a:avLst>
          </a:prstGeom>
          <a:solidFill>
            <a:srgbClr val="F5F5F3"/>
          </a:solidFill>
          <a:ln/>
        </p:spPr>
      </p:sp>
      <p:sp>
        <p:nvSpPr>
          <p:cNvPr id="29" name="Text 27"/>
          <p:cNvSpPr/>
          <p:nvPr/>
        </p:nvSpPr>
        <p:spPr>
          <a:xfrm>
            <a:off x="6355080" y="425196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4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LTV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6355080" y="472744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de vida del cliente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355080" y="5148072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Cuánto vale un cliente en el tiempo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869680" y="4069080"/>
            <a:ext cx="2514600" cy="1691640"/>
          </a:xfrm>
          <a:prstGeom prst="roundRect">
            <a:avLst>
              <a:gd name="adj" fmla="val 4324"/>
            </a:avLst>
          </a:prstGeom>
          <a:solidFill>
            <a:srgbClr val="F5F5F3"/>
          </a:solidFill>
          <a:ln/>
        </p:spPr>
      </p:sp>
      <p:sp>
        <p:nvSpPr>
          <p:cNvPr id="33" name="Text 31"/>
          <p:cNvSpPr/>
          <p:nvPr/>
        </p:nvSpPr>
        <p:spPr>
          <a:xfrm>
            <a:off x="9098280" y="425196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4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AOV</a:t>
            </a:r>
            <a:endParaRPr lang="en-US" sz="1900" dirty="0"/>
          </a:p>
        </p:txBody>
      </p:sp>
      <p:sp>
        <p:nvSpPr>
          <p:cNvPr id="34" name="Text 32"/>
          <p:cNvSpPr/>
          <p:nvPr/>
        </p:nvSpPr>
        <p:spPr>
          <a:xfrm>
            <a:off x="9098280" y="472744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promedio del pedido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098280" y="5148072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Cuánto compra un cliente en promedio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4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777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6F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04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777240" y="1440180"/>
            <a:ext cx="1051560" cy="1051560"/>
          </a:xfrm>
          <a:prstGeom prst="ellipse">
            <a:avLst/>
          </a:prstGeom>
          <a:solidFill>
            <a:srgbClr val="6FA98A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44018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80" b="1" dirty="0">
                <a:solidFill>
                  <a:srgbClr val="1414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680" dirty="0"/>
          </a:p>
        </p:txBody>
      </p:sp>
      <p:sp>
        <p:nvSpPr>
          <p:cNvPr id="5" name="Text 3"/>
          <p:cNvSpPr/>
          <p:nvPr/>
        </p:nvSpPr>
        <p:spPr>
          <a:xfrm>
            <a:off x="2148840" y="141732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Ascensión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2167128" y="214884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D6D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crecimiento rentable se sostiene, no se improvisa.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714500" y="3840480"/>
            <a:ext cx="640080" cy="640080"/>
          </a:xfrm>
          <a:prstGeom prst="ellipse">
            <a:avLst/>
          </a:prstGeom>
          <a:solidFill>
            <a:srgbClr val="201F1B"/>
          </a:solidFill>
          <a:ln/>
        </p:spPr>
      </p:sp>
      <p:pic>
        <p:nvPicPr>
          <p:cNvPr id="8" name="Image 0" descr="/tmp/claude-0/-home-user-Presentaciones-y-varios/903c1196-30c4-57a8-b469-52313f1ce01c/scratchpad/andres/icons/chart_6FA98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68119" y="3994099"/>
            <a:ext cx="332842" cy="33284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461772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Optimización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485132" y="3840480"/>
            <a:ext cx="640080" cy="640080"/>
          </a:xfrm>
          <a:prstGeom prst="ellipse">
            <a:avLst/>
          </a:prstGeom>
          <a:solidFill>
            <a:srgbClr val="201F1B"/>
          </a:solidFill>
          <a:ln/>
        </p:spPr>
      </p:sp>
      <p:pic>
        <p:nvPicPr>
          <p:cNvPr id="11" name="Image 1" descr="/tmp/claude-0/-home-user-Presentaciones-y-varios/903c1196-30c4-57a8-b469-52313f1ce01c/scratchpad/andres/icons/heart_6FA98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8751" y="399409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47872" y="461772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Retención 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fidelización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7255764" y="3840480"/>
            <a:ext cx="640080" cy="640080"/>
          </a:xfrm>
          <a:prstGeom prst="ellipse">
            <a:avLst/>
          </a:prstGeom>
          <a:solidFill>
            <a:srgbClr val="201F1B"/>
          </a:solidFill>
          <a:ln/>
        </p:spPr>
      </p:sp>
      <p:pic>
        <p:nvPicPr>
          <p:cNvPr id="14" name="Image 2" descr="/tmp/claude-0/-home-user-Presentaciones-y-varios/903c1196-30c4-57a8-b469-52313f1ce01c/scratchpad/andres/icons/gear_6FA98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383" y="3994099"/>
            <a:ext cx="332842" cy="33284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318504" y="461772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sistema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10026396" y="3840480"/>
            <a:ext cx="640080" cy="640080"/>
          </a:xfrm>
          <a:prstGeom prst="ellipse">
            <a:avLst/>
          </a:prstGeom>
          <a:solidFill>
            <a:srgbClr val="201F1B"/>
          </a:solidFill>
          <a:ln/>
        </p:spPr>
      </p:sp>
      <p:pic>
        <p:nvPicPr>
          <p:cNvPr id="17" name="Image 3" descr="/tmp/claude-0/-home-user-Presentaciones-y-varios/903c1196-30c4-57a8-b469-52313f1ce01c/scratchpad/andres/icons/rocket_6FA98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80015" y="3994099"/>
            <a:ext cx="332842" cy="33284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089136" y="461772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Escalamiento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rentable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4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INTEGRACIÓN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14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funciona este sistema?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1F4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crecimiento no depende de una campaña aislada.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2011680" cy="3200400"/>
          </a:xfrm>
          <a:prstGeom prst="roundRect">
            <a:avLst>
              <a:gd name="adj" fmla="val 3636"/>
            </a:avLst>
          </a:prstGeom>
          <a:solidFill>
            <a:srgbClr val="F5F5F3"/>
          </a:solidFill>
          <a:ln/>
        </p:spPr>
      </p:sp>
      <p:sp>
        <p:nvSpPr>
          <p:cNvPr id="6" name="Shape 4"/>
          <p:cNvSpPr/>
          <p:nvPr/>
        </p:nvSpPr>
        <p:spPr>
          <a:xfrm>
            <a:off x="1371600" y="260604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/tmp/claude-0/-home-user-Presentaciones-y-varios/903c1196-30c4-57a8-b469-52313f1ce01c/scratchpad/andres/icons/star_1F4A3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3274" y="2737714"/>
            <a:ext cx="285293" cy="28529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4672" y="3291840"/>
            <a:ext cx="16824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14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oferta sólida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04672" y="4160520"/>
            <a:ext cx="16824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producto que ya funciona y ya tiene validación real.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825496" y="2286000"/>
            <a:ext cx="2011680" cy="3200400"/>
          </a:xfrm>
          <a:prstGeom prst="roundRect">
            <a:avLst>
              <a:gd name="adj" fmla="val 3636"/>
            </a:avLst>
          </a:prstGeom>
          <a:solidFill>
            <a:srgbClr val="F5F5F3"/>
          </a:solidFill>
          <a:ln/>
        </p:spPr>
      </p:sp>
      <p:sp>
        <p:nvSpPr>
          <p:cNvPr id="11" name="Shape 8"/>
          <p:cNvSpPr/>
          <p:nvPr/>
        </p:nvSpPr>
        <p:spPr>
          <a:xfrm>
            <a:off x="3557016" y="260604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/tmp/claude-0/-home-user-Presentaciones-y-varios/903c1196-30c4-57a8-b469-52313f1ce01c/scratchpad/andres/icons/globe_1F4A3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8690" y="2737714"/>
            <a:ext cx="285293" cy="28529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990088" y="3291840"/>
            <a:ext cx="16824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14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Experiencia digital consistente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2990088" y="4160520"/>
            <a:ext cx="16824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y redes que cuentan la misma historia.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010912" y="2286000"/>
            <a:ext cx="2011680" cy="3200400"/>
          </a:xfrm>
          <a:prstGeom prst="roundRect">
            <a:avLst>
              <a:gd name="adj" fmla="val 3636"/>
            </a:avLst>
          </a:prstGeom>
          <a:solidFill>
            <a:srgbClr val="141412"/>
          </a:solidFill>
          <a:ln/>
        </p:spPr>
      </p:sp>
      <p:sp>
        <p:nvSpPr>
          <p:cNvPr id="16" name="Shape 12"/>
          <p:cNvSpPr/>
          <p:nvPr/>
        </p:nvSpPr>
        <p:spPr>
          <a:xfrm>
            <a:off x="5742432" y="2606040"/>
            <a:ext cx="548640" cy="548640"/>
          </a:xfrm>
          <a:prstGeom prst="ellipse">
            <a:avLst/>
          </a:prstGeom>
          <a:solidFill>
            <a:srgbClr val="201F1B"/>
          </a:solidFill>
          <a:ln/>
        </p:spPr>
      </p:sp>
      <p:pic>
        <p:nvPicPr>
          <p:cNvPr id="17" name="Image 2" descr="/tmp/claude-0/-home-user-Presentaciones-y-varios/903c1196-30c4-57a8-b469-52313f1ce01c/scratchpad/andres/icons/filter_6FA98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4106" y="2737714"/>
            <a:ext cx="285293" cy="28529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175504" y="3291840"/>
            <a:ext cx="16824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Estrategia de captación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5175504" y="4160520"/>
            <a:ext cx="16824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D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sistema, no una campaña puntual.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7196328" y="2286000"/>
            <a:ext cx="2011680" cy="3200400"/>
          </a:xfrm>
          <a:prstGeom prst="roundRect">
            <a:avLst>
              <a:gd name="adj" fmla="val 3636"/>
            </a:avLst>
          </a:prstGeom>
          <a:solidFill>
            <a:srgbClr val="F5F5F3"/>
          </a:solidFill>
          <a:ln/>
        </p:spPr>
      </p:sp>
      <p:sp>
        <p:nvSpPr>
          <p:cNvPr id="21" name="Shape 16"/>
          <p:cNvSpPr/>
          <p:nvPr/>
        </p:nvSpPr>
        <p:spPr>
          <a:xfrm>
            <a:off x="7927848" y="260604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3" descr="/tmp/claude-0/-home-user-Presentaciones-y-varios/903c1196-30c4-57a8-b469-52313f1ce01c/scratchpad/andres/icons/comment_1F4A3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9522" y="2737714"/>
            <a:ext cx="285293" cy="285293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360920" y="3291840"/>
            <a:ext cx="16824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14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Proceso comercial eficiente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7360920" y="4160520"/>
            <a:ext cx="16824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primer contacto a la compra, sin fricción.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9381744" y="2286000"/>
            <a:ext cx="2011680" cy="3200400"/>
          </a:xfrm>
          <a:prstGeom prst="roundRect">
            <a:avLst>
              <a:gd name="adj" fmla="val 3636"/>
            </a:avLst>
          </a:prstGeom>
          <a:solidFill>
            <a:srgbClr val="F5F5F3"/>
          </a:solidFill>
          <a:ln/>
        </p:spPr>
      </p:sp>
      <p:sp>
        <p:nvSpPr>
          <p:cNvPr id="26" name="Shape 20"/>
          <p:cNvSpPr/>
          <p:nvPr/>
        </p:nvSpPr>
        <p:spPr>
          <a:xfrm>
            <a:off x="10113264" y="260604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7" name="Image 4" descr="/tmp/claude-0/-home-user-Presentaciones-y-varios/903c1196-30c4-57a8-b469-52313f1ce01c/scratchpad/andres/icons/chart_1F4A3C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4938" y="2737714"/>
            <a:ext cx="285293" cy="285293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546336" y="3291840"/>
            <a:ext cx="16824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14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Optimización basada en datos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9546336" y="4160520"/>
            <a:ext cx="16824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decisión se ajusta con evidencia.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640080" y="57150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estas cinco piezas trabajan juntas, el crecimiento deja de depender de la suerte de un anuncio.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4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F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VISIÓN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Nuestra visión para Hair Touch by Sandra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6D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Hacia dónde puede evolucionar la marca en los próximos 12 a 24 meses.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074920" cy="3200400"/>
          </a:xfrm>
          <a:prstGeom prst="roundRect">
            <a:avLst>
              <a:gd name="adj" fmla="val 2286"/>
            </a:avLst>
          </a:prstGeom>
          <a:solidFill>
            <a:srgbClr val="201F1B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37744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9B99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2834640"/>
            <a:ext cx="4343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marca validada boca a boca, con una comunidad fiel y una autoridad de marca poco común.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402336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200" dirty="0">
                <a:solidFill>
                  <a:srgbClr val="D6D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Crecimiento orgánico y local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4407408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200" dirty="0">
                <a:solidFill>
                  <a:srgbClr val="D6D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Confianza construida por años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4791456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200" dirty="0">
                <a:solidFill>
                  <a:srgbClr val="D6D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activo, alcance limitado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72200" y="2103120"/>
            <a:ext cx="5074920" cy="3200400"/>
          </a:xfrm>
          <a:prstGeom prst="roundRect">
            <a:avLst>
              <a:gd name="adj" fmla="val 2286"/>
            </a:avLst>
          </a:prstGeom>
          <a:solidFill>
            <a:srgbClr val="6FA98A"/>
          </a:solidFill>
          <a:ln/>
        </p:spPr>
      </p:sp>
      <p:sp>
        <p:nvSpPr>
          <p:cNvPr id="12" name="Text 10"/>
          <p:cNvSpPr/>
          <p:nvPr/>
        </p:nvSpPr>
        <p:spPr>
          <a:xfrm>
            <a:off x="6537960" y="237744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12–24 MESES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37960" y="2834640"/>
            <a:ext cx="4343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414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marca de haircare de referencia en EE.UU., con un sistema propio de adquisición, conversión y fidelización.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37960" y="402336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200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Adquisición constante de nuevos clientes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37960" y="4407408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200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Comunidad hispana y general fidelizada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37960" y="4791456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200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Crecimiento medible y escalable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4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PROCESO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14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se ve el proceso, paso a paso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76656" y="2240280"/>
            <a:ext cx="1691640" cy="1508760"/>
          </a:xfrm>
          <a:prstGeom prst="roundRect">
            <a:avLst>
              <a:gd name="adj" fmla="val 4848"/>
            </a:avLst>
          </a:prstGeom>
          <a:solidFill>
            <a:srgbClr val="F5F5F3"/>
          </a:solidFill>
          <a:ln/>
        </p:spPr>
      </p:sp>
      <p:sp>
        <p:nvSpPr>
          <p:cNvPr id="5" name="Text 3"/>
          <p:cNvSpPr/>
          <p:nvPr/>
        </p:nvSpPr>
        <p:spPr>
          <a:xfrm>
            <a:off x="768096" y="24688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Semana 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86384" y="2926080"/>
            <a:ext cx="14721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del negocio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505456" y="2240280"/>
            <a:ext cx="1691640" cy="1508760"/>
          </a:xfrm>
          <a:prstGeom prst="roundRect">
            <a:avLst>
              <a:gd name="adj" fmla="val 4848"/>
            </a:avLst>
          </a:prstGeom>
          <a:solidFill>
            <a:srgbClr val="F5F5F3"/>
          </a:solidFill>
          <a:ln/>
        </p:spPr>
      </p:sp>
      <p:sp>
        <p:nvSpPr>
          <p:cNvPr id="8" name="Text 6"/>
          <p:cNvSpPr/>
          <p:nvPr/>
        </p:nvSpPr>
        <p:spPr>
          <a:xfrm>
            <a:off x="2596896" y="24688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Semana 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615184" y="2926080"/>
            <a:ext cx="14721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Construcción del sistema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34256" y="2240280"/>
            <a:ext cx="1691640" cy="1508760"/>
          </a:xfrm>
          <a:prstGeom prst="roundRect">
            <a:avLst>
              <a:gd name="adj" fmla="val 4848"/>
            </a:avLst>
          </a:prstGeom>
          <a:solidFill>
            <a:srgbClr val="F5F5F3"/>
          </a:solidFill>
          <a:ln/>
        </p:spPr>
      </p:sp>
      <p:sp>
        <p:nvSpPr>
          <p:cNvPr id="11" name="Text 9"/>
          <p:cNvSpPr/>
          <p:nvPr/>
        </p:nvSpPr>
        <p:spPr>
          <a:xfrm>
            <a:off x="4425696" y="24688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Semana 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443984" y="2926080"/>
            <a:ext cx="14721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63056" y="2240280"/>
            <a:ext cx="1691640" cy="1508760"/>
          </a:xfrm>
          <a:prstGeom prst="roundRect">
            <a:avLst>
              <a:gd name="adj" fmla="val 4848"/>
            </a:avLst>
          </a:prstGeom>
          <a:solidFill>
            <a:srgbClr val="F5F5F3"/>
          </a:solidFill>
          <a:ln/>
        </p:spPr>
      </p:sp>
      <p:sp>
        <p:nvSpPr>
          <p:cNvPr id="14" name="Text 12"/>
          <p:cNvSpPr/>
          <p:nvPr/>
        </p:nvSpPr>
        <p:spPr>
          <a:xfrm>
            <a:off x="6254496" y="24688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Semana 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72784" y="2926080"/>
            <a:ext cx="14721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Optimización inicial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991856" y="2240280"/>
            <a:ext cx="1691640" cy="1508760"/>
          </a:xfrm>
          <a:prstGeom prst="roundRect">
            <a:avLst>
              <a:gd name="adj" fmla="val 4848"/>
            </a:avLst>
          </a:prstGeom>
          <a:solidFill>
            <a:srgbClr val="F5F5F3"/>
          </a:solidFill>
          <a:ln/>
        </p:spPr>
      </p:sp>
      <p:sp>
        <p:nvSpPr>
          <p:cNvPr id="17" name="Text 15"/>
          <p:cNvSpPr/>
          <p:nvPr/>
        </p:nvSpPr>
        <p:spPr>
          <a:xfrm>
            <a:off x="8083296" y="24688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 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101584" y="2926080"/>
            <a:ext cx="14721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Escalamiento con datos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820656" y="2240280"/>
            <a:ext cx="1691640" cy="1508760"/>
          </a:xfrm>
          <a:prstGeom prst="roundRect">
            <a:avLst>
              <a:gd name="adj" fmla="val 4848"/>
            </a:avLst>
          </a:prstGeom>
          <a:solidFill>
            <a:srgbClr val="1F4A3C"/>
          </a:solidFill>
          <a:ln/>
        </p:spPr>
      </p:sp>
      <p:sp>
        <p:nvSpPr>
          <p:cNvPr id="20" name="Text 18"/>
          <p:cNvSpPr/>
          <p:nvPr/>
        </p:nvSpPr>
        <p:spPr>
          <a:xfrm>
            <a:off x="9912096" y="24688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 3+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930384" y="2926080"/>
            <a:ext cx="14721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Optimización continua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40080" y="420624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EAF0EC"/>
          </a:solidFill>
          <a:ln/>
        </p:spPr>
      </p:sp>
      <p:sp>
        <p:nvSpPr>
          <p:cNvPr id="23" name="Shape 21"/>
          <p:cNvSpPr/>
          <p:nvPr/>
        </p:nvSpPr>
        <p:spPr>
          <a:xfrm>
            <a:off x="1234440" y="45720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4" name="Image 0" descr="/tmp/claude-0/-home-user-Presentaciones-y-varios/903c1196-30c4-57a8-b469-52313f1ce01c/scratchpad/andres/icons/check_1F4A3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4460" y="4732020"/>
            <a:ext cx="320040" cy="32004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737360" y="4434840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4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PUEDES ESPERAR DURANTE EL PROCESO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1737360" y="4754880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Visibilidad total del trabajo, reportes claros y accesibles, decisiones siempre respaldadas por datos, y comunicación constante en cada etapa.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14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F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60020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siguiente paso es simple:</a:t>
            </a:r>
            <a:endParaRPr lang="en-US" sz="3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entender más a fondo el negocio.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3429000"/>
            <a:ext cx="548640" cy="548640"/>
          </a:xfrm>
          <a:prstGeom prst="ellipse">
            <a:avLst/>
          </a:prstGeom>
          <a:solidFill>
            <a:srgbClr val="6FA98A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3429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20" b="1" dirty="0">
                <a:solidFill>
                  <a:srgbClr val="1414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920" dirty="0"/>
          </a:p>
        </p:txBody>
      </p:sp>
      <p:sp>
        <p:nvSpPr>
          <p:cNvPr id="6" name="Text 4"/>
          <p:cNvSpPr/>
          <p:nvPr/>
        </p:nvSpPr>
        <p:spPr>
          <a:xfrm>
            <a:off x="777240" y="43891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Conversación de alineación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48463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D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objetivos y prioridades del negocio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80560" y="3429000"/>
            <a:ext cx="548640" cy="548640"/>
          </a:xfrm>
          <a:prstGeom prst="ellipse">
            <a:avLst/>
          </a:prstGeom>
          <a:solidFill>
            <a:srgbClr val="6FA98A"/>
          </a:solidFill>
          <a:ln/>
        </p:spPr>
      </p:sp>
      <p:sp>
        <p:nvSpPr>
          <p:cNvPr id="9" name="Text 7"/>
          <p:cNvSpPr/>
          <p:nvPr/>
        </p:nvSpPr>
        <p:spPr>
          <a:xfrm>
            <a:off x="4480560" y="3429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20" b="1" dirty="0">
                <a:solidFill>
                  <a:srgbClr val="1414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920" dirty="0"/>
          </a:p>
        </p:txBody>
      </p:sp>
      <p:sp>
        <p:nvSpPr>
          <p:cNvPr id="10" name="Text 8"/>
          <p:cNvSpPr/>
          <p:nvPr/>
        </p:nvSpPr>
        <p:spPr>
          <a:xfrm>
            <a:off x="4480560" y="43891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Evaluación a fondo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480560" y="48463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D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 oferta, embudo y proceso comercial actual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83880" y="3429000"/>
            <a:ext cx="548640" cy="548640"/>
          </a:xfrm>
          <a:prstGeom prst="ellipse">
            <a:avLst/>
          </a:prstGeom>
          <a:solidFill>
            <a:srgbClr val="6FA98A"/>
          </a:solidFill>
          <a:ln/>
        </p:spPr>
      </p:sp>
      <p:sp>
        <p:nvSpPr>
          <p:cNvPr id="13" name="Text 11"/>
          <p:cNvSpPr/>
          <p:nvPr/>
        </p:nvSpPr>
        <p:spPr>
          <a:xfrm>
            <a:off x="8183880" y="3429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20" b="1" dirty="0">
                <a:solidFill>
                  <a:srgbClr val="1414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920" dirty="0"/>
          </a:p>
        </p:txBody>
      </p:sp>
      <p:sp>
        <p:nvSpPr>
          <p:cNvPr id="14" name="Text 12"/>
          <p:cNvSpPr/>
          <p:nvPr/>
        </p:nvSpPr>
        <p:spPr>
          <a:xfrm>
            <a:off x="8183880" y="43891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Propuesta de sistema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183880" y="48463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D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a la medida de Hair Touch by Sandra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14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28600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Gracias, Andrés.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822960" y="342900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D6D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Hair Touch by Sandra ya tiene un producto que funciona.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D6D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Hablemos de cómo construirle un sistema que lo demuestre.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22960" y="4709160"/>
            <a:ext cx="2011680" cy="0"/>
          </a:xfrm>
          <a:prstGeom prst="line">
            <a:avLst/>
          </a:prstGeom>
          <a:noFill/>
          <a:ln w="25400">
            <a:solidFill>
              <a:srgbClr val="6FA9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4937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6F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¿Preguntas?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2026-08-02T23:35:06Z</dcterms:created>
  <dcterms:modified xsi:type="dcterms:W3CDTF">2026-08-02T23:35:06Z</dcterms:modified>
</cp:coreProperties>
</file>