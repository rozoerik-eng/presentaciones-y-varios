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C1418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C1418"/>
                </a:solidFill>
                <a:latin typeface="Arial"/>
              </a:rPr>
              <a:t>Conversaciones por semana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Conversaciones</c:v>
                </c:pt>
              </c:strCache>
            </c:strRef>
          </c:tx>
          <c:spPr>
            <a:solidFill>
              <a:srgbClr val="C150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C141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Semana 1
(8-14 sep)</c:v>
                  </c:pt>
                  <c:pt idx="1">
                    <c:v>Semana 2
(15-21 sep)</c:v>
                  </c:pt>
                  <c:pt idx="2">
                    <c:v>22 sep
(parcial)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133</c:v>
                </c:pt>
                <c:pt idx="1">
                  <c:v>139</c:v>
                </c:pt>
                <c:pt idx="2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C141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B6B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DE9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C1418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C1418"/>
                </a:solidFill>
                <a:latin typeface="Arial"/>
              </a:rPr>
              <a:t>Costo por conversación ($COP)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Costo por conversación</c:v>
                </c:pt>
              </c:strCache>
            </c:strRef>
          </c:tx>
          <c:spPr>
            <a:solidFill>
              <a:srgbClr val="C1502E"/>
            </a:solidFill>
            <a:ln w="38100" cap="flat">
              <a:solidFill>
                <a:srgbClr val="C150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8F3A2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C1502E"/>
              </a:solidFill>
              <a:ln w="9525" cap="flat">
                <a:solidFill>
                  <a:srgbClr val="C150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Semana 1
(8-14 sep)</c:v>
                  </c:pt>
                  <c:pt idx="1">
                    <c:v>Semana 2
(15-21 sep)</c:v>
                  </c:pt>
                  <c:pt idx="2">
                    <c:v>22 sep
(parcial)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2708</c:v>
                </c:pt>
                <c:pt idx="1">
                  <c:v>2821</c:v>
                </c:pt>
                <c:pt idx="2">
                  <c:v>3390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8F3A20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B6B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DE9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C1418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C1418"/>
                </a:solidFill>
                <a:latin typeface="Arial"/>
              </a:rPr>
              <a:t>Costo por conversación ($COP)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Costo por conversación</c:v>
                </c:pt>
              </c:strCache>
            </c:strRef>
          </c:tx>
          <c:spPr>
            <a:solidFill>
              <a:srgbClr val="3A7D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C141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A7D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A7D4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A7D44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AL PÚBLICO</c:v>
                  </c:pt>
                  <c:pt idx="1">
                    <c:v>CUMPLEAÑOS</c:v>
                  </c:pt>
                  <c:pt idx="2">
                    <c:v>CORPORATIVO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1518</c:v>
                </c:pt>
                <c:pt idx="1">
                  <c:v>2762</c:v>
                </c:pt>
                <c:pt idx="2">
                  <c:v>7129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C141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B6B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DE9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Portada del primer informe de resultados de la campaña Max.
MENSAJE PRINCIPAL: Este informe cubre los primeros 15 días desde el lanzamiento (8-22 sept), no un mes completo todavía.
QUÉ EXPLICAR: Se aclara desde el inicio que es un corte parcial, para manejar expectativas sobre el volumen de datos.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Dar el panorama completo en una sola vista.
MENSAJE PRINCIPAL: $779.062 generaron 280 conversaciones de WhatsApp a un costo de $2.782 cada una, con un CTR saludable de 3,40%.
QUÉ EXPLICAR: La frecuencia de 1,92 indica que todavía no hay señales de fatiga creativa — cada persona vio el anuncio en promedio menos de 2 veces.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Mostrar que el desempeño no se ha deteriorado con el tiempo.
MENSAJE PRINCIPAL: El costo por conversación subió levemente de $2.708 a $2.821 entre semana 1 y 2 — una variación normal, no una señal de alerta.
QUÉ EXPLICAR: Con solo 15 días de datos, es pronto para sacar conclusiones de tendencia; se seguirá vigilando semana a semana.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Mostrar la diferencia de eficiencia entre los tres públicos probados.
MENSAJE PRINCIPAL: AL PÚBLICO es 4,7 veces más eficiente que CORPORATIVO. La inversión se repartió casi igual (27/37/36%) pero los resultados no.
QUÉ EXPLICAR: CORPORATIVO tiene el CTR más bajo (1,59%) y el CPM más alto ($17.373) de los tres — señal de que el público o el mensaje no están conectando tan bien ahí.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Mostrar el mejor y el peor desempeño creativo del periodo.
MENSAJE PRINCIPAL: "Tu evento importa" generó 134 de las 280 conversaciones totales (casi la mitad) cuando corrió en el público general, a un costo de $1.448 — el mejor resultado del periodo.
QUÉ EXPLICAR: El mismo anuncio en el conjunto CUMPLEAÑOS rindió mucho peor ($3.705) — la diferencia está en la audiencia, no en el creativo. Esto es evidencia a favor de priorizar el público general sobre segmentaciones más estrechas.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Sintetizar los hallazgos clave en un lenguaje claro para el cliente.
MENSAJE PRINCIPAL: El público general funciona mejor que las segmentaciones específicas (cumpleaños, corporativo) en este primer corte.
QUÉ EXPLICAR: Ningún hallazgo aquí es una promesa de resultado futuro — son patrones observados en 15 días, que se seguirán validando.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Cerrar con acciones concretas para el siguiente periodo.
MENSAJE PRINCIPAL: Los ajustes se basan directamente en lo que la data mostró en estos 15 días — no son cambios especulativos.
QUÉ EXPLICAR: El siguiente informe cubrirá el mes 1 completo y permitirá confirmar si estas tendencias se sostienen.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Cerrar el informe dejando claro el siguiente punto de control.
MENSAJE PRINCIPAL: Este es el primero de los informes mensuales; el próximo cerrará el ciclo completo de 30 días.
QUÉ EXPLICAR: Los ajustes de presupuesto propuestos se aplicarán durante el resto del periodo antes del próximo corte.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548640"/>
            <a:ext cx="1188720" cy="1188720"/>
          </a:xfrm>
          <a:prstGeom prst="ellipse">
            <a:avLst/>
          </a:prstGeom>
          <a:solidFill>
            <a:srgbClr val="8F3A20"/>
          </a:solidFill>
          <a:ln/>
        </p:spPr>
      </p:sp>
      <p:pic>
        <p:nvPicPr>
          <p:cNvPr id="3" name="Image 0" descr="/tmp/claude-0/-home-user-Presentaciones-y-varios/903c1196-30c4-57a8-b469-52313f1ce01c/scratchpad/palco_informe/icons/char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1340" y="845820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331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RESULTADOS · CAMPAÑA MAX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822960" y="274320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Palco Parrilla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822960" y="36576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9C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8 al 22 de septiembre de 2026 · Primeros 15 días de campaña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2960" y="60350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9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Periodo parcial: el ciclo mensual completo se reportará en el próximo informe.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dejó la campaña en 15 días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2286000"/>
            <a:ext cx="1965960" cy="2377440"/>
          </a:xfrm>
          <a:prstGeom prst="roundRect">
            <a:avLst>
              <a:gd name="adj" fmla="val 3256"/>
            </a:avLst>
          </a:prstGeom>
          <a:solidFill>
            <a:srgbClr val="F5F1EF"/>
          </a:solidFill>
          <a:ln/>
        </p:spPr>
      </p:sp>
      <p:sp>
        <p:nvSpPr>
          <p:cNvPr id="5" name="Shape 3"/>
          <p:cNvSpPr/>
          <p:nvPr/>
        </p:nvSpPr>
        <p:spPr>
          <a:xfrm>
            <a:off x="1412748" y="2542032"/>
            <a:ext cx="512064" cy="512064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6" name="Image 0" descr="/tmp/claude-0/-home-user-Presentaciones-y-varios/903c1196-30c4-57a8-b469-52313f1ce01c/scratchpad/palco_informe/icons/dolla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5402" y="2654686"/>
            <a:ext cx="286756" cy="2867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2004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C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$779.062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795528" y="3703320"/>
            <a:ext cx="1746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 total (COP)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816352" y="2286000"/>
            <a:ext cx="1965960" cy="2377440"/>
          </a:xfrm>
          <a:prstGeom prst="roundRect">
            <a:avLst>
              <a:gd name="adj" fmla="val 3256"/>
            </a:avLst>
          </a:prstGeom>
          <a:solidFill>
            <a:srgbClr val="F5F1EF"/>
          </a:solidFill>
          <a:ln/>
        </p:spPr>
      </p:sp>
      <p:sp>
        <p:nvSpPr>
          <p:cNvPr id="10" name="Shape 7"/>
          <p:cNvSpPr/>
          <p:nvPr/>
        </p:nvSpPr>
        <p:spPr>
          <a:xfrm>
            <a:off x="3543300" y="2542032"/>
            <a:ext cx="512064" cy="512064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11" name="Image 1" descr="/tmp/claude-0/-home-user-Presentaciones-y-varios/903c1196-30c4-57a8-b469-52313f1ce01c/scratchpad/palco_informe/icons/ey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5954" y="2654686"/>
            <a:ext cx="286756" cy="2867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07792" y="32004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C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57.329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2926080" y="3703320"/>
            <a:ext cx="1746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Impresiones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946904" y="2286000"/>
            <a:ext cx="1965960" cy="2377440"/>
          </a:xfrm>
          <a:prstGeom prst="roundRect">
            <a:avLst>
              <a:gd name="adj" fmla="val 3256"/>
            </a:avLst>
          </a:prstGeom>
          <a:solidFill>
            <a:srgbClr val="F5F1EF"/>
          </a:solidFill>
          <a:ln/>
        </p:spPr>
      </p:sp>
      <p:sp>
        <p:nvSpPr>
          <p:cNvPr id="15" name="Shape 11"/>
          <p:cNvSpPr/>
          <p:nvPr/>
        </p:nvSpPr>
        <p:spPr>
          <a:xfrm>
            <a:off x="5673852" y="2542032"/>
            <a:ext cx="512064" cy="512064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16" name="Image 2" descr="/tmp/claude-0/-home-user-Presentaciones-y-varios/903c1196-30c4-57a8-b469-52313f1ce01c/scratchpad/palco_informe/icons/us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6506" y="2654686"/>
            <a:ext cx="286756" cy="2867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038344" y="32004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C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29.884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5056632" y="3703320"/>
            <a:ext cx="1746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Cuentas alcanzadas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7077456" y="2286000"/>
            <a:ext cx="1965960" cy="2377440"/>
          </a:xfrm>
          <a:prstGeom prst="roundRect">
            <a:avLst>
              <a:gd name="adj" fmla="val 3256"/>
            </a:avLst>
          </a:prstGeom>
          <a:solidFill>
            <a:srgbClr val="F5F1EF"/>
          </a:solidFill>
          <a:ln/>
        </p:spPr>
      </p:sp>
      <p:sp>
        <p:nvSpPr>
          <p:cNvPr id="20" name="Shape 15"/>
          <p:cNvSpPr/>
          <p:nvPr/>
        </p:nvSpPr>
        <p:spPr>
          <a:xfrm>
            <a:off x="7804404" y="2542032"/>
            <a:ext cx="512064" cy="512064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21" name="Image 3" descr="/tmp/claude-0/-home-user-Presentaciones-y-varios/903c1196-30c4-57a8-b469-52313f1ce01c/scratchpad/palco_informe/icons/messag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7058" y="2654686"/>
            <a:ext cx="286756" cy="2867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68896" y="32004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C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280</a:t>
            </a:r>
            <a:endParaRPr lang="en-US" sz="1900" dirty="0"/>
          </a:p>
        </p:txBody>
      </p:sp>
      <p:sp>
        <p:nvSpPr>
          <p:cNvPr id="23" name="Text 17"/>
          <p:cNvSpPr/>
          <p:nvPr/>
        </p:nvSpPr>
        <p:spPr>
          <a:xfrm>
            <a:off x="7187184" y="3703320"/>
            <a:ext cx="1746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Conversaciones de WhatsApp iniciadas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9208008" y="2286000"/>
            <a:ext cx="1965960" cy="2377440"/>
          </a:xfrm>
          <a:prstGeom prst="roundRect">
            <a:avLst>
              <a:gd name="adj" fmla="val 3256"/>
            </a:avLst>
          </a:prstGeom>
          <a:solidFill>
            <a:srgbClr val="F5F1EF"/>
          </a:solidFill>
          <a:ln/>
        </p:spPr>
      </p:sp>
      <p:sp>
        <p:nvSpPr>
          <p:cNvPr id="25" name="Shape 19"/>
          <p:cNvSpPr/>
          <p:nvPr/>
        </p:nvSpPr>
        <p:spPr>
          <a:xfrm>
            <a:off x="9934956" y="2542032"/>
            <a:ext cx="512064" cy="512064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26" name="Image 4" descr="/tmp/claude-0/-home-user-Presentaciones-y-varios/903c1196-30c4-57a8-b469-52313f1ce01c/scratchpad/palco_informe/icons/target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7610" y="2654686"/>
            <a:ext cx="286756" cy="2867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299448" y="32004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C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$2.782</a:t>
            </a:r>
            <a:endParaRPr lang="en-US" sz="1900" dirty="0"/>
          </a:p>
        </p:txBody>
      </p:sp>
      <p:sp>
        <p:nvSpPr>
          <p:cNvPr id="28" name="Text 21"/>
          <p:cNvSpPr/>
          <p:nvPr/>
        </p:nvSpPr>
        <p:spPr>
          <a:xfrm>
            <a:off x="9317736" y="3703320"/>
            <a:ext cx="1746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por conversación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640080" y="50292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 3,40%  ·  CPC $399  ·  CPM $13.589  ·  Frecuencia 1,92  ·  Sin errores de entrega detectados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EN EL TIEMPO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costo por conversación se mantuvo estable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2103120"/>
          <a:ext cx="51206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035040" y="2103120"/>
          <a:ext cx="53949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640080" y="629107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1: $360.221 invertidos · Semana 2: $392.136 invertidos · 22 sep (1 día): $27.122 invertidos.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DESEMPEÑO POR CONJUNTO DE ANUNCIOS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misma inversión, resultados muy distintos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2057400"/>
          <a:ext cx="50292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035040" y="2286000"/>
            <a:ext cx="1554480" cy="502920"/>
          </a:xfrm>
          <a:prstGeom prst="rect">
            <a:avLst/>
          </a:prstGeom>
          <a:solidFill>
            <a:srgbClr val="1C141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080760" y="22860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589520" y="2286000"/>
            <a:ext cx="1234440" cy="502920"/>
          </a:xfrm>
          <a:prstGeom prst="rect">
            <a:avLst/>
          </a:prstGeom>
          <a:solidFill>
            <a:srgbClr val="1C141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35240" y="228600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823960" y="2286000"/>
            <a:ext cx="1051560" cy="502920"/>
          </a:xfrm>
          <a:prstGeom prst="rect">
            <a:avLst/>
          </a:prstGeom>
          <a:solidFill>
            <a:srgbClr val="1C141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869680" y="228600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9875520" y="2286000"/>
            <a:ext cx="1234440" cy="502920"/>
          </a:xfrm>
          <a:prstGeom prst="rect">
            <a:avLst/>
          </a:prstGeom>
          <a:solidFill>
            <a:srgbClr val="1C141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921240" y="228600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Costo/result.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11109960" y="2286000"/>
            <a:ext cx="868680" cy="502920"/>
          </a:xfrm>
          <a:prstGeom prst="rect">
            <a:avLst/>
          </a:prstGeom>
          <a:solidFill>
            <a:srgbClr val="1C141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155680" y="228600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035040" y="2788920"/>
            <a:ext cx="1554480" cy="502920"/>
          </a:xfrm>
          <a:prstGeom prst="rect">
            <a:avLst/>
          </a:prstGeom>
          <a:solidFill>
            <a:srgbClr val="E9F2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80760" y="27889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PÚBLICO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589520" y="2788920"/>
            <a:ext cx="1234440" cy="502920"/>
          </a:xfrm>
          <a:prstGeom prst="rect">
            <a:avLst/>
          </a:prstGeom>
          <a:solidFill>
            <a:srgbClr val="E9F2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635240" y="278892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$209.421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8823960" y="2788920"/>
            <a:ext cx="1051560" cy="502920"/>
          </a:xfrm>
          <a:prstGeom prst="rect">
            <a:avLst/>
          </a:prstGeom>
          <a:solidFill>
            <a:srgbClr val="E9F2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869680" y="278892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138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9875520" y="2788920"/>
            <a:ext cx="1234440" cy="502920"/>
          </a:xfrm>
          <a:prstGeom prst="rect">
            <a:avLst/>
          </a:prstGeom>
          <a:solidFill>
            <a:srgbClr val="E9F2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921240" y="278892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$1.518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11109960" y="2788920"/>
            <a:ext cx="868680" cy="502920"/>
          </a:xfrm>
          <a:prstGeom prst="rect">
            <a:avLst/>
          </a:prstGeom>
          <a:solidFill>
            <a:srgbClr val="E9F2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1155680" y="278892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4,47%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035040" y="3291840"/>
            <a:ext cx="1554480" cy="502920"/>
          </a:xfrm>
          <a:prstGeom prst="rect">
            <a:avLst/>
          </a:prstGeom>
          <a:solidFill>
            <a:srgbClr val="F5F1E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080760" y="32918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CUMPLEAÑOS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589520" y="3291840"/>
            <a:ext cx="1234440" cy="502920"/>
          </a:xfrm>
          <a:prstGeom prst="rect">
            <a:avLst/>
          </a:prstGeom>
          <a:solidFill>
            <a:srgbClr val="F5F1E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635240" y="329184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$284.499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8823960" y="3291840"/>
            <a:ext cx="1051560" cy="502920"/>
          </a:xfrm>
          <a:prstGeom prst="rect">
            <a:avLst/>
          </a:prstGeom>
          <a:solidFill>
            <a:srgbClr val="F5F1E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869680" y="329184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9875520" y="3291840"/>
            <a:ext cx="1234440" cy="502920"/>
          </a:xfrm>
          <a:prstGeom prst="rect">
            <a:avLst/>
          </a:prstGeom>
          <a:solidFill>
            <a:srgbClr val="F5F1E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921240" y="329184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$2.762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11109960" y="3291840"/>
            <a:ext cx="868680" cy="502920"/>
          </a:xfrm>
          <a:prstGeom prst="rect">
            <a:avLst/>
          </a:prstGeom>
          <a:solidFill>
            <a:srgbClr val="F5F1E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1155680" y="3291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3,79%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6035040" y="3794760"/>
            <a:ext cx="1554480" cy="502920"/>
          </a:xfrm>
          <a:prstGeom prst="rect">
            <a:avLst/>
          </a:prstGeom>
          <a:solidFill>
            <a:srgbClr val="FBEAE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080760" y="37947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CORPORATIVO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7589520" y="3794760"/>
            <a:ext cx="1234440" cy="502920"/>
          </a:xfrm>
          <a:prstGeom prst="rect">
            <a:avLst/>
          </a:prstGeom>
          <a:solidFill>
            <a:srgbClr val="FBEAE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635240" y="379476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$285.142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8823960" y="3794760"/>
            <a:ext cx="1051560" cy="502920"/>
          </a:xfrm>
          <a:prstGeom prst="rect">
            <a:avLst/>
          </a:prstGeom>
          <a:solidFill>
            <a:srgbClr val="FBEAE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869680" y="379476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9875520" y="3794760"/>
            <a:ext cx="1234440" cy="502920"/>
          </a:xfrm>
          <a:prstGeom prst="rect">
            <a:avLst/>
          </a:prstGeom>
          <a:solidFill>
            <a:srgbClr val="FBEAE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921240" y="379476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$7.129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11109960" y="3794760"/>
            <a:ext cx="868680" cy="502920"/>
          </a:xfrm>
          <a:prstGeom prst="rect">
            <a:avLst/>
          </a:prstGeom>
          <a:solidFill>
            <a:srgbClr val="FBEAE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1155680" y="379476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1,59%</a:t>
            </a:r>
            <a:endParaRPr lang="en-US" sz="1050" dirty="0"/>
          </a:p>
        </p:txBody>
      </p:sp>
      <p:sp>
        <p:nvSpPr>
          <p:cNvPr id="45" name="Text 42"/>
          <p:cNvSpPr/>
          <p:nvPr/>
        </p:nvSpPr>
        <p:spPr>
          <a:xfrm>
            <a:off x="6035040" y="45720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A7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PÚBLICO generó el 49% de las conversaciones con solo el 27% de la inversión.</a:t>
            </a:r>
            <a:endParaRPr lang="en-US" sz="1250" dirty="0"/>
          </a:p>
        </p:txBody>
      </p:sp>
      <p:sp>
        <p:nvSpPr>
          <p:cNvPr id="46" name="Text 43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ANUNCIOS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mismo creativo, dos resultados distintos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06070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304288"/>
            <a:ext cx="502920" cy="502920"/>
          </a:xfrm>
          <a:prstGeom prst="ellipse">
            <a:avLst/>
          </a:prstGeom>
          <a:solidFill>
            <a:srgbClr val="3A7D44"/>
          </a:solidFill>
          <a:ln/>
        </p:spPr>
      </p:sp>
      <p:pic>
        <p:nvPicPr>
          <p:cNvPr id="6" name="Image 0" descr="/tmp/claude-0/-home-user-Presentaciones-y-varios/903c1196-30c4-57a8-b469-52313f1ce01c/scratchpad/palco_informe/icons/troph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042" y="2414930"/>
            <a:ext cx="281635" cy="281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194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evento importa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645920" y="25603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PÚBLICO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760720" y="210312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$193.994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15200" y="210312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134 conv.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869680" y="21031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7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$1.448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40080" y="3154680"/>
            <a:ext cx="106070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914400" y="3355848"/>
            <a:ext cx="502920" cy="502920"/>
          </a:xfrm>
          <a:prstGeom prst="ellipse">
            <a:avLst/>
          </a:prstGeom>
          <a:solidFill>
            <a:srgbClr val="1C1418"/>
          </a:solidFill>
          <a:ln/>
        </p:spPr>
      </p:sp>
      <p:pic>
        <p:nvPicPr>
          <p:cNvPr id="14" name="Image 1" descr="/tmp/claude-0/-home-user-Presentaciones-y-varios/903c1196-30c4-57a8-b469-52313f1ce01c/scratchpad/palco_informe/icons/messag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042" y="3466490"/>
            <a:ext cx="281635" cy="28163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645920" y="3246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mes cumples años ?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1645920" y="36118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CUMPLEAÑOS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760720" y="31546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$251.619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7315200" y="31546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 conv.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8869680" y="31546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F3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$2.677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640080" y="4206240"/>
            <a:ext cx="106070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21" name="Shape 17"/>
          <p:cNvSpPr/>
          <p:nvPr/>
        </p:nvSpPr>
        <p:spPr>
          <a:xfrm>
            <a:off x="914400" y="4407408"/>
            <a:ext cx="502920" cy="502920"/>
          </a:xfrm>
          <a:prstGeom prst="ellipse">
            <a:avLst/>
          </a:prstGeom>
          <a:solidFill>
            <a:srgbClr val="1C1418"/>
          </a:solidFill>
          <a:ln/>
        </p:spPr>
      </p:sp>
      <p:pic>
        <p:nvPicPr>
          <p:cNvPr id="22" name="Image 2" descr="/tmp/claude-0/-home-user-Presentaciones-y-varios/903c1196-30c4-57a8-b469-52313f1ce01c/scratchpad/palco_informe/icons/aler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042" y="4518050"/>
            <a:ext cx="281635" cy="281635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645920" y="42976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Palco exclusivo para tu equipo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1645920" y="46634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CORPORATIVO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5760720" y="420624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$230.541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7315200" y="420624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conv.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8869680" y="42062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F3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$7.950</a:t>
            </a:r>
            <a:endParaRPr lang="en-US" sz="1500" dirty="0"/>
          </a:p>
        </p:txBody>
      </p:sp>
      <p:sp>
        <p:nvSpPr>
          <p:cNvPr id="28" name="Shape 23"/>
          <p:cNvSpPr/>
          <p:nvPr/>
        </p:nvSpPr>
        <p:spPr>
          <a:xfrm>
            <a:off x="640080" y="5257800"/>
            <a:ext cx="106070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29" name="Shape 24"/>
          <p:cNvSpPr/>
          <p:nvPr/>
        </p:nvSpPr>
        <p:spPr>
          <a:xfrm>
            <a:off x="914400" y="5458968"/>
            <a:ext cx="502920" cy="502920"/>
          </a:xfrm>
          <a:prstGeom prst="ellipse">
            <a:avLst/>
          </a:prstGeom>
          <a:solidFill>
            <a:srgbClr val="1C1418"/>
          </a:solidFill>
          <a:ln/>
        </p:spPr>
      </p:sp>
      <p:pic>
        <p:nvPicPr>
          <p:cNvPr id="30" name="Image 3" descr="/tmp/claude-0/-home-user-Presentaciones-y-varios/903c1196-30c4-57a8-b469-52313f1ce01c/scratchpad/palco_informe/icons/char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042" y="5569610"/>
            <a:ext cx="281635" cy="281635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645920" y="53492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evento importa</a:t>
            </a:r>
            <a:endParaRPr lang="en-US" sz="1400" dirty="0"/>
          </a:p>
        </p:txBody>
      </p:sp>
      <p:sp>
        <p:nvSpPr>
          <p:cNvPr id="32" name="Text 26"/>
          <p:cNvSpPr/>
          <p:nvPr/>
        </p:nvSpPr>
        <p:spPr>
          <a:xfrm>
            <a:off x="1645920" y="5715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CUMPLEAÑOS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5760720" y="525780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$14.821</a:t>
            </a:r>
            <a:endParaRPr lang="en-US" sz="1300" dirty="0"/>
          </a:p>
        </p:txBody>
      </p:sp>
      <p:sp>
        <p:nvSpPr>
          <p:cNvPr id="34" name="Text 28"/>
          <p:cNvSpPr/>
          <p:nvPr/>
        </p:nvSpPr>
        <p:spPr>
          <a:xfrm>
            <a:off x="7315200" y="525780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conv.</a:t>
            </a:r>
            <a:endParaRPr lang="en-US" sz="1300" dirty="0"/>
          </a:p>
        </p:txBody>
      </p:sp>
      <p:sp>
        <p:nvSpPr>
          <p:cNvPr id="35" name="Text 29"/>
          <p:cNvSpPr/>
          <p:nvPr/>
        </p:nvSpPr>
        <p:spPr>
          <a:xfrm>
            <a:off x="8869680" y="52578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F3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$3.705</a:t>
            </a:r>
            <a:endParaRPr lang="en-US" sz="1500" dirty="0"/>
          </a:p>
        </p:txBody>
      </p:sp>
      <p:sp>
        <p:nvSpPr>
          <p:cNvPr id="36" name="Text 30"/>
          <p:cNvSpPr/>
          <p:nvPr/>
        </p:nvSpPr>
        <p:spPr>
          <a:xfrm>
            <a:off x="640080" y="629107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"Tu evento importa" es el mismo anuncio en ambos conjuntos: el costo por conversación cambia según el público al que se dirige, no por el creativo.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dice la data de estos primeros 15 días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502920" cy="502920"/>
          </a:xfrm>
          <a:prstGeom prst="ellipse">
            <a:avLst/>
          </a:prstGeom>
          <a:solidFill>
            <a:srgbClr val="F5F1EF"/>
          </a:solidFill>
          <a:ln/>
        </p:spPr>
      </p:sp>
      <p:pic>
        <p:nvPicPr>
          <p:cNvPr id="5" name="Image 0" descr="/tmp/claude-0/-home-user-Presentaciones-y-varios/903c1196-30c4-57a8-b469-52313f1ce01c/scratchpad/palco_informe/icons/check_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722" y="2305202"/>
            <a:ext cx="281635" cy="28163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214884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PÚBLICO es el conjunto más eficiente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371600" y="2542032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por conversación de $1.518 — menos de la mitad del promedio de la cuenta — con el CTR más alto (4,47%) y el CPM más bajo.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3246120"/>
            <a:ext cx="502920" cy="502920"/>
          </a:xfrm>
          <a:prstGeom prst="ellipse">
            <a:avLst/>
          </a:prstGeom>
          <a:solidFill>
            <a:srgbClr val="F5F1EF"/>
          </a:solidFill>
          <a:ln/>
        </p:spPr>
      </p:sp>
      <p:pic>
        <p:nvPicPr>
          <p:cNvPr id="9" name="Image 1" descr="/tmp/claude-0/-home-user-Presentaciones-y-varios/903c1196-30c4-57a8-b469-52313f1ce01c/scratchpad/palco_informe/icons/alert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722" y="3356762"/>
            <a:ext cx="281635" cy="28163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320040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CORPORATIVO es el más costoso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1371600" y="3593592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$7.129 por conversación, 4,7 veces más que AL PÚBLICO, con el CTR más bajo (1,59%) de los tres conjuntos.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4297680"/>
            <a:ext cx="502920" cy="502920"/>
          </a:xfrm>
          <a:prstGeom prst="ellipse">
            <a:avLst/>
          </a:prstGeom>
          <a:solidFill>
            <a:srgbClr val="F5F1EF"/>
          </a:solidFill>
          <a:ln/>
        </p:spPr>
      </p:sp>
      <p:pic>
        <p:nvPicPr>
          <p:cNvPr id="13" name="Image 2" descr="/tmp/claude-0/-home-user-Presentaciones-y-varios/903c1196-30c4-57a8-b469-52313f1ce01c/scratchpad/palco_informe/icons/redo_r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22" y="4408322"/>
            <a:ext cx="281635" cy="28163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425196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público pesa más que el creativo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1371600" y="4645152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"Tu evento importa" rinde 2,6 veces mejor en público general que en el segmento de cumpleaños, con el mismo anuncio.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5349240"/>
            <a:ext cx="502920" cy="502920"/>
          </a:xfrm>
          <a:prstGeom prst="ellipse">
            <a:avLst/>
          </a:prstGeom>
          <a:solidFill>
            <a:srgbClr val="F5F1EF"/>
          </a:solidFill>
          <a:ln/>
        </p:spPr>
      </p:sp>
      <p:pic>
        <p:nvPicPr>
          <p:cNvPr id="17" name="Image 3" descr="/tmp/claude-0/-home-user-Presentaciones-y-varios/903c1196-30c4-57a8-b469-52313f1ce01c/scratchpad/palco_informe/icons/chart_r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722" y="5459882"/>
            <a:ext cx="281635" cy="28163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530352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costo se mantuvo estable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1371600" y="5696712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$2.708 (semana 1) a $2.821 (semana 2) — variación normal, sin señales claras de fatiga creativa aún (frecuencia 1,92).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05156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ajustes para el segundo periodo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457200" cy="457200"/>
          </a:xfrm>
          <a:prstGeom prst="ellipse">
            <a:avLst/>
          </a:prstGeom>
          <a:solidFill>
            <a:srgbClr val="C1502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08760" y="2258568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Reasignar presupuesto hacia AL PÚBLICO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08760" y="260604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C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conjunto más eficiente; se recomienda aumentar su participación del presupuesto de forma gradual.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3200400"/>
            <a:ext cx="457200" cy="457200"/>
          </a:xfrm>
          <a:prstGeom prst="ellipse">
            <a:avLst/>
          </a:prstGeom>
          <a:solidFill>
            <a:srgbClr val="C1502E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08760" y="3172968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el ángulo de CORPORATIVO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08760" y="352044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C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un mensaje distinto para ese público antes de seguir invirtiendo al mismo ritmo — el CTR bajo sugiere que el actual no conecta.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4114800"/>
            <a:ext cx="457200" cy="457200"/>
          </a:xfrm>
          <a:prstGeom prst="ellipse">
            <a:avLst/>
          </a:prstGeom>
          <a:solidFill>
            <a:srgbClr val="C1502E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08760" y="4087368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Adaptar "Tu evento importa" al segmento de cumpleaños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08760" y="443484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C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anuncio funciona muy bien en público general; vale la pena ajustar el mensaje específicamente para cumpleaños.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5029200"/>
            <a:ext cx="457200" cy="457200"/>
          </a:xfrm>
          <a:prstGeom prst="ellipse">
            <a:avLst/>
          </a:prstGeom>
          <a:solidFill>
            <a:srgbClr val="C1502E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08760" y="5001768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Vigilar la frecuencia semana a semana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508760" y="534924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C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en 1,92 — sin señales de fatiga todavía, pero es el indicador a observar de cerca en el próximo corte.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INFORME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Cierre del primer mes completo de campaña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fue un corte parcial de 15 días. El próximo informe cubrirá el mes 1 completo de la campaña Max, con la evolución de los ajustes propuestos aquí.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474720"/>
            <a:ext cx="457200" cy="457200"/>
          </a:xfrm>
          <a:prstGeom prst="ellipse">
            <a:avLst/>
          </a:prstGeom>
          <a:solidFill>
            <a:srgbClr val="F5F1EF"/>
          </a:solidFill>
          <a:ln/>
        </p:spPr>
      </p:sp>
      <p:pic>
        <p:nvPicPr>
          <p:cNvPr id="6" name="Image 0" descr="/tmp/claude-0/-home-user-Presentaciones-y-varios/903c1196-30c4-57a8-b469-52313f1ce01c/scratchpad/palco_informe/icons/calendar_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357530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3447288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Periodo del próximo informe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280160" y="3767328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de septiembre al 8 de octubre de 2026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4297680"/>
            <a:ext cx="457200" cy="457200"/>
          </a:xfrm>
          <a:prstGeom prst="ellipse">
            <a:avLst/>
          </a:prstGeom>
          <a:solidFill>
            <a:srgbClr val="F5F1EF"/>
          </a:solidFill>
          <a:ln/>
        </p:spPr>
      </p:sp>
      <p:pic>
        <p:nvPicPr>
          <p:cNvPr id="10" name="Image 1" descr="/tmp/claude-0/-home-user-Presentaciones-y-varios/903c1196-30c4-57a8-b469-52313f1ce01c/scratchpad/palco_informe/icons/target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439826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80160" y="4270248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del próximo corte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280160" y="4590288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si AL PÚBLICO sostiene su eficiencia al recibir más presupuesto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40080" y="5120640"/>
            <a:ext cx="457200" cy="457200"/>
          </a:xfrm>
          <a:prstGeom prst="ellipse">
            <a:avLst/>
          </a:prstGeom>
          <a:solidFill>
            <a:srgbClr val="F5F1EF"/>
          </a:solidFill>
          <a:ln/>
        </p:spPr>
      </p:sp>
      <p:pic>
        <p:nvPicPr>
          <p:cNvPr id="14" name="Image 2" descr="/tmp/claude-0/-home-user-Presentaciones-y-varios/903c1196-30c4-57a8-b469-52313f1ce01c/scratchpad/palco_informe/icons/chart_r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5221224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80160" y="5093208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se compara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280160" y="5413248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por conversación de este informe vs. el siguiente, por conjunto de anuncios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2026-09-22T19:59:18Z</dcterms:created>
  <dcterms:modified xsi:type="dcterms:W3CDTF">2026-09-22T19:59:18Z</dcterms:modified>
</cp:coreProperties>
</file>